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앞으로 배울 내용을 자신의 지식으로 남기는 방법을 익히고, 개인 학습노트를 만듭니다. 이어서 제조 설비에서 AI의 판단과 조치까지 이어지는 HYD 시스템의 구조를 계층별로 살펴보고, 데이터가 오가는 길을 따라갑니다. 그다음 실행 환경을 갖춰 설비 이상 한 건이 처리되는 과정을 포털에서 직접 확인합니다. 마지막으로 이 시스템이 제대로 판단하려면 왜 온톨로지가 바탕이 되어야 하는지 알아봅니다.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필기와 강의 자료를 AI에게 넘기면 깔끔한 문서가 금방 나옵니다. 그러나 달라진 것은 읽기 쉬운 모양뿐이고, 그 내용이 머릿속에 들어온 것은 아닙니다. 더 큰 문제는 착각입니다. 잘 정리된 문서를 손에 쥐면 그 내용을 내가 안다고 여기게 됩니다. 자료를 덮고 백지에 직접 써 보면 그제야 무엇을 알고 무엇을 모르는지가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자료를 덮고 백지에 이해한 것을 써 봅니다. 타이핑해도 되고, 마이크로 말해서 받아 적게 해도 됩니다. 형식은 없고, 처음에는 한 가지를 깊이 파기보다 아는 범위를 넓게 훑으며 줄줄 씁니다. 그러면 틀린 곳, 횡설수설한 곳, 막혀서 더 쓰지 못하는 곳이 나오는데, 그 자리가 공부할 범위입니다.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순서가 중요합니다. 넓게 쓴 글에서 틀린 곳과 횡설수설한 곳을 먼저 바로잡아 전체의 줄기를 맞춥니다. 처음부터 한 곳을 깊게 파고들면 전체를 놓치기 쉽습니다. 너비가 맞은 다음에 막힌 곳을 하나씩 골라 깊게 들어갑니다.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깊이를 팔 때는 막힌 곳만 집요하게 팝니다. 모르는 용어가 있으면 그 뜻을 묻고, 설명에 또 모르는 말이 나오면 다시 묻습니다. 초등학생도 알아듣게 설명해 달라고 해도 괜찮습니다. 더 내려갈 곳이 없으면 거기서부터 하나씩 이어 붙이며 처음의 용어로 올라옵니다.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용어를 이해할 때 정의의 문장을 그대로 외울 필요는 없습니다. 원리에서 벗어나지만 않는다면, 뜻이 같은 쉬운 말로 이해하면 됩니다. 내 말로 옮길 수 있어야 다른 말로 물어도 답할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앞으로 배우는 내용은 모두 이 방법으로 정리합니다. 넓게 써 보고 고친 다음, 막힌 곳을 깊이 팝니다. 그렇게 내가 쓰고 이해하고 내 말로 옮긴 기록을 개인 학습노트에 쌓아 갑니다. 이 기록이 이 과정에서 만드는 지식 자산입니다. 이어지는 실습에서 그 학습노트를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노션으로 앞으로의 기록을 담을 틀을 만듭니다. 과정 홈과 세 구획, 학습노트 데이터베이스를 만들고, 앞에서 본 방법대로 개념 하나를 내 말로 써서 첫 기록을 남깁니다. 노션을 다루는 법은 실습에서 직접 해 보며 익힙니다.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현장 쪽을 짧게 짚겠습니다. 설비에서 생긴 물리량을 센서가 재고, PLC가 그 계측값을 읽어 설비를 제어하며, 관제 화면이 계측값을 보여 주고 조작을 받습니다. 이 단원은 그다음을 다룹니다. 그 데이터를 모으고 판단해 조치로 잇는 시스템의 구조와, 그 구조를 따라 데이터가 흐르는 길입니다.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처음 생기는 곳은 설비입니다. 유압 파워팩 HYD-01에는 탱크, 펌프, 부하, 오일 쿨러, 팬이 있고, 계측값마다 태그라는 이름이 붙습니다. 이 단원에서 예로 쓰는 계측값은 쿨러로 들어가기 직전의 작동유 온도인 유온 TS1과, 쿨러가 열을 내보내는 정도인 냉각 효율 CE입니다.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처음 생기는 자리는 Layer 1, 센서 네트워크와 설비입니다. 센서가 잰 계측값을 가장 먼저 받는 것은 설비 옆의 PLC이고, PLC는 1초에도 수십 번씩 계측값을 읽어 판단을 끝냅니다. 같은 판단을 서버에 맡기면 다녀오는 데만 1초 안팎이 걸리고, 그사이 통신이 끊길 수도 있습니다. 그래서 설비를 지키는 판단만큼은 설비 옆의 PLC가 인터록으로 끝냅니다.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이 가운데 유온 65 ℃와 팬 진동 2.0이 뒤에서 다시 나옵니다. 세 조건은 모두 그대로 두면 설비가 상하는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제어기가 주고받는 통신에는 암호화와 인증이 없습니다. 사무 통신은 평균적으로 빠르면 되지만, 현장 통신은 어떤 경우에도 정해진 시간 안에 도착해야 합니다. PLC가 1초에도 수십 번씩 판단을 끝내려면, 그 사이를 오가는 신호도 매번 정해진 시간 안에 도착해야 합니다. 암호화와 인증은 처리 시간을 들쭉날쭉하게 만들기 때문에 싣지 않습니다. 대신 보안은 위 계층이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여기서부터는 Layer 2, IoT 미들웨어입니다. 제어기 안의 계측값은 주소에 담긴 숫자여서 그 자체로는 무엇을 잰 것인지 알 수 없습니다. 엣지 게이트웨이는 이 숫자에 이름을 붙여 태그 값과 운전 상태로 올려 보냅니다. 위쪽의 유온 TS1과 냉각 효율 CE는 이 단원에서 계속 예로 쓰고, 아래쪽의 운전 모드와 인터록 상태는 명령을 내려보낼 때 다시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데이터를 받아야 할 곳은 운전 화면과 수집 서비스 두 군데이고 앞으로 더 늘 수 있습니다. 보내는 쪽이 받는 쪽을 직접 연결하면 받는 쪽이 늘 때마다 설비 쪽 프로그램을 고쳐야 합니다. 가운데에 중개 서버를 두면 받는 쪽이 늘어도 설비 쪽은 그대로입니다. 이렇게 중개 서버를 사이에 두고 주고받는 통신 방식이 MQTT입니다.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중개 서버가 브로커입니다. 보내는 쪽인 발행자는 토픽이라는 주소를 붙여 브로커에 보내고, 받는 쪽인 구독자는 원하는 토픽만 받습니다. 그래서 발행자는 구독자가 누구인지 몰라도 됩니다. 그림에서 흐리게 그린 부분은 아직 다루지 않은 구간입니다.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 이름을 뜯어 보면 네 칸입니다. 공장, 설비, 종류, 태그 이름입니다. HYD에는 같은 구조의 유압 파워팩이 세 대 있어서 설비 자리만 hyd01, hyd02, hyd03으로 바뀝니다. 구독자는 이 주소를 보고 필요한 데이터만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세 단계입니다. 브로커는 데이터를 보관하지 않으므로, 받는 쪽이 먼저 받고 싶은 토픽을 브로커에 등록합니다. 보내는 쪽은 데이터를 토픽에 실어 브로커로 보냅니다. 브로커는 해당 토픽을 등록해 둔 모든 구독자에게 메시지를 전달합니다.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브로커까지 왔지만 분석하고 저장하는 서버는 브로커에 직접 붙지 않습니다. IT 쪽은 외부와 닿을 수 있어서 침해될 가능성이 있고, OT는 설비를 직접 움직이기 때문에 잘못된 명령이 곧 사고입니다. 그래서 둘을 직접 잇지 않고, 사이에 구역을 하나 둡니다. 앞에서 설비를 지키는 판단을 PLC에 맡긴 것도, IT 쪽 서버를 거치지 않기 위해서였습니다.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영역 사이에 있는 구역이 DMZ입니다. DMZ의 수집 서비스는 브로커를 구독해 받은 메시지를 IT의 이벤트 로그에 옮겨 적습니다. 데이터는 OT에서 IT로만 옮겨지며, 반대 방향으로는 쓰지 않습니다. 현장 통신을 단순하게 둔 대신, 들어오는 길을 좁힌 이 구조가 설비를 지킵니다.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수집 서비스가 데이터를 옮겨 적는 곳은 Layer 3, 이벤트 백본의 이벤트 로그입니다. 브로커는 그 순간 구독 중인 쪽에 데이터를 전달한 뒤에는 보관하지 않습니다. 이벤트 로그는 데이터를 받은 순서대로 쌓아 두므로, 여러 서비스가 각자의 속도로 읽고 필요하면 처음부터 다시 읽을 수 있습니다. IT의 모든 서비스는 설비가 아니라 이 기록에서 데이터를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계측값이라도 옮겨 적히면서 모양이 달라집니다. 위쪽 메시지에서는 설비와 태그 이름이 토픽 경로에 있었지만, 아래쪽 레코드에서는 본문 안에 들어 있습니다. 그래서 레코드 한 건만 보아도 유압 설비 HYD-01의 유온이 55.71이라는 것을 알 수 있습니다. 키는 같은 설비의 데이터가 잰 순서대로 읽히게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데이터를 읽는 첫 번째 계층은 Layer 4, 스트림 처리입니다. 데이터가 저장소에 쌓인 다음에 조회하면 이상이 생긴 때와 알아차리는 때 사이가 벌어집니다. 감지 서비스는 데이터가 기록되는 대로 하나씩 받아 조건에 견줍니다. 끊임없이 들어오는 데이터를 그 자리에서 처리하는 방식을 스트림 처리라고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오른쪽 맨 위의 조건 셋을 봅니다. 유온이 55 ℃를 넘고, 냉각 효율이 70 % 아래이며, 유온이 오르는 중이어야 쿨러 성능 저하로 봅니다. 유온은 쿨러가 멀쩡해도 오를 수 있으므로, 유온만 높고 냉각 효율이 정상이면 이 경보는 나지 않습니다. 다음으로 그래프에서 유온이 55 ℃를 넘은 11시 13분 4초와, 4초 뒤인 11시 13분 8초의 경보를 차례로 짚습니다. 그 사이 조건이 계속 맞는지를 지켜본 것이며, 값이 잠깐 튀었다가 돌아오는 경우에 경보가 울리지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성립하면 감지 서비스가 경보를 냅니다. 경보는 계측값이 아니라 어떤 일이 일어났는지를 남긴 기록입니다. 식별자는 이 경보 한 건을 가리키고, 패턴은 쿨러 성능 저하 조건이 성립했음을 나타냅니다. 계측값은 계속 바뀌므로, 경보가 난 순간의 유온 55.71과 냉각 효율 46.2를 근거로 붙여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데이터를 읽는 두 번째 계층은 Layer 5, 시계열 저장소입니다. 감지는 흐르는 데이터에서 하지만, 지나간 데이터를 시각으로 찾아보려면 저장해 두어야 합니다. 계측값 하나가 시각, 설비, 태그 이름, 값의 한 행으로 들어갑니다. 가운데 행의 55.71이 경보가 난 순간의 유온입니다.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사람에게 보여 주는 자리는 Layer 6, 관제입니다. 화면은 두 가지입니다. 운전 화면은 OT에서 브로커를 직접 구독해 현재 데이터를 보여 주고 조작을 받으며, IT 쪽 서버가 멈춰도 계속 동작합니다. 분석 화면은 IT에서 시계열 저장소를 조회해 이력과 추세를 보여 주며, 설비를 조작하지는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유온에 대해 세 곳이 서로 다른 기준으로 반응합니다. 55 ℃에서 감지 서비스의 경보가 가장 먼저 나고, 60 ℃에서는 운전 화면의 알람이, 65 ℃에서는 PLC의 인터록이 반응합니다. 경보와 알람은 상황을 알리고, 인터록은 설비를 세웁니다. 인터록은 사람이 다시 걸어야 풀리므로, 55 ℃에서 먼저 나는 경보가 조치할 시간을 벌어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난 뒤의 일은 Layer 7부터 9까지, 곧 지식과 에이전트와 프로세스가 맡습니다. 에이전트는 지식과 데이터를 조회해 원인을 판단하고 조치안을 추천하지만, 설비에 명령을 보낼 수단은 없습니다. 담당자는 추천과 근거를 보고 승인하거나 거절합니다. 프로세스 엔진은 승인된 조치만 명령으로 만들어 내려보냅니다. 설비를 멈추거나 움직이는 결정에는 책임이 따르기 때문에 사람을 거치게 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명령이 내려가는 경로입니다. 프로세스 엔진은 승인된 조치를 명령으로 만들어 이벤트 로그에 기록합니다. DMZ의 명령 관문은 그 명령을 읽어 검사하고, 통과한 명령만 OT의 브로커로 내보냅니다. PLC는 받은 명령을 다시 검사한 뒤 설정값을 바꿉니다.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명령 한 건의 모습입니다. 할 일은 팬 속도를 100 %로 올리는 것입니다. 승인한 사람이 함께 적혀 있어 누가 책임지는지가 남습니다. 유효 시간이 지난 명령은 버려지므로, 상황이 달라진 뒤에 늦게 실행되는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곳이 보는 것이 달라 검사를 두 번 합니다. 먼저 왼쪽의 명령 관문은 명령의 형식, 유효 시간, 승인 기록, 운전 모드를 봅니다. 다음으로 오른쪽의 PLC는 설정값이 범위 안인지와 지금 인터록에 걸려 있지 않은지를 본 뒤 설정값을 바꾸고 결과를 돌려보냅니다. 명령서가 멀쩡해도 지금의 설비가 받을 수 없는 상태이면 PLC가 거부합니다.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길에 걸린 시간입니다. 승인이 11시 14분 56초, 명령이 57초, 응답이 58초입니다. 관문과 PLC가 명령을 검사하는 일도 이 사이에 끝났습니다. 검사를 두 번 거쳐도 내려가는 길이 조치를 늦추지는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계층을 지나며 데이터가 어떻게 바뀌어 왔는지를 한 줄로 펼쳐 놓은 것이 데이터 리니지입니다. 센서와 PLC가 만든 원천 데이터는 가공 데이터가 되고, 조건이 성립하면 이상 이벤트가 되며, 이를 바탕으로 판단 결과가 나옵니다. 설비를 움직인 판단이 어떤 계측값에서 나왔는지 거꾸로 되짚을 수 있어야 그 판단을 믿을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가공 데이터의 예를 하나 보겠습니다. 위쪽은 센서가 잰 유온 계측값이고, 아래쪽은 그 계측값들로 계산한 기울기입니다. 기울기가 0보다 크면 유온이 오르고 있다는 뜻이며, 앞에서 본 경보 조건의 셋째 항목이 이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결과도 기록으로 남습니다. 경보, 사건, 판단, 명령, 작업지시에 각각 식별자가 붙습니다. 그래서 작업지시 하나에서 출발해 어떤 판단과 어떤 경보에서 나온 것인지를 거꾸로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거쳐 온 자리를 한 장에 모았습니다. 아래에서부터 Layer 1의 설비와 제어기, Layer 2의 엣지 게이트웨이와 브로커, Layer 3의 이벤트 로그, Layer 4의 스트림 처리, Layer 5의 시계열 저장소, Layer 6의 두 화면까지 올라왔습니다. 계층은 하는 일에 따라 나눈 것이고, 오른쪽의 세 칸은 놓인 망에 따라 나눈 보안 영역입니다. 파란 점은 각 계층이 놓인 영역을 나타냅니다. 같은 계층 안에서도 영역은 다를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6까지는 데이터를 모으고 이상을 알릴 뿐 원인을 가리지는 않습니다. 경보 뒤의 일은 위의 세 계층이 맡습니다. Layer 7은 증상과 원인, 조치의 관계를 지식으로 보관하고, Layer 8의 에이전트는 그 지식과 데이터를 조회해 조치를 추천하며, Layer 9의 프로세스 엔진은 승인을 받아 실행합니다. 이 수업은 앞으로 이 세 계층을 차례로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마무리하겠습니다. 설비 옆의 통신에는 암호화와 인증이 없습니다. 정해진 시간을 지키기 위해 단순하게 둔 것이며, 대신 구조가 설비를 지킵니다. 데이터는 수집 서비스를 거쳐 위로만 올라가고, 명령은 사람의 승인, 명령 관문의 검사, PLC의 검사를 모두 거친 것만 내려옵니다.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앞에서 그림으로 본 시스템을 실행합니다. 쓰는 도구는 VS Code, GitHub Copilot, Python, Docker입니다. GitHub Copilot에 말로 요청하고 AI가 쓴 코드를 실행해 보며 고쳐 가는 방식을 바이브 코딩이라고 하며, 이후 랩의 코드는 이 방식으로 만듭니다. Docker Compose로 서비스를 올리고 포털이 열리는지를 확인하는 데까지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시연에서는 쿨러의 성능이 떨어지는 사건 한 건을 처음부터 끝까지 진행합니다. 볼 것은 화면의 다섯 단계입니다. 단계마다 어떤 정보가 쓰이고 무엇이 다음 단계로 넘어가는지를 확인합니다. 각 단계가 어떻게 만들어지는지는 이어지는 회차에서 하나씩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 본 사건을 저장된 값으로 다시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앞 단원의 구조가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가린다는 것은 대조하는 일입니다. 후보마다 보아야 할 값이 있고, 그 값이 얼마이면 해당하는지의 기준이 있습니다. 잰 값을 그 기준에 대어 보면 됩니다. 이렇게 원인을 확인하는 데 쓰는 값과 기준을 증거라고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팬을 올려도 핀은 막힌 그대로여서 냉각 효율은 기준 아래에 남았습니다. 원인을 없애는 근본 조치는 핀 세척이고, 이것은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모자랐던 것을 세 낱말로 나누어, 같은 사건의 문장 다섯 개로 보겠습니다. 오른쪽 열은 앞에서 판단을 나눌 때 쓴 네 질문입니다. 46.2만으로는 무엇을 잰 값인지, 단위가 무엇인지, 높은 것인지 알 수 없습니다. 대상과 단위가 붙으면 지금 얼마인가에, 기준이 붙으면 벗어났는가에 답할 수 있으며, 태그 이름과 경보 조건이 이 일을 해 줍니다. 아래 두 줄은 지식입니다. 냉각 효율이 낮고 팬 진동이 정상이면 핀 오염이고 핀 오염이면 세척한다는 것처럼, 원인과 조치로 이어진 지식만이 왜와 무엇을에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매뉴얼 문장을 봅니다. 원인 후보, 확인할 값, 기준이 모두 들어 있지만 사람이 읽고 해석해야 하는 문장입니다. 다음으로 오른쪽의 세 가지입니다. 이 경보가 났을 때 매뉴얼의 어느 대목을 보아야 하는지, 그 대목의 기준을 어느 태그의 값과 비교해야 하는지, 그 원인이면 어떤 조치가 맞는지는 어느 시스템에도 들어 있지 않습니다. 정보는 모두 어딘가에 있고, 없는 것은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지금까지 이어 온 것은 사람입니다. 숙련자는 증상을 읽고, 고장 유형을 짐작하고, 원인 후보를 꼽고, 증거를 대조한 다음 조치를 고릅니다. 상자 사이의 화살표 하나하나가 그 사람의 머릿속에 든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적어 둘 곳으로 먼저 떠오르는 것이 표와 문서입니다. 둘 다 내용은 담지만 대상과 대상 사이의 연결이 형식으로 드러나 있지 않습니다. 고장 유형 하나에 원인이 셋이고 핀 오염에는 확인할 값이 둘이어서, 표에 적으면 같은 고장 유형이 네 줄에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따라가게 하려면 코드로 짜는 방법이 있습니다. 실행은 되지만 지식이 코드 안에 묻힙니다. 기준이 바뀔 때마다 개발자가 코드를 고쳐야 하고, 왜 그 원인으로 판단했는지의 근거가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같은 증상을 두고 누구는 온도 상승이라고 하고 누구는 과열이라고 합니다. HYD의 온톨로지는 이 말들을 유온 상승이라는 하나의 대상에 묶어 둡니다. 그래서 누가 어떤 말로 부르든 같은 대상을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문장으로 읽습니다. 화살표가 나가는 쪽이 주어, 관계 이름이 서술어, 들어가는 쪽이 목적어입니다. 읽어서 뜻이 통하면 제대로 적힌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세 걸음으로 보겠습니다. 출발점은 경보입니다. 경보에 실린 패턴 이름에서 DETECTS와 INDICATES를 따라가면 고장 유형에 이릅니다.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유형에서는 들어오는 CAUSES를 거슬러 원인 후보를 모읍니다. 원인마다 EVIDENCED_BY로 증거가 붙어 있고, 증거에는 어느 값을 어떤 기준과 비교할지가 적혀 있습니다. 방향은 뜻을 정하는 것이어서 필요하면 거슬러 가기도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증거에 적힌 대로 값을 읽어 기준과 대조하면 원인이 쿨러 핀 오염으로 확인됩니다. 조치는 고장 유형에서 MITIGATED_BY를 따라가 찾습니다. 판별 기준은 지식 그래프에 있고 잰 값은 시계열 저장소에서 읽어 옵니다. 경보에서 조치까지 컴퓨터는 여섯 종류의 대상을 다섯 관계로 건넜고, 숙련자가 머릿속에서 잇던 화살표가 이것입니다. 기준은 기준 정보이고 잰 값은 계속 바뀌는 현황이어서 따로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그림에서 본 노드의 종류와 화살표가 온톨로지가 정의하는 네 가지 가운데 종류와 관계입니다. 여기에 속성과 제약이 더해집니다. 먼저 종류와 속성입니다. HYD의 온톨로지는 설비 쪽, 진단 쪽, 조치 쪽으로 종류를 두고, 유온이라는 대상에는 단위와 정상값과 한계가 속성으로 적혀 있습니다. 관계는 이름이 다르면 뜻이 달라서, 같은 고장 유형에서 조치로 가는 선이라도 MITIGATED_BY는 우선 완화하고 REMEDIED_BY는 근본적으로 없앱니다. 제약은 CAUSES를 원인에서 고장 유형으로만 잇게 하므로 증상에서 조치로 그은 연결은 어긋나며, 관계 그림과 온톨로지를 가르는 것이 이 제약입니다.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지식 그래프는 증상과 원인만으로 끝나지 않습니다. 설비 HYD-01은 오일 쿨러를 구성 요소로 갖고, 오일 쿨러는 유온 센서 TS1로 계측됩니다. 설비가 무엇으로 이루어져 있는지가 대상과 관계로 적혀 있습니다. 이 연결이 있어야 같은 지식을 다른 설비의 값에도 적용할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가운데와 아래 줄이 진단과 조치입니다. 증상, 고장 유형, 원인, 조치 방법이 이어져 있고, 조치 방법은 매뉴얼 HM-8.5를 근거로 가리킵니다. 추천에 근거 문서가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생기는 오해 세 가지입니다. 지식 그래프에는 값을 읽는 방법이 들어 있고 값은 저장소에서 읽습니다. 화살표의 방향은 뜻을 정하는 것이어서 조회할 때는 거슬러 가기도 합니다. 온톨로지는 후보와 근거를 찾게 해 줄 뿐이고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네 걸음으로 줄이겠습니다. 경보는 조건을 벗어났다는 사실만 알리고, 판단에 필요한 정보는 흩어져 있습니다. 그래서 대상과 관계를 명시적으로 정의하고, 컴퓨터가 그 관계를 따라 원인 후보와 조치에 이르게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이후의 과정은 오늘 본 것을 안에서부터 만들어 갑니다. 대상의 종류와 관계의 틀을 설계하고, 조치와 판단 기준을 잇고, 문서에서 지식을 뽑아 넣은 다음, 에이전트와 프로세스가 그 지식을 쓰게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본문에서 풀어 쓴 약어의 정식 명칭을 한곳에 모았습니다. 뜻은 앞에서 풀었으므로 여기서는 이름과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묻는 문항입니다. 시연에서 에이전트가 한 일과 담당자의 승인 뒤에 일어난 일을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구분하는지를 봅니다. 둘째 문항의 2번은 CAUSED_BY라는 이름에 방향을 원인에서 고장 유형으로 두어 뜻이 통하지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3.png"/><Relationship Id="rId4" Type="http://schemas.openxmlformats.org/officeDocument/2006/relationships/image" Target="../media/image16.png"/><Relationship Id="rId5" Type="http://schemas.openxmlformats.org/officeDocument/2006/relationships/image" Target="../media/image15.png"/><Relationship Id="rId6"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8.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9.png"/><Relationship Id="rId4" Type="http://schemas.openxmlformats.org/officeDocument/2006/relationships/image" Target="../media/image10.png"/><Relationship Id="rId5"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8.png"/><Relationship Id="rId4" Type="http://schemas.openxmlformats.org/officeDocument/2006/relationships/image" Target="../media/image24.png"/><Relationship Id="rId5" Type="http://schemas.openxmlformats.org/officeDocument/2006/relationships/image" Target="../media/image2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1.png"/><Relationship Id="rId4" Type="http://schemas.openxmlformats.org/officeDocument/2006/relationships/image" Target="../media/image3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3.png"/><Relationship Id="rId4" Type="http://schemas.openxmlformats.org/officeDocument/2006/relationships/image" Target="../media/image3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2.png"/><Relationship Id="rId4" Type="http://schemas.openxmlformats.org/officeDocument/2006/relationships/image" Target="../media/image3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2.png"/><Relationship Id="rId4" Type="http://schemas.openxmlformats.org/officeDocument/2006/relationships/image" Target="../media/image3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40.png"/><Relationship Id="rId4" Type="http://schemas.openxmlformats.org/officeDocument/2006/relationships/image" Target="../media/image4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8.png"/><Relationship Id="rId4" Type="http://schemas.openxmlformats.org/officeDocument/2006/relationships/image" Target="../media/image42.png"/><Relationship Id="rId5" Type="http://schemas.openxmlformats.org/officeDocument/2006/relationships/image" Target="../media/image4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46.png"/><Relationship Id="rId4" Type="http://schemas.openxmlformats.org/officeDocument/2006/relationships/image" Target="../media/image37.png"/><Relationship Id="rId5" Type="http://schemas.openxmlformats.org/officeDocument/2006/relationships/image" Target="../media/image43.png"/><Relationship Id="rId6" Type="http://schemas.openxmlformats.org/officeDocument/2006/relationships/image" Target="../media/image32.png"/><Relationship Id="rId7" Type="http://schemas.openxmlformats.org/officeDocument/2006/relationships/image" Target="../media/image2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7.png"/><Relationship Id="rId4" Type="http://schemas.openxmlformats.org/officeDocument/2006/relationships/image" Target="../media/image4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5.png"/><Relationship Id="rId4" Type="http://schemas.openxmlformats.org/officeDocument/2006/relationships/image" Target="../media/image35.png"/><Relationship Id="rId5" Type="http://schemas.openxmlformats.org/officeDocument/2006/relationships/image" Target="../media/image4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4.png"/><Relationship Id="rId4" Type="http://schemas.openxmlformats.org/officeDocument/2006/relationships/image" Target="../media/image49.png"/><Relationship Id="rId5" Type="http://schemas.openxmlformats.org/officeDocument/2006/relationships/image" Target="../media/image50.png"/><Relationship Id="rId6" Type="http://schemas.openxmlformats.org/officeDocument/2006/relationships/image" Target="../media/image4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50.png"/><Relationship Id="rId4" Type="http://schemas.openxmlformats.org/officeDocument/2006/relationships/image" Target="../media/image47.png"/><Relationship Id="rId5" Type="http://schemas.openxmlformats.org/officeDocument/2006/relationships/image" Target="../media/image44.png"/><Relationship Id="rId6" Type="http://schemas.openxmlformats.org/officeDocument/2006/relationships/image" Target="../media/image35.png"/><Relationship Id="rId7" Type="http://schemas.openxmlformats.org/officeDocument/2006/relationships/image" Target="../media/image5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5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image" Target="../media/image5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0.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5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24.png"/><Relationship Id="rId4" Type="http://schemas.openxmlformats.org/officeDocument/2006/relationships/image" Target="../media/image50.png"/><Relationship Id="rId5" Type="http://schemas.openxmlformats.org/officeDocument/2006/relationships/image" Target="../media/image60.png"/><Relationship Id="rId6" Type="http://schemas.openxmlformats.org/officeDocument/2006/relationships/image" Target="../media/image4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6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24.png"/><Relationship Id="rId4" Type="http://schemas.openxmlformats.org/officeDocument/2006/relationships/image" Target="../media/image62.png"/><Relationship Id="rId5" Type="http://schemas.openxmlformats.org/officeDocument/2006/relationships/image" Target="../media/image6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64.png"/><Relationship Id="rId4" Type="http://schemas.openxmlformats.org/officeDocument/2006/relationships/image" Target="../media/image65.png"/><Relationship Id="rId5" Type="http://schemas.openxmlformats.org/officeDocument/2006/relationships/image" Target="../media/image66.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65.png"/><Relationship Id="rId4" Type="http://schemas.openxmlformats.org/officeDocument/2006/relationships/image" Target="../media/image5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48.png"/><Relationship Id="rId4" Type="http://schemas.openxmlformats.org/officeDocument/2006/relationships/image" Target="../media/image6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68.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69.png"/><Relationship Id="rId4" Type="http://schemas.openxmlformats.org/officeDocument/2006/relationships/image" Target="../media/image67.png"/><Relationship Id="rId5" Type="http://schemas.openxmlformats.org/officeDocument/2006/relationships/image" Target="../media/image34.png"/><Relationship Id="rId6" Type="http://schemas.openxmlformats.org/officeDocument/2006/relationships/image" Target="../media/image58.png"/><Relationship Id="rId7" Type="http://schemas.openxmlformats.org/officeDocument/2006/relationships/image" Target="../media/image45.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image" Target="../media/image4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72.png"/><Relationship Id="rId4" Type="http://schemas.openxmlformats.org/officeDocument/2006/relationships/image" Target="../media/image9.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73.png"/><Relationship Id="rId4" Type="http://schemas.openxmlformats.org/officeDocument/2006/relationships/image" Target="../media/image7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70.png"/><Relationship Id="rId4" Type="http://schemas.openxmlformats.org/officeDocument/2006/relationships/image" Target="../media/image25.png"/><Relationship Id="rId5" Type="http://schemas.openxmlformats.org/officeDocument/2006/relationships/image" Target="../media/image7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28.png"/><Relationship Id="rId4" Type="http://schemas.openxmlformats.org/officeDocument/2006/relationships/image" Target="../media/image66.png"/><Relationship Id="rId5" Type="http://schemas.openxmlformats.org/officeDocument/2006/relationships/image" Target="../media/image29.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10.png"/><Relationship Id="rId4" Type="http://schemas.openxmlformats.org/officeDocument/2006/relationships/image" Target="../media/image22.png"/><Relationship Id="rId5" Type="http://schemas.openxmlformats.org/officeDocument/2006/relationships/image" Target="../media/image76.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77.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78.png"/><Relationship Id="rId4" Type="http://schemas.openxmlformats.org/officeDocument/2006/relationships/image" Target="../media/image79.png"/><Relationship Id="rId5" Type="http://schemas.openxmlformats.org/officeDocument/2006/relationships/image" Target="../media/image43.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80.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8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8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83.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84.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85.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50.png"/><Relationship Id="rId4" Type="http://schemas.openxmlformats.org/officeDocument/2006/relationships/image" Target="../media/image86.png"/><Relationship Id="rId5" Type="http://schemas.openxmlformats.org/officeDocument/2006/relationships/image" Target="../media/image8.png"/><Relationship Id="rId6" Type="http://schemas.openxmlformats.org/officeDocument/2006/relationships/image" Target="../media/image87.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76.png"/><Relationship Id="rId4" Type="http://schemas.openxmlformats.org/officeDocument/2006/relationships/image" Target="../media/image34.png"/><Relationship Id="rId5" Type="http://schemas.openxmlformats.org/officeDocument/2006/relationships/image" Target="../media/image88.png"/><Relationship Id="rId6" Type="http://schemas.openxmlformats.org/officeDocument/2006/relationships/image" Target="../media/image4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89.png"/><Relationship Id="rId4" Type="http://schemas.openxmlformats.org/officeDocument/2006/relationships/image" Target="../media/image90.png"/><Relationship Id="rId5" Type="http://schemas.openxmlformats.org/officeDocument/2006/relationships/image" Target="../media/image9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1회차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데이터에서 판단과 조치까지,</a:t>
            </a:r>
          </a:p>
          <a:p>
            <a:pPr algn="l">
              <a:lnSpc>
                <a:spcPct val="110000"/>
              </a:lnSpc>
            </a:pPr>
            <a:r>
              <a:rPr sz="4000" b="1">
                <a:solidFill>
                  <a:srgbClr val="FFFFFF"/>
                </a:solidFill>
                <a:latin typeface="맑은 고딕"/>
                <a:ea typeface="맑은 고딕"/>
                <a:cs typeface="맑은 고딕"/>
              </a:rPr>
              <a:t>그리고 온톨로지가 필요한 이유</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HYD 시스템을 직접 실행해 설비 이상 한 건이 처리되는 과정을 따라간다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배운 것을 자산으로 남기는 법을 익히고, HYD 시스템의 구조와 흐름을 거쳐 온톨로지가 바탕이 되는 이유를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166556"/>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320175"/>
            <a:ext cx="424281" cy="424281"/>
          </a:xfrm>
          <a:prstGeom prst="rect">
            <a:avLst/>
          </a:prstGeom>
        </p:spPr>
      </p:pic>
      <p:sp>
        <p:nvSpPr>
          <p:cNvPr id="9" name="TextBox 8"/>
          <p:cNvSpPr txBox="1"/>
          <p:nvPr/>
        </p:nvSpPr>
        <p:spPr>
          <a:xfrm>
            <a:off x="713232"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자산화</a:t>
            </a:r>
          </a:p>
          <a:p>
            <a:pPr algn="l">
              <a:lnSpc>
                <a:spcPct val="110000"/>
              </a:lnSpc>
              <a:spcAft>
                <a:spcPts val="400"/>
              </a:spcAft>
            </a:pPr>
            <a:r>
              <a:rPr sz="1350" b="0">
                <a:solidFill>
                  <a:srgbClr val="1F2A3A"/>
                </a:solidFill>
                <a:latin typeface="맑은 고딕"/>
                <a:ea typeface="맑은 고딕"/>
                <a:cs typeface="맑은 고딕"/>
              </a:rPr>
              <a:t>• 배운 내용을 자신의 문장으로 기록하고 다시 찾아 쓰는 방법을 익힌다</a:t>
            </a:r>
          </a:p>
          <a:p>
            <a:pPr algn="l">
              <a:lnSpc>
                <a:spcPct val="110000"/>
              </a:lnSpc>
              <a:spcAft>
                <a:spcPts val="400"/>
              </a:spcAft>
            </a:pPr>
            <a:r>
              <a:rPr sz="1350" b="0">
                <a:solidFill>
                  <a:srgbClr val="1F2A3A"/>
                </a:solidFill>
                <a:latin typeface="맑은 고딕"/>
                <a:ea typeface="맑은 고딕"/>
                <a:cs typeface="맑은 고딕"/>
              </a:rPr>
              <a:t>• 개인 학습노트를 만들어 앞으로의 배움을 쌓아 간다</a:t>
            </a:r>
          </a:p>
        </p:txBody>
      </p:sp>
      <p:sp>
        <p:nvSpPr>
          <p:cNvPr id="10" name="Rounded Rectangle 9"/>
          <p:cNvSpPr/>
          <p:nvPr/>
        </p:nvSpPr>
        <p:spPr>
          <a:xfrm>
            <a:off x="777240" y="5587555"/>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87555"/>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학습 기록</a:t>
            </a:r>
          </a:p>
        </p:txBody>
      </p:sp>
      <p:sp>
        <p:nvSpPr>
          <p:cNvPr id="12" name="Rounded Rectangle 11"/>
          <p:cNvSpPr/>
          <p:nvPr/>
        </p:nvSpPr>
        <p:spPr>
          <a:xfrm>
            <a:off x="3390823"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166556"/>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320175"/>
            <a:ext cx="424281" cy="424281"/>
          </a:xfrm>
          <a:prstGeom prst="rect">
            <a:avLst/>
          </a:prstGeom>
        </p:spPr>
      </p:pic>
      <p:sp>
        <p:nvSpPr>
          <p:cNvPr id="15" name="TextBox 14"/>
          <p:cNvSpPr txBox="1"/>
          <p:nvPr/>
        </p:nvSpPr>
        <p:spPr>
          <a:xfrm>
            <a:off x="3555415"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시스템 아키텍처와 계층</a:t>
            </a:r>
          </a:p>
          <a:p>
            <a:pPr algn="l">
              <a:lnSpc>
                <a:spcPct val="110000"/>
              </a:lnSpc>
              <a:spcAft>
                <a:spcPts val="400"/>
              </a:spcAft>
            </a:pPr>
            <a:r>
              <a:rPr sz="1350" b="0">
                <a:solidFill>
                  <a:srgbClr val="1F2A3A"/>
                </a:solidFill>
                <a:latin typeface="맑은 고딕"/>
                <a:ea typeface="맑은 고딕"/>
                <a:cs typeface="맑은 고딕"/>
              </a:rPr>
              <a:t>• 제조 설비에서 AI의 판단과 조치까지 이어지는 HYD 시스템의 구조를 계층별로 이해한다</a:t>
            </a:r>
          </a:p>
          <a:p>
            <a:pPr algn="l">
              <a:lnSpc>
                <a:spcPct val="110000"/>
              </a:lnSpc>
              <a:spcAft>
                <a:spcPts val="400"/>
              </a:spcAft>
            </a:pPr>
            <a:r>
              <a:rPr sz="1350" b="0">
                <a:solidFill>
                  <a:srgbClr val="1F2A3A"/>
                </a:solidFill>
                <a:latin typeface="맑은 고딕"/>
                <a:ea typeface="맑은 고딕"/>
                <a:cs typeface="맑은 고딕"/>
              </a:rPr>
              <a:t>• 데이터가 올라가는 길과 명령이 내려가는 길을 따라간다</a:t>
            </a:r>
          </a:p>
        </p:txBody>
      </p:sp>
      <p:sp>
        <p:nvSpPr>
          <p:cNvPr id="16" name="Rounded Rectangle 15"/>
          <p:cNvSpPr/>
          <p:nvPr/>
        </p:nvSpPr>
        <p:spPr>
          <a:xfrm>
            <a:off x="3619423" y="5587555"/>
            <a:ext cx="16763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87555"/>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구조와 데이터 흐름</a:t>
            </a:r>
          </a:p>
        </p:txBody>
      </p:sp>
      <p:sp>
        <p:nvSpPr>
          <p:cNvPr id="18" name="Rounded Rectangle 17"/>
          <p:cNvSpPr/>
          <p:nvPr/>
        </p:nvSpPr>
        <p:spPr>
          <a:xfrm>
            <a:off x="6233007"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166556"/>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320175"/>
            <a:ext cx="424281" cy="424281"/>
          </a:xfrm>
          <a:prstGeom prst="rect">
            <a:avLst/>
          </a:prstGeom>
        </p:spPr>
      </p:pic>
      <p:sp>
        <p:nvSpPr>
          <p:cNvPr id="21" name="TextBox 20"/>
          <p:cNvSpPr txBox="1"/>
          <p:nvPr/>
        </p:nvSpPr>
        <p:spPr>
          <a:xfrm>
            <a:off x="6397599"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흐름의 실행</a:t>
            </a:r>
          </a:p>
          <a:p>
            <a:pPr algn="l">
              <a:lnSpc>
                <a:spcPct val="110000"/>
              </a:lnSpc>
              <a:spcAft>
                <a:spcPts val="400"/>
              </a:spcAft>
            </a:pPr>
            <a:r>
              <a:rPr sz="1350" b="0">
                <a:solidFill>
                  <a:srgbClr val="1F2A3A"/>
                </a:solidFill>
                <a:latin typeface="맑은 고딕"/>
                <a:ea typeface="맑은 고딕"/>
                <a:cs typeface="맑은 고딕"/>
              </a:rPr>
              <a:t>• 실행 환경을 갖추고 설비 이상 한 건을 실제로 처리해 본다</a:t>
            </a:r>
          </a:p>
          <a:p>
            <a:pPr algn="l">
              <a:lnSpc>
                <a:spcPct val="110000"/>
              </a:lnSpc>
              <a:spcAft>
                <a:spcPts val="400"/>
              </a:spcAft>
            </a:pPr>
            <a:r>
              <a:rPr sz="1350" b="0">
                <a:solidFill>
                  <a:srgbClr val="1F2A3A"/>
                </a:solidFill>
                <a:latin typeface="맑은 고딕"/>
                <a:ea typeface="맑은 고딕"/>
                <a:cs typeface="맑은 고딕"/>
              </a:rPr>
              <a:t>• 경보에서 조치까지의 과정을 포털에서 확인한다</a:t>
            </a:r>
          </a:p>
        </p:txBody>
      </p:sp>
      <p:sp>
        <p:nvSpPr>
          <p:cNvPr id="22" name="Rounded Rectangle 21"/>
          <p:cNvSpPr/>
          <p:nvPr/>
        </p:nvSpPr>
        <p:spPr>
          <a:xfrm>
            <a:off x="6461607" y="5587555"/>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8755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
        <p:nvSpPr>
          <p:cNvPr id="24" name="Rounded Rectangle 23"/>
          <p:cNvSpPr/>
          <p:nvPr/>
        </p:nvSpPr>
        <p:spPr>
          <a:xfrm>
            <a:off x="9075191" y="1965388"/>
            <a:ext cx="2567863" cy="40519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166556"/>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320175"/>
            <a:ext cx="424281" cy="424281"/>
          </a:xfrm>
          <a:prstGeom prst="rect">
            <a:avLst/>
          </a:prstGeom>
        </p:spPr>
      </p:pic>
      <p:sp>
        <p:nvSpPr>
          <p:cNvPr id="27" name="TextBox 26"/>
          <p:cNvSpPr txBox="1"/>
          <p:nvPr/>
        </p:nvSpPr>
        <p:spPr>
          <a:xfrm>
            <a:off x="9239783"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온톨로지의 필요성</a:t>
            </a:r>
          </a:p>
          <a:p>
            <a:pPr algn="l">
              <a:lnSpc>
                <a:spcPct val="110000"/>
              </a:lnSpc>
              <a:spcAft>
                <a:spcPts val="400"/>
              </a:spcAft>
            </a:pPr>
            <a:r>
              <a:rPr sz="1350" b="0">
                <a:solidFill>
                  <a:srgbClr val="1F2A3A"/>
                </a:solidFill>
                <a:latin typeface="맑은 고딕"/>
                <a:ea typeface="맑은 고딕"/>
                <a:cs typeface="맑은 고딕"/>
              </a:rPr>
              <a:t>• 이 시스템이 원인을 가리고 조치를 고르려면 왜 온톨로지가 바탕이 되어야 하는지 설명한다</a:t>
            </a:r>
          </a:p>
          <a:p>
            <a:pPr algn="l">
              <a:lnSpc>
                <a:spcPct val="110000"/>
              </a:lnSpc>
              <a:spcAft>
                <a:spcPts val="400"/>
              </a:spcAft>
            </a:pPr>
            <a:r>
              <a:rPr sz="1350" b="0">
                <a:solidFill>
                  <a:srgbClr val="1F2A3A"/>
                </a:solidFill>
                <a:latin typeface="맑은 고딕"/>
                <a:ea typeface="맑은 고딕"/>
                <a:cs typeface="맑은 고딕"/>
              </a:rPr>
              <a:t>• 증상, 원인, 조치를 이름과 방향이 있는 관계로 그려 본다</a:t>
            </a:r>
          </a:p>
        </p:txBody>
      </p:sp>
      <p:sp>
        <p:nvSpPr>
          <p:cNvPr id="28" name="Rounded Rectangle 27"/>
          <p:cNvSpPr/>
          <p:nvPr/>
        </p:nvSpPr>
        <p:spPr>
          <a:xfrm>
            <a:off x="9303791" y="5587555"/>
            <a:ext cx="9753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87555"/>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강의에 앞서, 배운 것을 내 말로 남겨 자산으로 만드는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정리한 자료와 내 머릿속의 이해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자료를 넘겨 만든 문서는 읽기 좋을 뿐인데도, 그 내용을 내가 안다고 착각하게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넘겨 만든 자료</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필기와 강의 자료를 넘기면 보기 좋게 정리해 준다</a:t>
            </a:r>
          </a:p>
          <a:p>
            <a:pPr algn="l">
              <a:lnSpc>
                <a:spcPct val="110000"/>
              </a:lnSpc>
              <a:spcAft>
                <a:spcPts val="600"/>
              </a:spcAft>
            </a:pPr>
            <a:r>
              <a:rPr sz="1450" b="0">
                <a:solidFill>
                  <a:srgbClr val="1F2A3A"/>
                </a:solidFill>
                <a:latin typeface="맑은 고딕"/>
                <a:ea typeface="맑은 고딕"/>
                <a:cs typeface="맑은 고딕"/>
              </a:rPr>
              <a:t>• 달라지는 것은 읽기 쉬운 모양뿐이다</a:t>
            </a:r>
          </a:p>
          <a:p>
            <a:pPr algn="l">
              <a:lnSpc>
                <a:spcPct val="110000"/>
              </a:lnSpc>
              <a:spcAft>
                <a:spcPts val="600"/>
              </a:spcAft>
            </a:pPr>
            <a:r>
              <a:rPr sz="1450" b="0">
                <a:solidFill>
                  <a:srgbClr val="1F2A3A"/>
                </a:solidFill>
                <a:latin typeface="맑은 고딕"/>
                <a:ea typeface="맑은 고딕"/>
                <a:cs typeface="맑은 고딕"/>
              </a:rPr>
              <a:t>• 정리된 문서를 보면 그 내용을 안다고 착각한다</a:t>
            </a:r>
          </a:p>
          <a:p>
            <a:pPr algn="l">
              <a:lnSpc>
                <a:spcPct val="110000"/>
              </a:lnSpc>
              <a:spcAft>
                <a:spcPts val="600"/>
              </a:spcAft>
            </a:pPr>
            <a:r>
              <a:rPr sz="1450" b="0">
                <a:solidFill>
                  <a:srgbClr val="1F2A3A"/>
                </a:solidFill>
                <a:latin typeface="맑은 고딕"/>
                <a:ea typeface="맑은 고딕"/>
                <a:cs typeface="맑은 고딕"/>
              </a:rPr>
              <a:t>• 자료를 덮으면 설명이 막힌다</a:t>
            </a:r>
          </a:p>
        </p:txBody>
      </p:sp>
      <p:sp>
        <p:nvSpPr>
          <p:cNvPr id="11" name="Rounded Rectangle 10"/>
          <p:cNvSpPr/>
          <p:nvPr/>
        </p:nvSpPr>
        <p:spPr>
          <a:xfrm>
            <a:off x="868680" y="5096002"/>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읽기 좋은 문서</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백지에 내 말로 쓴 기록</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자료를 덮고 이해한 만큼 형식 없이 써 본다</a:t>
            </a:r>
          </a:p>
          <a:p>
            <a:pPr algn="l">
              <a:lnSpc>
                <a:spcPct val="110000"/>
              </a:lnSpc>
              <a:spcAft>
                <a:spcPts val="600"/>
              </a:spcAft>
            </a:pPr>
            <a:r>
              <a:rPr sz="1450" b="0">
                <a:solidFill>
                  <a:srgbClr val="1F2A3A"/>
                </a:solidFill>
                <a:latin typeface="맑은 고딕"/>
                <a:ea typeface="맑은 고딕"/>
                <a:cs typeface="맑은 고딕"/>
              </a:rPr>
              <a:t>• 쓰다가 막히는 곳에서 모르는 부분이 드러난다</a:t>
            </a:r>
          </a:p>
          <a:p>
            <a:pPr algn="l">
              <a:lnSpc>
                <a:spcPct val="110000"/>
              </a:lnSpc>
              <a:spcAft>
                <a:spcPts val="600"/>
              </a:spcAft>
            </a:pPr>
            <a:r>
              <a:rPr sz="1450" b="0">
                <a:solidFill>
                  <a:srgbClr val="1F2A3A"/>
                </a:solidFill>
                <a:latin typeface="맑은 고딕"/>
                <a:ea typeface="맑은 고딕"/>
                <a:cs typeface="맑은 고딕"/>
              </a:rPr>
              <a:t>• 직접 쓰고 고친 내용은 머릿속에 남는다</a:t>
            </a:r>
          </a:p>
        </p:txBody>
      </p:sp>
      <p:sp>
        <p:nvSpPr>
          <p:cNvPr id="18" name="Rounded Rectangle 17"/>
          <p:cNvSpPr/>
          <p:nvPr/>
        </p:nvSpPr>
        <p:spPr>
          <a:xfrm>
            <a:off x="6781647" y="5096002"/>
            <a:ext cx="14173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4173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내 것이 된 지식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백지에 넓게 먼저 써 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처음에는 깊이 들어가지 않고 아는 범위를 넓게 써 보면, 틀리거나 막히는 곳이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x" descr="x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틀린 곳</a:t>
            </a:r>
          </a:p>
          <a:p>
            <a:pPr algn="l">
              <a:lnSpc>
                <a:spcPct val="110000"/>
              </a:lnSpc>
              <a:spcAft>
                <a:spcPts val="400"/>
              </a:spcAft>
            </a:pPr>
            <a:r>
              <a:rPr sz="1400" b="0">
                <a:solidFill>
                  <a:srgbClr val="1F2A3A"/>
                </a:solidFill>
                <a:latin typeface="맑은 고딕"/>
                <a:ea typeface="맑은 고딕"/>
                <a:cs typeface="맑은 고딕"/>
              </a:rPr>
              <a:t>사실과 다르게 쓴 문장</a:t>
            </a:r>
          </a:p>
        </p:txBody>
      </p:sp>
      <p:sp>
        <p:nvSpPr>
          <p:cNvPr id="10" name="Rounded Rectangle 9"/>
          <p:cNvSpPr/>
          <p:nvPr/>
        </p:nvSpPr>
        <p:spPr>
          <a:xfrm>
            <a:off x="777240" y="4932934"/>
            <a:ext cx="10667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0667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잘못 안 것</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message-dots" descr="message-dots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횡설수설한 곳</a:t>
            </a:r>
          </a:p>
          <a:p>
            <a:pPr algn="l">
              <a:lnSpc>
                <a:spcPct val="110000"/>
              </a:lnSpc>
              <a:spcAft>
                <a:spcPts val="400"/>
              </a:spcAft>
            </a:pPr>
            <a:r>
              <a:rPr sz="1400" b="0">
                <a:solidFill>
                  <a:srgbClr val="1F2A3A"/>
                </a:solidFill>
                <a:latin typeface="맑은 고딕"/>
                <a:ea typeface="맑은 고딕"/>
                <a:cs typeface="맑은 고딕"/>
              </a:rPr>
              <a:t>말은 이어지는데 뜻이 분명하지 않은 문장</a:t>
            </a:r>
          </a:p>
        </p:txBody>
      </p:sp>
      <p:sp>
        <p:nvSpPr>
          <p:cNvPr id="16" name="Rounded Rectangle 15"/>
          <p:cNvSpPr/>
          <p:nvPr/>
        </p:nvSpPr>
        <p:spPr>
          <a:xfrm>
            <a:off x="4566818" y="493293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흐릿하게 아는 것</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막힌 곳</a:t>
            </a:r>
          </a:p>
          <a:p>
            <a:pPr algn="l">
              <a:lnSpc>
                <a:spcPct val="110000"/>
              </a:lnSpc>
              <a:spcAft>
                <a:spcPts val="400"/>
              </a:spcAft>
            </a:pPr>
            <a:r>
              <a:rPr sz="1400" b="0">
                <a:solidFill>
                  <a:srgbClr val="1F2A3A"/>
                </a:solidFill>
                <a:latin typeface="맑은 고딕"/>
                <a:ea typeface="맑은 고딕"/>
                <a:cs typeface="맑은 고딕"/>
              </a:rPr>
              <a:t>더 쓰지 못하고 멈춘 자리</a:t>
            </a:r>
          </a:p>
        </p:txBody>
      </p:sp>
      <p:sp>
        <p:nvSpPr>
          <p:cNvPr id="22" name="Rounded Rectangle 21"/>
          <p:cNvSpPr/>
          <p:nvPr/>
        </p:nvSpPr>
        <p:spPr>
          <a:xfrm>
            <a:off x="8356396" y="493293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모르는 것</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너비를 먼저 고치고, 깊이는 그다음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넓게 쓴 글에서 틀리고 흐릿한 곳을 먼저 바로잡아 전체를 맞춘 뒤, 막힌 곳을 하나씩 깊게 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arrows-horizontal" descr="arrows-horizontal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먼저 너비</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넓게 쓴 글을 다시 읽는다</a:t>
            </a:r>
          </a:p>
          <a:p>
            <a:pPr algn="l">
              <a:lnSpc>
                <a:spcPct val="110000"/>
              </a:lnSpc>
              <a:spcAft>
                <a:spcPts val="600"/>
              </a:spcAft>
            </a:pPr>
            <a:r>
              <a:rPr sz="1450" b="0">
                <a:solidFill>
                  <a:srgbClr val="1F2A3A"/>
                </a:solidFill>
                <a:latin typeface="맑은 고딕"/>
                <a:ea typeface="맑은 고딕"/>
                <a:cs typeface="맑은 고딕"/>
              </a:rPr>
              <a:t>• 틀린 곳과 횡설수설한 곳을 바로잡는다</a:t>
            </a:r>
          </a:p>
          <a:p>
            <a:pPr algn="l">
              <a:lnSpc>
                <a:spcPct val="110000"/>
              </a:lnSpc>
              <a:spcAft>
                <a:spcPts val="600"/>
              </a:spcAft>
            </a:pPr>
            <a:r>
              <a:rPr sz="1450" b="0">
                <a:solidFill>
                  <a:srgbClr val="1F2A3A"/>
                </a:solidFill>
                <a:latin typeface="맑은 고딕"/>
                <a:ea typeface="맑은 고딕"/>
                <a:cs typeface="맑은 고딕"/>
              </a:rPr>
              <a:t>• 전체의 줄기가 맞을 때까지 고쳐 쓴다</a:t>
            </a:r>
          </a:p>
        </p:txBody>
      </p:sp>
      <p:sp>
        <p:nvSpPr>
          <p:cNvPr id="11" name="Rounded Rectangle 10"/>
          <p:cNvSpPr/>
          <p:nvPr/>
        </p:nvSpPr>
        <p:spPr>
          <a:xfrm>
            <a:off x="868680" y="4945570"/>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전체를 맞춘다</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rrow-down" descr="arrow-down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그다음 깊이</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곳 가운데 하나를 고른다</a:t>
            </a:r>
          </a:p>
          <a:p>
            <a:pPr algn="l">
              <a:lnSpc>
                <a:spcPct val="110000"/>
              </a:lnSpc>
              <a:spcAft>
                <a:spcPts val="600"/>
              </a:spcAft>
            </a:pPr>
            <a:r>
              <a:rPr sz="1450" b="0">
                <a:solidFill>
                  <a:srgbClr val="1F2A3A"/>
                </a:solidFill>
                <a:latin typeface="맑은 고딕"/>
                <a:ea typeface="맑은 고딕"/>
                <a:cs typeface="맑은 고딕"/>
              </a:rPr>
              <a:t>• 그 용어를 바닥까지 내려가 판다</a:t>
            </a:r>
          </a:p>
          <a:p>
            <a:pPr algn="l">
              <a:lnSpc>
                <a:spcPct val="110000"/>
              </a:lnSpc>
              <a:spcAft>
                <a:spcPts val="600"/>
              </a:spcAft>
            </a:pPr>
            <a:r>
              <a:rPr sz="1450" b="0">
                <a:solidFill>
                  <a:srgbClr val="1F2A3A"/>
                </a:solidFill>
                <a:latin typeface="맑은 고딕"/>
                <a:ea typeface="맑은 고딕"/>
                <a:cs typeface="맑은 고딕"/>
              </a:rPr>
              <a:t>• 이해한 것을 다시 전체에 이어 붙인다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하나씩 판다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모르는 말은 바닥까지 내려가 판다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모르는 말은 뜻을 계속 물으며 바닥까지 내려간 뒤, 다시 올라오며 차곡차곡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막힌 용어</a:t>
            </a:r>
          </a:p>
          <a:p>
            <a:pPr algn="ctr">
              <a:lnSpc>
                <a:spcPct val="110000"/>
              </a:lnSpc>
              <a:spcAft>
                <a:spcPts val="400"/>
              </a:spcAft>
            </a:pPr>
            <a:r>
              <a:rPr sz="1350" b="0">
                <a:solidFill>
                  <a:srgbClr val="1F2A3A"/>
                </a:solidFill>
                <a:latin typeface="맑은 고딕"/>
                <a:ea typeface="맑은 고딕"/>
                <a:cs typeface="맑은 고딕"/>
              </a:rPr>
              <a:t>공부할 범위에서</a:t>
            </a:r>
          </a:p>
          <a:p>
            <a:pPr algn="ctr">
              <a:lnSpc>
                <a:spcPct val="110000"/>
              </a:lnSpc>
              <a:spcAft>
                <a:spcPts val="400"/>
              </a:spcAft>
            </a:pPr>
            <a:r>
              <a:rPr sz="1350" b="0">
                <a:solidFill>
                  <a:srgbClr val="1F2A3A"/>
                </a:solidFill>
                <a:latin typeface="맑은 고딕"/>
                <a:ea typeface="맑은 고딕"/>
                <a:cs typeface="맑은 고딕"/>
              </a:rPr>
              <a:t>모르는 용어를</a:t>
            </a:r>
          </a:p>
          <a:p>
            <a:pPr algn="ctr">
              <a:lnSpc>
                <a:spcPct val="110000"/>
              </a:lnSpc>
              <a:spcAft>
                <a:spcPts val="400"/>
              </a:spcAft>
            </a:pPr>
            <a:r>
              <a:rPr sz="1350" b="0">
                <a:solidFill>
                  <a:srgbClr val="1F2A3A"/>
                </a:solidFill>
                <a:latin typeface="맑은 고딕"/>
                <a:ea typeface="맑은 고딕"/>
                <a:cs typeface="맑은 고딕"/>
              </a:rPr>
              <a:t>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help" descr="help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뜻을 묻는다</a:t>
            </a:r>
          </a:p>
          <a:p>
            <a:pPr algn="ctr">
              <a:lnSpc>
                <a:spcPct val="110000"/>
              </a:lnSpc>
              <a:spcAft>
                <a:spcPts val="400"/>
              </a:spcAft>
            </a:pPr>
            <a:r>
              <a:rPr sz="1350" b="0">
                <a:solidFill>
                  <a:srgbClr val="1F2A3A"/>
                </a:solidFill>
                <a:latin typeface="맑은 고딕"/>
                <a:ea typeface="맑은 고딕"/>
                <a:cs typeface="맑은 고딕"/>
              </a:rPr>
              <a:t>그 용어가</a:t>
            </a:r>
          </a:p>
          <a:p>
            <a:pPr algn="ctr">
              <a:lnSpc>
                <a:spcPct val="110000"/>
              </a:lnSpc>
              <a:spcAft>
                <a:spcPts val="400"/>
              </a:spcAft>
            </a:pPr>
            <a:r>
              <a:rPr sz="1350" b="0">
                <a:solidFill>
                  <a:srgbClr val="1F2A3A"/>
                </a:solidFill>
                <a:latin typeface="맑은 고딕"/>
                <a:ea typeface="맑은 고딕"/>
                <a:cs typeface="맑은 고딕"/>
              </a:rPr>
              <a:t>무엇을 뜻하는지</a:t>
            </a:r>
          </a:p>
          <a:p>
            <a:pPr algn="ctr">
              <a:lnSpc>
                <a:spcPct val="110000"/>
              </a:lnSpc>
              <a:spcAft>
                <a:spcPts val="400"/>
              </a:spcAft>
            </a:pPr>
            <a:r>
              <a:rPr sz="1350" b="0">
                <a:solidFill>
                  <a:srgbClr val="1F2A3A"/>
                </a:solidFill>
                <a:latin typeface="맑은 고딕"/>
                <a:ea typeface="맑은 고딕"/>
                <a:cs typeface="맑은 고딕"/>
              </a:rPr>
              <a:t>AI에게 묻는다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arrow-down" descr="arrow-down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계속 내려간다</a:t>
            </a:r>
          </a:p>
          <a:p>
            <a:pPr algn="ctr">
              <a:lnSpc>
                <a:spcPct val="110000"/>
              </a:lnSpc>
              <a:spcAft>
                <a:spcPts val="400"/>
              </a:spcAft>
            </a:pPr>
            <a:r>
              <a:rPr sz="1350" b="0">
                <a:solidFill>
                  <a:srgbClr val="1F2A3A"/>
                </a:solidFill>
                <a:latin typeface="맑은 고딕"/>
                <a:ea typeface="맑은 고딕"/>
                <a:cs typeface="맑은 고딕"/>
              </a:rPr>
              <a:t>설명 속에 또 모르는 말이</a:t>
            </a:r>
          </a:p>
          <a:p>
            <a:pPr algn="ctr">
              <a:lnSpc>
                <a:spcPct val="110000"/>
              </a:lnSpc>
              <a:spcAft>
                <a:spcPts val="400"/>
              </a:spcAft>
            </a:pPr>
            <a:r>
              <a:rPr sz="1350" b="0">
                <a:solidFill>
                  <a:srgbClr val="1F2A3A"/>
                </a:solidFill>
                <a:latin typeface="맑은 고딕"/>
                <a:ea typeface="맑은 고딕"/>
                <a:cs typeface="맑은 고딕"/>
              </a:rPr>
              <a:t>있으면 다시 묻는다</a:t>
            </a:r>
          </a:p>
          <a:p>
            <a:pPr algn="ctr">
              <a:lnSpc>
                <a:spcPct val="110000"/>
              </a:lnSpc>
              <a:spcAft>
                <a:spcPts val="400"/>
              </a:spcAft>
            </a:pPr>
            <a:r>
              <a:rPr sz="1350" b="0">
                <a:solidFill>
                  <a:srgbClr val="1F2A3A"/>
                </a:solidFill>
                <a:latin typeface="맑은 고딕"/>
                <a:ea typeface="맑은 고딕"/>
                <a:cs typeface="맑은 고딕"/>
              </a:rPr>
              <a:t>초등학생에게 하듯</a:t>
            </a:r>
          </a:p>
          <a:p>
            <a:pPr algn="ctr">
              <a:lnSpc>
                <a:spcPct val="110000"/>
              </a:lnSpc>
              <a:spcAft>
                <a:spcPts val="400"/>
              </a:spcAft>
            </a:pPr>
            <a:r>
              <a:rPr sz="1350" b="0">
                <a:solidFill>
                  <a:srgbClr val="1F2A3A"/>
                </a:solidFill>
                <a:latin typeface="맑은 고딕"/>
                <a:ea typeface="맑은 고딕"/>
                <a:cs typeface="맑은 고딕"/>
              </a:rPr>
              <a:t>설명해 달라고 해도 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arrow-up" descr="arrow-up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올라온다</a:t>
            </a:r>
          </a:p>
          <a:p>
            <a:pPr algn="ctr">
              <a:lnSpc>
                <a:spcPct val="110000"/>
              </a:lnSpc>
              <a:spcAft>
                <a:spcPts val="400"/>
              </a:spcAft>
            </a:pPr>
            <a:r>
              <a:rPr sz="1350" b="0">
                <a:solidFill>
                  <a:srgbClr val="1F2A3A"/>
                </a:solidFill>
                <a:latin typeface="맑은 고딕"/>
                <a:ea typeface="맑은 고딕"/>
                <a:cs typeface="맑은 고딕"/>
              </a:rPr>
              <a:t>바닥에서부터</a:t>
            </a:r>
          </a:p>
          <a:p>
            <a:pPr algn="ctr">
              <a:lnSpc>
                <a:spcPct val="110000"/>
              </a:lnSpc>
              <a:spcAft>
                <a:spcPts val="400"/>
              </a:spcAft>
            </a:pPr>
            <a:r>
              <a:rPr sz="1350" b="0">
                <a:solidFill>
                  <a:srgbClr val="1F2A3A"/>
                </a:solidFill>
                <a:latin typeface="맑은 고딕"/>
                <a:ea typeface="맑은 고딕"/>
                <a:cs typeface="맑은 고딕"/>
              </a:rPr>
              <a:t>하나씩 이어 붙이며</a:t>
            </a:r>
          </a:p>
          <a:p>
            <a:pPr algn="ctr">
              <a:lnSpc>
                <a:spcPct val="110000"/>
              </a:lnSpc>
              <a:spcAft>
                <a:spcPts val="400"/>
              </a:spcAft>
            </a:pPr>
            <a:r>
              <a:rPr sz="1350" b="0">
                <a:solidFill>
                  <a:srgbClr val="1F2A3A"/>
                </a:solidFill>
                <a:latin typeface="맑은 고딕"/>
                <a:ea typeface="맑은 고딕"/>
                <a:cs typeface="맑은 고딕"/>
              </a:rPr>
              <a:t>처음의 용어로</a:t>
            </a:r>
          </a:p>
          <a:p>
            <a:pPr algn="ctr">
              <a:lnSpc>
                <a:spcPct val="110000"/>
              </a:lnSpc>
              <a:spcAft>
                <a:spcPts val="400"/>
              </a:spcAft>
            </a:pPr>
            <a:r>
              <a:rPr sz="1350" b="0">
                <a:solidFill>
                  <a:srgbClr val="1F2A3A"/>
                </a:solidFill>
                <a:latin typeface="맑은 고딕"/>
                <a:ea typeface="맑은 고딕"/>
                <a:cs typeface="맑은 고딕"/>
              </a:rPr>
              <a:t>돌아온다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정의를 외우지 않고 뜻을 내 말로 옮긴다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원리에서 벗어나지 않는다면 정의를 그대로 외울 필요 없이, 뜻이 같은 쉬운 말로 이해하면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book" descr="boo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정의를 그대로 외운다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문장은 기억하지만 다른 말로 물으면 답하지 못한다</a:t>
            </a:r>
          </a:p>
          <a:p>
            <a:pPr algn="l">
              <a:lnSpc>
                <a:spcPct val="110000"/>
              </a:lnSpc>
              <a:spcAft>
                <a:spcPts val="600"/>
              </a:spcAft>
            </a:pPr>
            <a:r>
              <a:rPr sz="1450" b="0">
                <a:solidFill>
                  <a:srgbClr val="1F2A3A"/>
                </a:solidFill>
                <a:latin typeface="맑은 고딕"/>
                <a:ea typeface="맑은 고딕"/>
                <a:cs typeface="맑은 고딕"/>
              </a:rPr>
              <a:t>• 외운 문장 밖으로는 설명하지 못한다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외운 문장</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message-dots" descr="message-dots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뜻을 내 말로 옮긴다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원리는 그대로 두고 표현만 쉽게 바꾼다</a:t>
            </a:r>
          </a:p>
          <a:p>
            <a:pPr algn="l">
              <a:lnSpc>
                <a:spcPct val="110000"/>
              </a:lnSpc>
              <a:spcAft>
                <a:spcPts val="600"/>
              </a:spcAft>
            </a:pPr>
            <a:r>
              <a:rPr sz="1450" b="0">
                <a:solidFill>
                  <a:srgbClr val="1F2A3A"/>
                </a:solidFill>
                <a:latin typeface="맑은 고딕"/>
                <a:ea typeface="맑은 고딕"/>
                <a:cs typeface="맑은 고딕"/>
              </a:rPr>
              <a:t>• 다른 말로 물어도 답할 수 있다</a:t>
            </a:r>
          </a:p>
          <a:p>
            <a:pPr algn="l">
              <a:lnSpc>
                <a:spcPct val="110000"/>
              </a:lnSpc>
              <a:spcAft>
                <a:spcPts val="600"/>
              </a:spcAft>
            </a:pPr>
            <a:r>
              <a:rPr sz="1450" b="0">
                <a:solidFill>
                  <a:srgbClr val="1F2A3A"/>
                </a:solidFill>
                <a:latin typeface="맑은 고딕"/>
                <a:ea typeface="맑은 고딕"/>
                <a:cs typeface="맑은 고딕"/>
              </a:rPr>
              <a:t>• 다른 사람에게 설명할 수 있다</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이해한 뜻</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배운 것을 이 방법으로 학습노트에 쌓는다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앞으로 배우는 내용은 이 방법대로 써서 개인 학습노트에 쌓으며, 그렇게 쌓인 기록이 자산이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내가 쓰고, 이해하고, 내 말로 옮긴 것이 자산이 된다</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school" descr="school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배운다</a:t>
            </a:r>
          </a:p>
          <a:p>
            <a:pPr algn="l">
              <a:lnSpc>
                <a:spcPct val="110000"/>
              </a:lnSpc>
              <a:spcAft>
                <a:spcPts val="400"/>
              </a:spcAft>
            </a:pPr>
            <a:r>
              <a:rPr sz="1400" b="0">
                <a:solidFill>
                  <a:srgbClr val="1F2A3A"/>
                </a:solidFill>
                <a:latin typeface="맑은 고딕"/>
                <a:ea typeface="맑은 고딕"/>
                <a:cs typeface="맑은 고딕"/>
              </a:rPr>
              <a:t>회차마다 새 개념을 만난다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pencil" descr="pencil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내 말로 쓴다</a:t>
            </a:r>
          </a:p>
          <a:p>
            <a:pPr algn="l">
              <a:lnSpc>
                <a:spcPct val="110000"/>
              </a:lnSpc>
              <a:spcAft>
                <a:spcPts val="400"/>
              </a:spcAft>
            </a:pPr>
            <a:r>
              <a:rPr sz="1400" b="0">
                <a:solidFill>
                  <a:srgbClr val="1F2A3A"/>
                </a:solidFill>
                <a:latin typeface="맑은 고딕"/>
                <a:ea typeface="맑은 고딕"/>
                <a:cs typeface="맑은 고딕"/>
              </a:rPr>
              <a:t>넓게 쓰고 고친 뒤 깊게 판다</a:t>
            </a:r>
          </a:p>
        </p:txBody>
      </p:sp>
      <p:sp>
        <p:nvSpPr>
          <p:cNvPr id="14" name="Oval 13"/>
          <p:cNvSpPr/>
          <p:nvPr/>
        </p:nvSpPr>
        <p:spPr>
          <a:xfrm>
            <a:off x="8127796" y="4071620"/>
            <a:ext cx="731520" cy="731520"/>
          </a:xfrm>
          <a:prstGeom prst="ellipse">
            <a:avLst/>
          </a:prstGeom>
          <a:solidFill>
            <a:srgbClr val="E7F3FD"/>
          </a:solidFill>
          <a:ln>
            <a:noFill/>
          </a:ln>
        </p:spPr>
        <p:txBody>
          <a:bodyPr rtlCol="0" anchor="ctr"/>
          <a:lstStyle/>
          <a:p>
            <a:pPr algn="ctr"/>
          </a:p>
        </p:txBody>
      </p:sp>
      <p:pic>
        <p:nvPicPr>
          <p:cNvPr id="15" name="아이콘:notebook" descr="notebook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학습노트에 쌓는다</a:t>
            </a:r>
          </a:p>
          <a:p>
            <a:pPr algn="l">
              <a:lnSpc>
                <a:spcPct val="110000"/>
              </a:lnSpc>
              <a:spcAft>
                <a:spcPts val="400"/>
              </a:spcAft>
            </a:pPr>
            <a:r>
              <a:rPr sz="1400" b="0">
                <a:solidFill>
                  <a:srgbClr val="1F2A3A"/>
                </a:solidFill>
                <a:latin typeface="맑은 고딕"/>
                <a:ea typeface="맑은 고딕"/>
                <a:cs typeface="맑은 고딕"/>
              </a:rPr>
              <a:t>이어지는 실습에서 만드는 개인 학습노트에 모은다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지식 자산화를 위한 개인 학습노트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앞으로 배운 것을 내 말로 쌓아 갈 학습노트의 틀을 만든다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만드는 학습노트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과정 홈과 학습노트 데이터베이스를 만들고, 개념 하나를 내 말로 써서 첫 기록을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home" descr="hom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과정 홈</a:t>
            </a:r>
          </a:p>
          <a:p>
            <a:pPr algn="l">
              <a:lnSpc>
                <a:spcPct val="110000"/>
              </a:lnSpc>
              <a:spcAft>
                <a:spcPts val="400"/>
              </a:spcAft>
            </a:pPr>
            <a:r>
              <a:rPr sz="1400" b="0">
                <a:solidFill>
                  <a:srgbClr val="1F2A3A"/>
                </a:solidFill>
                <a:latin typeface="맑은 고딕"/>
                <a:ea typeface="맑은 고딕"/>
                <a:cs typeface="맑은 고딕"/>
              </a:rPr>
              <a:t>• 과정 전체로 들어가는 첫 페이지이다</a:t>
            </a:r>
          </a:p>
          <a:p>
            <a:pPr algn="l">
              <a:lnSpc>
                <a:spcPct val="110000"/>
              </a:lnSpc>
              <a:spcAft>
                <a:spcPts val="400"/>
              </a:spcAft>
            </a:pPr>
            <a:r>
              <a:rPr sz="1400" b="0">
                <a:solidFill>
                  <a:srgbClr val="1F2A3A"/>
                </a:solidFill>
                <a:latin typeface="맑은 고딕"/>
                <a:ea typeface="맑은 고딕"/>
                <a:cs typeface="맑은 고딕"/>
              </a:rPr>
              <a:t>• 노트를 쓰는 규칙을 몇 줄로 적어 둔다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입구</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구획</a:t>
            </a:r>
          </a:p>
          <a:p>
            <a:pPr algn="l">
              <a:lnSpc>
                <a:spcPct val="110000"/>
              </a:lnSpc>
              <a:spcAft>
                <a:spcPts val="400"/>
              </a:spcAft>
            </a:pPr>
            <a:r>
              <a:rPr sz="1400" b="0">
                <a:solidFill>
                  <a:srgbClr val="1F2A3A"/>
                </a:solidFill>
                <a:latin typeface="맑은 고딕"/>
                <a:ea typeface="맑은 고딕"/>
                <a:cs typeface="맑은 고딕"/>
              </a:rPr>
              <a:t>• 본문을 개념 정리, 참고 자료, 실습 결과로 나눈다</a:t>
            </a:r>
          </a:p>
          <a:p>
            <a:pPr algn="l">
              <a:lnSpc>
                <a:spcPct val="110000"/>
              </a:lnSpc>
              <a:spcAft>
                <a:spcPts val="400"/>
              </a:spcAft>
            </a:pPr>
            <a:r>
              <a:rPr sz="1400" b="0">
                <a:solidFill>
                  <a:srgbClr val="1F2A3A"/>
                </a:solidFill>
                <a:latin typeface="맑은 고딕"/>
                <a:ea typeface="맑은 고딕"/>
                <a:cs typeface="맑은 고딕"/>
              </a:rPr>
              <a:t>• 기록마다 놓일 자리가 정해진다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자리</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학습노트 데이터베이스</a:t>
            </a:r>
          </a:p>
          <a:p>
            <a:pPr algn="l">
              <a:lnSpc>
                <a:spcPct val="110000"/>
              </a:lnSpc>
              <a:spcAft>
                <a:spcPts val="400"/>
              </a:spcAft>
            </a:pPr>
            <a:r>
              <a:rPr sz="1400" b="0">
                <a:solidFill>
                  <a:srgbClr val="1F2A3A"/>
                </a:solidFill>
                <a:latin typeface="맑은 고딕"/>
                <a:ea typeface="맑은 고딕"/>
                <a:cs typeface="맑은 고딕"/>
              </a:rPr>
              <a:t>• 기록마다 분야, 이해도, 작성일을 붙인다</a:t>
            </a:r>
          </a:p>
          <a:p>
            <a:pPr algn="l">
              <a:lnSpc>
                <a:spcPct val="110000"/>
              </a:lnSpc>
              <a:spcAft>
                <a:spcPts val="400"/>
              </a:spcAft>
            </a:pPr>
            <a:r>
              <a:rPr sz="1400" b="0">
                <a:solidFill>
                  <a:srgbClr val="1F2A3A"/>
                </a:solidFill>
                <a:latin typeface="맑은 고딕"/>
                <a:ea typeface="맑은 고딕"/>
                <a:cs typeface="맑은 고딕"/>
              </a:rPr>
              <a:t>• 이해도가 낮은 기록만 모아 다시 볼 수 있게 한다</a:t>
            </a:r>
          </a:p>
          <a:p>
            <a:pPr algn="l">
              <a:lnSpc>
                <a:spcPct val="110000"/>
              </a:lnSpc>
              <a:spcAft>
                <a:spcPts val="400"/>
              </a:spcAft>
            </a:pPr>
            <a:r>
              <a:rPr sz="1400" b="0">
                <a:solidFill>
                  <a:srgbClr val="1F2A3A"/>
                </a:solidFill>
                <a:latin typeface="맑은 고딕"/>
                <a:ea typeface="맑은 고딕"/>
                <a:cs typeface="맑은 고딕"/>
              </a:rPr>
              <a:t>• 첫 기록으로 개념 하나를 내 말로 쓴다</a:t>
            </a:r>
          </a:p>
        </p:txBody>
      </p:sp>
      <p:sp>
        <p:nvSpPr>
          <p:cNvPr id="22" name="Rounded Rectangle 21"/>
          <p:cNvSpPr/>
          <p:nvPr/>
        </p:nvSpPr>
        <p:spPr>
          <a:xfrm>
            <a:off x="8356396" y="5366766"/>
            <a:ext cx="15239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분류와 다시 보기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제조 설비에서 AI의 판단과 조치까지 이어지는 시스템의 구조, 계층, 데이터 흐름</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설비에서 관제 화면까지: 현장의 구성요소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설비의 물리량은 센서와 PLC를 거쳐 관제 화면에 이르며, 이 단원은 그 데이터를 판단과 조치로 잇는 구조를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ectangle 5"/>
          <p:cNvSpPr/>
          <p:nvPr/>
        </p:nvSpPr>
        <p:spPr>
          <a:xfrm>
            <a:off x="1935441" y="3364674"/>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254946"/>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물리량</a:t>
            </a:r>
          </a:p>
        </p:txBody>
      </p:sp>
      <p:sp>
        <p:nvSpPr>
          <p:cNvPr id="9" name="Oval 8"/>
          <p:cNvSpPr/>
          <p:nvPr/>
        </p:nvSpPr>
        <p:spPr>
          <a:xfrm>
            <a:off x="1341081"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engine" descr="engine_13294B_1.6.png"/>
          <p:cNvPicPr>
            <a:picLocks noChangeAspect="1"/>
          </p:cNvPicPr>
          <p:nvPr/>
        </p:nvPicPr>
        <p:blipFill>
          <a:blip r:embed="rId3"/>
          <a:stretch>
            <a:fillRect/>
          </a:stretch>
        </p:blipFill>
        <p:spPr>
          <a:xfrm>
            <a:off x="1626374" y="3128759"/>
            <a:ext cx="618134" cy="618134"/>
          </a:xfrm>
          <a:prstGeom prst="rect">
            <a:avLst/>
          </a:prstGeom>
        </p:spPr>
      </p:pic>
      <p:sp>
        <p:nvSpPr>
          <p:cNvPr id="11" name="TextBox 10"/>
          <p:cNvSpPr txBox="1"/>
          <p:nvPr/>
        </p:nvSpPr>
        <p:spPr>
          <a:xfrm>
            <a:off x="640079"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a:t>
            </a:r>
          </a:p>
          <a:p>
            <a:pPr algn="ctr">
              <a:lnSpc>
                <a:spcPct val="110000"/>
              </a:lnSpc>
              <a:spcAft>
                <a:spcPts val="400"/>
              </a:spcAft>
            </a:pPr>
            <a:r>
              <a:rPr sz="1300" b="0">
                <a:solidFill>
                  <a:srgbClr val="1F2A3A"/>
                </a:solidFill>
                <a:latin typeface="맑은 고딕"/>
                <a:ea typeface="맑은 고딕"/>
                <a:cs typeface="맑은 고딕"/>
              </a:rPr>
              <a:t>압력, 온도, 진동 같은</a:t>
            </a:r>
          </a:p>
          <a:p>
            <a:pPr algn="ctr">
              <a:lnSpc>
                <a:spcPct val="110000"/>
              </a:lnSpc>
              <a:spcAft>
                <a:spcPts val="400"/>
              </a:spcAft>
            </a:pPr>
            <a:r>
              <a:rPr sz="1300" b="0">
                <a:solidFill>
                  <a:srgbClr val="1F2A3A"/>
                </a:solidFill>
                <a:latin typeface="맑은 고딕"/>
                <a:ea typeface="맑은 고딕"/>
                <a:cs typeface="맑은 고딕"/>
              </a:rPr>
              <a:t>물리량이 생긴다</a:t>
            </a:r>
          </a:p>
        </p:txBody>
      </p:sp>
      <p:sp>
        <p:nvSpPr>
          <p:cNvPr id="12" name="Chevron 11"/>
          <p:cNvSpPr/>
          <p:nvPr/>
        </p:nvSpPr>
        <p:spPr>
          <a:xfrm>
            <a:off x="5976975" y="3254946"/>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계측값</a:t>
            </a:r>
          </a:p>
        </p:txBody>
      </p:sp>
      <p:sp>
        <p:nvSpPr>
          <p:cNvPr id="14" name="Oval 13"/>
          <p:cNvSpPr/>
          <p:nvPr/>
        </p:nvSpPr>
        <p:spPr>
          <a:xfrm>
            <a:off x="4114685"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gauge" descr="gauge_13294B_1.6.png"/>
          <p:cNvPicPr>
            <a:picLocks noChangeAspect="1"/>
          </p:cNvPicPr>
          <p:nvPr/>
        </p:nvPicPr>
        <p:blipFill>
          <a:blip r:embed="rId4"/>
          <a:stretch>
            <a:fillRect/>
          </a:stretch>
        </p:blipFill>
        <p:spPr>
          <a:xfrm>
            <a:off x="4399978" y="3128759"/>
            <a:ext cx="618134" cy="618134"/>
          </a:xfrm>
          <a:prstGeom prst="rect">
            <a:avLst/>
          </a:prstGeom>
        </p:spPr>
      </p:pic>
      <p:sp>
        <p:nvSpPr>
          <p:cNvPr id="16" name="TextBox 15"/>
          <p:cNvSpPr txBox="1"/>
          <p:nvPr/>
        </p:nvSpPr>
        <p:spPr>
          <a:xfrm>
            <a:off x="3413683"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센서</a:t>
            </a:r>
          </a:p>
          <a:p>
            <a:pPr algn="ctr">
              <a:lnSpc>
                <a:spcPct val="110000"/>
              </a:lnSpc>
              <a:spcAft>
                <a:spcPts val="400"/>
              </a:spcAft>
            </a:pPr>
            <a:r>
              <a:rPr sz="1300" b="0">
                <a:solidFill>
                  <a:srgbClr val="1F2A3A"/>
                </a:solidFill>
                <a:latin typeface="맑은 고딕"/>
                <a:ea typeface="맑은 고딕"/>
                <a:cs typeface="맑은 고딕"/>
              </a:rPr>
              <a:t>물리량을 재어</a:t>
            </a:r>
          </a:p>
          <a:p>
            <a:pPr algn="ctr">
              <a:lnSpc>
                <a:spcPct val="110000"/>
              </a:lnSpc>
              <a:spcAft>
                <a:spcPts val="400"/>
              </a:spcAft>
            </a:pPr>
            <a:r>
              <a:rPr sz="1300" b="0">
                <a:solidFill>
                  <a:srgbClr val="1F2A3A"/>
                </a:solidFill>
                <a:latin typeface="맑은 고딕"/>
                <a:ea typeface="맑은 고딕"/>
                <a:cs typeface="맑은 고딕"/>
              </a:rPr>
              <a:t>계측값으로 내놓는다</a:t>
            </a:r>
          </a:p>
        </p:txBody>
      </p:sp>
      <p:sp>
        <p:nvSpPr>
          <p:cNvPr id="17" name="Chevron 16"/>
          <p:cNvSpPr/>
          <p:nvPr/>
        </p:nvSpPr>
        <p:spPr>
          <a:xfrm>
            <a:off x="8750579" y="3254946"/>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계측값과 상태</a:t>
            </a:r>
          </a:p>
        </p:txBody>
      </p:sp>
      <p:sp>
        <p:nvSpPr>
          <p:cNvPr id="19" name="Oval 18"/>
          <p:cNvSpPr/>
          <p:nvPr/>
        </p:nvSpPr>
        <p:spPr>
          <a:xfrm>
            <a:off x="6888289"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cpu" descr="cpu_13294B_1.6.png"/>
          <p:cNvPicPr>
            <a:picLocks noChangeAspect="1"/>
          </p:cNvPicPr>
          <p:nvPr/>
        </p:nvPicPr>
        <p:blipFill>
          <a:blip r:embed="rId5"/>
          <a:stretch>
            <a:fillRect/>
          </a:stretch>
        </p:blipFill>
        <p:spPr>
          <a:xfrm>
            <a:off x="7173582" y="3128759"/>
            <a:ext cx="618134" cy="618134"/>
          </a:xfrm>
          <a:prstGeom prst="rect">
            <a:avLst/>
          </a:prstGeom>
        </p:spPr>
      </p:pic>
      <p:sp>
        <p:nvSpPr>
          <p:cNvPr id="21" name="TextBox 20"/>
          <p:cNvSpPr txBox="1"/>
          <p:nvPr/>
        </p:nvSpPr>
        <p:spPr>
          <a:xfrm>
            <a:off x="6187287"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Programmable Logic Controller</a:t>
            </a:r>
          </a:p>
          <a:p>
            <a:pPr algn="ctr">
              <a:lnSpc>
                <a:spcPct val="110000"/>
              </a:lnSpc>
              <a:spcAft>
                <a:spcPts val="400"/>
              </a:spcAft>
            </a:pPr>
            <a:r>
              <a:rPr sz="1300" b="0">
                <a:solidFill>
                  <a:srgbClr val="1F2A3A"/>
                </a:solidFill>
                <a:latin typeface="맑은 고딕"/>
                <a:ea typeface="맑은 고딕"/>
                <a:cs typeface="맑은 고딕"/>
              </a:rPr>
              <a:t>계측값을 읽어 설비를 제어한다</a:t>
            </a:r>
          </a:p>
        </p:txBody>
      </p:sp>
      <p:sp>
        <p:nvSpPr>
          <p:cNvPr id="22" name="Oval 21"/>
          <p:cNvSpPr/>
          <p:nvPr/>
        </p:nvSpPr>
        <p:spPr>
          <a:xfrm>
            <a:off x="9661893" y="2843466"/>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device-desktop-analytics" descr="device-desktop-analytics_13294B_1.6.png"/>
          <p:cNvPicPr>
            <a:picLocks noChangeAspect="1"/>
          </p:cNvPicPr>
          <p:nvPr/>
        </p:nvPicPr>
        <p:blipFill>
          <a:blip r:embed="rId6"/>
          <a:stretch>
            <a:fillRect/>
          </a:stretch>
        </p:blipFill>
        <p:spPr>
          <a:xfrm>
            <a:off x="9947186" y="3128759"/>
            <a:ext cx="618134" cy="618134"/>
          </a:xfrm>
          <a:prstGeom prst="rect">
            <a:avLst/>
          </a:prstGeom>
        </p:spPr>
      </p:pic>
      <p:sp>
        <p:nvSpPr>
          <p:cNvPr id="24" name="TextBox 23"/>
          <p:cNvSpPr txBox="1"/>
          <p:nvPr/>
        </p:nvSpPr>
        <p:spPr>
          <a:xfrm>
            <a:off x="8960891"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관제 화면</a:t>
            </a:r>
          </a:p>
          <a:p>
            <a:pPr algn="ctr">
              <a:lnSpc>
                <a:spcPct val="110000"/>
              </a:lnSpc>
              <a:spcAft>
                <a:spcPts val="400"/>
              </a:spcAft>
            </a:pPr>
            <a:r>
              <a:rPr sz="1300" b="0">
                <a:solidFill>
                  <a:srgbClr val="1F2A3A"/>
                </a:solidFill>
                <a:latin typeface="맑은 고딕"/>
                <a:ea typeface="맑은 고딕"/>
                <a:cs typeface="맑은 고딕"/>
              </a:rPr>
              <a:t>SCADA: Supervisory Control</a:t>
            </a:r>
          </a:p>
          <a:p>
            <a:pPr algn="ctr">
              <a:lnSpc>
                <a:spcPct val="110000"/>
              </a:lnSpc>
              <a:spcAft>
                <a:spcPts val="400"/>
              </a:spcAft>
            </a:pPr>
            <a:r>
              <a:rPr sz="1300" b="0">
                <a:solidFill>
                  <a:srgbClr val="1F2A3A"/>
                </a:solidFill>
                <a:latin typeface="맑은 고딕"/>
                <a:ea typeface="맑은 고딕"/>
                <a:cs typeface="맑은 고딕"/>
              </a:rPr>
              <a:t>and Data Acquisition</a:t>
            </a:r>
          </a:p>
          <a:p>
            <a:pPr algn="ctr">
              <a:lnSpc>
                <a:spcPct val="110000"/>
              </a:lnSpc>
              <a:spcAft>
                <a:spcPts val="400"/>
              </a:spcAft>
            </a:pPr>
            <a:r>
              <a:rPr sz="1300" b="0">
                <a:solidFill>
                  <a:srgbClr val="1F2A3A"/>
                </a:solidFill>
                <a:latin typeface="맑은 고딕"/>
                <a:ea typeface="맑은 고딕"/>
                <a:cs typeface="맑은 고딕"/>
              </a:rPr>
              <a:t>계측값을 보여 주고 조작을 받는다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계측값마다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설비_유압파워팩.svg" descr="illust_9178792525764297804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 · 설비 옆의 제어기: PLC와 인터록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서버의 판단을 기다리는 동안 설비가 상할 수 있어, 설비 옆의 PLC가 위험 수준에서 바로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PLC</a:t>
            </a:r>
          </a:p>
          <a:p>
            <a:pPr algn="l">
              <a:lnSpc>
                <a:spcPct val="110000"/>
              </a:lnSpc>
              <a:spcAft>
                <a:spcPts val="200"/>
              </a:spcAft>
            </a:pPr>
            <a:r>
              <a:rPr sz="1150" b="0">
                <a:solidFill>
                  <a:srgbClr val="556175"/>
                </a:solidFill>
                <a:latin typeface="맑은 고딕"/>
                <a:ea typeface="맑은 고딕"/>
                <a:cs typeface="맑은 고딕"/>
              </a:rPr>
              <a:t>산업용 제어기</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현장에 설치하는 산업용 제어기이다. 계측값을 읽고 프로그램에 따라 팬 · 펌프를 움직인다.</a:t>
            </a:r>
          </a:p>
          <a:p>
            <a:pPr algn="l">
              <a:lnSpc>
                <a:spcPct val="110000"/>
              </a:lnSpc>
              <a:spcAft>
                <a:spcPts val="300"/>
              </a:spcAft>
            </a:pPr>
            <a:r>
              <a:rPr sz="1400" b="0">
                <a:solidFill>
                  <a:srgbClr val="1F2A3A"/>
                </a:solidFill>
                <a:latin typeface="맑은 고딕"/>
                <a:ea typeface="맑은 고딕"/>
                <a:cs typeface="맑은 고딕"/>
              </a:rPr>
              <a:t>HYD-01의 PLC는 유온 TS1을 읽고, 팬 속도와 펌프 부하의 설정값을 받아 설비에 반영한다.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인터록</a:t>
            </a:r>
          </a:p>
          <a:p>
            <a:pPr algn="l">
              <a:lnSpc>
                <a:spcPct val="110000"/>
              </a:lnSpc>
              <a:spcAft>
                <a:spcPts val="200"/>
              </a:spcAft>
            </a:pPr>
            <a:r>
              <a:rPr sz="1150" b="0">
                <a:solidFill>
                  <a:srgbClr val="556175"/>
                </a:solidFill>
                <a:latin typeface="맑은 고딕"/>
                <a:ea typeface="맑은 고딕"/>
                <a:cs typeface="맑은 고딕"/>
              </a:rPr>
              <a:t>Interlock</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위험 조건이 되면 다른 명령보다 먼저 설비를 안전한 상태로 보내는 보호 동작이다.</a:t>
            </a:r>
          </a:p>
          <a:p>
            <a:pPr algn="l">
              <a:lnSpc>
                <a:spcPct val="110000"/>
              </a:lnSpc>
              <a:spcAft>
                <a:spcPts val="300"/>
              </a:spcAft>
            </a:pPr>
            <a:r>
              <a:rPr sz="1400" b="0">
                <a:solidFill>
                  <a:srgbClr val="1F2A3A"/>
                </a:solidFill>
                <a:latin typeface="맑은 고딕"/>
                <a:ea typeface="맑은 고딕"/>
                <a:cs typeface="맑은 고딕"/>
              </a:rPr>
              <a:t>예: 유온 TS1이 65 ℃를 넘으면 PLC가 설비를 보호 정지(TRIP)시킨다.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서버가 아니라 설비 옆에서 판단하는 까닭</a:t>
            </a:r>
          </a:p>
          <a:p>
            <a:pPr algn="l">
              <a:lnSpc>
                <a:spcPct val="110000"/>
              </a:lnSpc>
              <a:spcAft>
                <a:spcPts val="200"/>
              </a:spcAft>
            </a:pPr>
            <a:r>
              <a:rPr sz="1150" b="0">
                <a:solidFill>
                  <a:srgbClr val="556175"/>
                </a:solidFill>
                <a:latin typeface="맑은 고딕"/>
                <a:ea typeface="맑은 고딕"/>
                <a:cs typeface="맑은 고딕"/>
              </a:rPr>
              <a:t>지연</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PLC는 1초에도 수십 번씩 계측값을 읽고 판단한다.</a:t>
            </a:r>
          </a:p>
          <a:p>
            <a:pPr algn="l">
              <a:lnSpc>
                <a:spcPct val="110000"/>
              </a:lnSpc>
              <a:spcAft>
                <a:spcPts val="300"/>
              </a:spcAft>
            </a:pPr>
            <a:r>
              <a:rPr sz="1400" b="0">
                <a:solidFill>
                  <a:srgbClr val="1F2A3A"/>
                </a:solidFill>
                <a:latin typeface="맑은 고딕"/>
                <a:ea typeface="맑은 고딕"/>
                <a:cs typeface="맑은 고딕"/>
              </a:rPr>
              <a:t>서버를 다녀오면 1초 안팎이 걸리고, 통신이 끊길 수도 있다.</a:t>
            </a:r>
          </a:p>
          <a:p>
            <a:pPr algn="l">
              <a:lnSpc>
                <a:spcPct val="110000"/>
              </a:lnSpc>
              <a:spcAft>
                <a:spcPts val="300"/>
              </a:spcAft>
            </a:pPr>
            <a:r>
              <a:rPr sz="1400" b="0">
                <a:solidFill>
                  <a:srgbClr val="1F2A3A"/>
                </a:solidFill>
                <a:latin typeface="맑은 고딕"/>
                <a:ea typeface="맑은 고딕"/>
                <a:cs typeface="맑은 고딕"/>
              </a:rPr>
              <a:t>설비를 지키는 판단은 통신과 서버를 거치지 않고 설비 옆에서 끝낸다.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 토출 압력, 팬 진동 가운데 하나라도 설비가 상하는 한계에 이르면 HYD-01의 PLC는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712720"/>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TS1</a:t>
            </a:r>
          </a:p>
          <a:p>
            <a:pPr algn="l">
              <a:lnSpc>
                <a:spcPct val="110000"/>
              </a:lnSpc>
              <a:spcAft>
                <a:spcPts val="400"/>
              </a:spcAft>
            </a:pPr>
            <a:r>
              <a:rPr sz="1400" b="0">
                <a:solidFill>
                  <a:srgbClr val="1F2A3A"/>
                </a:solidFill>
                <a:latin typeface="맑은 고딕"/>
                <a:ea typeface="맑은 고딕"/>
                <a:cs typeface="맑은 고딕"/>
              </a:rPr>
              <a:t>• 65 ℃를 넘으면 정지한다</a:t>
            </a:r>
          </a:p>
          <a:p>
            <a:pPr algn="l">
              <a:lnSpc>
                <a:spcPct val="110000"/>
              </a:lnSpc>
              <a:spcAft>
                <a:spcPts val="400"/>
              </a:spcAft>
            </a:pPr>
            <a:r>
              <a:rPr sz="1400" b="0">
                <a:solidFill>
                  <a:srgbClr val="1F2A3A"/>
                </a:solidFill>
                <a:latin typeface="맑은 고딕"/>
                <a:ea typeface="맑은 고딕"/>
                <a:cs typeface="맑은 고딕"/>
              </a:rPr>
              <a:t>• 작동유가 묽어져 설비가 닳는다</a:t>
            </a:r>
          </a:p>
        </p:txBody>
      </p:sp>
      <p:sp>
        <p:nvSpPr>
          <p:cNvPr id="10" name="Rounded Rectangle 9"/>
          <p:cNvSpPr/>
          <p:nvPr/>
        </p:nvSpPr>
        <p:spPr>
          <a:xfrm>
            <a:off x="777240" y="5041392"/>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토출 압력 PS1</a:t>
            </a:r>
          </a:p>
          <a:p>
            <a:pPr algn="l">
              <a:lnSpc>
                <a:spcPct val="110000"/>
              </a:lnSpc>
              <a:spcAft>
                <a:spcPts val="400"/>
              </a:spcAft>
            </a:pPr>
            <a:r>
              <a:rPr sz="1400" b="0">
                <a:solidFill>
                  <a:srgbClr val="1F2A3A"/>
                </a:solidFill>
                <a:latin typeface="맑은 고딕"/>
                <a:ea typeface="맑은 고딕"/>
                <a:cs typeface="맑은 고딕"/>
              </a:rPr>
              <a:t>• 130 bar 아래로 내려가면 정지한다</a:t>
            </a:r>
          </a:p>
          <a:p>
            <a:pPr algn="l">
              <a:lnSpc>
                <a:spcPct val="110000"/>
              </a:lnSpc>
              <a:spcAft>
                <a:spcPts val="400"/>
              </a:spcAft>
            </a:pPr>
            <a:r>
              <a:rPr sz="1400" b="0">
                <a:solidFill>
                  <a:srgbClr val="1F2A3A"/>
                </a:solidFill>
                <a:latin typeface="맑은 고딕"/>
                <a:ea typeface="맑은 고딕"/>
                <a:cs typeface="맑은 고딕"/>
              </a:rPr>
              <a:t>• 펌프의 마모나 누설을 뜻한다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진동 VS1</a:t>
            </a:r>
          </a:p>
          <a:p>
            <a:pPr algn="l">
              <a:lnSpc>
                <a:spcPct val="110000"/>
              </a:lnSpc>
              <a:spcAft>
                <a:spcPts val="400"/>
              </a:spcAft>
            </a:pPr>
            <a:r>
              <a:rPr sz="1400" b="0">
                <a:solidFill>
                  <a:srgbClr val="1F2A3A"/>
                </a:solidFill>
                <a:latin typeface="맑은 고딕"/>
                <a:ea typeface="맑은 고딕"/>
                <a:cs typeface="맑은 고딕"/>
              </a:rPr>
              <a:t>• 2.0 mm/s 이상이면 정지한다</a:t>
            </a:r>
          </a:p>
          <a:p>
            <a:pPr algn="l">
              <a:lnSpc>
                <a:spcPct val="110000"/>
              </a:lnSpc>
              <a:spcAft>
                <a:spcPts val="400"/>
              </a:spcAft>
            </a:pPr>
            <a:r>
              <a:rPr sz="1400" b="0">
                <a:solidFill>
                  <a:srgbClr val="1F2A3A"/>
                </a:solidFill>
                <a:latin typeface="맑은 고딕"/>
                <a:ea typeface="맑은 고딕"/>
                <a:cs typeface="맑은 고딕"/>
              </a:rPr>
              <a:t>• 그대로 돌리면 팬이 상한다</a:t>
            </a:r>
          </a:p>
        </p:txBody>
      </p:sp>
      <p:sp>
        <p:nvSpPr>
          <p:cNvPr id="22" name="Rounded Rectangle 21"/>
          <p:cNvSpPr/>
          <p:nvPr/>
        </p:nvSpPr>
        <p:spPr>
          <a:xfrm>
            <a:off x="8356396" y="504139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현장 통신이 단순한 까닭: 정해진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정해진 시간 안의 도착을 지켜야 해서 암호화와 인증을 싣지 않으며, 보안은 위 계층이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world" descr="world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사무 통신</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평균적으로 빠르면 된다</a:t>
            </a:r>
          </a:p>
          <a:p>
            <a:pPr algn="l">
              <a:lnSpc>
                <a:spcPct val="110000"/>
              </a:lnSpc>
              <a:spcAft>
                <a:spcPts val="600"/>
              </a:spcAft>
            </a:pPr>
            <a:r>
              <a:rPr sz="1450" b="0">
                <a:solidFill>
                  <a:srgbClr val="1F2A3A"/>
                </a:solidFill>
                <a:latin typeface="맑은 고딕"/>
                <a:ea typeface="맑은 고딕"/>
                <a:cs typeface="맑은 고딕"/>
              </a:rPr>
              <a:t>• 암호화와 인증으로 내용을 지킨다</a:t>
            </a:r>
          </a:p>
          <a:p>
            <a:pPr algn="l">
              <a:lnSpc>
                <a:spcPct val="110000"/>
              </a:lnSpc>
              <a:spcAft>
                <a:spcPts val="600"/>
              </a:spcAft>
            </a:pPr>
            <a:r>
              <a:rPr sz="1450" b="0">
                <a:solidFill>
                  <a:srgbClr val="1F2A3A"/>
                </a:solidFill>
                <a:latin typeface="맑은 고딕"/>
                <a:ea typeface="맑은 고딕"/>
                <a:cs typeface="맑은 고딕"/>
              </a:rPr>
              <a:t>• 처리에 걸리는 시간이 그때그때 달라도 된다</a:t>
            </a:r>
          </a:p>
        </p:txBody>
      </p:sp>
      <p:sp>
        <p:nvSpPr>
          <p:cNvPr id="11" name="Rounded Rectangle 10"/>
          <p:cNvSpPr/>
          <p:nvPr/>
        </p:nvSpPr>
        <p:spPr>
          <a:xfrm>
            <a:off x="868680" y="5246433"/>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평균 속도</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engine" descr="engin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현장 통신</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어떤 경우에도 정해진 시간 안에 도착해야 한다</a:t>
            </a:r>
          </a:p>
          <a:p>
            <a:pPr algn="l">
              <a:lnSpc>
                <a:spcPct val="110000"/>
              </a:lnSpc>
              <a:spcAft>
                <a:spcPts val="600"/>
              </a:spcAft>
            </a:pPr>
            <a:r>
              <a:rPr sz="1450" b="0">
                <a:solidFill>
                  <a:srgbClr val="1F2A3A"/>
                </a:solidFill>
                <a:latin typeface="맑은 고딕"/>
                <a:ea typeface="맑은 고딕"/>
                <a:cs typeface="맑은 고딕"/>
              </a:rPr>
              <a:t>• 처리 시간을 들쭉날쭉하게 만드는 암호화와 인증을 싣지 않는다</a:t>
            </a:r>
          </a:p>
          <a:p>
            <a:pPr algn="l">
              <a:lnSpc>
                <a:spcPct val="110000"/>
              </a:lnSpc>
              <a:spcAft>
                <a:spcPts val="600"/>
              </a:spcAft>
            </a:pPr>
            <a:r>
              <a:rPr sz="1450" b="0">
                <a:solidFill>
                  <a:srgbClr val="1F2A3A"/>
                </a:solidFill>
                <a:latin typeface="맑은 고딕"/>
                <a:ea typeface="맑은 고딕"/>
                <a:cs typeface="맑은 고딕"/>
              </a:rPr>
              <a:t>• 이 자리에는 Modbus 같은 단순한 통신 규약이 쓰인다</a:t>
            </a:r>
          </a:p>
        </p:txBody>
      </p:sp>
      <p:sp>
        <p:nvSpPr>
          <p:cNvPr id="18" name="Rounded Rectangle 17"/>
          <p:cNvSpPr/>
          <p:nvPr/>
        </p:nvSpPr>
        <p:spPr>
          <a:xfrm>
            <a:off x="6781647" y="5246433"/>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정해진 시간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2 · 엣지 게이트웨이: 숫자에 이름을 붙인다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제어기의 숫자만으로는 무엇을 잰 것인지 알 수 없어, 엣지 게이트웨이가 이름을 붙여 태그 값과 운전 상태로 올려 보낸다.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올라온다</a:t>
            </a:r>
          </a:p>
          <a:p>
            <a:pPr algn="l">
              <a:lnSpc>
                <a:spcPct val="110000"/>
              </a:lnSpc>
              <a:spcAft>
                <a:spcPts val="200"/>
              </a:spcAft>
            </a:pPr>
            <a:r>
              <a:rPr sz="1300" b="0">
                <a:solidFill>
                  <a:srgbClr val="E8EEF6"/>
                </a:solidFill>
                <a:latin typeface="Consolas"/>
                <a:ea typeface="맑은 고딕"/>
                <a:cs typeface="맑은 고딕"/>
              </a:rPr>
              <a:t>TS1    48.0</a:t>
            </a:r>
          </a:p>
          <a:p>
            <a:pPr algn="l">
              <a:lnSpc>
                <a:spcPct val="110000"/>
              </a:lnSpc>
              <a:spcAft>
                <a:spcPts val="200"/>
              </a:spcAft>
            </a:pPr>
            <a:r>
              <a:rPr sz="1300" b="0">
                <a:solidFill>
                  <a:srgbClr val="E8EEF6"/>
                </a:solidFill>
                <a:latin typeface="Consolas"/>
                <a:ea typeface="맑은 고딕"/>
                <a:cs typeface="맑은 고딕"/>
              </a:rPr>
              <a:t>CE     84.0</a:t>
            </a:r>
          </a:p>
          <a:p>
            <a:pPr algn="l">
              <a:lnSpc>
                <a:spcPct val="110000"/>
              </a:lnSpc>
              <a:spcAft>
                <a:spcPts val="200"/>
              </a:spcAft>
            </a:pPr>
            <a:r>
              <a:rPr sz="1300" b="0">
                <a:solidFill>
                  <a:srgbClr val="E8EEF6"/>
                </a:solidFill>
                <a:latin typeface="Consolas"/>
                <a:ea typeface="맑은 고딕"/>
                <a:cs typeface="맑은 고딕"/>
              </a:rPr>
              <a:t>PS1    182.0</a:t>
            </a:r>
          </a:p>
          <a:p>
            <a:pPr algn="l">
              <a:lnSpc>
                <a:spcPct val="110000"/>
              </a:lnSpc>
              <a:spcAft>
                <a:spcPts val="200"/>
              </a:spcAft>
            </a:pPr>
            <a:r>
              <a:rPr sz="1300" b="0">
                <a:solidFill>
                  <a:srgbClr val="E8EEF6"/>
                </a:solidFill>
                <a:latin typeface="Consolas"/>
                <a:ea typeface="맑은 고딕"/>
                <a:cs typeface="맑은 고딕"/>
              </a:rPr>
              <a:t>VS1    0.6</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a:p>
            <a:pPr algn="l">
              <a:lnSpc>
                <a:spcPct val="110000"/>
              </a:lnSpc>
              <a:spcAft>
                <a:spcPts val="200"/>
              </a:spcAft>
            </a:pPr>
            <a:r>
              <a:rPr sz="1300" b="0">
                <a:solidFill>
                  <a:srgbClr val="E8EEF6"/>
                </a:solidFill>
                <a:latin typeface="Consolas"/>
                <a:ea typeface="맑은 고딕"/>
                <a:cs typeface="맑은 고딕"/>
              </a:rPr>
              <a:t>mode       REMOTE_AUTO</a:t>
            </a:r>
          </a:p>
          <a:p>
            <a:pPr algn="l">
              <a:lnSpc>
                <a:spcPct val="110000"/>
              </a:lnSpc>
              <a:spcAft>
                <a:spcPts val="200"/>
              </a:spcAft>
            </a:pPr>
            <a:r>
              <a:rPr sz="1300" b="0">
                <a:solidFill>
                  <a:srgbClr val="E8EEF6"/>
                </a:solidFill>
                <a:latin typeface="Consolas"/>
                <a:ea typeface="맑은 고딕"/>
                <a:cs typeface="맑은 고딕"/>
              </a:rPr>
              <a:t>state      RUN</a:t>
            </a:r>
          </a:p>
          <a:p>
            <a:pPr algn="l">
              <a:lnSpc>
                <a:spcPct val="110000"/>
              </a:lnSpc>
              <a:spcAft>
                <a:spcPts val="200"/>
              </a:spcAft>
            </a:pPr>
            <a:r>
              <a:rPr sz="1300" b="0">
                <a:solidFill>
                  <a:srgbClr val="E8EEF6"/>
                </a:solidFill>
                <a:latin typeface="Consolas"/>
                <a:ea typeface="맑은 고딕"/>
                <a:cs typeface="맑은 고딕"/>
              </a:rPr>
              <a:t>fan_pct    60</a:t>
            </a:r>
          </a:p>
          <a:p>
            <a:pPr algn="l">
              <a:lnSpc>
                <a:spcPct val="110000"/>
              </a:lnSpc>
              <a:spcAft>
                <a:spcPts val="200"/>
              </a:spcAft>
            </a:pPr>
            <a:r>
              <a:rPr sz="1300" b="0">
                <a:solidFill>
                  <a:srgbClr val="E8EEF6"/>
                </a:solidFill>
                <a:latin typeface="Consolas"/>
                <a:ea typeface="맑은 고딕"/>
                <a:cs typeface="맑은 고딕"/>
              </a:rPr>
              <a:t>load_pct   90</a:t>
            </a:r>
          </a:p>
          <a:p>
            <a:pPr algn="l">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1627632"/>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TS1 · CE</a:t>
            </a:r>
          </a:p>
          <a:p>
            <a:pPr algn="l">
              <a:lnSpc>
                <a:spcPct val="110000"/>
              </a:lnSpc>
              <a:spcAft>
                <a:spcPts val="400"/>
              </a:spcAft>
            </a:pPr>
            <a:r>
              <a:rPr sz="1400" b="0">
                <a:solidFill>
                  <a:srgbClr val="1F2A3A"/>
                </a:solidFill>
                <a:latin typeface="맑은 고딕"/>
                <a:ea typeface="맑은 고딕"/>
                <a:cs typeface="맑은 고딕"/>
              </a:rPr>
              <a:t>유온(쿨러 입구의 작동유 온도)은 정상 48 ℃, 냉각 효율(쿨러가 열을 내보내는 정도)은 정상 84 %이다.</a:t>
            </a:r>
          </a:p>
        </p:txBody>
      </p:sp>
      <p:sp>
        <p:nvSpPr>
          <p:cNvPr id="9" name="TextBox 8"/>
          <p:cNvSpPr txBox="1"/>
          <p:nvPr/>
        </p:nvSpPr>
        <p:spPr>
          <a:xfrm>
            <a:off x="7635240" y="2809494"/>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mode · interlock</a:t>
            </a:r>
          </a:p>
          <a:p>
            <a:pPr algn="l">
              <a:lnSpc>
                <a:spcPct val="110000"/>
              </a:lnSpc>
              <a:spcAft>
                <a:spcPts val="400"/>
              </a:spcAft>
            </a:pPr>
            <a:r>
              <a:rPr sz="1400" b="0">
                <a:solidFill>
                  <a:srgbClr val="1F2A3A"/>
                </a:solidFill>
                <a:latin typeface="맑은 고딕"/>
                <a:ea typeface="맑은 고딕"/>
                <a:cs typeface="맑은 고딕"/>
              </a:rPr>
              <a:t>운전 모드와 인터록의 상태이다. 원격 자동(REMOTE_AUTO)으로 돌고 있고 인터록에 걸리지 않아 PASS이다.</a:t>
            </a:r>
          </a:p>
        </p:txBody>
      </p:sp>
      <p:sp>
        <p:nvSpPr>
          <p:cNvPr id="10" name="TextBox 9"/>
          <p:cNvSpPr txBox="1"/>
          <p:nvPr/>
        </p:nvSpPr>
        <p:spPr>
          <a:xfrm>
            <a:off x="7635240" y="3991356"/>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항목</a:t>
            </a:r>
          </a:p>
          <a:p>
            <a:pPr algn="l">
              <a:lnSpc>
                <a:spcPct val="110000"/>
              </a:lnSpc>
              <a:spcAft>
                <a:spcPts val="400"/>
              </a:spcAft>
            </a:pPr>
            <a:r>
              <a:rPr sz="1400" b="0">
                <a:solidFill>
                  <a:srgbClr val="1F2A3A"/>
                </a:solidFill>
                <a:latin typeface="맑은 고딕"/>
                <a:ea typeface="맑은 고딕"/>
                <a:cs typeface="맑은 고딕"/>
              </a:rPr>
              <a:t>토출 압력 PS1과 팬 진동 VS1, 운전 중인지와 팬 속도 · 부하의 비율이 함께 올라온다.</a:t>
            </a:r>
          </a:p>
        </p:txBody>
      </p:sp>
      <p:sp>
        <p:nvSpPr>
          <p:cNvPr id="11" name="TextBox 10"/>
          <p:cNvSpPr txBox="1"/>
          <p:nvPr/>
        </p:nvSpPr>
        <p:spPr>
          <a:xfrm>
            <a:off x="7635240" y="5173218"/>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엣지 게이트웨이</a:t>
            </a:r>
          </a:p>
          <a:p>
            <a:pPr algn="l">
              <a:lnSpc>
                <a:spcPct val="110000"/>
              </a:lnSpc>
              <a:spcAft>
                <a:spcPts val="400"/>
              </a:spcAft>
            </a:pPr>
            <a:r>
              <a:rPr sz="1400" b="0">
                <a:solidFill>
                  <a:srgbClr val="1F2A3A"/>
                </a:solidFill>
                <a:latin typeface="맑은 고딕"/>
                <a:ea typeface="맑은 고딕"/>
                <a:cs typeface="맑은 고딕"/>
              </a:rPr>
              <a:t>설비 쪽의 계측값을 읽어 이름과 형식을 갖춘 메시지로 바꾸는 자리이다. 이 역할에는 EdgeX Foundry 같은 것이 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받는 쪽이 늘 때 생기는 문제: 직접 연결과 중개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보내는 쪽이 받는 쪽을 하나하나 알고 직접 연결하면 받는 쪽이 늘 때마다 설비 쪽을 고쳐야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직접 연결한다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쪽이 받는 쪽의 주소를 모두 안다</a:t>
            </a:r>
          </a:p>
          <a:p>
            <a:pPr algn="l">
              <a:lnSpc>
                <a:spcPct val="110000"/>
              </a:lnSpc>
              <a:spcAft>
                <a:spcPts val="600"/>
              </a:spcAft>
            </a:pPr>
            <a:r>
              <a:rPr sz="1450" b="0">
                <a:solidFill>
                  <a:srgbClr val="1F2A3A"/>
                </a:solidFill>
                <a:latin typeface="맑은 고딕"/>
                <a:ea typeface="맑은 고딕"/>
                <a:cs typeface="맑은 고딕"/>
              </a:rPr>
              <a:t>• 받는 쪽이 하나 늘면 설비 쪽 프로그램을 고친다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받는 쪽마다 연결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roadcast" descr="broadcas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가운데에 중개 서버를 둔다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쪽은 중개 서버에만 보낸다</a:t>
            </a:r>
          </a:p>
          <a:p>
            <a:pPr algn="l">
              <a:lnSpc>
                <a:spcPct val="110000"/>
              </a:lnSpc>
              <a:spcAft>
                <a:spcPts val="600"/>
              </a:spcAft>
            </a:pPr>
            <a:r>
              <a:rPr sz="1450" b="0">
                <a:solidFill>
                  <a:srgbClr val="1F2A3A"/>
                </a:solidFill>
                <a:latin typeface="맑은 고딕"/>
                <a:ea typeface="맑은 고딕"/>
                <a:cs typeface="맑은 고딕"/>
              </a:rPr>
              <a:t>• 받는 쪽은 중개 서버에 받고 싶은 것을 등록한다</a:t>
            </a:r>
          </a:p>
          <a:p>
            <a:pPr algn="l">
              <a:lnSpc>
                <a:spcPct val="110000"/>
              </a:lnSpc>
              <a:spcAft>
                <a:spcPts val="600"/>
              </a:spcAft>
            </a:pPr>
            <a:r>
              <a:rPr sz="1450" b="0">
                <a:solidFill>
                  <a:srgbClr val="1F2A3A"/>
                </a:solidFill>
                <a:latin typeface="맑은 고딕"/>
                <a:ea typeface="맑은 고딕"/>
                <a:cs typeface="맑은 고딕"/>
              </a:rPr>
              <a:t>• 받는 쪽이 늘어도 설비 쪽은 그대로이다</a:t>
            </a:r>
          </a:p>
        </p:txBody>
      </p:sp>
      <p:sp>
        <p:nvSpPr>
          <p:cNvPr id="18" name="Rounded Rectangle 17"/>
          <p:cNvSpPr/>
          <p:nvPr/>
        </p:nvSpPr>
        <p:spPr>
          <a:xfrm>
            <a:off x="6781647" y="494557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중개 서버 하나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MQTT와 브로커: 발행과 구독</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MQTT는 보내는 쪽과 받는 쪽 사이에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두고 토픽으로 메시지를 주고받는 통신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리니지_1_MQTT.svg" descr="illust_6974643319501311958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06557" y="2478572"/>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유온 TS1을 잰다</a:t>
            </a:r>
          </a:p>
        </p:txBody>
      </p:sp>
      <p:sp>
        <p:nvSpPr>
          <p:cNvPr id="8" name="TextBox 7"/>
          <p:cNvSpPr txBox="1"/>
          <p:nvPr/>
        </p:nvSpPr>
        <p:spPr>
          <a:xfrm>
            <a:off x="2102972" y="2124014"/>
            <a:ext cx="1527329" cy="1018920"/>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발행자</a:t>
            </a:r>
          </a:p>
          <a:p>
            <a:pPr algn="ctr">
              <a:lnSpc>
                <a:spcPct val="110000"/>
              </a:lnSpc>
              <a:spcAft>
                <a:spcPts val="100"/>
              </a:spcAft>
            </a:pPr>
            <a:r>
              <a:rPr sz="1100" b="0">
                <a:solidFill>
                  <a:srgbClr val="556175"/>
                </a:solidFill>
                <a:latin typeface="맑은 고딕"/>
                <a:ea typeface="맑은 고딕"/>
                <a:cs typeface="맑은 고딕"/>
              </a:rPr>
              <a:t>Publisher</a:t>
            </a:r>
          </a:p>
          <a:p>
            <a:pPr algn="ctr">
              <a:lnSpc>
                <a:spcPct val="110000"/>
              </a:lnSpc>
              <a:spcAft>
                <a:spcPts val="100"/>
              </a:spcAft>
            </a:pPr>
            <a:r>
              <a:rPr sz="1100" b="0">
                <a:solidFill>
                  <a:srgbClr val="556175"/>
                </a:solidFill>
                <a:latin typeface="맑은 고딕"/>
                <a:ea typeface="맑은 고딕"/>
                <a:cs typeface="맑은 고딕"/>
              </a:rPr>
              <a:t>엣지 게이트웨이가 데이터를</a:t>
            </a:r>
          </a:p>
          <a:p>
            <a:pPr algn="ctr">
              <a:lnSpc>
                <a:spcPct val="110000"/>
              </a:lnSpc>
              <a:spcAft>
                <a:spcPts val="100"/>
              </a:spcAft>
            </a:pPr>
            <a:r>
              <a:rPr sz="1100" b="0">
                <a:solidFill>
                  <a:srgbClr val="556175"/>
                </a:solidFill>
                <a:latin typeface="맑은 고딕"/>
                <a:ea typeface="맑은 고딕"/>
                <a:cs typeface="맑은 고딕"/>
              </a:rPr>
              <a:t>토픽에 보낸다</a:t>
            </a:r>
          </a:p>
        </p:txBody>
      </p:sp>
      <p:sp>
        <p:nvSpPr>
          <p:cNvPr id="9" name="TextBox 8"/>
          <p:cNvSpPr txBox="1"/>
          <p:nvPr/>
        </p:nvSpPr>
        <p:spPr>
          <a:xfrm>
            <a:off x="3608482" y="2265837"/>
            <a:ext cx="152732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브로커</a:t>
            </a:r>
          </a:p>
          <a:p>
            <a:pPr algn="ctr">
              <a:lnSpc>
                <a:spcPct val="110000"/>
              </a:lnSpc>
              <a:spcAft>
                <a:spcPts val="100"/>
              </a:spcAft>
            </a:pPr>
            <a:r>
              <a:rPr sz="1100" b="0">
                <a:solidFill>
                  <a:srgbClr val="556175"/>
                </a:solidFill>
                <a:latin typeface="맑은 고딕"/>
                <a:ea typeface="맑은 고딕"/>
                <a:cs typeface="맑은 고딕"/>
              </a:rPr>
              <a:t>Broker · 토픽을 보고</a:t>
            </a:r>
          </a:p>
          <a:p>
            <a:pPr algn="ctr">
              <a:lnSpc>
                <a:spcPct val="110000"/>
              </a:lnSpc>
              <a:spcAft>
                <a:spcPts val="100"/>
              </a:spcAft>
            </a:pPr>
            <a:r>
              <a:rPr sz="1100" b="0">
                <a:solidFill>
                  <a:srgbClr val="556175"/>
                </a:solidFill>
                <a:latin typeface="맑은 고딕"/>
                <a:ea typeface="맑은 고딕"/>
                <a:cs typeface="맑은 고딕"/>
              </a:rPr>
              <a:t>구독자에게 전달한다</a:t>
            </a:r>
          </a:p>
        </p:txBody>
      </p:sp>
      <p:sp>
        <p:nvSpPr>
          <p:cNvPr id="10" name="TextBox 9"/>
          <p:cNvSpPr txBox="1"/>
          <p:nvPr/>
        </p:nvSpPr>
        <p:spPr>
          <a:xfrm>
            <a:off x="859290" y="3991356"/>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plant/hyd01/tag/TS1</a:t>
            </a:r>
          </a:p>
          <a:p>
            <a:pPr algn="ctr">
              <a:lnSpc>
                <a:spcPct val="110000"/>
              </a:lnSpc>
              <a:spcAft>
                <a:spcPts val="100"/>
              </a:spcAft>
            </a:pPr>
            <a:r>
              <a:rPr sz="1100" b="0">
                <a:solidFill>
                  <a:srgbClr val="556175"/>
                </a:solidFill>
                <a:latin typeface="맑은 고딕"/>
                <a:ea typeface="맑은 고딕"/>
                <a:cs typeface="맑은 고딕"/>
              </a:rPr>
              <a:t>토픽(Topic): 메시지에 붙는 주소</a:t>
            </a:r>
          </a:p>
          <a:p>
            <a:pPr algn="ctr">
              <a:lnSpc>
                <a:spcPct val="110000"/>
              </a:lnSpc>
              <a:spcAft>
                <a:spcPts val="100"/>
              </a:spcAft>
            </a:pPr>
            <a:r>
              <a:rPr sz="1100" b="0">
                <a:solidFill>
                  <a:srgbClr val="556175"/>
                </a:solidFill>
                <a:latin typeface="맑은 고딕"/>
                <a:ea typeface="맑은 고딕"/>
                <a:cs typeface="맑은 고딕"/>
              </a:rPr>
              <a:t>설비 hyd01 · 태그 TS1의 값</a:t>
            </a:r>
          </a:p>
        </p:txBody>
      </p:sp>
      <p:sp>
        <p:nvSpPr>
          <p:cNvPr id="11" name="TextBox 10"/>
          <p:cNvSpPr txBox="1"/>
          <p:nvPr/>
        </p:nvSpPr>
        <p:spPr>
          <a:xfrm>
            <a:off x="3553935" y="5466319"/>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5343092" y="3991356"/>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토픽은 빗금으로 계층을 나눈 문자열이어서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plant / hyd01 / tag /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hyd01</a:t>
            </a:r>
          </a:p>
          <a:p>
            <a:pPr algn="l">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TS1</a:t>
            </a:r>
          </a:p>
          <a:p>
            <a:pPr algn="l">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status</a:t>
            </a:r>
          </a:p>
          <a:p>
            <a:pPr algn="l">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발행과 구독이 이루어지는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구독자가 받을 토픽을 미리 등록해 두지 않으면, 데이터를 보관하지 않는 브로커는 발행된 메시지를 전달할 곳이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구독</a:t>
            </a:r>
          </a:p>
          <a:p>
            <a:pPr algn="ctr">
              <a:lnSpc>
                <a:spcPct val="110000"/>
              </a:lnSpc>
              <a:spcAft>
                <a:spcPts val="400"/>
              </a:spcAft>
            </a:pPr>
            <a:r>
              <a:rPr sz="1350" b="0">
                <a:solidFill>
                  <a:srgbClr val="1F2A3A"/>
                </a:solidFill>
                <a:latin typeface="맑은 고딕"/>
                <a:ea typeface="맑은 고딕"/>
                <a:cs typeface="맑은 고딕"/>
              </a:rPr>
              <a:t>운전 화면과 수집 서비스가</a:t>
            </a:r>
          </a:p>
          <a:p>
            <a:pPr algn="ctr">
              <a:lnSpc>
                <a:spcPct val="110000"/>
              </a:lnSpc>
              <a:spcAft>
                <a:spcPts val="400"/>
              </a:spcAft>
            </a:pPr>
            <a:r>
              <a:rPr sz="1350" b="0">
                <a:solidFill>
                  <a:srgbClr val="1F2A3A"/>
                </a:solidFill>
                <a:latin typeface="맑은 고딕"/>
                <a:ea typeface="맑은 고딕"/>
                <a:cs typeface="맑은 고딕"/>
              </a:rPr>
              <a:t>받을 토픽을 브로커에 먼저 등록한다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발행</a:t>
            </a:r>
          </a:p>
          <a:p>
            <a:pPr algn="ctr">
              <a:lnSpc>
                <a:spcPct val="110000"/>
              </a:lnSpc>
              <a:spcAft>
                <a:spcPts val="400"/>
              </a:spcAft>
            </a:pPr>
            <a:r>
              <a:rPr sz="1350" b="0">
                <a:solidFill>
                  <a:srgbClr val="1F2A3A"/>
                </a:solidFill>
                <a:latin typeface="맑은 고딕"/>
                <a:ea typeface="맑은 고딕"/>
                <a:cs typeface="맑은 고딕"/>
              </a:rPr>
              <a:t>엣지 게이트웨이가 TS1 값을</a:t>
            </a:r>
          </a:p>
          <a:p>
            <a:pPr algn="ctr">
              <a:lnSpc>
                <a:spcPct val="110000"/>
              </a:lnSpc>
              <a:spcAft>
                <a:spcPts val="400"/>
              </a:spcAft>
            </a:pPr>
            <a:r>
              <a:rPr sz="1350" b="0">
                <a:solidFill>
                  <a:srgbClr val="1F2A3A"/>
                </a:solidFill>
                <a:latin typeface="맑은 고딕"/>
                <a:ea typeface="맑은 고딕"/>
                <a:cs typeface="맑은 고딕"/>
              </a:rPr>
              <a:t>토픽에 실어 브로커로 보낸다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broadcast" descr="broadcast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전달</a:t>
            </a:r>
          </a:p>
          <a:p>
            <a:pPr algn="ctr">
              <a:lnSpc>
                <a:spcPct val="110000"/>
              </a:lnSpc>
              <a:spcAft>
                <a:spcPts val="400"/>
              </a:spcAft>
            </a:pPr>
            <a:r>
              <a:rPr sz="1350" b="0">
                <a:solidFill>
                  <a:srgbClr val="1F2A3A"/>
                </a:solidFill>
                <a:latin typeface="맑은 고딕"/>
                <a:ea typeface="맑은 고딕"/>
                <a:cs typeface="맑은 고딕"/>
              </a:rPr>
              <a:t>브로커가 그 토픽을 등록한</a:t>
            </a:r>
          </a:p>
          <a:p>
            <a:pPr algn="ctr">
              <a:lnSpc>
                <a:spcPct val="110000"/>
              </a:lnSpc>
              <a:spcAft>
                <a:spcPts val="400"/>
              </a:spcAft>
            </a:pPr>
            <a:r>
              <a:rPr sz="1350" b="0">
                <a:solidFill>
                  <a:srgbClr val="1F2A3A"/>
                </a:solidFill>
                <a:latin typeface="맑은 고딕"/>
                <a:ea typeface="맑은 고딕"/>
                <a:cs typeface="맑은 고딕"/>
              </a:rPr>
              <a:t>구독자 모두에게 넘긴다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외부와 닿는 IT가 침해되었을 때 그 피해가 설비 사고로 번지지 않도록 두 영역을 직접 잇지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730373"/>
            <a:ext cx="5181447" cy="252196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931541"/>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3085160"/>
            <a:ext cx="424281" cy="424281"/>
          </a:xfrm>
          <a:prstGeom prst="rect">
            <a:avLst/>
          </a:prstGeom>
        </p:spPr>
      </p:pic>
      <p:sp>
        <p:nvSpPr>
          <p:cNvPr id="9" name="TextBox 8"/>
          <p:cNvSpPr txBox="1"/>
          <p:nvPr/>
        </p:nvSpPr>
        <p:spPr>
          <a:xfrm>
            <a:off x="1691640"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설비를 직접 움직인다</a:t>
            </a:r>
          </a:p>
          <a:p>
            <a:pPr algn="l">
              <a:lnSpc>
                <a:spcPct val="110000"/>
              </a:lnSpc>
              <a:spcAft>
                <a:spcPts val="600"/>
              </a:spcAft>
            </a:pPr>
            <a:r>
              <a:rPr sz="1450" b="0">
                <a:solidFill>
                  <a:srgbClr val="1F2A3A"/>
                </a:solidFill>
                <a:latin typeface="맑은 고딕"/>
                <a:ea typeface="맑은 고딕"/>
                <a:cs typeface="맑은 고딕"/>
              </a:rPr>
              <a:t>• 잘못된 명령이 들어오면 설비가 멈추거나 다친다</a:t>
            </a:r>
          </a:p>
        </p:txBody>
      </p:sp>
      <p:sp>
        <p:nvSpPr>
          <p:cNvPr id="11" name="Rounded Rectangle 10"/>
          <p:cNvSpPr/>
          <p:nvPr/>
        </p:nvSpPr>
        <p:spPr>
          <a:xfrm>
            <a:off x="868680" y="4795139"/>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795139"/>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멈추면 안 된다</a:t>
            </a:r>
          </a:p>
        </p:txBody>
      </p:sp>
      <p:sp>
        <p:nvSpPr>
          <p:cNvPr id="13" name="Rounded Rectangle 12"/>
          <p:cNvSpPr/>
          <p:nvPr/>
        </p:nvSpPr>
        <p:spPr>
          <a:xfrm>
            <a:off x="6461607" y="2730373"/>
            <a:ext cx="5181447" cy="2521966"/>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931541"/>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3085160"/>
            <a:ext cx="424281" cy="424281"/>
          </a:xfrm>
          <a:prstGeom prst="rect">
            <a:avLst/>
          </a:prstGeom>
        </p:spPr>
      </p:pic>
      <p:sp>
        <p:nvSpPr>
          <p:cNvPr id="16" name="TextBox 15"/>
          <p:cNvSpPr txBox="1"/>
          <p:nvPr/>
        </p:nvSpPr>
        <p:spPr>
          <a:xfrm>
            <a:off x="7604607"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사무망이나 인터넷과 닿을 수 있다</a:t>
            </a:r>
          </a:p>
          <a:p>
            <a:pPr algn="l">
              <a:lnSpc>
                <a:spcPct val="110000"/>
              </a:lnSpc>
              <a:spcAft>
                <a:spcPts val="600"/>
              </a:spcAft>
            </a:pPr>
            <a:r>
              <a:rPr sz="1450" b="0">
                <a:solidFill>
                  <a:srgbClr val="1F2A3A"/>
                </a:solidFill>
                <a:latin typeface="맑은 고딕"/>
                <a:ea typeface="맑은 고딕"/>
                <a:cs typeface="맑은 고딕"/>
              </a:rPr>
              <a:t>• 외부에서 들어오는 침해에 노출된다</a:t>
            </a:r>
          </a:p>
        </p:txBody>
      </p:sp>
      <p:sp>
        <p:nvSpPr>
          <p:cNvPr id="18" name="Rounded Rectangle 17"/>
          <p:cNvSpPr/>
          <p:nvPr/>
        </p:nvSpPr>
        <p:spPr>
          <a:xfrm>
            <a:off x="6781647" y="4795139"/>
            <a:ext cx="132587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795139"/>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외부와 닿는다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완충 구역 DMZ와 한 방향 수집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통신에 없는 보안은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가 맡고, 수집 서비스는 데이터를 OT에서 IT로 한 방향으로만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pic>
        <p:nvPicPr>
          <p:cNvPr id="6" name="삽화:리니지_2_DMZ.svg" descr="illust_53666693645605791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52009" y="1755273"/>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a:p>
            <a:pPr algn="ctr">
              <a:lnSpc>
                <a:spcPct val="110000"/>
              </a:lnSpc>
              <a:spcAft>
                <a:spcPts val="100"/>
              </a:spcAft>
            </a:pPr>
            <a:r>
              <a:rPr sz="1300" b="0">
                <a:solidFill>
                  <a:srgbClr val="556175"/>
                </a:solidFill>
                <a:latin typeface="맑은 고딕"/>
                <a:ea typeface="맑은 고딕"/>
                <a:cs typeface="맑은 고딕"/>
              </a:rPr>
              <a:t>설비를 감시 · 제어하는 영역</a:t>
            </a:r>
          </a:p>
        </p:txBody>
      </p:sp>
      <p:sp>
        <p:nvSpPr>
          <p:cNvPr id="8" name="TextBox 7"/>
          <p:cNvSpPr txBox="1"/>
          <p:nvPr/>
        </p:nvSpPr>
        <p:spPr>
          <a:xfrm>
            <a:off x="5315818" y="1755273"/>
            <a:ext cx="169097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a:p>
            <a:pPr algn="ctr">
              <a:lnSpc>
                <a:spcPct val="110000"/>
              </a:lnSpc>
              <a:spcAft>
                <a:spcPts val="100"/>
              </a:spcAft>
            </a:pPr>
            <a:r>
              <a:rPr sz="1300" b="0">
                <a:solidFill>
                  <a:srgbClr val="556175"/>
                </a:solidFill>
                <a:latin typeface="맑은 고딕"/>
                <a:ea typeface="맑은 고딕"/>
                <a:cs typeface="맑은 고딕"/>
              </a:rPr>
              <a:t>OT와 IT 사이의 구역</a:t>
            </a:r>
          </a:p>
        </p:txBody>
      </p:sp>
      <p:sp>
        <p:nvSpPr>
          <p:cNvPr id="9" name="TextBox 8"/>
          <p:cNvSpPr txBox="1"/>
          <p:nvPr/>
        </p:nvSpPr>
        <p:spPr>
          <a:xfrm>
            <a:off x="9434153" y="1755273"/>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a:p>
            <a:pPr algn="ctr">
              <a:lnSpc>
                <a:spcPct val="110000"/>
              </a:lnSpc>
              <a:spcAft>
                <a:spcPts val="100"/>
              </a:spcAft>
            </a:pPr>
            <a:r>
              <a:rPr sz="1300" b="0">
                <a:solidFill>
                  <a:srgbClr val="556175"/>
                </a:solidFill>
                <a:latin typeface="맑은 고딕"/>
                <a:ea typeface="맑은 고딕"/>
                <a:cs typeface="맑은 고딕"/>
              </a:rPr>
              <a:t>기록 · 분석 · 판단 영역</a:t>
            </a:r>
          </a:p>
        </p:txBody>
      </p:sp>
      <p:sp>
        <p:nvSpPr>
          <p:cNvPr id="10" name="TextBox 9"/>
          <p:cNvSpPr txBox="1"/>
          <p:nvPr/>
        </p:nvSpPr>
        <p:spPr>
          <a:xfrm>
            <a:off x="3826672" y="264403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브로커</a:t>
            </a:r>
          </a:p>
        </p:txBody>
      </p:sp>
      <p:sp>
        <p:nvSpPr>
          <p:cNvPr id="11" name="TextBox 10"/>
          <p:cNvSpPr txBox="1"/>
          <p:nvPr/>
        </p:nvSpPr>
        <p:spPr>
          <a:xfrm>
            <a:off x="5315818" y="3991356"/>
            <a:ext cx="1690971"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수집 서비스</a:t>
            </a:r>
          </a:p>
          <a:p>
            <a:pPr algn="ctr">
              <a:lnSpc>
                <a:spcPct val="110000"/>
              </a:lnSpc>
              <a:spcAft>
                <a:spcPts val="100"/>
              </a:spcAft>
            </a:pPr>
            <a:r>
              <a:rPr sz="1300" b="0">
                <a:solidFill>
                  <a:srgbClr val="556175"/>
                </a:solidFill>
                <a:latin typeface="맑은 고딕"/>
                <a:ea typeface="맑은 고딕"/>
                <a:cs typeface="맑은 고딕"/>
              </a:rPr>
              <a:t>브로커를 구독해</a:t>
            </a:r>
          </a:p>
          <a:p>
            <a:pPr algn="ctr">
              <a:lnSpc>
                <a:spcPct val="110000"/>
              </a:lnSpc>
              <a:spcAft>
                <a:spcPts val="100"/>
              </a:spcAft>
            </a:pPr>
            <a:r>
              <a:rPr sz="1300" b="0">
                <a:solidFill>
                  <a:srgbClr val="556175"/>
                </a:solidFill>
                <a:latin typeface="맑은 고딕"/>
                <a:ea typeface="맑은 고딕"/>
                <a:cs typeface="맑은 고딕"/>
              </a:rPr>
              <a:t>받은 메시지를</a:t>
            </a:r>
          </a:p>
          <a:p>
            <a:pPr algn="ctr">
              <a:lnSpc>
                <a:spcPct val="110000"/>
              </a:lnSpc>
              <a:spcAft>
                <a:spcPts val="100"/>
              </a:spcAft>
            </a:pPr>
            <a:r>
              <a:rPr sz="1300" b="0">
                <a:solidFill>
                  <a:srgbClr val="556175"/>
                </a:solidFill>
                <a:latin typeface="맑은 고딕"/>
                <a:ea typeface="맑은 고딕"/>
                <a:cs typeface="맑은 고딕"/>
              </a:rPr>
              <a:t>IT로 옮겨 적는다</a:t>
            </a:r>
          </a:p>
          <a:p>
            <a:pPr algn="ctr">
              <a:lnSpc>
                <a:spcPct val="110000"/>
              </a:lnSpc>
              <a:spcAft>
                <a:spcPts val="100"/>
              </a:spcAft>
            </a:pPr>
            <a:r>
              <a:rPr sz="1300" b="0">
                <a:solidFill>
                  <a:srgbClr val="556175"/>
                </a:solidFill>
                <a:latin typeface="맑은 고딕"/>
                <a:ea typeface="맑은 고딕"/>
                <a:cs typeface="맑은 고딕"/>
              </a:rPr>
              <a:t>OT로는 쓰지 않는다</a:t>
            </a:r>
          </a:p>
        </p:txBody>
      </p:sp>
      <p:sp>
        <p:nvSpPr>
          <p:cNvPr id="12" name="TextBox 11"/>
          <p:cNvSpPr txBox="1"/>
          <p:nvPr/>
        </p:nvSpPr>
        <p:spPr>
          <a:xfrm>
            <a:off x="7219525" y="2209108"/>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 로그</a:t>
            </a:r>
          </a:p>
          <a:p>
            <a:pPr algn="ctr">
              <a:lnSpc>
                <a:spcPct val="110000"/>
              </a:lnSpc>
              <a:spcAft>
                <a:spcPts val="100"/>
              </a:spcAft>
            </a:pPr>
            <a:r>
              <a:rPr sz="1300" b="0">
                <a:solidFill>
                  <a:srgbClr val="556175"/>
                </a:solidFill>
                <a:latin typeface="맑은 고딕"/>
                <a:ea typeface="맑은 고딕"/>
                <a:cs typeface="맑은 고딕"/>
              </a:rPr>
              <a:t>받은 순서대로</a:t>
            </a:r>
          </a:p>
          <a:p>
            <a:pPr algn="ctr">
              <a:lnSpc>
                <a:spcPct val="110000"/>
              </a:lnSpc>
              <a:spcAft>
                <a:spcPts val="100"/>
              </a:spcAft>
            </a:pPr>
            <a:r>
              <a:rPr sz="1300" b="0">
                <a:solidFill>
                  <a:srgbClr val="556175"/>
                </a:solidFill>
                <a:latin typeface="맑은 고딕"/>
                <a:ea typeface="맑은 고딕"/>
                <a:cs typeface="맑은 고딕"/>
              </a:rPr>
              <a:t>쌓아 두는 기록</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3 · 이벤트 로그: 받은 순서대로 남긴다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브로커는 전달한 데이터를 남기지 않으므로, 이벤트 로그가 받은 순서대로 남겨 여러 서비스가 각자 다시 읽게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broadcast" descr="broadcas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브로커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순간 구독 중인 쪽에 바로 넘긴다</a:t>
            </a:r>
          </a:p>
          <a:p>
            <a:pPr algn="l">
              <a:lnSpc>
                <a:spcPct val="110000"/>
              </a:lnSpc>
              <a:spcAft>
                <a:spcPts val="600"/>
              </a:spcAft>
            </a:pPr>
            <a:r>
              <a:rPr sz="1450" b="0">
                <a:solidFill>
                  <a:srgbClr val="1F2A3A"/>
                </a:solidFill>
                <a:latin typeface="맑은 고딕"/>
                <a:ea typeface="맑은 고딕"/>
                <a:cs typeface="맑은 고딕"/>
              </a:rPr>
              <a:t>• 나중에 붙은 서비스는 지나간 데이터를 받지 못한다</a:t>
            </a:r>
          </a:p>
          <a:p>
            <a:pPr algn="l">
              <a:lnSpc>
                <a:spcPct val="110000"/>
              </a:lnSpc>
              <a:spcAft>
                <a:spcPts val="600"/>
              </a:spcAft>
            </a:pPr>
            <a:r>
              <a:rPr sz="1450" b="0">
                <a:solidFill>
                  <a:srgbClr val="1F2A3A"/>
                </a:solidFill>
                <a:latin typeface="맑은 고딕"/>
                <a:ea typeface="맑은 고딕"/>
                <a:cs typeface="맑은 고딕"/>
              </a:rPr>
              <a:t>• 이 역할에는 EMQX 같은 MQTT 브로커가 있다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전달</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stack-2" descr="stack-2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이벤트 로그</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받은 순서대로 쌓아 둔다</a:t>
            </a:r>
          </a:p>
          <a:p>
            <a:pPr algn="l">
              <a:lnSpc>
                <a:spcPct val="110000"/>
              </a:lnSpc>
              <a:spcAft>
                <a:spcPts val="600"/>
              </a:spcAft>
            </a:pPr>
            <a:r>
              <a:rPr sz="1450" b="0">
                <a:solidFill>
                  <a:srgbClr val="1F2A3A"/>
                </a:solidFill>
                <a:latin typeface="맑은 고딕"/>
                <a:ea typeface="맑은 고딕"/>
                <a:cs typeface="맑은 고딕"/>
              </a:rPr>
              <a:t>• 여러 서비스가 각자의 속도로 읽는다</a:t>
            </a:r>
          </a:p>
          <a:p>
            <a:pPr algn="l">
              <a:lnSpc>
                <a:spcPct val="110000"/>
              </a:lnSpc>
              <a:spcAft>
                <a:spcPts val="600"/>
              </a:spcAft>
            </a:pPr>
            <a:r>
              <a:rPr sz="1450" b="0">
                <a:solidFill>
                  <a:srgbClr val="1F2A3A"/>
                </a:solidFill>
                <a:latin typeface="맑은 고딕"/>
                <a:ea typeface="맑은 고딕"/>
                <a:cs typeface="맑은 고딕"/>
              </a:rPr>
              <a:t>• 필요하면 앞에서부터 다시 읽는다</a:t>
            </a:r>
          </a:p>
          <a:p>
            <a:pPr algn="l">
              <a:lnSpc>
                <a:spcPct val="110000"/>
              </a:lnSpc>
              <a:spcAft>
                <a:spcPts val="600"/>
              </a:spcAft>
            </a:pPr>
            <a:r>
              <a:rPr sz="1450" b="0">
                <a:solidFill>
                  <a:srgbClr val="1F2A3A"/>
                </a:solidFill>
                <a:latin typeface="맑은 고딕"/>
                <a:ea typeface="맑은 고딕"/>
                <a:cs typeface="맑은 고딕"/>
              </a:rPr>
              <a:t>• 수집과 기록의 자리에는 Kafka Connect와 Kafka 같은 것들이 있다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이벤트 로그에 남은 레코드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수집 서비스는 토픽 경로에 있던 설비와 태그 이름을 본문에 넣어 레코드 한 건만으로 계측값의 출처를 알게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브로커가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a:lnSpc>
                <a:spcPct val="110000"/>
              </a:lnSpc>
              <a:spcAft>
                <a:spcPts val="200"/>
              </a:spcAft>
            </a:pPr>
            <a:r>
              <a:rPr sz="1300" b="0">
                <a:solidFill>
                  <a:srgbClr val="E8EEF6"/>
                </a:solidFill>
                <a:latin typeface="Consolas"/>
                <a:ea typeface="맑은 고딕"/>
                <a:cs typeface="맑은 고딕"/>
              </a:rPr>
              <a:t>topic    plant/hyd01/tag/TS1</a:t>
            </a:r>
          </a:p>
          <a:p>
            <a:pPr algn="l">
              <a:lnSpc>
                <a:spcPct val="110000"/>
              </a:lnSpc>
              <a:spcAft>
                <a:spcPts val="200"/>
              </a:spcAft>
            </a:pPr>
            <a:r>
              <a:rPr sz="1300" b="0">
                <a:solidFill>
                  <a:srgbClr val="E8EEF6"/>
                </a:solidFill>
                <a:latin typeface="Consolas"/>
                <a:ea typeface="맑은 고딕"/>
                <a:cs typeface="맑은 고딕"/>
              </a:rPr>
              <a:t>payload  {"t": "2026-10-10T02:13:08.508Z",</a:t>
            </a:r>
          </a:p>
          <a:p>
            <a:pPr algn="l">
              <a:lnSpc>
                <a:spcPct val="110000"/>
              </a:lnSpc>
              <a:spcAft>
                <a:spcPts val="200"/>
              </a:spcAft>
            </a:pPr>
            <a:r>
              <a:rPr sz="1300" b="0">
                <a:solidFill>
                  <a:srgbClr val="E8EEF6"/>
                </a:solidFill>
                <a:latin typeface="Consolas"/>
                <a:ea typeface="맑은 고딕"/>
                <a:cs typeface="맑은 고딕"/>
              </a:rPr>
              <a:t>          "v": 55.71, "q": "good"}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로그에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a:lnSpc>
                <a:spcPct val="110000"/>
              </a:lnSpc>
              <a:spcAft>
                <a:spcPts val="200"/>
              </a:spcAft>
            </a:pPr>
            <a:r>
              <a:rPr sz="1300" b="0">
                <a:solidFill>
                  <a:srgbClr val="E8EEF6"/>
                </a:solidFill>
                <a:latin typeface="Consolas"/>
                <a:ea typeface="맑은 고딕"/>
                <a:cs typeface="맑은 고딕"/>
              </a:rPr>
              <a:t>topic    plant.tag</a:t>
            </a:r>
          </a:p>
          <a:p>
            <a:pPr algn="l">
              <a:lnSpc>
                <a:spcPct val="110000"/>
              </a:lnSpc>
              <a:spcAft>
                <a:spcPts val="200"/>
              </a:spcAft>
            </a:pPr>
            <a:r>
              <a:rPr sz="1300" b="0">
                <a:solidFill>
                  <a:srgbClr val="E8EEF6"/>
                </a:solidFill>
                <a:latin typeface="Consolas"/>
                <a:ea typeface="맑은 고딕"/>
                <a:cs typeface="맑은 고딕"/>
              </a:rPr>
              <a:t>key      hyd01</a:t>
            </a:r>
          </a:p>
          <a:p>
            <a:pPr algn="l">
              <a:lnSpc>
                <a:spcPct val="110000"/>
              </a:lnSpc>
              <a:spcAft>
                <a:spcPts val="200"/>
              </a:spcAft>
            </a:pPr>
            <a:r>
              <a:rPr sz="1300" b="0">
                <a:solidFill>
                  <a:srgbClr val="E8EEF6"/>
                </a:solidFill>
                <a:latin typeface="Consolas"/>
                <a:ea typeface="맑은 고딕"/>
                <a:cs typeface="맑은 고딕"/>
              </a:rPr>
              <a:t>value    {"asset": "HYD-01", "name": "TS1",</a:t>
            </a:r>
          </a:p>
          <a:p>
            <a:pPr algn="l">
              <a:lnSpc>
                <a:spcPct val="110000"/>
              </a:lnSpc>
              <a:spcAft>
                <a:spcPts val="200"/>
              </a:spcAft>
            </a:pPr>
            <a:r>
              <a:rPr sz="1300" b="0">
                <a:solidFill>
                  <a:srgbClr val="E8EEF6"/>
                </a:solidFill>
                <a:latin typeface="Consolas"/>
                <a:ea typeface="맑은 고딕"/>
                <a:cs typeface="맑은 고딕"/>
              </a:rPr>
              <a:t>          "t": "2026-10-10T02:13:08.508Z",</a:t>
            </a:r>
          </a:p>
          <a:p>
            <a:pPr algn="l">
              <a:lnSpc>
                <a:spcPct val="110000"/>
              </a:lnSpc>
              <a:spcAft>
                <a:spcPts val="200"/>
              </a:spcAft>
            </a:pPr>
            <a:r>
              <a:rPr sz="1300" b="0">
                <a:solidFill>
                  <a:srgbClr val="E8EEF6"/>
                </a:solidFill>
                <a:latin typeface="Consolas"/>
                <a:ea typeface="맑은 고딕"/>
                <a:cs typeface="맑은 고딕"/>
              </a:rPr>
              <a:t>          "v": 55.71, "q": "good"}</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asset · name</a:t>
            </a:r>
          </a:p>
          <a:p>
            <a:pPr algn="l">
              <a:lnSpc>
                <a:spcPct val="110000"/>
              </a:lnSpc>
              <a:spcAft>
                <a:spcPts val="400"/>
              </a:spcAft>
            </a:pPr>
            <a:r>
              <a:rPr sz="1400" b="0">
                <a:solidFill>
                  <a:srgbClr val="1F2A3A"/>
                </a:solidFill>
                <a:latin typeface="맑은 고딕"/>
                <a:ea typeface="맑은 고딕"/>
                <a:cs typeface="맑은 고딕"/>
              </a:rPr>
              <a:t>토픽 경로에 있던 설비와 태그 이름이 본문으로 들어왔다.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 55.71</a:t>
            </a:r>
          </a:p>
          <a:p>
            <a:pPr algn="l">
              <a:lnSpc>
                <a:spcPct val="110000"/>
              </a:lnSpc>
              <a:spcAft>
                <a:spcPts val="400"/>
              </a:spcAft>
            </a:pPr>
            <a:r>
              <a:rPr sz="1400" b="0">
                <a:solidFill>
                  <a:srgbClr val="1F2A3A"/>
                </a:solidFill>
                <a:latin typeface="맑은 고딕"/>
                <a:ea typeface="맑은 고딕"/>
                <a:cs typeface="맑은 고딕"/>
              </a:rPr>
              <a:t>그때의 유온이다. 한국 시간 11:13:08에 잰 값이다.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key hyd01</a:t>
            </a:r>
          </a:p>
          <a:p>
            <a:pPr algn="l">
              <a:lnSpc>
                <a:spcPct val="110000"/>
              </a:lnSpc>
              <a:spcAft>
                <a:spcPts val="400"/>
              </a:spcAft>
            </a:pPr>
            <a:r>
              <a:rPr sz="1400" b="0">
                <a:solidFill>
                  <a:srgbClr val="1F2A3A"/>
                </a:solidFill>
                <a:latin typeface="맑은 고딕"/>
                <a:ea typeface="맑은 고딕"/>
                <a:cs typeface="맑은 고딕"/>
              </a:rPr>
              <a:t>같은 설비의 데이터가 잰 순서대로 읽히게 하는 키이다.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잰 시각 t와 값의 품질 q가 함께 실려 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4 · 스트림 처리: 흐르는 데이터에서 알아챈다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데이터가 쌓인 뒤에 살피면 늦으므로, 감지 서비스는 이벤트 로그에 흐르는 데이터를 그 자리에서 읽어 조건에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저장한 뒤에 살핀다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데이터가 저장소에 쌓인 다음 주기적으로 조회한다</a:t>
            </a:r>
          </a:p>
          <a:p>
            <a:pPr algn="l">
              <a:lnSpc>
                <a:spcPct val="110000"/>
              </a:lnSpc>
              <a:spcAft>
                <a:spcPts val="600"/>
              </a:spcAft>
            </a:pPr>
            <a:r>
              <a:rPr sz="1450" b="0">
                <a:solidFill>
                  <a:srgbClr val="1F2A3A"/>
                </a:solidFill>
                <a:latin typeface="맑은 고딕"/>
                <a:ea typeface="맑은 고딕"/>
                <a:cs typeface="맑은 고딕"/>
              </a:rPr>
              <a:t>• 이상이 생긴 때와 알아차리는 때 사이가 벌어진다</a:t>
            </a:r>
          </a:p>
        </p:txBody>
      </p:sp>
      <p:sp>
        <p:nvSpPr>
          <p:cNvPr id="11" name="Rounded Rectangle 10"/>
          <p:cNvSpPr/>
          <p:nvPr/>
        </p:nvSpPr>
        <p:spPr>
          <a:xfrm>
            <a:off x="868680" y="5246433"/>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나중에 조회</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adar" descr="radar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흐르는 데이터를 바로 읽는다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데이터가 기록되는 대로 하나씩 받아 조건에 견준다</a:t>
            </a:r>
          </a:p>
          <a:p>
            <a:pPr algn="l">
              <a:lnSpc>
                <a:spcPct val="110000"/>
              </a:lnSpc>
              <a:spcAft>
                <a:spcPts val="600"/>
              </a:spcAft>
            </a:pPr>
            <a:r>
              <a:rPr sz="1450" b="0">
                <a:solidFill>
                  <a:srgbClr val="1F2A3A"/>
                </a:solidFill>
                <a:latin typeface="맑은 고딕"/>
                <a:ea typeface="맑은 고딕"/>
                <a:cs typeface="맑은 고딕"/>
              </a:rPr>
              <a:t>• 이렇게 끊임없이 들어오는 데이터를 그 자리에서 처리하는 방식이 스트림 처리(Stream Processing)이다</a:t>
            </a:r>
          </a:p>
          <a:p>
            <a:pPr algn="l">
              <a:lnSpc>
                <a:spcPct val="110000"/>
              </a:lnSpc>
              <a:spcAft>
                <a:spcPts val="600"/>
              </a:spcAft>
            </a:pPr>
            <a:r>
              <a:rPr sz="1450" b="0">
                <a:solidFill>
                  <a:srgbClr val="1F2A3A"/>
                </a:solidFill>
                <a:latin typeface="맑은 고딕"/>
                <a:ea typeface="맑은 고딕"/>
                <a:cs typeface="맑은 고딕"/>
              </a:rPr>
              <a:t>• 이 역할에는 Flink 같은 스트림 처리 엔진이 있다</a:t>
            </a:r>
          </a:p>
        </p:txBody>
      </p:sp>
      <p:sp>
        <p:nvSpPr>
          <p:cNvPr id="18" name="Rounded Rectangle 17"/>
          <p:cNvSpPr/>
          <p:nvPr/>
        </p:nvSpPr>
        <p:spPr>
          <a:xfrm>
            <a:off x="6781647" y="5246433"/>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그 자리에서 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유온만으로는 쿨러의 문제인지 알 수 없어, 경보 조건은 두 값과 추세를 함께 보고 일정 시간 이어져야 성립한다.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조건: 셋이 모두 맞을 때</a:t>
            </a:r>
          </a:p>
          <a:p>
            <a:pPr algn="l">
              <a:lnSpc>
                <a:spcPct val="110000"/>
              </a:lnSpc>
              <a:spcAft>
                <a:spcPts val="400"/>
              </a:spcAft>
            </a:pPr>
            <a:r>
              <a:rPr sz="1400" b="0">
                <a:solidFill>
                  <a:srgbClr val="1F2A3A"/>
                </a:solidFill>
                <a:latin typeface="맑은 고딕"/>
                <a:ea typeface="맑은 고딕"/>
                <a:cs typeface="맑은 고딕"/>
              </a:rPr>
              <a:t>유온 TS1 &gt; 55 ℃</a:t>
            </a:r>
          </a:p>
          <a:p>
            <a:pPr algn="l">
              <a:lnSpc>
                <a:spcPct val="110000"/>
              </a:lnSpc>
              <a:spcAft>
                <a:spcPts val="400"/>
              </a:spcAft>
            </a:pPr>
            <a:r>
              <a:rPr sz="1400" b="0">
                <a:solidFill>
                  <a:srgbClr val="1F2A3A"/>
                </a:solidFill>
                <a:latin typeface="맑은 고딕"/>
                <a:ea typeface="맑은 고딕"/>
                <a:cs typeface="맑은 고딕"/>
              </a:rPr>
              <a:t>냉각 효율 CE &lt; 70 %</a:t>
            </a:r>
          </a:p>
          <a:p>
            <a:pPr algn="l">
              <a:lnSpc>
                <a:spcPct val="110000"/>
              </a:lnSpc>
              <a:spcAft>
                <a:spcPts val="400"/>
              </a:spcAft>
            </a:pPr>
            <a:r>
              <a:rPr sz="1400" b="0">
                <a:solidFill>
                  <a:srgbClr val="1F2A3A"/>
                </a:solidFill>
                <a:latin typeface="맑은 고딕"/>
                <a:ea typeface="맑은 고딕"/>
                <a:cs typeface="맑은 고딕"/>
              </a:rPr>
              <a:t>유온의 기울기 &gt; 0 (오르는 중)</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기준을 넘음 11:13:04</a:t>
            </a:r>
          </a:p>
          <a:p>
            <a:pPr algn="l">
              <a:lnSpc>
                <a:spcPct val="110000"/>
              </a:lnSpc>
              <a:spcAft>
                <a:spcPts val="400"/>
              </a:spcAft>
            </a:pPr>
            <a:r>
              <a:rPr sz="1400" b="0">
                <a:solidFill>
                  <a:srgbClr val="1F2A3A"/>
                </a:solidFill>
                <a:latin typeface="맑은 고딕"/>
                <a:ea typeface="맑은 고딕"/>
                <a:cs typeface="맑은 고딕"/>
              </a:rPr>
              <a:t>유온이 55 ℃를 넘었다. 아직 경보는 없다.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조건이 약 4초 동안 이어지자 경보가 났다. 이때 유온은 55.71 ℃였다.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유지 시간을 두는 이유</a:t>
            </a:r>
          </a:p>
          <a:p>
            <a:pPr algn="l">
              <a:lnSpc>
                <a:spcPct val="110000"/>
              </a:lnSpc>
              <a:spcAft>
                <a:spcPts val="400"/>
              </a:spcAft>
            </a:pPr>
            <a:r>
              <a:rPr sz="1400" b="0">
                <a:solidFill>
                  <a:srgbClr val="1F2A3A"/>
                </a:solidFill>
                <a:latin typeface="맑은 고딕"/>
                <a:ea typeface="맑은 고딕"/>
                <a:cs typeface="맑은 고딕"/>
              </a:rPr>
              <a:t>잠깐 튄 값에 경보가 울리지 않게 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이상 이벤트: 경보 한 건의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이상 이벤트는 계측값이 아니라 무슨 일이 일어났다는 기록이며, 경보에는 식별자와 그때의 근거 값이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ALT-hyd01-0014-e0a1</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a:p>
            <a:pPr algn="l">
              <a:lnSpc>
                <a:spcPct val="110000"/>
              </a:lnSpc>
              <a:spcAft>
                <a:spcPts val="200"/>
              </a:spcAft>
            </a:pPr>
            <a:r>
              <a:rPr sz="1300" b="0">
                <a:solidFill>
                  <a:srgbClr val="E8EEF6"/>
                </a:solidFill>
                <a:latin typeface="Consolas"/>
                <a:ea typeface="맑은 고딕"/>
                <a:cs typeface="맑은 고딕"/>
              </a:rPr>
              <a:t>t          2026-10-10 11:13:08</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values     TS1 55.71, CE 46.2</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a:t>
            </a:r>
          </a:p>
          <a:p>
            <a:pPr algn="l">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values</a:t>
            </a:r>
          </a:p>
          <a:p>
            <a:pPr algn="l">
              <a:lnSpc>
                <a:spcPct val="110000"/>
              </a:lnSpc>
              <a:spcAft>
                <a:spcPts val="400"/>
              </a:spcAft>
            </a:pPr>
            <a:r>
              <a:rPr sz="1400" b="0">
                <a:solidFill>
                  <a:srgbClr val="1F2A3A"/>
                </a:solidFill>
                <a:latin typeface="맑은 고딕"/>
                <a:ea typeface="맑은 고딕"/>
                <a:cs typeface="맑은 고딕"/>
              </a:rPr>
              <a:t>경보가 난 순간의 계측값이다. 계측값은 계속 바뀌므로 근거를 경보에 붙여 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설비, 심각도, 경보의 상태와 난 시각이 함께 적힌다.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5 · 시계열 저장소: 시각으로 찾는다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지나간 데이터를 시각으로 찾아보려고, 시계열 저장소는 계측값 하나를 시각, 설비, 태그 이름, 값의 한 행으로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111375"/>
            <a:ext cx="6766560" cy="3759962"/>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48535"/>
            <a:ext cx="6400800" cy="3485642"/>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a:lnSpc>
                <a:spcPct val="110000"/>
              </a:lnSpc>
              <a:spcAft>
                <a:spcPts val="200"/>
              </a:spcAft>
            </a:pPr>
            <a:r>
              <a:rPr sz="1300" b="0">
                <a:solidFill>
                  <a:srgbClr val="E8EEF6"/>
                </a:solidFill>
                <a:latin typeface="Consolas"/>
                <a:ea typeface="맑은 고딕"/>
                <a:cs typeface="맑은 고딕"/>
              </a:rPr>
              <a:t>time       asset    name   value</a:t>
            </a:r>
          </a:p>
          <a:p>
            <a:pPr algn="l">
              <a:lnSpc>
                <a:spcPct val="110000"/>
              </a:lnSpc>
              <a:spcAft>
                <a:spcPts val="200"/>
              </a:spcAft>
            </a:pPr>
            <a:r>
              <a:rPr sz="1300" b="0">
                <a:solidFill>
                  <a:srgbClr val="E8EEF6"/>
                </a:solidFill>
                <a:latin typeface="Consolas"/>
                <a:ea typeface="맑은 고딕"/>
                <a:cs typeface="맑은 고딕"/>
              </a:rPr>
              <a:t>11:13:07   HYD-01   TS1    55.56</a:t>
            </a:r>
          </a:p>
          <a:p>
            <a:pPr algn="l">
              <a:lnSpc>
                <a:spcPct val="110000"/>
              </a:lnSpc>
              <a:spcAft>
                <a:spcPts val="200"/>
              </a:spcAft>
            </a:pPr>
            <a:r>
              <a:rPr sz="1300" b="0">
                <a:solidFill>
                  <a:srgbClr val="E8EEF6"/>
                </a:solidFill>
                <a:latin typeface="Consolas"/>
                <a:ea typeface="맑은 고딕"/>
                <a:cs typeface="맑은 고딕"/>
              </a:rPr>
              <a:t>11:13:07   HYD-01   CE     46.2</a:t>
            </a:r>
          </a:p>
          <a:p>
            <a:pPr algn="l">
              <a:lnSpc>
                <a:spcPct val="110000"/>
              </a:lnSpc>
              <a:spcAft>
                <a:spcPts val="200"/>
              </a:spcAft>
            </a:pPr>
            <a:r>
              <a:rPr sz="1300" b="0">
                <a:solidFill>
                  <a:srgbClr val="E8EEF6"/>
                </a:solidFill>
                <a:latin typeface="Consolas"/>
                <a:ea typeface="맑은 고딕"/>
                <a:cs typeface="맑은 고딕"/>
              </a:rPr>
              <a:t>11:13:08   HYD-01   TS1    55.71</a:t>
            </a:r>
          </a:p>
          <a:p>
            <a:pPr algn="l">
              <a:lnSpc>
                <a:spcPct val="110000"/>
              </a:lnSpc>
              <a:spcAft>
                <a:spcPts val="200"/>
              </a:spcAft>
            </a:pPr>
            <a:r>
              <a:rPr sz="1300" b="0">
                <a:solidFill>
                  <a:srgbClr val="E8EEF6"/>
                </a:solidFill>
                <a:latin typeface="Consolas"/>
                <a:ea typeface="맑은 고딕"/>
                <a:cs typeface="맑은 고딕"/>
              </a:rPr>
              <a:t>11:13:08   HYD-01   CE     46.2</a:t>
            </a:r>
          </a:p>
          <a:p>
            <a:pPr algn="l">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111375"/>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행</a:t>
            </a:r>
          </a:p>
          <a:p>
            <a:pPr algn="l">
              <a:lnSpc>
                <a:spcPct val="110000"/>
              </a:lnSpc>
              <a:spcAft>
                <a:spcPts val="400"/>
              </a:spcAft>
            </a:pPr>
            <a:r>
              <a:rPr sz="1400" b="0">
                <a:solidFill>
                  <a:srgbClr val="1F2A3A"/>
                </a:solidFill>
                <a:latin typeface="맑은 고딕"/>
                <a:ea typeface="맑은 고딕"/>
                <a:cs typeface="맑은 고딕"/>
              </a:rPr>
              <a:t>계측값 하나가 한 줄이다. 시각, 설비, 태그 이름, 값이 들어 있다. 태그가 늘면 행만 늘어난다.</a:t>
            </a:r>
          </a:p>
        </p:txBody>
      </p:sp>
      <p:sp>
        <p:nvSpPr>
          <p:cNvPr id="9" name="TextBox 8"/>
          <p:cNvSpPr txBox="1"/>
          <p:nvPr/>
        </p:nvSpPr>
        <p:spPr>
          <a:xfrm>
            <a:off x="7635240" y="3364695"/>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55.71</a:t>
            </a:r>
          </a:p>
          <a:p>
            <a:pPr algn="l">
              <a:lnSpc>
                <a:spcPct val="110000"/>
              </a:lnSpc>
              <a:spcAft>
                <a:spcPts val="400"/>
              </a:spcAft>
            </a:pPr>
            <a:r>
              <a:rPr sz="140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618016"/>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시계열 저장소</a:t>
            </a:r>
          </a:p>
          <a:p>
            <a:pPr algn="l">
              <a:lnSpc>
                <a:spcPct val="110000"/>
              </a:lnSpc>
              <a:spcAft>
                <a:spcPts val="400"/>
              </a:spcAft>
            </a:pPr>
            <a:r>
              <a:rPr sz="1400" b="0">
                <a:solidFill>
                  <a:srgbClr val="1F2A3A"/>
                </a:solidFill>
                <a:latin typeface="맑은 고딕"/>
                <a:ea typeface="맑은 고딕"/>
                <a:cs typeface="맑은 고딕"/>
              </a:rPr>
              <a:t>시각을 기준으로 데이터를 쌓고 조회하는 데이터베이스이다. 이 역할에는 TimescaleDB 같은 것이 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6 · 운전 화면과 분석 화면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 화면은 서버가 멈춰도 보이도록 OT에서 지금의 상태를, 분석 화면은 IT에서 지나온 이력을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운전 화면</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SCADA · HMI(Human-Machine Interface)의 자리이다</a:t>
            </a:r>
          </a:p>
          <a:p>
            <a:pPr algn="l">
              <a:lnSpc>
                <a:spcPct val="110000"/>
              </a:lnSpc>
              <a:spcAft>
                <a:spcPts val="600"/>
              </a:spcAft>
            </a:pPr>
            <a:r>
              <a:rPr sz="1450" b="0">
                <a:solidFill>
                  <a:srgbClr val="1F2A3A"/>
                </a:solidFill>
                <a:latin typeface="맑은 고딕"/>
                <a:ea typeface="맑은 고딕"/>
                <a:cs typeface="맑은 고딕"/>
              </a:rPr>
              <a:t>• OT에서 브로커를 직접 구독해 지금의 데이터를 보여 준다</a:t>
            </a:r>
          </a:p>
          <a:p>
            <a:pPr algn="l">
              <a:lnSpc>
                <a:spcPct val="110000"/>
              </a:lnSpc>
              <a:spcAft>
                <a:spcPts val="600"/>
              </a:spcAft>
            </a:pPr>
            <a:r>
              <a:rPr sz="1450" b="0">
                <a:solidFill>
                  <a:srgbClr val="1F2A3A"/>
                </a:solidFill>
                <a:latin typeface="맑은 고딕"/>
                <a:ea typeface="맑은 고딕"/>
                <a:cs typeface="맑은 고딕"/>
              </a:rPr>
              <a:t>• 운전원이 화면에서 팬 속도와 펌프 부하를 바꾼다</a:t>
            </a:r>
          </a:p>
          <a:p>
            <a:pPr algn="l">
              <a:lnSpc>
                <a:spcPct val="110000"/>
              </a:lnSpc>
              <a:spcAft>
                <a:spcPts val="600"/>
              </a:spcAft>
            </a:pPr>
            <a:r>
              <a:rPr sz="1450" b="0">
                <a:solidFill>
                  <a:srgbClr val="1F2A3A"/>
                </a:solidFill>
                <a:latin typeface="맑은 고딕"/>
                <a:ea typeface="맑은 고딕"/>
                <a:cs typeface="맑은 고딕"/>
              </a:rPr>
              <a:t>• IT 쪽 서버가 멈춰도 계속 동작한다</a:t>
            </a:r>
          </a:p>
          <a:p>
            <a:pPr algn="l">
              <a:lnSpc>
                <a:spcPct val="110000"/>
              </a:lnSpc>
              <a:spcAft>
                <a:spcPts val="600"/>
              </a:spcAft>
            </a:pPr>
            <a:r>
              <a:rPr sz="1450" b="0">
                <a:solidFill>
                  <a:srgbClr val="1F2A3A"/>
                </a:solidFill>
                <a:latin typeface="맑은 고딕"/>
                <a:ea typeface="맑은 고딕"/>
                <a:cs typeface="맑은 고딕"/>
              </a:rPr>
              <a:t>• 예: FUXA</a:t>
            </a:r>
          </a:p>
        </p:txBody>
      </p:sp>
      <p:sp>
        <p:nvSpPr>
          <p:cNvPr id="11" name="Rounded Rectangle 10"/>
          <p:cNvSpPr/>
          <p:nvPr/>
        </p:nvSpPr>
        <p:spPr>
          <a:xfrm>
            <a:off x="868680" y="5547296"/>
            <a:ext cx="23774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23774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운전 · 지금의 데이터와 조작</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분석 화면</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저장된 데이터를 그래프로 보여 주는 대시보드이다</a:t>
            </a:r>
          </a:p>
          <a:p>
            <a:pPr algn="l">
              <a:lnSpc>
                <a:spcPct val="110000"/>
              </a:lnSpc>
              <a:spcAft>
                <a:spcPts val="600"/>
              </a:spcAft>
            </a:pPr>
            <a:r>
              <a:rPr sz="1450" b="0">
                <a:solidFill>
                  <a:srgbClr val="1F2A3A"/>
                </a:solidFill>
                <a:latin typeface="맑은 고딕"/>
                <a:ea typeface="맑은 고딕"/>
                <a:cs typeface="맑은 고딕"/>
              </a:rPr>
              <a:t>• IT에서 시계열 저장소를 조회해 이력과 추세를 보여 준다</a:t>
            </a:r>
          </a:p>
          <a:p>
            <a:pPr algn="l">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a:lnSpc>
                <a:spcPct val="110000"/>
              </a:lnSpc>
              <a:spcAft>
                <a:spcPts val="600"/>
              </a:spcAft>
            </a:pPr>
            <a:r>
              <a:rPr sz="1450" b="0">
                <a:solidFill>
                  <a:srgbClr val="1F2A3A"/>
                </a:solidFill>
                <a:latin typeface="맑은 고딕"/>
                <a:ea typeface="맑은 고딕"/>
                <a:cs typeface="맑은 고딕"/>
              </a:rPr>
              <a:t>• 유온 추세선 위에 경보와 조치 시점을 표시한다</a:t>
            </a:r>
          </a:p>
          <a:p>
            <a:pPr algn="l">
              <a:lnSpc>
                <a:spcPct val="110000"/>
              </a:lnSpc>
              <a:spcAft>
                <a:spcPts val="600"/>
              </a:spcAft>
            </a:pPr>
            <a:r>
              <a:rPr sz="1450" b="0">
                <a:solidFill>
                  <a:srgbClr val="1F2A3A"/>
                </a:solidFill>
                <a:latin typeface="맑은 고딕"/>
                <a:ea typeface="맑은 고딕"/>
                <a:cs typeface="맑은 고딕"/>
              </a:rPr>
              <a:t>• 예: Grafana</a:t>
            </a:r>
          </a:p>
        </p:txBody>
      </p:sp>
      <p:sp>
        <p:nvSpPr>
          <p:cNvPr id="18" name="Rounded Rectangle 17"/>
          <p:cNvSpPr/>
          <p:nvPr/>
        </p:nvSpPr>
        <p:spPr>
          <a:xfrm>
            <a:off x="6781647" y="5547296"/>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유온에 반응하는 세 기준: 55, 60, 65 ℃</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55 ℃에서 경보가 먼저 울리므로, 사람이 다시 걸어야 풀리는 65 ℃의 인터록에 이르기 전에 조치할 시간이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394013"/>
            <a:ext cx="3442106"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576893"/>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730512"/>
            <a:ext cx="424281" cy="424281"/>
          </a:xfrm>
          <a:prstGeom prst="rect">
            <a:avLst/>
          </a:prstGeom>
        </p:spPr>
      </p:pic>
      <p:sp>
        <p:nvSpPr>
          <p:cNvPr id="9" name="TextBox 8"/>
          <p:cNvSpPr txBox="1"/>
          <p:nvPr/>
        </p:nvSpPr>
        <p:spPr>
          <a:xfrm>
            <a:off x="621792"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55 ℃</a:t>
            </a:r>
          </a:p>
          <a:p>
            <a:pPr algn="ctr">
              <a:lnSpc>
                <a:spcPct val="110000"/>
              </a:lnSpc>
              <a:spcAft>
                <a:spcPts val="400"/>
              </a:spcAft>
            </a:pPr>
            <a:r>
              <a:rPr sz="1350" b="0">
                <a:solidFill>
                  <a:srgbClr val="1F2A3A"/>
                </a:solidFill>
                <a:latin typeface="맑은 고딕"/>
                <a:ea typeface="맑은 고딕"/>
                <a:cs typeface="맑은 고딕"/>
              </a:rPr>
              <a:t>감지 서비스의 경보</a:t>
            </a:r>
          </a:p>
          <a:p>
            <a:pPr algn="ctr">
              <a:lnSpc>
                <a:spcPct val="110000"/>
              </a:lnSpc>
              <a:spcAft>
                <a:spcPts val="400"/>
              </a:spcAft>
            </a:pPr>
            <a:r>
              <a:rPr sz="1350" b="0">
                <a:solidFill>
                  <a:srgbClr val="1F2A3A"/>
                </a:solidFill>
                <a:latin typeface="맑은 고딕"/>
                <a:ea typeface="맑은 고딕"/>
                <a:cs typeface="맑은 고딕"/>
              </a:rPr>
              <a:t>여러 값과 추세를 함께 본다</a:t>
            </a:r>
          </a:p>
          <a:p>
            <a:pPr algn="ctr">
              <a:lnSpc>
                <a:spcPct val="110000"/>
              </a:lnSpc>
              <a:spcAft>
                <a:spcPts val="400"/>
              </a:spcAft>
            </a:pPr>
            <a:r>
              <a:rPr sz="1350" b="0">
                <a:solidFill>
                  <a:srgbClr val="1F2A3A"/>
                </a:solidFill>
                <a:latin typeface="맑은 고딕"/>
                <a:ea typeface="맑은 고딕"/>
                <a:cs typeface="맑은 고딕"/>
              </a:rPr>
              <a:t>원인 진단과 조치의 흐름을 시작시킨다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94013"/>
            <a:ext cx="3442106"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6893"/>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730512"/>
            <a:ext cx="424281" cy="424281"/>
          </a:xfrm>
          <a:prstGeom prst="rect">
            <a:avLst/>
          </a:prstGeom>
        </p:spPr>
      </p:pic>
      <p:sp>
        <p:nvSpPr>
          <p:cNvPr id="14" name="TextBox 13"/>
          <p:cNvSpPr txBox="1"/>
          <p:nvPr/>
        </p:nvSpPr>
        <p:spPr>
          <a:xfrm>
            <a:off x="4447946"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60 ℃</a:t>
            </a:r>
          </a:p>
          <a:p>
            <a:pPr algn="ctr">
              <a:lnSpc>
                <a:spcPct val="110000"/>
              </a:lnSpc>
              <a:spcAft>
                <a:spcPts val="400"/>
              </a:spcAft>
            </a:pPr>
            <a:r>
              <a:rPr sz="1350" b="0">
                <a:solidFill>
                  <a:srgbClr val="1F2A3A"/>
                </a:solidFill>
                <a:latin typeface="맑은 고딕"/>
                <a:ea typeface="맑은 고딕"/>
                <a:cs typeface="맑은 고딕"/>
              </a:rPr>
              <a:t>운전 화면의 알람</a:t>
            </a:r>
          </a:p>
          <a:p>
            <a:pPr algn="ctr">
              <a:lnSpc>
                <a:spcPct val="110000"/>
              </a:lnSpc>
              <a:spcAft>
                <a:spcPts val="400"/>
              </a:spcAft>
            </a:pPr>
            <a:r>
              <a:rPr sz="1350" b="0">
                <a:solidFill>
                  <a:srgbClr val="1F2A3A"/>
                </a:solidFill>
                <a:latin typeface="맑은 고딕"/>
                <a:ea typeface="맑은 고딕"/>
                <a:cs typeface="맑은 고딕"/>
              </a:rPr>
              <a:t>유온 하나의 기준이다</a:t>
            </a:r>
          </a:p>
          <a:p>
            <a:pPr algn="ctr">
              <a:lnSpc>
                <a:spcPct val="110000"/>
              </a:lnSpc>
              <a:spcAft>
                <a:spcPts val="400"/>
              </a:spcAft>
            </a:pPr>
            <a:r>
              <a:rPr sz="1350" b="0">
                <a:solidFill>
                  <a:srgbClr val="1F2A3A"/>
                </a:solidFill>
                <a:latin typeface="맑은 고딕"/>
                <a:ea typeface="맑은 고딕"/>
                <a:cs typeface="맑은 고딕"/>
              </a:rPr>
              <a:t>운전원에게 지금의 상태를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94013"/>
            <a:ext cx="3442106"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576893"/>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730512"/>
            <a:ext cx="424281" cy="424281"/>
          </a:xfrm>
          <a:prstGeom prst="rect">
            <a:avLst/>
          </a:prstGeom>
        </p:spPr>
      </p:pic>
      <p:sp>
        <p:nvSpPr>
          <p:cNvPr id="19" name="TextBox 18"/>
          <p:cNvSpPr txBox="1"/>
          <p:nvPr/>
        </p:nvSpPr>
        <p:spPr>
          <a:xfrm>
            <a:off x="8274100"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65 ℃</a:t>
            </a:r>
          </a:p>
          <a:p>
            <a:pPr algn="ctr">
              <a:lnSpc>
                <a:spcPct val="110000"/>
              </a:lnSpc>
              <a:spcAft>
                <a:spcPts val="400"/>
              </a:spcAft>
            </a:pPr>
            <a:r>
              <a:rPr sz="1350" b="0">
                <a:solidFill>
                  <a:srgbClr val="1F2A3A"/>
                </a:solidFill>
                <a:latin typeface="맑은 고딕"/>
                <a:ea typeface="맑은 고딕"/>
                <a:cs typeface="맑은 고딕"/>
              </a:rPr>
              <a:t>PLC의 인터록</a:t>
            </a:r>
          </a:p>
          <a:p>
            <a:pPr algn="ctr">
              <a:lnSpc>
                <a:spcPct val="110000"/>
              </a:lnSpc>
              <a:spcAft>
                <a:spcPts val="400"/>
              </a:spcAft>
            </a:pPr>
            <a:r>
              <a:rPr sz="1350" b="0">
                <a:solidFill>
                  <a:srgbClr val="1F2A3A"/>
                </a:solidFill>
                <a:latin typeface="맑은 고딕"/>
                <a:ea typeface="맑은 고딕"/>
                <a:cs typeface="맑은 고딕"/>
              </a:rPr>
              <a:t>알리지 않고 설비를 세운다</a:t>
            </a:r>
          </a:p>
          <a:p>
            <a:pPr algn="ctr">
              <a:lnSpc>
                <a:spcPct val="110000"/>
              </a:lnSpc>
              <a:spcAft>
                <a:spcPts val="400"/>
              </a:spcAft>
            </a:pPr>
            <a:r>
              <a:rPr sz="1350" b="0">
                <a:solidFill>
                  <a:srgbClr val="1F2A3A"/>
                </a:solidFill>
                <a:latin typeface="맑은 고딕"/>
                <a:ea typeface="맑은 고딕"/>
                <a:cs typeface="맑은 고딕"/>
              </a:rPr>
              <a:t>자동으로 풀리지 않으며, 유온이 55 ℃ 아래로</a:t>
            </a:r>
          </a:p>
          <a:p>
            <a:pPr algn="ctr">
              <a:lnSpc>
                <a:spcPct val="110000"/>
              </a:lnSpc>
              <a:spcAft>
                <a:spcPts val="400"/>
              </a:spcAft>
            </a:pPr>
            <a:r>
              <a:rPr sz="1350" b="0">
                <a:solidFill>
                  <a:srgbClr val="1F2A3A"/>
                </a:solidFill>
                <a:latin typeface="맑은 고딕"/>
                <a:ea typeface="맑은 고딕"/>
                <a:cs typeface="맑은 고딕"/>
              </a:rPr>
              <a:t>내려온 뒤 사람이 다시 건다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 추천, 승인,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추천까지만 하고 명령은 승인 뒤에만 만들어져, 설비를 움직이는 결정이 책임질 사람을 거친다.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 지식과 데이터를 조회해 원인을 가리고 조치안을 추천한다</a:t>
            </a:r>
          </a:p>
          <a:p>
            <a:pPr algn="l">
              <a:lnSpc>
                <a:spcPct val="110000"/>
              </a:lnSpc>
              <a:spcAft>
                <a:spcPts val="400"/>
              </a:spcAft>
            </a:pPr>
            <a:r>
              <a:rPr sz="1400" b="0">
                <a:solidFill>
                  <a:srgbClr val="1F2A3A"/>
                </a:solidFill>
                <a:latin typeface="맑은 고딕"/>
                <a:ea typeface="맑은 고딕"/>
                <a:cs typeface="맑은 고딕"/>
              </a:rPr>
              <a:t>• 설비에 명령을 보낼 수단이 없다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추천</a:t>
            </a:r>
          </a:p>
        </p:txBody>
      </p:sp>
      <p:sp>
        <p:nvSpPr>
          <p:cNvPr id="12" name="Rounded Rectangle 11"/>
          <p:cNvSpPr/>
          <p:nvPr/>
        </p:nvSpPr>
        <p:spPr>
          <a:xfrm>
            <a:off x="4338218"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5CB8F2"/>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a:t>
            </a:r>
          </a:p>
          <a:p>
            <a:pPr algn="l">
              <a:lnSpc>
                <a:spcPct val="110000"/>
              </a:lnSpc>
              <a:spcAft>
                <a:spcPts val="400"/>
              </a:spcAft>
            </a:pPr>
            <a:r>
              <a:rPr sz="1400" b="0">
                <a:solidFill>
                  <a:srgbClr val="1F2A3A"/>
                </a:solidFill>
                <a:latin typeface="맑은 고딕"/>
                <a:ea typeface="맑은 고딕"/>
                <a:cs typeface="맑은 고딕"/>
              </a:rPr>
              <a:t>• 추천과 근거를 보고 승인하거나 거절한다</a:t>
            </a:r>
          </a:p>
          <a:p>
            <a:pPr algn="l">
              <a:lnSpc>
                <a:spcPct val="110000"/>
              </a:lnSpc>
              <a:spcAft>
                <a:spcPts val="400"/>
              </a:spcAft>
            </a:pPr>
            <a:r>
              <a:rPr sz="1400" b="0">
                <a:solidFill>
                  <a:srgbClr val="1F2A3A"/>
                </a:solidFill>
                <a:latin typeface="맑은 고딕"/>
                <a:ea typeface="맑은 고딕"/>
                <a:cs typeface="맑은 고딕"/>
              </a:rPr>
              <a:t>• 책임이 따르는 결정은 사람이 내린다</a:t>
            </a:r>
          </a:p>
          <a:p>
            <a:pPr algn="l">
              <a:lnSpc>
                <a:spcPct val="110000"/>
              </a:lnSpc>
              <a:spcAft>
                <a:spcPts val="400"/>
              </a:spcAft>
            </a:pPr>
            <a:r>
              <a:rPr sz="1400" b="0">
                <a:solidFill>
                  <a:srgbClr val="1F2A3A"/>
                </a:solidFill>
                <a:latin typeface="맑은 고딕"/>
                <a:ea typeface="맑은 고딕"/>
                <a:cs typeface="맑은 고딕"/>
              </a:rPr>
              <a:t>• 사람의 판단을 거치는 이 구조를 HITL(Human-in-the-Loop)이라 한다</a:t>
            </a:r>
          </a:p>
        </p:txBody>
      </p:sp>
      <p:sp>
        <p:nvSpPr>
          <p:cNvPr id="16" name="Rounded Rectangle 15"/>
          <p:cNvSpPr/>
          <p:nvPr/>
        </p:nvSpPr>
        <p:spPr>
          <a:xfrm>
            <a:off x="4566818" y="5366766"/>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6676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또는 거절</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 엔진</a:t>
            </a:r>
          </a:p>
          <a:p>
            <a:pPr algn="l">
              <a:lnSpc>
                <a:spcPct val="110000"/>
              </a:lnSpc>
              <a:spcAft>
                <a:spcPts val="400"/>
              </a:spcAft>
            </a:pPr>
            <a:r>
              <a:rPr sz="1400" b="0">
                <a:solidFill>
                  <a:srgbClr val="1F2A3A"/>
                </a:solidFill>
                <a:latin typeface="맑은 고딕"/>
                <a:ea typeface="맑은 고딕"/>
                <a:cs typeface="맑은 고딕"/>
              </a:rPr>
              <a:t>• 승인된 조치만 명령으로 만들어 내려보낸다</a:t>
            </a:r>
          </a:p>
          <a:p>
            <a:pPr algn="l">
              <a:lnSpc>
                <a:spcPct val="110000"/>
              </a:lnSpc>
              <a:spcAft>
                <a:spcPts val="400"/>
              </a:spcAft>
            </a:pPr>
            <a:r>
              <a:rPr sz="1400" b="0">
                <a:solidFill>
                  <a:srgbClr val="1F2A3A"/>
                </a:solidFill>
                <a:latin typeface="맑은 고딕"/>
                <a:ea typeface="맑은 고딕"/>
                <a:cs typeface="맑은 고딕"/>
              </a:rPr>
              <a:t>• 실행 뒤 결과를 확인하고 기록한다</a:t>
            </a:r>
          </a:p>
        </p:txBody>
      </p:sp>
      <p:sp>
        <p:nvSpPr>
          <p:cNvPr id="22" name="Rounded Rectangle 21"/>
          <p:cNvSpPr/>
          <p:nvPr/>
        </p:nvSpPr>
        <p:spPr>
          <a:xfrm>
            <a:off x="8356396" y="536676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승인된 명령이 설비로 내려가는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설비로 내려가는 명령은 DMZ의 명령 관문이 검사한 뒤에만 OT의 브로커를 거쳐 PLC에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612647" y="2330818"/>
            <a:ext cx="4309750"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5050414"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5050414" y="2385682"/>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7269297" y="2330818"/>
            <a:ext cx="4309750"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726929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2143551"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6" name="아이콘:settings-automation" descr="settings-automation_13294B_1.6.png"/>
          <p:cNvPicPr>
            <a:picLocks noChangeAspect="1"/>
          </p:cNvPicPr>
          <p:nvPr/>
        </p:nvPicPr>
        <p:blipFill>
          <a:blip r:embed="rId3"/>
          <a:stretch>
            <a:fillRect/>
          </a:stretch>
        </p:blipFill>
        <p:spPr>
          <a:xfrm>
            <a:off x="1358088" y="3522135"/>
            <a:ext cx="599985" cy="599985"/>
          </a:xfrm>
          <a:prstGeom prst="rect">
            <a:avLst/>
          </a:prstGeom>
        </p:spPr>
      </p:pic>
      <p:sp>
        <p:nvSpPr>
          <p:cNvPr id="17" name="TextBox 16"/>
          <p:cNvSpPr txBox="1"/>
          <p:nvPr/>
        </p:nvSpPr>
        <p:spPr>
          <a:xfrm>
            <a:off x="64007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프로세스 엔진</a:t>
            </a:r>
          </a:p>
          <a:p>
            <a:pPr algn="ctr">
              <a:lnSpc>
                <a:spcPct val="110000"/>
              </a:lnSpc>
              <a:spcAft>
                <a:spcPts val="400"/>
              </a:spcAft>
            </a:pPr>
            <a:r>
              <a:rPr sz="1300" b="0">
                <a:solidFill>
                  <a:srgbClr val="1F2A3A"/>
                </a:solidFill>
                <a:latin typeface="맑은 고딕"/>
                <a:ea typeface="맑은 고딕"/>
                <a:cs typeface="맑은 고딕"/>
              </a:rPr>
              <a:t>승인된 조치를</a:t>
            </a:r>
          </a:p>
          <a:p>
            <a:pPr algn="ctr">
              <a:lnSpc>
                <a:spcPct val="110000"/>
              </a:lnSpc>
              <a:spcAft>
                <a:spcPts val="400"/>
              </a:spcAft>
            </a:pPr>
            <a:r>
              <a:rPr sz="1300" b="0">
                <a:solidFill>
                  <a:srgbClr val="1F2A3A"/>
                </a:solidFill>
                <a:latin typeface="맑은 고딕"/>
                <a:ea typeface="맑은 고딕"/>
                <a:cs typeface="맑은 고딕"/>
              </a:rPr>
              <a:t>명령으로 만든다</a:t>
            </a:r>
          </a:p>
        </p:txBody>
      </p:sp>
      <p:sp>
        <p:nvSpPr>
          <p:cNvPr id="18" name="Chevron 17"/>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4362434"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330005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tack-2" descr="stack-2_13294B_1.6.png"/>
          <p:cNvPicPr>
            <a:picLocks noChangeAspect="1"/>
          </p:cNvPicPr>
          <p:nvPr/>
        </p:nvPicPr>
        <p:blipFill>
          <a:blip r:embed="rId4"/>
          <a:stretch>
            <a:fillRect/>
          </a:stretch>
        </p:blipFill>
        <p:spPr>
          <a:xfrm>
            <a:off x="3576971" y="3522135"/>
            <a:ext cx="599985" cy="599985"/>
          </a:xfrm>
          <a:prstGeom prst="rect">
            <a:avLst/>
          </a:prstGeom>
        </p:spPr>
      </p:pic>
      <p:sp>
        <p:nvSpPr>
          <p:cNvPr id="22" name="TextBox 21"/>
          <p:cNvSpPr txBox="1"/>
          <p:nvPr/>
        </p:nvSpPr>
        <p:spPr>
          <a:xfrm>
            <a:off x="2858963"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이벤트 로그</a:t>
            </a:r>
          </a:p>
          <a:p>
            <a:pPr algn="ctr">
              <a:lnSpc>
                <a:spcPct val="110000"/>
              </a:lnSpc>
              <a:spcAft>
                <a:spcPts val="400"/>
              </a:spcAft>
            </a:pPr>
            <a:r>
              <a:rPr sz="1300" b="0">
                <a:solidFill>
                  <a:srgbClr val="1F2A3A"/>
                </a:solidFill>
                <a:latin typeface="맑은 고딕"/>
                <a:ea typeface="맑은 고딕"/>
                <a:cs typeface="맑은 고딕"/>
              </a:rPr>
              <a:t>토픽 action.cmd에</a:t>
            </a:r>
          </a:p>
          <a:p>
            <a:pPr algn="ctr">
              <a:lnSpc>
                <a:spcPct val="110000"/>
              </a:lnSpc>
              <a:spcAft>
                <a:spcPts val="400"/>
              </a:spcAft>
            </a:pPr>
            <a:r>
              <a:rPr sz="1300" b="0">
                <a:solidFill>
                  <a:srgbClr val="1F2A3A"/>
                </a:solidFill>
                <a:latin typeface="맑은 고딕"/>
                <a:ea typeface="맑은 고딕"/>
                <a:cs typeface="맑은 고딕"/>
              </a:rPr>
              <a:t>명령이 기록으로 남는다</a:t>
            </a:r>
          </a:p>
        </p:txBody>
      </p:sp>
      <p:sp>
        <p:nvSpPr>
          <p:cNvPr id="23" name="Chevron 22"/>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6581317"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검사 통과</a:t>
            </a:r>
          </a:p>
        </p:txBody>
      </p:sp>
      <p:sp>
        <p:nvSpPr>
          <p:cNvPr id="25" name="Oval 24"/>
          <p:cNvSpPr/>
          <p:nvPr/>
        </p:nvSpPr>
        <p:spPr>
          <a:xfrm>
            <a:off x="5518938"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26" name="아이콘:shield-check" descr="shield-check_13294B_1.6.png"/>
          <p:cNvPicPr>
            <a:picLocks noChangeAspect="1"/>
          </p:cNvPicPr>
          <p:nvPr/>
        </p:nvPicPr>
        <p:blipFill>
          <a:blip r:embed="rId5"/>
          <a:stretch>
            <a:fillRect/>
          </a:stretch>
        </p:blipFill>
        <p:spPr>
          <a:xfrm>
            <a:off x="5795854" y="3522135"/>
            <a:ext cx="599985" cy="599985"/>
          </a:xfrm>
          <a:prstGeom prst="rect">
            <a:avLst/>
          </a:prstGeom>
        </p:spPr>
      </p:pic>
      <p:sp>
        <p:nvSpPr>
          <p:cNvPr id="27" name="TextBox 26"/>
          <p:cNvSpPr txBox="1"/>
          <p:nvPr/>
        </p:nvSpPr>
        <p:spPr>
          <a:xfrm>
            <a:off x="5077846"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명령 관문</a:t>
            </a:r>
          </a:p>
          <a:p>
            <a:pPr algn="ctr">
              <a:lnSpc>
                <a:spcPct val="110000"/>
              </a:lnSpc>
              <a:spcAft>
                <a:spcPts val="400"/>
              </a:spcAft>
            </a:pPr>
            <a:r>
              <a:rPr sz="1300" b="0">
                <a:solidFill>
                  <a:srgbClr val="1F2A3A"/>
                </a:solidFill>
                <a:latin typeface="맑은 고딕"/>
                <a:ea typeface="맑은 고딕"/>
                <a:cs typeface="맑은 고딕"/>
              </a:rPr>
              <a:t>형식, 만료, 승인 기록,</a:t>
            </a:r>
          </a:p>
          <a:p>
            <a:pPr algn="ctr">
              <a:lnSpc>
                <a:spcPct val="110000"/>
              </a:lnSpc>
              <a:spcAft>
                <a:spcPts val="400"/>
              </a:spcAft>
            </a:pPr>
            <a:r>
              <a:rPr sz="1300" b="0">
                <a:solidFill>
                  <a:srgbClr val="1F2A3A"/>
                </a:solidFill>
                <a:latin typeface="맑은 고딕"/>
                <a:ea typeface="맑은 고딕"/>
                <a:cs typeface="맑은 고딕"/>
              </a:rPr>
              <a:t>운전 모드를 검사한다</a:t>
            </a:r>
          </a:p>
        </p:txBody>
      </p:sp>
      <p:sp>
        <p:nvSpPr>
          <p:cNvPr id="28" name="Chevron 27"/>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8800200"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8014737" y="3522135"/>
            <a:ext cx="599985" cy="599985"/>
          </a:xfrm>
          <a:prstGeom prst="rect">
            <a:avLst/>
          </a:prstGeom>
        </p:spPr>
      </p:pic>
      <p:sp>
        <p:nvSpPr>
          <p:cNvPr id="32" name="TextBox 31"/>
          <p:cNvSpPr txBox="1"/>
          <p:nvPr/>
        </p:nvSpPr>
        <p:spPr>
          <a:xfrm>
            <a:off x="729672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브로커</a:t>
            </a:r>
          </a:p>
          <a:p>
            <a:pPr algn="ctr">
              <a:lnSpc>
                <a:spcPct val="110000"/>
              </a:lnSpc>
              <a:spcAft>
                <a:spcPts val="400"/>
              </a:spcAft>
            </a:pPr>
            <a:r>
              <a:rPr sz="1300" b="0">
                <a:solidFill>
                  <a:srgbClr val="1F2A3A"/>
                </a:solidFill>
                <a:latin typeface="맑은 고딕"/>
                <a:ea typeface="맑은 고딕"/>
                <a:cs typeface="맑은 고딕"/>
              </a:rPr>
              <a:t>토픽</a:t>
            </a:r>
          </a:p>
          <a:p>
            <a:pPr algn="ctr">
              <a:lnSpc>
                <a:spcPct val="110000"/>
              </a:lnSpc>
              <a:spcAft>
                <a:spcPts val="400"/>
              </a:spcAft>
            </a:pPr>
            <a:r>
              <a:rPr sz="1300" b="0">
                <a:solidFill>
                  <a:srgbClr val="1F2A3A"/>
                </a:solidFill>
                <a:latin typeface="맑은 고딕"/>
                <a:ea typeface="맑은 고딕"/>
                <a:cs typeface="맑은 고딕"/>
              </a:rPr>
              <a:t>plant/hyd01/cmd/auto</a:t>
            </a:r>
          </a:p>
        </p:txBody>
      </p:sp>
      <p:sp>
        <p:nvSpPr>
          <p:cNvPr id="33" name="Oval 32"/>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4" name="아이콘:cpu" descr="cpu_13294B_1.6.png"/>
          <p:cNvPicPr>
            <a:picLocks noChangeAspect="1"/>
          </p:cNvPicPr>
          <p:nvPr/>
        </p:nvPicPr>
        <p:blipFill>
          <a:blip r:embed="rId7"/>
          <a:stretch>
            <a:fillRect/>
          </a:stretch>
        </p:blipFill>
        <p:spPr>
          <a:xfrm>
            <a:off x="10233620" y="3522135"/>
            <a:ext cx="599985" cy="599985"/>
          </a:xfrm>
          <a:prstGeom prst="rect">
            <a:avLst/>
          </a:prstGeom>
        </p:spPr>
      </p:pic>
      <p:sp>
        <p:nvSpPr>
          <p:cNvPr id="35" name="TextBox 34"/>
          <p:cNvSpPr txBox="1"/>
          <p:nvPr/>
        </p:nvSpPr>
        <p:spPr>
          <a:xfrm>
            <a:off x="9515612"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다시 검사한 뒤</a:t>
            </a:r>
          </a:p>
          <a:p>
            <a:pPr algn="ctr">
              <a:lnSpc>
                <a:spcPct val="110000"/>
              </a:lnSpc>
              <a:spcAft>
                <a:spcPts val="400"/>
              </a:spcAft>
            </a:pPr>
            <a:r>
              <a:rPr sz="1300" b="0">
                <a:solidFill>
                  <a:srgbClr val="1F2A3A"/>
                </a:solidFill>
                <a:latin typeface="맑은 고딕"/>
                <a:ea typeface="맑은 고딕"/>
                <a:cs typeface="맑은 고딕"/>
              </a:rPr>
              <a:t>설정값을 바꾼다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메시지 한 건에 들어 있는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명령에는 할 일과 함께 누가 승인했는지, 언제까지 유효한지가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cmdId       CMD-1010-0001-b94a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incident    INC-1010-01-d55a</a:t>
            </a:r>
          </a:p>
          <a:p>
            <a:pPr algn="l">
              <a:lnSpc>
                <a:spcPct val="110000"/>
              </a:lnSpc>
              <a:spcAft>
                <a:spcPts val="200"/>
              </a:spcAft>
            </a:pPr>
            <a:r>
              <a:rPr sz="1300" b="0">
                <a:solidFill>
                  <a:srgbClr val="E8EEF6"/>
                </a:solidFill>
                <a:latin typeface="Consolas"/>
                <a:ea typeface="맑은 고딕"/>
                <a:cs typeface="맑은 고딕"/>
              </a:rPr>
              <a:t>actions     FAN_SET  fan_pct 100</a:t>
            </a:r>
          </a:p>
          <a:p>
            <a:pPr algn="l">
              <a:lnSpc>
                <a:spcPct val="110000"/>
              </a:lnSpc>
              <a:spcAft>
                <a:spcPts val="200"/>
              </a:spcAft>
            </a:pPr>
            <a:r>
              <a:rPr sz="1300" b="0">
                <a:solidFill>
                  <a:srgbClr val="E8EEF6"/>
                </a:solidFill>
                <a:latin typeface="Consolas"/>
                <a:ea typeface="맑은 고딕"/>
                <a:cs typeface="맑은 고딕"/>
              </a:rPr>
              <a:t>approvedBy  user:kim-op</a:t>
            </a:r>
          </a:p>
          <a:p>
            <a:pPr algn="l">
              <a:lnSpc>
                <a:spcPct val="110000"/>
              </a:lnSpc>
              <a:spcAft>
                <a:spcPts val="200"/>
              </a:spcAft>
            </a:pPr>
            <a:r>
              <a:rPr sz="1300" b="0">
                <a:solidFill>
                  <a:srgbClr val="E8EEF6"/>
                </a:solidFill>
                <a:latin typeface="Consolas"/>
                <a:ea typeface="맑은 고딕"/>
                <a:cs typeface="맑은 고딕"/>
              </a:rPr>
              <a:t>issuedAt    11:14:57</a:t>
            </a:r>
          </a:p>
          <a:p>
            <a:pPr algn="l">
              <a:lnSpc>
                <a:spcPct val="110000"/>
              </a:lnSpc>
              <a:spcAft>
                <a:spcPts val="200"/>
              </a:spcAft>
            </a:pPr>
            <a:r>
              <a:rPr sz="1300" b="0">
                <a:solidFill>
                  <a:srgbClr val="E8EEF6"/>
                </a:solidFill>
                <a:latin typeface="Consolas"/>
                <a:ea typeface="맑은 고딕"/>
                <a:cs typeface="맑은 고딕"/>
              </a:rPr>
              <a:t>expiresAt   11:16:57</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actions</a:t>
            </a:r>
          </a:p>
          <a:p>
            <a:pPr algn="l">
              <a:lnSpc>
                <a:spcPct val="110000"/>
              </a:lnSpc>
              <a:spcAft>
                <a:spcPts val="400"/>
              </a:spcAft>
            </a:pPr>
            <a:r>
              <a:rPr sz="1400" b="0">
                <a:solidFill>
                  <a:srgbClr val="1F2A3A"/>
                </a:solidFill>
                <a:latin typeface="맑은 고딕"/>
                <a:ea typeface="맑은 고딕"/>
                <a:cs typeface="맑은 고딕"/>
              </a:rPr>
              <a:t>할 일이다. 팬 속도를 100 %로 올린다.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approvedBy</a:t>
            </a:r>
          </a:p>
          <a:p>
            <a:pPr algn="l">
              <a:lnSpc>
                <a:spcPct val="110000"/>
              </a:lnSpc>
              <a:spcAft>
                <a:spcPts val="400"/>
              </a:spcAft>
            </a:pPr>
            <a:r>
              <a:rPr sz="1400" b="0">
                <a:solidFill>
                  <a:srgbClr val="1F2A3A"/>
                </a:solidFill>
                <a:latin typeface="맑은 고딕"/>
                <a:ea typeface="맑은 고딕"/>
                <a:cs typeface="맑은 고딕"/>
              </a:rPr>
              <a:t>승인한 사람이다. 승인 없이는 명령이 만들어지지 않으며, 누가 책임지는지가 남는다.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expiresAt</a:t>
            </a:r>
          </a:p>
          <a:p>
            <a:pPr algn="l">
              <a:lnSpc>
                <a:spcPct val="110000"/>
              </a:lnSpc>
              <a:spcAft>
                <a:spcPts val="400"/>
              </a:spcAft>
            </a:pPr>
            <a:r>
              <a:rPr sz="1400" b="0">
                <a:solidFill>
                  <a:srgbClr val="1F2A3A"/>
                </a:solidFill>
                <a:latin typeface="맑은 고딕"/>
                <a:ea typeface="맑은 고딕"/>
                <a:cs typeface="맑은 고딕"/>
              </a:rPr>
              <a:t>유효 시간이다. 이 시각이 지난 명령은 버려져, 달라진 상황에서 늦게 실행되지 않는다.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명령 번호와 설비, 사건 번호, 명령을 만든 시각이 함께 적힌다.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명령의 두 단계 검사: 명령 관문과 PLC</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 관문은 명령서를, PLC는 지금의 설비를 보아 서로 다른 잘못을 걸러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lipboard-check" descr="clipboar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명령 관문 · DMZ</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형식: 필요한 칸이 모두 있고 허용된 조치인가</a:t>
            </a:r>
          </a:p>
          <a:p>
            <a:pPr algn="l">
              <a:lnSpc>
                <a:spcPct val="110000"/>
              </a:lnSpc>
              <a:spcAft>
                <a:spcPts val="600"/>
              </a:spcAft>
            </a:pPr>
            <a:r>
              <a:rPr sz="1450" b="0">
                <a:solidFill>
                  <a:srgbClr val="1F2A3A"/>
                </a:solidFill>
                <a:latin typeface="맑은 고딕"/>
                <a:ea typeface="맑은 고딕"/>
                <a:cs typeface="맑은 고딕"/>
              </a:rPr>
              <a:t>• 유효 시간: 지나지 않았는가</a:t>
            </a:r>
          </a:p>
          <a:p>
            <a:pPr algn="l">
              <a:lnSpc>
                <a:spcPct val="110000"/>
              </a:lnSpc>
              <a:spcAft>
                <a:spcPts val="600"/>
              </a:spcAft>
            </a:pPr>
            <a:r>
              <a:rPr sz="1450" b="0">
                <a:solidFill>
                  <a:srgbClr val="1F2A3A"/>
                </a:solidFill>
                <a:latin typeface="맑은 고딕"/>
                <a:ea typeface="맑은 고딕"/>
                <a:cs typeface="맑은 고딕"/>
              </a:rPr>
              <a:t>• 승인 기록: 이 명령에 대한 승인 기록이 실제로 있는가</a:t>
            </a:r>
          </a:p>
          <a:p>
            <a:pPr algn="l">
              <a:lnSpc>
                <a:spcPct val="110000"/>
              </a:lnSpc>
              <a:spcAft>
                <a:spcPts val="600"/>
              </a:spcAft>
            </a:pPr>
            <a:r>
              <a:rPr sz="1450" b="0">
                <a:solidFill>
                  <a:srgbClr val="1F2A3A"/>
                </a:solidFill>
                <a:latin typeface="맑은 고딕"/>
                <a:ea typeface="맑은 고딕"/>
                <a:cs typeface="맑은 고딕"/>
              </a:rPr>
              <a:t>• 운전 모드: PLC가 원격 자동 운전 상태인가</a:t>
            </a:r>
          </a:p>
        </p:txBody>
      </p:sp>
      <p:sp>
        <p:nvSpPr>
          <p:cNvPr id="11" name="Rounded Rectangle 10"/>
          <p:cNvSpPr/>
          <p:nvPr/>
        </p:nvSpPr>
        <p:spPr>
          <a:xfrm>
            <a:off x="868680" y="5246433"/>
            <a:ext cx="1325879"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명령서를 본다</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PLC · OT</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팬 속도는 0~100 %, 부하는 60~100 % 안인가</a:t>
            </a:r>
          </a:p>
          <a:p>
            <a:pPr algn="l">
              <a:lnSpc>
                <a:spcPct val="110000"/>
              </a:lnSpc>
              <a:spcAft>
                <a:spcPts val="600"/>
              </a:spcAft>
            </a:pPr>
            <a:r>
              <a:rPr sz="1450" b="0">
                <a:solidFill>
                  <a:srgbClr val="1F2A3A"/>
                </a:solidFill>
                <a:latin typeface="맑은 고딕"/>
                <a:ea typeface="맑은 고딕"/>
                <a:cs typeface="맑은 고딕"/>
              </a:rPr>
              <a:t>• 인터록: 지금 인터록에 걸려 있지 않은가</a:t>
            </a:r>
          </a:p>
          <a:p>
            <a:pPr algn="l">
              <a:lnSpc>
                <a:spcPct val="110000"/>
              </a:lnSpc>
              <a:spcAft>
                <a:spcPts val="600"/>
              </a:spcAft>
            </a:pPr>
            <a:r>
              <a:rPr sz="1450" b="0">
                <a:solidFill>
                  <a:srgbClr val="1F2A3A"/>
                </a:solidFill>
                <a:latin typeface="맑은 고딕"/>
                <a:ea typeface="맑은 고딕"/>
                <a:cs typeface="맑은 고딕"/>
              </a:rPr>
              <a:t>• 응답: 설정값을 바꾸고 결과를 돌려보낸다</a:t>
            </a:r>
          </a:p>
          <a:p>
            <a:pPr algn="l">
              <a:lnSpc>
                <a:spcPct val="110000"/>
              </a:lnSpc>
              <a:spcAft>
                <a:spcPts val="600"/>
              </a:spcAft>
            </a:pPr>
            <a:r>
              <a:rPr sz="1450" b="0">
                <a:solidFill>
                  <a:srgbClr val="1F2A3A"/>
                </a:solidFill>
                <a:latin typeface="맑은 고딕"/>
                <a:ea typeface="맑은 고딕"/>
                <a:cs typeface="맑은 고딕"/>
              </a:rPr>
              <a:t>• result DONE · interlock PASS</a:t>
            </a:r>
          </a:p>
        </p:txBody>
      </p:sp>
      <p:sp>
        <p:nvSpPr>
          <p:cNvPr id="18" name="Rounded Rectangle 17"/>
          <p:cNvSpPr/>
          <p:nvPr/>
        </p:nvSpPr>
        <p:spPr>
          <a:xfrm>
            <a:off x="6781647" y="5246433"/>
            <a:ext cx="16763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지금의 설비를 본다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한 건이 설비에 닿기까지 걸린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승인에서 설비의 응답까지 2초가 걸렸으며, 관문과 PLC의 검사는 그 안에 끝나 조치를 늦추지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11:14:56 승인</a:t>
            </a:r>
          </a:p>
          <a:p>
            <a:pPr algn="ctr">
              <a:lnSpc>
                <a:spcPct val="110000"/>
              </a:lnSpc>
              <a:spcAft>
                <a:spcPts val="400"/>
              </a:spcAft>
            </a:pPr>
            <a:r>
              <a:rPr sz="1350" b="0">
                <a:solidFill>
                  <a:srgbClr val="1F2A3A"/>
                </a:solidFill>
                <a:latin typeface="맑은 고딕"/>
                <a:ea typeface="맑은 고딕"/>
                <a:cs typeface="맑은 고딕"/>
              </a:rPr>
              <a:t>운전원이</a:t>
            </a:r>
          </a:p>
          <a:p>
            <a:pPr algn="ctr">
              <a:lnSpc>
                <a:spcPct val="110000"/>
              </a:lnSpc>
              <a:spcAft>
                <a:spcPts val="400"/>
              </a:spcAft>
            </a:pPr>
            <a:r>
              <a:rPr sz="1350" b="0">
                <a:solidFill>
                  <a:srgbClr val="1F2A3A"/>
                </a:solidFill>
                <a:latin typeface="맑은 고딕"/>
                <a:ea typeface="맑은 고딕"/>
                <a:cs typeface="맑은 고딕"/>
              </a:rPr>
              <a:t>「팬 최대 운전」을 승인한다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11:14:57 명령</a:t>
            </a:r>
          </a:p>
          <a:p>
            <a:pPr algn="ctr">
              <a:lnSpc>
                <a:spcPct val="110000"/>
              </a:lnSpc>
              <a:spcAft>
                <a:spcPts val="400"/>
              </a:spcAft>
            </a:pPr>
            <a:r>
              <a:rPr sz="1350" b="0">
                <a:solidFill>
                  <a:srgbClr val="1F2A3A"/>
                </a:solidFill>
                <a:latin typeface="맑은 고딕"/>
                <a:ea typeface="맑은 고딕"/>
                <a:cs typeface="맑은 고딕"/>
              </a:rPr>
              <a:t>팬 속도 100 % 명령이</a:t>
            </a:r>
          </a:p>
          <a:p>
            <a:pPr algn="ctr">
              <a:lnSpc>
                <a:spcPct val="110000"/>
              </a:lnSpc>
              <a:spcAft>
                <a:spcPts val="400"/>
              </a:spcAft>
            </a:pPr>
            <a:r>
              <a:rPr sz="1350" b="0">
                <a:solidFill>
                  <a:srgbClr val="1F2A3A"/>
                </a:solidFill>
                <a:latin typeface="맑은 고딕"/>
                <a:ea typeface="맑은 고딕"/>
                <a:cs typeface="맑은 고딕"/>
              </a:rPr>
              <a:t>내려간다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circle-check" descr="circle-check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11:14:58 응답</a:t>
            </a:r>
          </a:p>
          <a:p>
            <a:pPr algn="ctr">
              <a:lnSpc>
                <a:spcPct val="110000"/>
              </a:lnSpc>
              <a:spcAft>
                <a:spcPts val="400"/>
              </a:spcAft>
            </a:pPr>
            <a:r>
              <a:rPr sz="1350" b="0">
                <a:solidFill>
                  <a:srgbClr val="1F2A3A"/>
                </a:solidFill>
                <a:latin typeface="맑은 고딕"/>
                <a:ea typeface="맑은 고딕"/>
                <a:cs typeface="맑은 고딕"/>
              </a:rPr>
              <a:t>PLC가 실행 완료로 답한다</a:t>
            </a:r>
          </a:p>
          <a:p>
            <a:pPr algn="ctr">
              <a:lnSpc>
                <a:spcPct val="110000"/>
              </a:lnSpc>
              <a:spcAft>
                <a:spcPts val="400"/>
              </a:spcAft>
            </a:pPr>
            <a:r>
              <a:rPr sz="1350" b="0">
                <a:solidFill>
                  <a:srgbClr val="1F2A3A"/>
                </a:solidFill>
                <a:latin typeface="맑은 고딕"/>
                <a:ea typeface="맑은 고딕"/>
                <a:cs typeface="맑은 고딕"/>
              </a:rPr>
              <a:t>팬 속도 60 % → 100 %</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리니지: 데이터가 생겨 판단에 이르기까지의 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리니지(Data Lineage)는 설비를 움직인 판단의 근거를 처음의 계측값까지 되짚게 하는 데이터의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원천 데이터</a:t>
            </a:r>
          </a:p>
          <a:p>
            <a:pPr algn="ctr">
              <a:lnSpc>
                <a:spcPct val="110000"/>
              </a:lnSpc>
              <a:spcAft>
                <a:spcPts val="400"/>
              </a:spcAft>
            </a:pPr>
            <a:r>
              <a:rPr sz="1350" b="0">
                <a:solidFill>
                  <a:srgbClr val="1F2A3A"/>
                </a:solidFill>
                <a:latin typeface="맑은 고딕"/>
                <a:ea typeface="맑은 고딕"/>
                <a:cs typeface="맑은 고딕"/>
              </a:rPr>
              <a:t>센서와 PLC가 만든다</a:t>
            </a:r>
          </a:p>
          <a:p>
            <a:pPr algn="ctr">
              <a:lnSpc>
                <a:spcPct val="110000"/>
              </a:lnSpc>
              <a:spcAft>
                <a:spcPts val="400"/>
              </a:spcAft>
            </a:pPr>
            <a:r>
              <a:rPr sz="1350" b="0">
                <a:solidFill>
                  <a:srgbClr val="1F2A3A"/>
                </a:solidFill>
                <a:latin typeface="맑은 고딕"/>
                <a:ea typeface="맑은 고딕"/>
                <a:cs typeface="맑은 고딕"/>
              </a:rPr>
              <a:t>유온 TS1의 계측값</a:t>
            </a:r>
          </a:p>
          <a:p>
            <a:pPr algn="ctr">
              <a:lnSpc>
                <a:spcPct val="110000"/>
              </a:lnSpc>
              <a:spcAft>
                <a:spcPts val="400"/>
              </a:spcAft>
            </a:pPr>
            <a:r>
              <a:rPr sz="1350" b="0">
                <a:solidFill>
                  <a:srgbClr val="1F2A3A"/>
                </a:solidFill>
                <a:latin typeface="맑은 고딕"/>
                <a:ea typeface="맑은 고딕"/>
                <a:cs typeface="맑은 고딕"/>
              </a:rPr>
              <a:t>브로커가 전달한 메시지</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ransfer" descr="transf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가공 데이터</a:t>
            </a:r>
          </a:p>
          <a:p>
            <a:pPr algn="ctr">
              <a:lnSpc>
                <a:spcPct val="110000"/>
              </a:lnSpc>
              <a:spcAft>
                <a:spcPts val="400"/>
              </a:spcAft>
            </a:pPr>
            <a:r>
              <a:rPr sz="1350" b="0">
                <a:solidFill>
                  <a:srgbClr val="1F2A3A"/>
                </a:solidFill>
                <a:latin typeface="맑은 고딕"/>
                <a:ea typeface="맑은 고딕"/>
                <a:cs typeface="맑은 고딕"/>
              </a:rPr>
              <a:t>수집 서비스와</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이벤트 로그의 레코드,</a:t>
            </a:r>
          </a:p>
          <a:p>
            <a:pPr algn="ctr">
              <a:lnSpc>
                <a:spcPct val="110000"/>
              </a:lnSpc>
              <a:spcAft>
                <a:spcPts val="400"/>
              </a:spcAft>
            </a:pPr>
            <a:r>
              <a:rPr sz="1350" b="0">
                <a:solidFill>
                  <a:srgbClr val="1F2A3A"/>
                </a:solidFill>
                <a:latin typeface="맑은 고딕"/>
                <a:ea typeface="맑은 고딕"/>
                <a:cs typeface="맑은 고딕"/>
              </a:rPr>
              <a:t>유온의 기울기</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이벤트</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쿨러 성능 저하 경보</a:t>
            </a:r>
          </a:p>
          <a:p>
            <a:pPr algn="ctr">
              <a:lnSpc>
                <a:spcPct val="110000"/>
              </a:lnSpc>
              <a:spcAft>
                <a:spcPts val="400"/>
              </a:spcAft>
            </a:pPr>
            <a:r>
              <a:rPr sz="1350" b="0">
                <a:solidFill>
                  <a:srgbClr val="1F2A3A"/>
                </a:solidFill>
                <a:latin typeface="맑은 고딕"/>
                <a:ea typeface="맑은 고딕"/>
                <a:cs typeface="맑은 고딕"/>
              </a:rPr>
              <a:t>ALT-hyd01-0014-e0a1</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판단 결과</a:t>
            </a:r>
          </a:p>
          <a:p>
            <a:pPr algn="ctr">
              <a:lnSpc>
                <a:spcPct val="110000"/>
              </a:lnSpc>
              <a:spcAft>
                <a:spcPts val="400"/>
              </a:spcAft>
            </a:pPr>
            <a:r>
              <a:rPr sz="1350" b="0">
                <a:solidFill>
                  <a:srgbClr val="1F2A3A"/>
                </a:solidFill>
                <a:latin typeface="맑은 고딕"/>
                <a:ea typeface="맑은 고딕"/>
                <a:cs typeface="맑은 고딕"/>
              </a:rPr>
              <a:t>에이전트와</a:t>
            </a:r>
          </a:p>
          <a:p>
            <a:pPr algn="ctr">
              <a:lnSpc>
                <a:spcPct val="110000"/>
              </a:lnSpc>
              <a:spcAft>
                <a:spcPts val="400"/>
              </a:spcAft>
            </a:pPr>
            <a:r>
              <a:rPr sz="1350" b="0">
                <a:solidFill>
                  <a:srgbClr val="1F2A3A"/>
                </a:solidFill>
                <a:latin typeface="맑은 고딕"/>
                <a:ea typeface="맑은 고딕"/>
                <a:cs typeface="맑은 고딕"/>
              </a:rPr>
              <a:t>담당자가 만든다</a:t>
            </a:r>
          </a:p>
          <a:p>
            <a:pPr algn="ctr">
              <a:lnSpc>
                <a:spcPct val="110000"/>
              </a:lnSpc>
              <a:spcAft>
                <a:spcPts val="400"/>
              </a:spcAft>
            </a:pPr>
            <a:r>
              <a:rPr sz="1350" b="0">
                <a:solidFill>
                  <a:srgbClr val="1F2A3A"/>
                </a:solidFill>
                <a:latin typeface="맑은 고딕"/>
                <a:ea typeface="맑은 고딕"/>
                <a:cs typeface="맑은 고딕"/>
              </a:rPr>
              <a:t>원인 판정, 조치 추천,</a:t>
            </a:r>
          </a:p>
          <a:p>
            <a:pPr algn="ctr">
              <a:lnSpc>
                <a:spcPct val="110000"/>
              </a:lnSpc>
              <a:spcAft>
                <a:spcPts val="400"/>
              </a:spcAft>
            </a:pPr>
            <a:r>
              <a:rPr sz="1350" b="0">
                <a:solidFill>
                  <a:srgbClr val="1F2A3A"/>
                </a:solidFill>
                <a:latin typeface="맑은 고딕"/>
                <a:ea typeface="맑은 고딕"/>
                <a:cs typeface="맑은 고딕"/>
              </a:rPr>
              <a:t>승인 기록</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가공 데이터의 예: 유온의 기울기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가공 데이터는 원천 데이터를 바탕으로 계산한 값이며, 감지 서비스는 최근 유온 계측값들로 기울기를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11:13:06   55.41</a:t>
            </a:r>
          </a:p>
          <a:p>
            <a:pPr algn="l">
              <a:lnSpc>
                <a:spcPct val="110000"/>
              </a:lnSpc>
              <a:spcAft>
                <a:spcPts val="200"/>
              </a:spcAft>
            </a:pPr>
            <a:r>
              <a:rPr sz="1300" b="0">
                <a:solidFill>
                  <a:srgbClr val="E8EEF6"/>
                </a:solidFill>
                <a:latin typeface="Consolas"/>
                <a:ea typeface="맑은 고딕"/>
                <a:cs typeface="맑은 고딕"/>
              </a:rPr>
              <a:t>11:13:07   55.56</a:t>
            </a:r>
          </a:p>
          <a:p>
            <a:pPr algn="l">
              <a:lnSpc>
                <a:spcPct val="110000"/>
              </a:lnSpc>
              <a:spcAft>
                <a:spcPts val="200"/>
              </a:spcAft>
            </a:pPr>
            <a:r>
              <a:rPr sz="1300" b="0">
                <a:solidFill>
                  <a:srgbClr val="E8EEF6"/>
                </a:solidFill>
                <a:latin typeface="Consolas"/>
                <a:ea typeface="맑은 고딕"/>
                <a:cs typeface="맑은 고딕"/>
              </a:rPr>
              <a:t>11:13:08   55.71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p>
          <a:p>
            <a:pPr algn="l">
              <a:lnSpc>
                <a:spcPct val="110000"/>
              </a:lnSpc>
              <a:spcAft>
                <a:spcPts val="200"/>
              </a:spcAft>
            </a:pPr>
            <a:r>
              <a:rPr sz="1300" b="0">
                <a:solidFill>
                  <a:srgbClr val="E8EEF6"/>
                </a:solidFill>
                <a:latin typeface="Consolas"/>
                <a:ea typeface="맑은 고딕"/>
                <a:cs typeface="맑은 고딕"/>
              </a:rPr>
              <a:t>11:13:08   +0.0075   (0</a:t>
            </a:r>
            <a:r>
              <a:rPr sz="1300" b="0">
                <a:solidFill>
                  <a:srgbClr val="E8EEF6"/>
                </a:solidFill>
                <a:latin typeface="맑은 고딕"/>
                <a:ea typeface="맑은 고딕"/>
                <a:cs typeface="맑은 고딕"/>
              </a:rPr>
              <a:t>보다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크다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재료</a:t>
            </a:r>
          </a:p>
          <a:p>
            <a:pPr algn="l">
              <a:lnSpc>
                <a:spcPct val="110000"/>
              </a:lnSpc>
              <a:spcAft>
                <a:spcPts val="400"/>
              </a:spcAft>
            </a:pPr>
            <a:r>
              <a:rPr sz="1400" b="0">
                <a:solidFill>
                  <a:srgbClr val="1F2A3A"/>
                </a:solidFill>
                <a:latin typeface="맑은 고딕"/>
                <a:ea typeface="맑은 고딕"/>
                <a:cs typeface="맑은 고딕"/>
              </a:rPr>
              <a:t>센서가 잰 유온 계측값 여러 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것</a:t>
            </a:r>
          </a:p>
          <a:p>
            <a:pPr algn="l">
              <a:lnSpc>
                <a:spcPct val="110000"/>
              </a:lnSpc>
              <a:spcAft>
                <a:spcPts val="400"/>
              </a:spcAft>
            </a:pPr>
            <a:r>
              <a:rPr sz="1400" b="0">
                <a:solidFill>
                  <a:srgbClr val="1F2A3A"/>
                </a:solidFill>
                <a:latin typeface="맑은 고딕"/>
                <a:ea typeface="맑은 고딕"/>
                <a:cs typeface="맑은 고딕"/>
              </a:rPr>
              <a:t>그 계측값들이 오르는지 내리는지를 나타내는 기울기이다.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쪽</a:t>
            </a:r>
          </a:p>
          <a:p>
            <a:pPr algn="l">
              <a:lnSpc>
                <a:spcPct val="110000"/>
              </a:lnSpc>
              <a:spcAft>
                <a:spcPts val="400"/>
              </a:spcAft>
            </a:pPr>
            <a:r>
              <a:rPr sz="1400" b="0">
                <a:solidFill>
                  <a:srgbClr val="1F2A3A"/>
                </a:solidFill>
                <a:latin typeface="맑은 고딕"/>
                <a:ea typeface="맑은 고딕"/>
                <a:cs typeface="맑은 고딕"/>
              </a:rPr>
              <a:t>감지 서비스이다. 기울기가 0보다 크면 유온이 오르는 중이다.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결과의 예: 식별자로 이어지는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작업지시까지 단계마다 식별자가 남아 있어 결과에서 출발해 처음의 계측값까지 거슬러 되짚을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ALT-</a:t>
            </a:r>
          </a:p>
          <a:p>
            <a:pPr algn="ctr">
              <a:lnSpc>
                <a:spcPct val="110000"/>
              </a:lnSpc>
              <a:spcAft>
                <a:spcPts val="400"/>
              </a:spcAft>
            </a:pPr>
            <a:r>
              <a:rPr sz="1250" b="0">
                <a:solidFill>
                  <a:srgbClr val="1F2A3A"/>
                </a:solidFill>
                <a:latin typeface="맑은 고딕"/>
                <a:ea typeface="맑은 고딕"/>
                <a:cs typeface="맑은 고딕"/>
              </a:rPr>
              <a:t>hyd01-0014</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clipboard-check" descr="clipboard-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사건</a:t>
            </a:r>
          </a:p>
          <a:p>
            <a:pPr algn="ctr">
              <a:lnSpc>
                <a:spcPct val="110000"/>
              </a:lnSpc>
              <a:spcAft>
                <a:spcPts val="400"/>
              </a:spcAft>
            </a:pPr>
            <a:r>
              <a:rPr sz="1250" b="0">
                <a:solidFill>
                  <a:srgbClr val="1F2A3A"/>
                </a:solidFill>
                <a:latin typeface="맑은 고딕"/>
                <a:ea typeface="맑은 고딕"/>
                <a:cs typeface="맑은 고딕"/>
              </a:rPr>
              <a:t>INC-</a:t>
            </a:r>
          </a:p>
          <a:p>
            <a:pPr algn="ctr">
              <a:lnSpc>
                <a:spcPct val="110000"/>
              </a:lnSpc>
              <a:spcAft>
                <a:spcPts val="400"/>
              </a:spcAft>
            </a:pPr>
            <a:r>
              <a:rPr sz="1250" b="0">
                <a:solidFill>
                  <a:srgbClr val="1F2A3A"/>
                </a:solidFill>
                <a:latin typeface="맑은 고딕"/>
                <a:ea typeface="맑은 고딕"/>
                <a:cs typeface="맑은 고딕"/>
              </a:rPr>
              <a:t>1010-01</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906141"/>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판단</a:t>
            </a:r>
          </a:p>
          <a:p>
            <a:pPr algn="ctr">
              <a:lnSpc>
                <a:spcPct val="110000"/>
              </a:lnSpc>
              <a:spcAft>
                <a:spcPts val="400"/>
              </a:spcAft>
            </a:pPr>
            <a:r>
              <a:rPr sz="1250" b="0">
                <a:solidFill>
                  <a:srgbClr val="1F2A3A"/>
                </a:solidFill>
                <a:latin typeface="맑은 고딕"/>
                <a:ea typeface="맑은 고딕"/>
                <a:cs typeface="맑은 고딕"/>
              </a:rPr>
              <a:t>DEC-</a:t>
            </a:r>
          </a:p>
          <a:p>
            <a:pPr algn="ctr">
              <a:lnSpc>
                <a:spcPct val="110000"/>
              </a:lnSpc>
              <a:spcAft>
                <a:spcPts val="400"/>
              </a:spcAft>
            </a:pPr>
            <a:r>
              <a:rPr sz="1250" b="0">
                <a:solidFill>
                  <a:srgbClr val="1F2A3A"/>
                </a:solidFill>
                <a:latin typeface="맑은 고딕"/>
                <a:ea typeface="맑은 고딕"/>
                <a:cs typeface="맑은 고딕"/>
              </a:rPr>
              <a:t>1010-002</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명령</a:t>
            </a:r>
          </a:p>
          <a:p>
            <a:pPr algn="ctr">
              <a:lnSpc>
                <a:spcPct val="110000"/>
              </a:lnSpc>
              <a:spcAft>
                <a:spcPts val="400"/>
              </a:spcAft>
            </a:pPr>
            <a:r>
              <a:rPr sz="1250" b="0">
                <a:solidFill>
                  <a:srgbClr val="1F2A3A"/>
                </a:solidFill>
                <a:latin typeface="맑은 고딕"/>
                <a:ea typeface="맑은 고딕"/>
                <a:cs typeface="맑은 고딕"/>
              </a:rPr>
              <a:t>CMD-</a:t>
            </a:r>
          </a:p>
          <a:p>
            <a:pPr algn="ctr">
              <a:lnSpc>
                <a:spcPct val="110000"/>
              </a:lnSpc>
              <a:spcAft>
                <a:spcPts val="400"/>
              </a:spcAft>
            </a:pPr>
            <a:r>
              <a:rPr sz="1250" b="0">
                <a:solidFill>
                  <a:srgbClr val="1F2A3A"/>
                </a:solidFill>
                <a:latin typeface="맑은 고딕"/>
                <a:ea typeface="맑은 고딕"/>
                <a:cs typeface="맑은 고딕"/>
              </a:rPr>
              <a:t>1010-0001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tool" descr="tool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a:t>
            </a:r>
          </a:p>
          <a:p>
            <a:pPr algn="ctr">
              <a:lnSpc>
                <a:spcPct val="110000"/>
              </a:lnSpc>
              <a:spcAft>
                <a:spcPts val="400"/>
              </a:spcAft>
            </a:pPr>
            <a:r>
              <a:rPr sz="1250" b="0">
                <a:solidFill>
                  <a:srgbClr val="1F2A3A"/>
                </a:solidFill>
                <a:latin typeface="맑은 고딕"/>
                <a:ea typeface="맑은 고딕"/>
                <a:cs typeface="맑은 고딕"/>
              </a:rPr>
              <a:t>WO-</a:t>
            </a:r>
          </a:p>
          <a:p>
            <a:pPr algn="ctr">
              <a:lnSpc>
                <a:spcPct val="110000"/>
              </a:lnSpc>
              <a:spcAft>
                <a:spcPts val="400"/>
              </a:spcAft>
            </a:pPr>
            <a:r>
              <a:rPr sz="1250" b="0">
                <a:solidFill>
                  <a:srgbClr val="1F2A3A"/>
                </a:solidFill>
                <a:latin typeface="맑은 고딕"/>
                <a:ea typeface="맑은 고딕"/>
                <a:cs typeface="맑은 고딕"/>
              </a:rPr>
              <a:t>1010-C058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지나온 길: 아홉 기능 계층과 세 보안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지나온 자리를 하는 일로 나누면 아홉 기능 계층이고, 놓인 망으로 나누면 세 보안 영역이다.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pic>
        <p:nvPicPr>
          <p:cNvPr id="6" name="삽화:계층_0_전체.svg" descr="illust_919863484510566008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MQTT(Message Queuing Telemetry Transport)</a:t>
            </a:r>
          </a:p>
        </p:txBody>
      </p:sp>
      <p:sp>
        <p:nvSpPr>
          <p:cNvPr id="19" name="TextBox 18"/>
          <p:cNvSpPr txBox="1"/>
          <p:nvPr/>
        </p:nvSpPr>
        <p:spPr>
          <a:xfrm>
            <a:off x="1841144" y="5877607"/>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원인과 조치를 판단하고 실행하는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뒤에 원인을 가리고 조치를 정해 실행하는 일은 Layer 7~9가 맡으며, 이 수업은 이 세 계층을 차례로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pic>
        <p:nvPicPr>
          <p:cNvPr id="6" name="삽화:계층_L7-9.svg" descr="illust_4771930518297342510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2277524" y="2218563"/>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9 · 프로세스 · 승인 · 앱</a:t>
            </a:r>
          </a:p>
          <a:p>
            <a:pPr algn="ctr">
              <a:lnSpc>
                <a:spcPct val="110000"/>
              </a:lnSpc>
              <a:spcAft>
                <a:spcPts val="100"/>
              </a:spcAft>
            </a:pPr>
            <a:r>
              <a:rPr sz="1300" b="0">
                <a:solidFill>
                  <a:srgbClr val="556175"/>
                </a:solidFill>
                <a:latin typeface="맑은 고딕"/>
                <a:ea typeface="맑은 고딕"/>
                <a:cs typeface="맑은 고딕"/>
              </a:rPr>
              <a:t>프로세스 엔진과 포털</a:t>
            </a:r>
          </a:p>
          <a:p>
            <a:pPr algn="ctr">
              <a:lnSpc>
                <a:spcPct val="110000"/>
              </a:lnSpc>
              <a:spcAft>
                <a:spcPts val="100"/>
              </a:spcAft>
            </a:pPr>
            <a:r>
              <a:rPr sz="1300" b="0">
                <a:solidFill>
                  <a:srgbClr val="556175"/>
                </a:solidFill>
                <a:latin typeface="맑은 고딕"/>
                <a:ea typeface="맑은 고딕"/>
                <a:cs typeface="맑은 고딕"/>
              </a:rPr>
              <a:t>담당자의 승인을 받아 조치를 실행하고 결과를 확인한다</a:t>
            </a:r>
          </a:p>
        </p:txBody>
      </p:sp>
      <p:sp>
        <p:nvSpPr>
          <p:cNvPr id="11" name="TextBox 10"/>
          <p:cNvSpPr txBox="1"/>
          <p:nvPr/>
        </p:nvSpPr>
        <p:spPr>
          <a:xfrm>
            <a:off x="2277524" y="3660434"/>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8 · AI 에이전트</a:t>
            </a:r>
          </a:p>
          <a:p>
            <a:pPr algn="ctr">
              <a:lnSpc>
                <a:spcPct val="110000"/>
              </a:lnSpc>
              <a:spcAft>
                <a:spcPts val="100"/>
              </a:spcAft>
            </a:pPr>
            <a:r>
              <a:rPr sz="1300" b="0">
                <a:solidFill>
                  <a:srgbClr val="556175"/>
                </a:solidFill>
                <a:latin typeface="맑은 고딕"/>
                <a:ea typeface="맑은 고딕"/>
                <a:cs typeface="맑은 고딕"/>
              </a:rPr>
              <a:t>지식과 데이터를 조회해 원인을 가리고 조치를 추천한다</a:t>
            </a:r>
          </a:p>
          <a:p>
            <a:pPr algn="ctr">
              <a:lnSpc>
                <a:spcPct val="110000"/>
              </a:lnSpc>
              <a:spcAft>
                <a:spcPts val="100"/>
              </a:spcAft>
            </a:pPr>
            <a:r>
              <a:rPr sz="1300" b="0">
                <a:solidFill>
                  <a:srgbClr val="556175"/>
                </a:solidFill>
                <a:latin typeface="맑은 고딕"/>
                <a:ea typeface="맑은 고딕"/>
                <a:cs typeface="맑은 고딕"/>
              </a:rPr>
              <a:t>설비에 명령을 보내지는 않는다</a:t>
            </a:r>
          </a:p>
        </p:txBody>
      </p:sp>
      <p:sp>
        <p:nvSpPr>
          <p:cNvPr id="12" name="TextBox 11"/>
          <p:cNvSpPr txBox="1"/>
          <p:nvPr/>
        </p:nvSpPr>
        <p:spPr>
          <a:xfrm>
            <a:off x="2277524" y="5102306"/>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7 · 온톨로지 · 원인분석</a:t>
            </a:r>
          </a:p>
          <a:p>
            <a:pPr algn="ctr">
              <a:lnSpc>
                <a:spcPct val="110000"/>
              </a:lnSpc>
              <a:spcAft>
                <a:spcPts val="100"/>
              </a:spcAft>
            </a:pPr>
            <a:r>
              <a:rPr sz="1300" b="0">
                <a:solidFill>
                  <a:srgbClr val="556175"/>
                </a:solidFill>
                <a:latin typeface="맑은 고딕"/>
                <a:ea typeface="맑은 고딕"/>
                <a:cs typeface="맑은 고딕"/>
              </a:rPr>
              <a:t>증상, 원인, 조치의 관계를 지식으로 보관한다</a:t>
            </a:r>
          </a:p>
          <a:p>
            <a:pPr algn="ctr">
              <a:lnSpc>
                <a:spcPct val="110000"/>
              </a:lnSpc>
              <a:spcAft>
                <a:spcPts val="100"/>
              </a:spcAft>
            </a:pPr>
            <a:r>
              <a:rPr sz="1300" b="0">
                <a:solidFill>
                  <a:srgbClr val="556175"/>
                </a:solidFill>
                <a:latin typeface="맑은 고딕"/>
                <a:ea typeface="맑은 고딕"/>
                <a:cs typeface="맑은 고딕"/>
              </a:rPr>
              <a:t>이 역할에는 Neo4j 같은 그래프 DB가 있다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데이터가 올라가는 길과 명령이 내려가는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단순하게 두고, 데이터가 올라가는 길과 승인된 명령만 내려가는 길을 나눠 설비를 지킨다.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8" name="Rounded Rectangle 7"/>
          <p:cNvSpPr/>
          <p:nvPr/>
        </p:nvSpPr>
        <p:spPr>
          <a:xfrm>
            <a:off x="731520"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브로커</a:t>
            </a:r>
          </a:p>
          <a:p>
            <a:pPr algn="ctr">
              <a:lnSpc>
                <a:spcPct val="110000"/>
              </a:lnSpc>
              <a:spcAft>
                <a:spcPts val="100"/>
              </a:spcAft>
            </a:pPr>
            <a:r>
              <a:rPr sz="1150" b="0">
                <a:solidFill>
                  <a:srgbClr val="556175"/>
                </a:solidFill>
                <a:latin typeface="맑은 고딕"/>
                <a:ea typeface="맑은 고딕"/>
                <a:cs typeface="맑은 고딕"/>
              </a:rPr>
              <a:t>데이터와 명령을 중개</a:t>
            </a:r>
          </a:p>
        </p:txBody>
      </p:sp>
      <p:sp>
        <p:nvSpPr>
          <p:cNvPr id="10" name="Rounded Rectangle 9"/>
          <p:cNvSpPr/>
          <p:nvPr/>
        </p:nvSpPr>
        <p:spPr>
          <a:xfrm>
            <a:off x="731520"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PLC</a:t>
            </a:r>
          </a:p>
          <a:p>
            <a:pPr algn="ctr">
              <a:lnSpc>
                <a:spcPct val="110000"/>
              </a:lnSpc>
              <a:spcAft>
                <a:spcPts val="100"/>
              </a:spcAft>
            </a:pPr>
            <a:r>
              <a:rPr sz="1150" b="0">
                <a:solidFill>
                  <a:srgbClr val="556175"/>
                </a:solidFill>
                <a:latin typeface="맑은 고딕"/>
                <a:ea typeface="맑은 고딕"/>
                <a:cs typeface="맑은 고딕"/>
              </a:rPr>
              <a:t>계측값을 읽고 설비를 보호</a:t>
            </a:r>
          </a:p>
        </p:txBody>
      </p:sp>
      <p:sp>
        <p:nvSpPr>
          <p:cNvPr id="12" name="Rounded Rectangle 11"/>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3" name="TextBox 12"/>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4" name="Rounded Rectangle 13"/>
          <p:cNvSpPr/>
          <p:nvPr/>
        </p:nvSpPr>
        <p:spPr>
          <a:xfrm>
            <a:off x="4810658"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4856378"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수집 서비스</a:t>
            </a:r>
          </a:p>
          <a:p>
            <a:pPr algn="ctr">
              <a:lnSpc>
                <a:spcPct val="110000"/>
              </a:lnSpc>
              <a:spcAft>
                <a:spcPts val="100"/>
              </a:spcAft>
            </a:pPr>
            <a:r>
              <a:rPr sz="1150" b="0">
                <a:solidFill>
                  <a:srgbClr val="556175"/>
                </a:solidFill>
                <a:latin typeface="맑은 고딕"/>
                <a:ea typeface="맑은 고딕"/>
                <a:cs typeface="맑은 고딕"/>
              </a:rPr>
              <a:t>데이터를 올린다</a:t>
            </a:r>
          </a:p>
        </p:txBody>
      </p:sp>
      <p:sp>
        <p:nvSpPr>
          <p:cNvPr id="16" name="Rounded Rectangle 15"/>
          <p:cNvSpPr/>
          <p:nvPr/>
        </p:nvSpPr>
        <p:spPr>
          <a:xfrm>
            <a:off x="4810658"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명령 관문</a:t>
            </a:r>
          </a:p>
          <a:p>
            <a:pPr algn="ctr">
              <a:lnSpc>
                <a:spcPct val="110000"/>
              </a:lnSpc>
              <a:spcAft>
                <a:spcPts val="100"/>
              </a:spcAft>
            </a:pPr>
            <a:r>
              <a:rPr sz="1150" b="0">
                <a:solidFill>
                  <a:srgbClr val="556175"/>
                </a:solidFill>
                <a:latin typeface="맑은 고딕"/>
                <a:ea typeface="맑은 고딕"/>
                <a:cs typeface="맑은 고딕"/>
              </a:rPr>
              <a:t>명령을 검사한다</a:t>
            </a:r>
          </a:p>
        </p:txBody>
      </p:sp>
      <p:sp>
        <p:nvSpPr>
          <p:cNvPr id="18" name="Rounded Rectangle 17"/>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19" name="TextBox 18"/>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20" name="Rounded Rectangle 19"/>
          <p:cNvSpPr/>
          <p:nvPr/>
        </p:nvSpPr>
        <p:spPr>
          <a:xfrm>
            <a:off x="8889796" y="2802636"/>
            <a:ext cx="2570378" cy="1188720"/>
          </a:xfrm>
          <a:prstGeom prst="roundRect">
            <a:avLst>
              <a:gd name="adj" fmla="val 8000"/>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8935516"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이벤트 로그</a:t>
            </a:r>
          </a:p>
          <a:p>
            <a:pPr algn="ctr">
              <a:lnSpc>
                <a:spcPct val="110000"/>
              </a:lnSpc>
              <a:spcAft>
                <a:spcPts val="100"/>
              </a:spcAft>
            </a:pPr>
            <a:r>
              <a:rPr sz="1150" b="0">
                <a:solidFill>
                  <a:srgbClr val="556175"/>
                </a:solidFill>
                <a:latin typeface="맑은 고딕"/>
                <a:ea typeface="맑은 고딕"/>
                <a:cs typeface="맑은 고딕"/>
              </a:rPr>
              <a:t>순서대로 보관 · 감지 서비스가 읽어 감지</a:t>
            </a:r>
          </a:p>
        </p:txBody>
      </p:sp>
      <p:sp>
        <p:nvSpPr>
          <p:cNvPr id="22" name="Rounded Rectangle 21"/>
          <p:cNvSpPr/>
          <p:nvPr/>
        </p:nvSpPr>
        <p:spPr>
          <a:xfrm>
            <a:off x="8889796"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3" name="TextBox 22"/>
          <p:cNvSpPr txBox="1"/>
          <p:nvPr/>
        </p:nvSpPr>
        <p:spPr>
          <a:xfrm>
            <a:off x="8935516"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프로세스 엔진</a:t>
            </a:r>
          </a:p>
          <a:p>
            <a:pPr algn="ctr">
              <a:lnSpc>
                <a:spcPct val="110000"/>
              </a:lnSpc>
              <a:spcAft>
                <a:spcPts val="100"/>
              </a:spcAft>
            </a:pPr>
            <a:r>
              <a:rPr sz="1150" b="0">
                <a:solidFill>
                  <a:srgbClr val="556175"/>
                </a:solidFill>
                <a:latin typeface="맑은 고딕"/>
                <a:ea typeface="맑은 고딕"/>
                <a:cs typeface="맑은 고딕"/>
              </a:rPr>
              <a:t>승인된 조치를 명령으로</a:t>
            </a:r>
          </a:p>
        </p:txBody>
      </p:sp>
      <p:cxnSp>
        <p:nvCxnSpPr>
          <p:cNvPr id="24" name="Connector 23"/>
          <p:cNvCxnSpPr/>
          <p:nvPr/>
        </p:nvCxnSpPr>
        <p:spPr>
          <a:xfrm flipV="1">
            <a:off x="1650949" y="3991356"/>
            <a:ext cx="0" cy="347472"/>
          </a:xfrm>
          <a:prstGeom prst="line">
            <a:avLst/>
          </a:prstGeom>
          <a:ln w="19050">
            <a:solidFill>
              <a:srgbClr val="13294B"/>
            </a:solidFill>
            <a:tailEnd type="triangle" w="med" len="med"/>
          </a:ln>
        </p:spPr>
      </p:cxnSp>
      <p:sp>
        <p:nvSpPr>
          <p:cNvPr id="25" name="TextBox 24"/>
          <p:cNvSpPr txBox="1"/>
          <p:nvPr/>
        </p:nvSpPr>
        <p:spPr>
          <a:xfrm>
            <a:off x="945718" y="4027932"/>
            <a:ext cx="668655"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태그 값</a:t>
            </a:r>
          </a:p>
        </p:txBody>
      </p:sp>
      <p:cxnSp>
        <p:nvCxnSpPr>
          <p:cNvPr id="26" name="Connector 25"/>
          <p:cNvCxnSpPr/>
          <p:nvPr/>
        </p:nvCxnSpPr>
        <p:spPr>
          <a:xfrm>
            <a:off x="3301898" y="3250692"/>
            <a:ext cx="1508760" cy="0"/>
          </a:xfrm>
          <a:prstGeom prst="line">
            <a:avLst/>
          </a:prstGeom>
          <a:ln w="19050">
            <a:solidFill>
              <a:srgbClr val="13294B"/>
            </a:solidFill>
            <a:tailEnd type="triangle" w="med" len="med"/>
          </a:ln>
        </p:spPr>
      </p:cxnSp>
      <p:sp>
        <p:nvSpPr>
          <p:cNvPr id="27" name="TextBox 26"/>
          <p:cNvSpPr txBox="1"/>
          <p:nvPr/>
        </p:nvSpPr>
        <p:spPr>
          <a:xfrm>
            <a:off x="3164738"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구독</a:t>
            </a:r>
          </a:p>
        </p:txBody>
      </p:sp>
      <p:cxnSp>
        <p:nvCxnSpPr>
          <p:cNvPr id="28" name="Connector 27"/>
          <p:cNvCxnSpPr/>
          <p:nvPr/>
        </p:nvCxnSpPr>
        <p:spPr>
          <a:xfrm>
            <a:off x="7381036" y="3250692"/>
            <a:ext cx="1508760" cy="0"/>
          </a:xfrm>
          <a:prstGeom prst="line">
            <a:avLst/>
          </a:prstGeom>
          <a:ln w="19050">
            <a:solidFill>
              <a:srgbClr val="13294B"/>
            </a:solidFill>
            <a:tailEnd type="triangle" w="med" len="med"/>
          </a:ln>
        </p:spPr>
      </p:cxnSp>
      <p:sp>
        <p:nvSpPr>
          <p:cNvPr id="29" name="TextBox 28"/>
          <p:cNvSpPr txBox="1"/>
          <p:nvPr/>
        </p:nvSpPr>
        <p:spPr>
          <a:xfrm>
            <a:off x="7243876"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레코드</a:t>
            </a:r>
          </a:p>
        </p:txBody>
      </p:sp>
      <p:cxnSp>
        <p:nvCxnSpPr>
          <p:cNvPr id="30" name="Connector 29"/>
          <p:cNvCxnSpPr/>
          <p:nvPr/>
        </p:nvCxnSpPr>
        <p:spPr>
          <a:xfrm flipH="1">
            <a:off x="7381036" y="5079492"/>
            <a:ext cx="1508760" cy="0"/>
          </a:xfrm>
          <a:prstGeom prst="line">
            <a:avLst/>
          </a:prstGeom>
          <a:ln w="28575">
            <a:solidFill>
              <a:srgbClr val="1A6FC4"/>
            </a:solidFill>
            <a:prstDash val="dash"/>
            <a:tailEnd type="triangle" w="med" len="med"/>
          </a:ln>
        </p:spPr>
      </p:cxnSp>
      <p:sp>
        <p:nvSpPr>
          <p:cNvPr id="31" name="TextBox 30"/>
          <p:cNvSpPr txBox="1"/>
          <p:nvPr/>
        </p:nvSpPr>
        <p:spPr>
          <a:xfrm>
            <a:off x="7243876"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명령</a:t>
            </a:r>
          </a:p>
        </p:txBody>
      </p:sp>
      <p:cxnSp>
        <p:nvCxnSpPr>
          <p:cNvPr id="32" name="Connector 31"/>
          <p:cNvCxnSpPr/>
          <p:nvPr/>
        </p:nvCxnSpPr>
        <p:spPr>
          <a:xfrm flipH="1">
            <a:off x="3301898" y="5079492"/>
            <a:ext cx="1508760" cy="0"/>
          </a:xfrm>
          <a:prstGeom prst="line">
            <a:avLst/>
          </a:prstGeom>
          <a:ln w="28575">
            <a:solidFill>
              <a:srgbClr val="1A6FC4"/>
            </a:solidFill>
            <a:prstDash val="dash"/>
            <a:tailEnd type="triangle" w="med" len="med"/>
          </a:ln>
        </p:spPr>
      </p:cxnSp>
      <p:sp>
        <p:nvSpPr>
          <p:cNvPr id="33" name="TextBox 32"/>
          <p:cNvSpPr txBox="1"/>
          <p:nvPr/>
        </p:nvSpPr>
        <p:spPr>
          <a:xfrm>
            <a:off x="3164738"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검사 통과</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준비된 환경에서 HYD 서비스를 실행하고 포털이 열리는 상태를 확인한다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Docker Compose로 올린 HYD 서비스가 실행 중이고 포털에 접속되는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01418"/>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55037"/>
            <a:ext cx="424281" cy="424281"/>
          </a:xfrm>
          <a:prstGeom prst="rect">
            <a:avLst/>
          </a:prstGeom>
        </p:spPr>
      </p:pic>
      <p:sp>
        <p:nvSpPr>
          <p:cNvPr id="9" name="TextBox 8"/>
          <p:cNvSpPr txBox="1"/>
          <p:nvPr/>
        </p:nvSpPr>
        <p:spPr>
          <a:xfrm>
            <a:off x="713232"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VS Code</a:t>
            </a:r>
          </a:p>
          <a:p>
            <a:pPr algn="l">
              <a:lnSpc>
                <a:spcPct val="110000"/>
              </a:lnSpc>
              <a:spcAft>
                <a:spcPts val="400"/>
              </a:spcAft>
            </a:pPr>
            <a:r>
              <a:rPr sz="1350" b="0">
                <a:solidFill>
                  <a:srgbClr val="1F2A3A"/>
                </a:solidFill>
                <a:latin typeface="맑은 고딕"/>
                <a:ea typeface="맑은 고딕"/>
                <a:cs typeface="맑은 고딕"/>
              </a:rPr>
              <a:t>• 파일 편집기이자 터미널이다</a:t>
            </a:r>
          </a:p>
          <a:p>
            <a:pPr algn="l">
              <a:lnSpc>
                <a:spcPct val="110000"/>
              </a:lnSpc>
              <a:spcAft>
                <a:spcPts val="400"/>
              </a:spcAft>
            </a:pPr>
            <a:r>
              <a:rPr sz="1350" b="0">
                <a:solidFill>
                  <a:srgbClr val="1F2A3A"/>
                </a:solidFill>
                <a:latin typeface="맑은 고딕"/>
                <a:ea typeface="맑은 고딕"/>
                <a:cs typeface="맑은 고딕"/>
              </a:rPr>
              <a:t>• 이후 랩의 작업 공간으로 쓴다</a:t>
            </a:r>
          </a:p>
        </p:txBody>
      </p:sp>
      <p:sp>
        <p:nvSpPr>
          <p:cNvPr id="10" name="Rounded Rectangle 9"/>
          <p:cNvSpPr/>
          <p:nvPr/>
        </p:nvSpPr>
        <p:spPr>
          <a:xfrm>
            <a:off x="777240" y="555269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01418"/>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55037"/>
            <a:ext cx="424281" cy="424281"/>
          </a:xfrm>
          <a:prstGeom prst="rect">
            <a:avLst/>
          </a:prstGeom>
        </p:spPr>
      </p:pic>
      <p:sp>
        <p:nvSpPr>
          <p:cNvPr id="15" name="TextBox 14"/>
          <p:cNvSpPr txBox="1"/>
          <p:nvPr/>
        </p:nvSpPr>
        <p:spPr>
          <a:xfrm>
            <a:off x="3555415"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GitHub Copilot</a:t>
            </a:r>
          </a:p>
          <a:p>
            <a:pPr algn="l">
              <a:lnSpc>
                <a:spcPct val="110000"/>
              </a:lnSpc>
              <a:spcAft>
                <a:spcPts val="400"/>
              </a:spcAft>
            </a:pPr>
            <a:r>
              <a:rPr sz="1350" b="0">
                <a:solidFill>
                  <a:srgbClr val="1F2A3A"/>
                </a:solidFill>
                <a:latin typeface="맑은 고딕"/>
                <a:ea typeface="맑은 고딕"/>
                <a:cs typeface="맑은 고딕"/>
              </a:rPr>
              <a:t>• VS Code의 채팅 창에서 말로 요청하면 파일을 읽고 고치는 코딩 에이전트이다</a:t>
            </a:r>
          </a:p>
          <a:p>
            <a:pPr algn="l">
              <a:lnSpc>
                <a:spcPct val="110000"/>
              </a:lnSpc>
              <a:spcAft>
                <a:spcPts val="400"/>
              </a:spcAft>
            </a:pPr>
            <a:r>
              <a:rPr sz="1350" b="0">
                <a:solidFill>
                  <a:srgbClr val="1F2A3A"/>
                </a:solidFill>
                <a:latin typeface="맑은 고딕"/>
                <a:ea typeface="맑은 고딕"/>
                <a:cs typeface="맑은 고딕"/>
              </a:rPr>
              <a:t>• 말로 요청하고 AI가 쓴 코드를 실행해 보며 고쳐 가는 방식을 바이브 코딩(Vibe Coding)이라고 한다</a:t>
            </a:r>
          </a:p>
        </p:txBody>
      </p:sp>
      <p:sp>
        <p:nvSpPr>
          <p:cNvPr id="16" name="Rounded Rectangle 15"/>
          <p:cNvSpPr/>
          <p:nvPr/>
        </p:nvSpPr>
        <p:spPr>
          <a:xfrm>
            <a:off x="3619423" y="5552694"/>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52694"/>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01418"/>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55037"/>
            <a:ext cx="424281" cy="424281"/>
          </a:xfrm>
          <a:prstGeom prst="rect">
            <a:avLst/>
          </a:prstGeom>
        </p:spPr>
      </p:pic>
      <p:sp>
        <p:nvSpPr>
          <p:cNvPr id="21" name="TextBox 20"/>
          <p:cNvSpPr txBox="1"/>
          <p:nvPr/>
        </p:nvSpPr>
        <p:spPr>
          <a:xfrm>
            <a:off x="6397599"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Python</a:t>
            </a:r>
          </a:p>
          <a:p>
            <a:pPr algn="l">
              <a:lnSpc>
                <a:spcPct val="110000"/>
              </a:lnSpc>
              <a:spcAft>
                <a:spcPts val="400"/>
              </a:spcAft>
            </a:pPr>
            <a:r>
              <a:rPr sz="1350" b="0">
                <a:solidFill>
                  <a:srgbClr val="1F2A3A"/>
                </a:solidFill>
                <a:latin typeface="맑은 고딕"/>
                <a:ea typeface="맑은 고딕"/>
                <a:cs typeface="맑은 고딕"/>
              </a:rPr>
              <a:t>HYD의 서비스와 랩의 코드가 쓰는 프로그래밍 언어이다</a:t>
            </a:r>
          </a:p>
        </p:txBody>
      </p:sp>
      <p:sp>
        <p:nvSpPr>
          <p:cNvPr id="22" name="Rounded Rectangle 21"/>
          <p:cNvSpPr/>
          <p:nvPr/>
        </p:nvSpPr>
        <p:spPr>
          <a:xfrm>
            <a:off x="6461607" y="555269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2000250"/>
            <a:ext cx="2567863" cy="398221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01418"/>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55037"/>
            <a:ext cx="424281" cy="424281"/>
          </a:xfrm>
          <a:prstGeom prst="rect">
            <a:avLst/>
          </a:prstGeom>
        </p:spPr>
      </p:pic>
      <p:sp>
        <p:nvSpPr>
          <p:cNvPr id="27" name="TextBox 26"/>
          <p:cNvSpPr txBox="1"/>
          <p:nvPr/>
        </p:nvSpPr>
        <p:spPr>
          <a:xfrm>
            <a:off x="9239783"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Docker</a:t>
            </a:r>
          </a:p>
          <a:p>
            <a:pPr algn="l">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a:lnSpc>
                <a:spcPct val="110000"/>
              </a:lnSpc>
              <a:spcAft>
                <a:spcPts val="400"/>
              </a:spcAft>
            </a:pPr>
            <a:r>
              <a:rPr sz="1350" b="0">
                <a:solidFill>
                  <a:srgbClr val="1F2A3A"/>
                </a:solidFill>
                <a:latin typeface="맑은 고딕"/>
                <a:ea typeface="맑은 고딕"/>
                <a:cs typeface="맑은 고딕"/>
              </a:rPr>
              <a:t>• Docker Compose는 HYD의 서비스 전체를 한 파일의 정의로 기동한다</a:t>
            </a:r>
          </a:p>
        </p:txBody>
      </p:sp>
      <p:sp>
        <p:nvSpPr>
          <p:cNvPr id="28" name="Rounded Rectangle 27"/>
          <p:cNvSpPr/>
          <p:nvPr/>
        </p:nvSpPr>
        <p:spPr>
          <a:xfrm>
            <a:off x="9303791" y="555269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5269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 한 건이 경보에서 최종 결과까지 진행되는 과정을 확인한다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시연에서 확인하는 흐름: 경보에서 최종 결과까지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열화 한 건이 경보, 원인 분석, 조치 추천, 승인, 조치, 재관측을 거쳐 닫히는 과정을 처음부터 끝까지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유온과 냉각 효율이</a:t>
            </a:r>
          </a:p>
          <a:p>
            <a:pPr algn="ctr">
              <a:lnSpc>
                <a:spcPct val="110000"/>
              </a:lnSpc>
              <a:spcAft>
                <a:spcPts val="400"/>
              </a:spcAft>
            </a:pPr>
            <a:r>
              <a:rPr sz="1250" b="0">
                <a:solidFill>
                  <a:srgbClr val="1F2A3A"/>
                </a:solidFill>
                <a:latin typeface="맑은 고딕"/>
                <a:ea typeface="맑은 고딕"/>
                <a:cs typeface="맑은 고딕"/>
              </a:rPr>
              <a:t>조건을 벗어나</a:t>
            </a:r>
          </a:p>
          <a:p>
            <a:pPr algn="ctr">
              <a:lnSpc>
                <a:spcPct val="110000"/>
              </a:lnSpc>
              <a:spcAft>
                <a:spcPts val="400"/>
              </a:spcAft>
            </a:pPr>
            <a:r>
              <a:rPr sz="1250" b="0">
                <a:solidFill>
                  <a:srgbClr val="1F2A3A"/>
                </a:solidFill>
                <a:latin typeface="맑은 고딕"/>
                <a:ea typeface="맑은 고딕"/>
                <a:cs typeface="맑은 고딕"/>
              </a:rPr>
              <a:t>경보가 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분석과 추천</a:t>
            </a:r>
          </a:p>
          <a:p>
            <a:pPr algn="ctr">
              <a:lnSpc>
                <a:spcPct val="110000"/>
              </a:lnSpc>
              <a:spcAft>
                <a:spcPts val="400"/>
              </a:spcAft>
            </a:pPr>
            <a:r>
              <a:rPr sz="1250" b="0">
                <a:solidFill>
                  <a:srgbClr val="1F2A3A"/>
                </a:solidFill>
                <a:latin typeface="맑은 고딕"/>
                <a:ea typeface="맑은 고딕"/>
                <a:cs typeface="맑은 고딕"/>
              </a:rPr>
              <a:t>에이전트가</a:t>
            </a:r>
          </a:p>
          <a:p>
            <a:pPr algn="ctr">
              <a:lnSpc>
                <a:spcPct val="110000"/>
              </a:lnSpc>
              <a:spcAft>
                <a:spcPts val="400"/>
              </a:spcAft>
            </a:pPr>
            <a:r>
              <a:rPr sz="1250" b="0">
                <a:solidFill>
                  <a:srgbClr val="1F2A3A"/>
                </a:solidFill>
                <a:latin typeface="맑은 고딕"/>
                <a:ea typeface="맑은 고딕"/>
                <a:cs typeface="맑은 고딕"/>
              </a:rPr>
              <a:t>지식과 값을 조회해</a:t>
            </a:r>
          </a:p>
          <a:p>
            <a:pPr algn="ctr">
              <a:lnSpc>
                <a:spcPct val="110000"/>
              </a:lnSpc>
              <a:spcAft>
                <a:spcPts val="400"/>
              </a:spcAft>
            </a:pPr>
            <a:r>
              <a:rPr sz="1250" b="0">
                <a:solidFill>
                  <a:srgbClr val="1F2A3A"/>
                </a:solidFill>
                <a:latin typeface="맑은 고딕"/>
                <a:ea typeface="맑은 고딕"/>
                <a:cs typeface="맑은 고딕"/>
              </a:rPr>
              <a:t>원인을 가리고</a:t>
            </a:r>
          </a:p>
          <a:p>
            <a:pPr algn="ctr">
              <a:lnSpc>
                <a:spcPct val="110000"/>
              </a:lnSpc>
              <a:spcAft>
                <a:spcPts val="400"/>
              </a:spcAft>
            </a:pPr>
            <a:r>
              <a:rPr sz="1250" b="0">
                <a:solidFill>
                  <a:srgbClr val="1F2A3A"/>
                </a:solidFill>
                <a:latin typeface="맑은 고딕"/>
                <a:ea typeface="맑은 고딕"/>
                <a:cs typeface="맑은 고딕"/>
              </a:rPr>
              <a:t>조치안을 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712466"/>
            <a:ext cx="731520" cy="731520"/>
          </a:xfrm>
          <a:prstGeom prst="ellipse">
            <a:avLst/>
          </a:prstGeom>
          <a:solidFill>
            <a:srgbClr val="5CB8F2"/>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또는 거절</a:t>
            </a:r>
          </a:p>
          <a:p>
            <a:pPr algn="ctr">
              <a:lnSpc>
                <a:spcPct val="110000"/>
              </a:lnSpc>
              <a:spcAft>
                <a:spcPts val="400"/>
              </a:spcAft>
            </a:pPr>
            <a:r>
              <a:rPr sz="1250" b="0">
                <a:solidFill>
                  <a:srgbClr val="1F2A3A"/>
                </a:solidFill>
                <a:latin typeface="맑은 고딕"/>
                <a:ea typeface="맑은 고딕"/>
                <a:cs typeface="맑은 고딕"/>
              </a:rPr>
              <a:t>HITL</a:t>
            </a:r>
          </a:p>
          <a:p>
            <a:pPr algn="ctr">
              <a:lnSpc>
                <a:spcPct val="110000"/>
              </a:lnSpc>
              <a:spcAft>
                <a:spcPts val="400"/>
              </a:spcAft>
            </a:pPr>
            <a:r>
              <a:rPr sz="1250" b="0">
                <a:solidFill>
                  <a:srgbClr val="1F2A3A"/>
                </a:solidFill>
                <a:latin typeface="맑은 고딕"/>
                <a:ea typeface="맑은 고딕"/>
                <a:cs typeface="맑은 고딕"/>
              </a:rPr>
              <a:t>담당자가 판단한다</a:t>
            </a:r>
          </a:p>
          <a:p>
            <a:pPr algn="ctr">
              <a:lnSpc>
                <a:spcPct val="110000"/>
              </a:lnSpc>
              <a:spcAft>
                <a:spcPts val="400"/>
              </a:spcAft>
            </a:pPr>
            <a:r>
              <a:rPr sz="1250" b="0">
                <a:solidFill>
                  <a:srgbClr val="1F2A3A"/>
                </a:solidFill>
                <a:latin typeface="맑은 고딕"/>
                <a:ea typeface="맑은 고딕"/>
                <a:cs typeface="맑은 고딕"/>
              </a:rPr>
              <a:t>승인 전에는</a:t>
            </a:r>
          </a:p>
          <a:p>
            <a:pPr algn="ctr">
              <a:lnSpc>
                <a:spcPct val="110000"/>
              </a:lnSpc>
              <a:spcAft>
                <a:spcPts val="400"/>
              </a:spcAft>
            </a:pPr>
            <a:r>
              <a:rPr sz="1250" b="0">
                <a:solidFill>
                  <a:srgbClr val="1F2A3A"/>
                </a:solidFill>
                <a:latin typeface="맑은 고딕"/>
                <a:ea typeface="맑은 고딕"/>
                <a:cs typeface="맑은 고딕"/>
              </a:rPr>
              <a:t>설비 명령이 없다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a:t>
            </a:r>
          </a:p>
          <a:p>
            <a:pPr algn="ctr">
              <a:lnSpc>
                <a:spcPct val="110000"/>
              </a:lnSpc>
              <a:spcAft>
                <a:spcPts val="400"/>
              </a:spcAft>
            </a:pPr>
            <a:r>
              <a:rPr sz="1250" b="0">
                <a:solidFill>
                  <a:srgbClr val="1F2A3A"/>
                </a:solidFill>
                <a:latin typeface="맑은 고딕"/>
                <a:ea typeface="맑은 고딕"/>
                <a:cs typeface="맑은 고딕"/>
              </a:rPr>
              <a:t>승인된 조치만</a:t>
            </a:r>
          </a:p>
          <a:p>
            <a:pPr algn="ctr">
              <a:lnSpc>
                <a:spcPct val="110000"/>
              </a:lnSpc>
              <a:spcAft>
                <a:spcPts val="400"/>
              </a:spcAft>
            </a:pPr>
            <a:r>
              <a:rPr sz="1250" b="0">
                <a:solidFill>
                  <a:srgbClr val="1F2A3A"/>
                </a:solidFill>
                <a:latin typeface="맑은 고딕"/>
                <a:ea typeface="맑은 고딕"/>
                <a:cs typeface="맑은 고딕"/>
              </a:rPr>
              <a:t>명령이 되어</a:t>
            </a:r>
          </a:p>
          <a:p>
            <a:pPr algn="ctr">
              <a:lnSpc>
                <a:spcPct val="110000"/>
              </a:lnSpc>
              <a:spcAft>
                <a:spcPts val="400"/>
              </a:spcAft>
            </a:pPr>
            <a:r>
              <a:rPr sz="1250" b="0">
                <a:solidFill>
                  <a:srgbClr val="1F2A3A"/>
                </a:solidFill>
                <a:latin typeface="맑은 고딕"/>
                <a:ea typeface="맑은 고딕"/>
                <a:cs typeface="맑은 고딕"/>
              </a:rPr>
              <a:t>설비로 내려간다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712466"/>
            <a:ext cx="731520" cy="731520"/>
          </a:xfrm>
          <a:prstGeom prst="ellipse">
            <a:avLst/>
          </a:prstGeom>
          <a:solidFill>
            <a:srgbClr val="FFFFFF"/>
          </a:solidFill>
          <a:ln>
            <a:noFill/>
          </a:ln>
        </p:spPr>
        <p:txBody>
          <a:bodyPr rtlCol="0" anchor="ctr"/>
          <a:lstStyle/>
          <a:p>
            <a:pPr algn="ctr"/>
          </a:p>
        </p:txBody>
      </p:sp>
      <p:pic>
        <p:nvPicPr>
          <p:cNvPr id="28" name="아이콘:zoom-check" descr="zoom-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재관측과 결과</a:t>
            </a:r>
          </a:p>
          <a:p>
            <a:pPr algn="ctr">
              <a:lnSpc>
                <a:spcPct val="110000"/>
              </a:lnSpc>
              <a:spcAft>
                <a:spcPts val="400"/>
              </a:spcAft>
            </a:pPr>
            <a:r>
              <a:rPr sz="1250" b="0">
                <a:solidFill>
                  <a:srgbClr val="1F2A3A"/>
                </a:solidFill>
                <a:latin typeface="맑은 고딕"/>
                <a:ea typeface="맑은 고딕"/>
                <a:cs typeface="맑은 고딕"/>
              </a:rPr>
              <a:t>유온을 다시 읽어</a:t>
            </a:r>
          </a:p>
          <a:p>
            <a:pPr algn="ctr">
              <a:lnSpc>
                <a:spcPct val="110000"/>
              </a:lnSpc>
              <a:spcAft>
                <a:spcPts val="400"/>
              </a:spcAft>
            </a:pPr>
            <a:r>
              <a:rPr sz="1250" b="0">
                <a:solidFill>
                  <a:srgbClr val="1F2A3A"/>
                </a:solidFill>
                <a:latin typeface="맑은 고딕"/>
                <a:ea typeface="맑은 고딕"/>
                <a:cs typeface="맑은 고딕"/>
              </a:rPr>
              <a:t>회복을 확인하고</a:t>
            </a:r>
          </a:p>
          <a:p>
            <a:pPr algn="ctr">
              <a:lnSpc>
                <a:spcPct val="110000"/>
              </a:lnSpc>
              <a:spcAft>
                <a:spcPts val="400"/>
              </a:spcAft>
            </a:pPr>
            <a:r>
              <a:rPr sz="1250" b="0">
                <a:solidFill>
                  <a:srgbClr val="1F2A3A"/>
                </a:solidFill>
                <a:latin typeface="맑은 고딕"/>
                <a:ea typeface="맑은 고딕"/>
                <a:cs typeface="맑은 고딕"/>
              </a:rPr>
              <a:t>결과를 보고한다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이후의 판단에 필요한 지식과 그것을 대상과 관계로 적는 방법</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감지 서비스의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원인을 가리고 조치안을 비교하는 데 약 94초, 승인 대기에 약 13초.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구조가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pic>
        <p:nvPicPr>
          <p:cNvPr id="6" name="삽화:원인후보.svg" descr="illust_2294889416922233944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원인을 확인하는 데 쓰는 값과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 후보마다 확인할 값과 기준이 정해져 있으며, 잰 값을 그 기준에 대어 보는 것이 판별이다.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확인할 값</a:t>
            </a:r>
          </a:p>
          <a:p>
            <a:pPr algn="l">
              <a:lnSpc>
                <a:spcPct val="110000"/>
              </a:lnSpc>
              <a:spcAft>
                <a:spcPts val="400"/>
              </a:spcAft>
            </a:pPr>
            <a:r>
              <a:rPr sz="1400" b="0">
                <a:solidFill>
                  <a:srgbClr val="1F2A3A"/>
                </a:solidFill>
                <a:latin typeface="맑은 고딕"/>
                <a:ea typeface="맑은 고딕"/>
                <a:cs typeface="맑은 고딕"/>
              </a:rPr>
              <a:t>후보마다 보아야 하는 태그가 다르다</a:t>
            </a:r>
          </a:p>
        </p:txBody>
      </p:sp>
      <p:sp>
        <p:nvSpPr>
          <p:cNvPr id="10" name="Rounded Rectangle 9"/>
          <p:cNvSpPr/>
          <p:nvPr/>
        </p:nvSpPr>
        <p:spPr>
          <a:xfrm>
            <a:off x="777240" y="4932934"/>
            <a:ext cx="147523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475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팬 진동 VS1</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그 값이 얼마이면 해당하는지가 정해져 있다</a:t>
            </a:r>
          </a:p>
        </p:txBody>
      </p:sp>
      <p:sp>
        <p:nvSpPr>
          <p:cNvPr id="16" name="Rounded Rectangle 15"/>
          <p:cNvSpPr/>
          <p:nvPr/>
        </p:nvSpPr>
        <p:spPr>
          <a:xfrm>
            <a:off x="4566818" y="4932934"/>
            <a:ext cx="162458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6245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0.9 mm/s 이상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a:t>
            </a:r>
          </a:p>
          <a:p>
            <a:pPr algn="l">
              <a:lnSpc>
                <a:spcPct val="110000"/>
              </a:lnSpc>
              <a:spcAft>
                <a:spcPts val="400"/>
              </a:spcAft>
            </a:pPr>
            <a:r>
              <a:rPr sz="1400" b="0">
                <a:solidFill>
                  <a:srgbClr val="1F2A3A"/>
                </a:solidFill>
                <a:latin typeface="맑은 고딕"/>
                <a:ea typeface="맑은 고딕"/>
                <a:cs typeface="맑은 고딕"/>
              </a:rPr>
              <a:t>잰 값을 기준에 대어 본다</a:t>
            </a:r>
          </a:p>
        </p:txBody>
      </p:sp>
      <p:sp>
        <p:nvSpPr>
          <p:cNvPr id="22" name="Rounded Rectangle 21"/>
          <p:cNvSpPr/>
          <p:nvPr/>
        </p:nvSpPr>
        <p:spPr>
          <a:xfrm>
            <a:off x="8356396" y="4932934"/>
            <a:ext cx="199948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999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0.575 → 해당 없음</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증상을 우선 누르는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팬을 최대로 돌려 유온을 우선 낮춘다</a:t>
            </a:r>
          </a:p>
          <a:p>
            <a:pPr algn="l">
              <a:lnSpc>
                <a:spcPct val="110000"/>
              </a:lnSpc>
              <a:spcAft>
                <a:spcPts val="600"/>
              </a:spcAft>
            </a:pPr>
            <a:r>
              <a:rPr sz="1450" b="0">
                <a:solidFill>
                  <a:srgbClr val="1F2A3A"/>
                </a:solidFill>
                <a:latin typeface="맑은 고딕"/>
                <a:ea typeface="맑은 고딕"/>
                <a:cs typeface="맑은 고딕"/>
              </a:rPr>
              <a:t>• 쿨러의 핀은 막힌 그대로이다</a:t>
            </a:r>
          </a:p>
          <a:p>
            <a:pPr algn="l">
              <a:lnSpc>
                <a:spcPct val="110000"/>
              </a:lnSpc>
              <a:spcAft>
                <a:spcPts val="600"/>
              </a:spcAft>
            </a:pPr>
            <a:r>
              <a:rPr sz="1450" b="0">
                <a:solidFill>
                  <a:srgbClr val="1F2A3A"/>
                </a:solidFill>
                <a:latin typeface="맑은 고딕"/>
                <a:ea typeface="맑은 고딕"/>
                <a:cs typeface="맑은 고딕"/>
              </a:rPr>
              <a:t>• 냉각 효율은 55 %로 기준 아래에 남는다</a:t>
            </a:r>
          </a:p>
        </p:txBody>
      </p:sp>
      <p:sp>
        <p:nvSpPr>
          <p:cNvPr id="11" name="Rounded Rectangle 10"/>
          <p:cNvSpPr/>
          <p:nvPr/>
        </p:nvSpPr>
        <p:spPr>
          <a:xfrm>
            <a:off x="868680" y="494557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핀을 세척해 원인을 없앤다</a:t>
            </a:r>
          </a:p>
          <a:p>
            <a:pPr algn="l">
              <a:lnSpc>
                <a:spcPct val="110000"/>
              </a:lnSpc>
              <a:spcAft>
                <a:spcPts val="600"/>
              </a:spcAft>
            </a:pPr>
            <a:r>
              <a:rPr sz="1450" b="0">
                <a:solidFill>
                  <a:srgbClr val="1F2A3A"/>
                </a:solidFill>
                <a:latin typeface="맑은 고딕"/>
                <a:ea typeface="맑은 고딕"/>
                <a:cs typeface="맑은 고딕"/>
              </a:rPr>
              <a:t>• 설비를 세우고 해야 하는 작업이다</a:t>
            </a:r>
          </a:p>
          <a:p>
            <a:pPr algn="l">
              <a:lnSpc>
                <a:spcPct val="110000"/>
              </a:lnSpc>
              <a:spcAft>
                <a:spcPts val="600"/>
              </a:spcAft>
            </a:pPr>
            <a:r>
              <a:rPr sz="145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진동 인터록 2.0 mm/s에 걸려 PLC가 설비를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대상, 단위, 기준이 붙어야 정보가 되고, 정보가 원인과 조치로 이어져야 왜와 무엇을에 답하는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답할 수 있는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46.2</a:t>
            </a:r>
          </a:p>
          <a:p>
            <a:pPr algn="l">
              <a:lnSpc>
                <a:spcPct val="110000"/>
              </a:lnSpc>
            </a:pPr>
            <a:r>
              <a:rPr sz="1400" b="0">
                <a:solidFill>
                  <a:srgbClr val="1F2A3A"/>
                </a:solidFill>
                <a:latin typeface="맑은 고딕"/>
                <a:ea typeface="맑은 고딕"/>
                <a:cs typeface="맑은 고딕"/>
              </a:rPr>
              <a:t>무엇을 잰 값인지, 단위가 무엇인지, 높은지 정상인지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HYD-01의 냉각 효율이 46.2 %이다</a:t>
            </a:r>
          </a:p>
          <a:p>
            <a:pPr algn="l">
              <a:lnSpc>
                <a:spcPct val="110000"/>
              </a:lnSpc>
            </a:pPr>
            <a:r>
              <a:rPr sz="1400" b="0">
                <a:solidFill>
                  <a:srgbClr val="1F2A3A"/>
                </a:solidFill>
                <a:latin typeface="맑은 고딕"/>
                <a:ea typeface="맑은 고딕"/>
                <a:cs typeface="맑은 고딕"/>
              </a:rPr>
              <a:t>수치에 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 얼마인가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기준 70 %보다 낮다</a:t>
            </a:r>
          </a:p>
          <a:p>
            <a:pPr algn="l">
              <a:lnSpc>
                <a:spcPct val="110000"/>
              </a:lnSpc>
            </a:pPr>
            <a:r>
              <a:rPr sz="1400" b="0">
                <a:solidFill>
                  <a:srgbClr val="1F2A3A"/>
                </a:solidFill>
                <a:latin typeface="맑은 고딕"/>
                <a:ea typeface="맑은 고딕"/>
                <a:cs typeface="맑은 고딕"/>
              </a:rPr>
              <a:t>수치에 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벗어났는가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왜 벗어났는가</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오염이면 핀을 세척한다</a:t>
            </a:r>
          </a:p>
          <a:p>
            <a:pPr algn="l">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할 것인가</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pic>
        <p:nvPicPr>
          <p:cNvPr id="6" name="삽화:흩어진정보.svg" descr="illust_7736539957009523456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저장소</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판별 기준은 매뉴얼에 문장으로 있으나, 그것을 경보와 태그의 값과 조치에 잇는 연결은 어느 시스템에도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a:lnSpc>
                <a:spcPct val="110000"/>
              </a:lnSpc>
              <a:spcAft>
                <a:spcPts val="200"/>
              </a:spcAft>
            </a:pPr>
            <a:r>
              <a:rPr sz="1300" b="0">
                <a:solidFill>
                  <a:srgbClr val="E8EEF6"/>
                </a:solidFill>
                <a:latin typeface="Consolas"/>
                <a:ea typeface="맑은 고딕"/>
                <a:cs typeface="맑은 고딕"/>
              </a:rPr>
              <a:t>0.9 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경보 → 매뉴얼 대목</a:t>
            </a:r>
          </a:p>
          <a:p>
            <a:pPr algn="l">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기준 → 태그 값</a:t>
            </a:r>
          </a:p>
          <a:p>
            <a:pPr algn="l">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원인 → 조치</a:t>
            </a:r>
          </a:p>
          <a:p>
            <a:pPr algn="l">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숙련자가 증상에서 조치까지를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지금까지는 숙련자가 흩어진 정보를 머릿속에서 이어 증상에서 조치에 이르렀다.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증상 확인</a:t>
            </a:r>
          </a:p>
          <a:p>
            <a:pPr algn="ctr">
              <a:lnSpc>
                <a:spcPct val="110000"/>
              </a:lnSpc>
              <a:spcAft>
                <a:spcPts val="400"/>
              </a:spcAft>
            </a:pPr>
            <a:r>
              <a:rPr sz="1250" b="0">
                <a:solidFill>
                  <a:srgbClr val="1F2A3A"/>
                </a:solidFill>
                <a:latin typeface="맑은 고딕"/>
                <a:ea typeface="맑은 고딕"/>
                <a:cs typeface="맑은 고딕"/>
              </a:rPr>
              <a:t>경보와 화면에서</a:t>
            </a:r>
          </a:p>
          <a:p>
            <a:pPr algn="ctr">
              <a:lnSpc>
                <a:spcPct val="110000"/>
              </a:lnSpc>
              <a:spcAft>
                <a:spcPts val="400"/>
              </a:spcAft>
            </a:pPr>
            <a:r>
              <a:rPr sz="1250" b="0">
                <a:solidFill>
                  <a:srgbClr val="1F2A3A"/>
                </a:solidFill>
                <a:latin typeface="맑은 고딕"/>
                <a:ea typeface="맑은 고딕"/>
                <a:cs typeface="맑은 고딕"/>
              </a:rPr>
              <a:t>유온이 오르고</a:t>
            </a:r>
          </a:p>
          <a:p>
            <a:pPr algn="ctr">
              <a:lnSpc>
                <a:spcPct val="110000"/>
              </a:lnSpc>
              <a:spcAft>
                <a:spcPts val="400"/>
              </a:spcAft>
            </a:pPr>
            <a:r>
              <a:rPr sz="1250" b="0">
                <a:solidFill>
                  <a:srgbClr val="1F2A3A"/>
                </a:solidFill>
                <a:latin typeface="맑은 고딕"/>
                <a:ea typeface="맑은 고딕"/>
                <a:cs typeface="맑은 고딕"/>
              </a:rPr>
              <a:t>냉각 효율이</a:t>
            </a:r>
          </a:p>
          <a:p>
            <a:pPr algn="ctr">
              <a:lnSpc>
                <a:spcPct val="110000"/>
              </a:lnSpc>
              <a:spcAft>
                <a:spcPts val="400"/>
              </a:spcAft>
            </a:pPr>
            <a:r>
              <a:rPr sz="1250" b="0">
                <a:solidFill>
                  <a:srgbClr val="1F2A3A"/>
                </a:solidFill>
                <a:latin typeface="맑은 고딕"/>
                <a:ea typeface="맑은 고딕"/>
                <a:cs typeface="맑은 고딕"/>
              </a:rPr>
              <a:t>떨어진 것을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고장 유형 짐작</a:t>
            </a:r>
          </a:p>
          <a:p>
            <a:pPr algn="ctr">
              <a:lnSpc>
                <a:spcPct val="110000"/>
              </a:lnSpc>
              <a:spcAft>
                <a:spcPts val="400"/>
              </a:spcAft>
            </a:pPr>
            <a:r>
              <a:rPr sz="1250" b="0">
                <a:solidFill>
                  <a:srgbClr val="1F2A3A"/>
                </a:solidFill>
                <a:latin typeface="맑은 고딕"/>
                <a:ea typeface="맑은 고딕"/>
                <a:cs typeface="맑은 고딕"/>
              </a:rPr>
              <a:t>이 증상이면</a:t>
            </a:r>
          </a:p>
          <a:p>
            <a:pPr algn="ctr">
              <a:lnSpc>
                <a:spcPct val="110000"/>
              </a:lnSpc>
              <a:spcAft>
                <a:spcPts val="400"/>
              </a:spcAft>
            </a:pPr>
            <a:r>
              <a:rPr sz="1250" b="0">
                <a:solidFill>
                  <a:srgbClr val="1F2A3A"/>
                </a:solidFill>
                <a:latin typeface="맑은 고딕"/>
                <a:ea typeface="맑은 고딕"/>
                <a:cs typeface="맑은 고딕"/>
              </a:rPr>
              <a:t>쿨러가 식히는</a:t>
            </a:r>
          </a:p>
          <a:p>
            <a:pPr algn="ctr">
              <a:lnSpc>
                <a:spcPct val="110000"/>
              </a:lnSpc>
              <a:spcAft>
                <a:spcPts val="400"/>
              </a:spcAft>
            </a:pPr>
            <a:r>
              <a:rPr sz="1250" b="0">
                <a:solidFill>
                  <a:srgbClr val="1F2A3A"/>
                </a:solidFill>
                <a:latin typeface="맑은 고딕"/>
                <a:ea typeface="맑은 고딕"/>
                <a:cs typeface="맑은 고딕"/>
              </a:rPr>
              <a:t>능력을 잃은</a:t>
            </a:r>
          </a:p>
          <a:p>
            <a:pPr algn="ctr">
              <a:lnSpc>
                <a:spcPct val="110000"/>
              </a:lnSpc>
              <a:spcAft>
                <a:spcPts val="400"/>
              </a:spcAft>
            </a:pPr>
            <a:r>
              <a:rPr sz="1250" b="0">
                <a:solidFill>
                  <a:srgbClr val="1F2A3A"/>
                </a:solidFill>
                <a:latin typeface="맑은 고딕"/>
                <a:ea typeface="맑은 고딕"/>
                <a:cs typeface="맑은 고딕"/>
              </a:rPr>
              <a:t>것이라고 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경험과 매뉴얼에서</a:t>
            </a:r>
          </a:p>
          <a:p>
            <a:pPr algn="ctr">
              <a:lnSpc>
                <a:spcPct val="110000"/>
              </a:lnSpc>
              <a:spcAft>
                <a:spcPts val="400"/>
              </a:spcAft>
            </a:pPr>
            <a:r>
              <a:rPr sz="1250" b="0">
                <a:solidFill>
                  <a:srgbClr val="1F2A3A"/>
                </a:solidFill>
                <a:latin typeface="맑은 고딕"/>
                <a:ea typeface="맑은 고딕"/>
                <a:cs typeface="맑은 고딕"/>
              </a:rPr>
              <a:t>핀 오염,</a:t>
            </a:r>
          </a:p>
          <a:p>
            <a:pPr algn="ctr">
              <a:lnSpc>
                <a:spcPct val="110000"/>
              </a:lnSpc>
              <a:spcAft>
                <a:spcPts val="400"/>
              </a:spcAft>
            </a:pPr>
            <a:r>
              <a:rPr sz="1250" b="0">
                <a:solidFill>
                  <a:srgbClr val="1F2A3A"/>
                </a:solidFill>
                <a:latin typeface="맑은 고딕"/>
                <a:ea typeface="맑은 고딕"/>
                <a:cs typeface="맑은 고딕"/>
              </a:rPr>
              <a:t>팬 구동 불량,</a:t>
            </a:r>
          </a:p>
          <a:p>
            <a:pPr algn="ctr">
              <a:lnSpc>
                <a:spcPct val="110000"/>
              </a:lnSpc>
              <a:spcAft>
                <a:spcPts val="400"/>
              </a:spcAft>
            </a:pPr>
            <a:r>
              <a:rPr sz="1250" b="0">
                <a:solidFill>
                  <a:srgbClr val="1F2A3A"/>
                </a:solidFill>
                <a:latin typeface="맑은 고딕"/>
                <a:ea typeface="맑은 고딕"/>
                <a:cs typeface="맑은 고딕"/>
              </a:rPr>
              <a:t>주변 온도를 꼽는다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증거 대조</a:t>
            </a:r>
          </a:p>
          <a:p>
            <a:pPr algn="ctr">
              <a:lnSpc>
                <a:spcPct val="110000"/>
              </a:lnSpc>
              <a:spcAft>
                <a:spcPts val="400"/>
              </a:spcAft>
            </a:pPr>
            <a:r>
              <a:rPr sz="1250" b="0">
                <a:solidFill>
                  <a:srgbClr val="1F2A3A"/>
                </a:solidFill>
                <a:latin typeface="맑은 고딕"/>
                <a:ea typeface="맑은 고딕"/>
                <a:cs typeface="맑은 고딕"/>
              </a:rPr>
              <a:t>후보마다 어느</a:t>
            </a:r>
          </a:p>
          <a:p>
            <a:pPr algn="ctr">
              <a:lnSpc>
                <a:spcPct val="110000"/>
              </a:lnSpc>
              <a:spcAft>
                <a:spcPts val="400"/>
              </a:spcAft>
            </a:pPr>
            <a:r>
              <a:rPr sz="1250" b="0">
                <a:solidFill>
                  <a:srgbClr val="1F2A3A"/>
                </a:solidFill>
                <a:latin typeface="맑은 고딕"/>
                <a:ea typeface="맑은 고딕"/>
                <a:cs typeface="맑은 고딕"/>
              </a:rPr>
              <a:t>센서를 볼지 알고</a:t>
            </a:r>
          </a:p>
          <a:p>
            <a:pPr algn="ctr">
              <a:lnSpc>
                <a:spcPct val="110000"/>
              </a:lnSpc>
              <a:spcAft>
                <a:spcPts val="400"/>
              </a:spcAft>
            </a:pPr>
            <a:r>
              <a:rPr sz="1250" b="0">
                <a:solidFill>
                  <a:srgbClr val="1F2A3A"/>
                </a:solidFill>
                <a:latin typeface="맑은 고딕"/>
                <a:ea typeface="맑은 고딕"/>
                <a:cs typeface="맑은 고딕"/>
              </a:rPr>
              <a:t>값을 찾아</a:t>
            </a:r>
          </a:p>
          <a:p>
            <a:pPr algn="ctr">
              <a:lnSpc>
                <a:spcPct val="110000"/>
              </a:lnSpc>
              <a:spcAft>
                <a:spcPts val="400"/>
              </a:spcAft>
            </a:pPr>
            <a:r>
              <a:rPr sz="1250" b="0">
                <a:solidFill>
                  <a:srgbClr val="1F2A3A"/>
                </a:solidFill>
                <a:latin typeface="맑은 고딕"/>
                <a:ea typeface="맑은 고딕"/>
                <a:cs typeface="맑은 고딕"/>
              </a:rPr>
              <a:t>기준과 비교한다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 선택</a:t>
            </a:r>
          </a:p>
          <a:p>
            <a:pPr algn="ctr">
              <a:lnSpc>
                <a:spcPct val="110000"/>
              </a:lnSpc>
              <a:spcAft>
                <a:spcPts val="400"/>
              </a:spcAft>
            </a:pPr>
            <a:r>
              <a:rPr sz="1250" b="0">
                <a:solidFill>
                  <a:srgbClr val="1F2A3A"/>
                </a:solidFill>
                <a:latin typeface="맑은 고딕"/>
                <a:ea typeface="맑은 고딕"/>
                <a:cs typeface="맑은 고딕"/>
              </a:rPr>
              <a:t>원인에 맞는</a:t>
            </a:r>
          </a:p>
          <a:p>
            <a:pPr algn="ctr">
              <a:lnSpc>
                <a:spcPct val="110000"/>
              </a:lnSpc>
              <a:spcAft>
                <a:spcPts val="400"/>
              </a:spcAft>
            </a:pPr>
            <a:r>
              <a:rPr sz="1250" b="0">
                <a:solidFill>
                  <a:srgbClr val="1F2A3A"/>
                </a:solidFill>
                <a:latin typeface="맑은 고딕"/>
                <a:ea typeface="맑은 고딕"/>
                <a:cs typeface="맑은 고딕"/>
              </a:rPr>
              <a:t>조치를 고르고</a:t>
            </a:r>
          </a:p>
          <a:p>
            <a:pPr algn="ctr">
              <a:lnSpc>
                <a:spcPct val="110000"/>
              </a:lnSpc>
              <a:spcAft>
                <a:spcPts val="400"/>
              </a:spcAft>
            </a:pPr>
            <a:r>
              <a:rPr sz="1250" b="0">
                <a:solidFill>
                  <a:srgbClr val="1F2A3A"/>
                </a:solidFill>
                <a:latin typeface="맑은 고딕"/>
                <a:ea typeface="맑은 고딕"/>
                <a:cs typeface="맑은 고딕"/>
              </a:rPr>
              <a:t>생산 일정과</a:t>
            </a:r>
          </a:p>
          <a:p>
            <a:pPr algn="ctr">
              <a:lnSpc>
                <a:spcPct val="110000"/>
              </a:lnSpc>
              <a:spcAft>
                <a:spcPts val="400"/>
              </a:spcAft>
            </a:pPr>
            <a:r>
              <a:rPr sz="1250" b="0">
                <a:solidFill>
                  <a:srgbClr val="1F2A3A"/>
                </a:solidFill>
                <a:latin typeface="맑은 고딕"/>
                <a:ea typeface="맑은 고딕"/>
                <a:cs typeface="맑은 고딕"/>
              </a:rPr>
              <a:t>함께 따진다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표와 문서에 적어 두는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표와 문서는 사람이 읽기에는 충분하지만 대상 사이의 연결을 컴퓨터가 따라가기에는 맞지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적는다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증상, 원인, 조치를 칸에 나누어 적는다</a:t>
            </a:r>
          </a:p>
          <a:p>
            <a:pPr algn="l">
              <a:lnSpc>
                <a:spcPct val="110000"/>
              </a:lnSpc>
              <a:spcAft>
                <a:spcPts val="600"/>
              </a:spcAft>
            </a:pPr>
            <a:r>
              <a:rPr sz="1450" b="0">
                <a:solidFill>
                  <a:srgbClr val="1F2A3A"/>
                </a:solidFill>
                <a:latin typeface="맑은 고딕"/>
                <a:ea typeface="맑은 고딕"/>
                <a:cs typeface="맑은 고딕"/>
              </a:rPr>
              <a:t>• 한 고장에 원인이 여럿이고 원인마다 증거가 여럿이면 칸이 반복된다</a:t>
            </a:r>
          </a:p>
          <a:p>
            <a:pPr algn="l">
              <a:lnSpc>
                <a:spcPct val="110000"/>
              </a:lnSpc>
              <a:spcAft>
                <a:spcPts val="600"/>
              </a:spcAft>
            </a:pPr>
            <a:r>
              <a:rPr sz="1450" b="0">
                <a:solidFill>
                  <a:srgbClr val="1F2A3A"/>
                </a:solidFill>
                <a:latin typeface="맑은 고딕"/>
                <a:ea typeface="맑은 고딕"/>
                <a:cs typeface="맑은 고딕"/>
              </a:rPr>
              <a:t>• 예: 「쿨러 냉각 성능 상실」이 원인 셋과 확인할 값 CE · VS1 · VS1 · TS4의 네 줄에 반복된다</a:t>
            </a:r>
          </a:p>
          <a:p>
            <a:pPr algn="l">
              <a:lnSpc>
                <a:spcPct val="110000"/>
              </a:lnSpc>
              <a:spcAft>
                <a:spcPts val="600"/>
              </a:spcAft>
            </a:pPr>
            <a:r>
              <a:rPr sz="1450" b="0">
                <a:solidFill>
                  <a:srgbClr val="1F2A3A"/>
                </a:solidFill>
                <a:latin typeface="맑은 고딕"/>
                <a:ea typeface="맑은 고딕"/>
                <a:cs typeface="맑은 고딕"/>
              </a:rPr>
              <a:t>• 여러 표를 건너가며 이어 붙이는 일은 다시 사람의 몫이 된다</a:t>
            </a:r>
          </a:p>
        </p:txBody>
      </p:sp>
      <p:sp>
        <p:nvSpPr>
          <p:cNvPr id="11" name="Rounded Rectangle 10"/>
          <p:cNvSpPr/>
          <p:nvPr/>
        </p:nvSpPr>
        <p:spPr>
          <a:xfrm>
            <a:off x="868680" y="5547296"/>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연결이 칸 밖에 있다</a:t>
            </a:r>
          </a:p>
        </p:txBody>
      </p:sp>
      <p:sp>
        <p:nvSpPr>
          <p:cNvPr id="13" name="Rounded Rectangle 12"/>
          <p:cNvSpPr/>
          <p:nvPr/>
        </p:nvSpPr>
        <p:spPr>
          <a:xfrm>
            <a:off x="6461607" y="1978215"/>
            <a:ext cx="5181447" cy="4026281"/>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179383"/>
            <a:ext cx="731520" cy="731520"/>
          </a:xfrm>
          <a:prstGeom prst="ellipse">
            <a:avLst/>
          </a:prstGeom>
          <a:solidFill>
            <a:srgbClr val="FFFFFF"/>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문서에 적는다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HM-8처럼 문장으로 풀어 적는다</a:t>
            </a:r>
          </a:p>
          <a:p>
            <a:pPr algn="l">
              <a:lnSpc>
                <a:spcPct val="110000"/>
              </a:lnSpc>
              <a:spcAft>
                <a:spcPts val="600"/>
              </a:spcAft>
            </a:pPr>
            <a:r>
              <a:rPr sz="1450" b="0">
                <a:solidFill>
                  <a:srgbClr val="1F2A3A"/>
                </a:solidFill>
                <a:latin typeface="맑은 고딕"/>
                <a:ea typeface="맑은 고딕"/>
                <a:cs typeface="맑은 고딕"/>
              </a:rPr>
              <a:t>• 사람이 읽고 해석해야 판단에 쓸 수 있다</a:t>
            </a:r>
          </a:p>
          <a:p>
            <a:pPr algn="l">
              <a:lnSpc>
                <a:spcPct val="110000"/>
              </a:lnSpc>
              <a:spcAft>
                <a:spcPts val="600"/>
              </a:spcAft>
            </a:pPr>
            <a:r>
              <a:rPr sz="1450" b="0">
                <a:solidFill>
                  <a:srgbClr val="1F2A3A"/>
                </a:solidFill>
                <a:latin typeface="맑은 고딕"/>
                <a:ea typeface="맑은 고딕"/>
                <a:cs typeface="맑은 고딕"/>
              </a:rPr>
              <a:t>• 문서마다 같은 대상을 다른 말로 부르기도 한다</a:t>
            </a:r>
          </a:p>
        </p:txBody>
      </p:sp>
      <p:sp>
        <p:nvSpPr>
          <p:cNvPr id="18" name="Rounded Rectangle 17"/>
          <p:cNvSpPr/>
          <p:nvPr/>
        </p:nvSpPr>
        <p:spPr>
          <a:xfrm>
            <a:off x="6781647" y="5547296"/>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54729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해석이 필요하다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프로그램 코드에 넣는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코드에 직접 넣으면 컴퓨터는 실행할 수 있지만 지식이 코드 안에 묻혀 고치거나 설명하기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if ts1 &gt; 55 and ce &lt; 70:</a:t>
            </a:r>
          </a:p>
          <a:p>
            <a:pPr algn="l">
              <a:lnSpc>
                <a:spcPct val="110000"/>
              </a:lnSpc>
              <a:spcAft>
                <a:spcPts val="200"/>
              </a:spcAft>
            </a:pPr>
            <a:r>
              <a:rPr sz="1300" b="0">
                <a:solidFill>
                  <a:srgbClr val="E8EEF6"/>
                </a:solidFill>
                <a:latin typeface="Consolas"/>
                <a:ea typeface="맑은 고딕"/>
                <a:cs typeface="맑은 고딕"/>
              </a:rPr>
              <a:t>    if vs1 &gt;= 0.9:</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elif ts4 &gt;= 35:</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else:</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fan_speed = 100</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되는 일</a:t>
            </a:r>
          </a:p>
          <a:p>
            <a:pPr algn="l">
              <a:lnSpc>
                <a:spcPct val="110000"/>
              </a:lnSpc>
              <a:spcAft>
                <a:spcPts val="400"/>
              </a:spcAft>
            </a:pPr>
            <a:r>
              <a:rPr sz="1400" b="0">
                <a:solidFill>
                  <a:srgbClr val="1F2A3A"/>
                </a:solidFill>
                <a:latin typeface="맑은 고딕"/>
                <a:ea typeface="맑은 고딕"/>
                <a:cs typeface="맑은 고딕"/>
              </a:rPr>
              <a:t>조건과 결과를 그대로 옮겼으므로 컴퓨터가 바로 실행한다.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고치기 어렵다</a:t>
            </a:r>
          </a:p>
          <a:p>
            <a:pPr algn="l">
              <a:lnSpc>
                <a:spcPct val="110000"/>
              </a:lnSpc>
              <a:spcAft>
                <a:spcPts val="400"/>
              </a:spcAft>
            </a:pPr>
            <a:r>
              <a:rPr sz="1400" b="0">
                <a:solidFill>
                  <a:srgbClr val="1F2A3A"/>
                </a:solidFill>
                <a:latin typeface="맑은 고딕"/>
                <a:ea typeface="맑은 고딕"/>
                <a:cs typeface="맑은 고딕"/>
              </a:rPr>
              <a:t>매뉴얼의 기준이나 원인 후보가 바뀔 때마다 개발자가 코드를 고쳐야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설명하기 어렵다</a:t>
            </a:r>
          </a:p>
          <a:p>
            <a:pPr algn="l">
              <a:lnSpc>
                <a:spcPct val="110000"/>
              </a:lnSpc>
              <a:spcAft>
                <a:spcPts val="400"/>
              </a:spcAft>
            </a:pPr>
            <a:r>
              <a:rPr sz="1400" b="0">
                <a:solidFill>
                  <a:srgbClr val="1F2A3A"/>
                </a:solidFill>
                <a:latin typeface="맑은 고딕"/>
                <a:ea typeface="맑은 고딕"/>
                <a:cs typeface="맑은 고딕"/>
              </a:rPr>
              <a:t>왜 그 원인인지, 근거가 매뉴얼의 어디인지가 코드에 남지 않는다.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표와 문서의 장점</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장점</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약점을 피한다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Layer 7</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사람마다 다르게 부르는 말을 하나의 대상에 묶어 누구에게나 같은 뜻이 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821178"/>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상승</a:t>
            </a:r>
          </a:p>
          <a:p>
            <a:pPr algn="l">
              <a:lnSpc>
                <a:spcPct val="110000"/>
              </a:lnSpc>
              <a:spcAft>
                <a:spcPts val="400"/>
              </a:spcAft>
            </a:pPr>
            <a:r>
              <a:rPr sz="14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3293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냉각 효율 저하</a:t>
            </a:r>
          </a:p>
          <a:p>
            <a:pPr algn="l">
              <a:lnSpc>
                <a:spcPct val="110000"/>
              </a:lnSpc>
              <a:spcAft>
                <a:spcPts val="400"/>
              </a:spcAft>
            </a:pPr>
            <a:r>
              <a:rPr sz="14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진동 증가</a:t>
            </a:r>
          </a:p>
          <a:p>
            <a:pPr algn="l">
              <a:lnSpc>
                <a:spcPct val="110000"/>
              </a:lnSpc>
              <a:spcAft>
                <a:spcPts val="400"/>
              </a:spcAft>
            </a:pPr>
            <a:r>
              <a:rPr sz="14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이 역할에는 Neo4j 같은 것이 있다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그래프 DB에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pic>
        <p:nvPicPr>
          <p:cNvPr id="6" name="삽화:노드관계.svg" descr="illust_6844417100344000012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문장으로 읽는 법: 주어, 서술어, 목적어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화살표가 나가는 쪽을 주어, 관계 이름을 서술어, 들어가는 쪽을 목적어로 읽으면 관계 하나가 문장 하나가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lame" descr="flam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CAUSES</a:t>
            </a:r>
          </a:p>
          <a:p>
            <a:pPr algn="l">
              <a:lnSpc>
                <a:spcPct val="110000"/>
              </a:lnSpc>
              <a:spcAft>
                <a:spcPts val="400"/>
              </a:spcAft>
            </a:pPr>
            <a:r>
              <a:rPr sz="1400" b="0">
                <a:solidFill>
                  <a:srgbClr val="1F2A3A"/>
                </a:solidFill>
                <a:latin typeface="맑은 고딕"/>
                <a:ea typeface="맑은 고딕"/>
                <a:cs typeface="맑은 고딕"/>
              </a:rPr>
              <a:t>• 핀 오염 → 냉각 성능 상실</a:t>
            </a:r>
          </a:p>
          <a:p>
            <a:pPr algn="l">
              <a:lnSpc>
                <a:spcPct val="110000"/>
              </a:lnSpc>
              <a:spcAft>
                <a:spcPts val="400"/>
              </a:spcAft>
            </a:pPr>
            <a:r>
              <a:rPr sz="1400" b="0">
                <a:solidFill>
                  <a:srgbClr val="1F2A3A"/>
                </a:solidFill>
                <a:latin typeface="맑은 고딕"/>
                <a:ea typeface="맑은 고딕"/>
                <a:cs typeface="맑은 고딕"/>
              </a:rPr>
              <a:t>• 핀 오염은 냉각 성능 상실을 일으킨다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일으킨다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guide" descr="arrow-guid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INDICATES</a:t>
            </a:r>
          </a:p>
          <a:p>
            <a:pPr algn="l">
              <a:lnSpc>
                <a:spcPct val="110000"/>
              </a:lnSpc>
              <a:spcAft>
                <a:spcPts val="400"/>
              </a:spcAft>
            </a:pPr>
            <a:r>
              <a:rPr sz="1400" b="0">
                <a:solidFill>
                  <a:srgbClr val="1F2A3A"/>
                </a:solidFill>
                <a:latin typeface="맑은 고딕"/>
                <a:ea typeface="맑은 고딕"/>
                <a:cs typeface="맑은 고딕"/>
              </a:rPr>
              <a:t>• 유온 상승 → 냉각 성능 상실</a:t>
            </a:r>
          </a:p>
          <a:p>
            <a:pPr algn="l">
              <a:lnSpc>
                <a:spcPct val="110000"/>
              </a:lnSpc>
              <a:spcAft>
                <a:spcPts val="400"/>
              </a:spcAft>
            </a:pPr>
            <a:r>
              <a:rPr sz="1400" b="0">
                <a:solidFill>
                  <a:srgbClr val="1F2A3A"/>
                </a:solidFill>
                <a:latin typeface="맑은 고딕"/>
                <a:ea typeface="맑은 고딕"/>
                <a:cs typeface="맑은 고딕"/>
              </a:rPr>
              <a:t>• 유온 상승은 냉각 성능 상실을 가리킨다</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가리킨다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MITIGATED_BY</a:t>
            </a:r>
          </a:p>
          <a:p>
            <a:pPr algn="l">
              <a:lnSpc>
                <a:spcPct val="110000"/>
              </a:lnSpc>
              <a:spcAft>
                <a:spcPts val="400"/>
              </a:spcAft>
            </a:pPr>
            <a:r>
              <a:rPr sz="1400" b="0">
                <a:solidFill>
                  <a:srgbClr val="1F2A3A"/>
                </a:solidFill>
                <a:latin typeface="맑은 고딕"/>
                <a:ea typeface="맑은 고딕"/>
                <a:cs typeface="맑은 고딕"/>
              </a:rPr>
              <a:t>• 냉각 성능 상실 → 팬 최대 운전</a:t>
            </a:r>
          </a:p>
          <a:p>
            <a:pPr algn="l">
              <a:lnSpc>
                <a:spcPct val="110000"/>
              </a:lnSpc>
              <a:spcAft>
                <a:spcPts val="400"/>
              </a:spcAft>
            </a:pPr>
            <a:r>
              <a:rPr sz="1400" b="0">
                <a:solidFill>
                  <a:srgbClr val="1F2A3A"/>
                </a:solidFill>
                <a:latin typeface="맑은 고딕"/>
                <a:ea typeface="맑은 고딕"/>
                <a:cs typeface="맑은 고딕"/>
              </a:rPr>
              <a:t>• 냉각 성능 상실은 팬 최대 운전으로 완화된다</a:t>
            </a:r>
          </a:p>
        </p:txBody>
      </p:sp>
      <p:sp>
        <p:nvSpPr>
          <p:cNvPr id="22" name="Rounded Rectangle 21"/>
          <p:cNvSpPr/>
          <p:nvPr/>
        </p:nvSpPr>
        <p:spPr>
          <a:xfrm>
            <a:off x="8356396" y="5041392"/>
            <a:ext cx="140512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4051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~으로 완화된다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pic>
        <p:nvPicPr>
          <p:cNvPr id="6" name="삽화:관계.svg" descr="illust_3340032361551381954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컴퓨터는 경보에 실려 온 패턴 이름에서 출발해 DETECTS와 INDICATES를 따라 고장 유형에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pic>
        <p:nvPicPr>
          <p:cNvPr id="6" name="삽화:경로_1.svg" descr="illust_6614672832649115242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AnomalyPattern</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Symptom</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4104864" y="1982190"/>
            <a:ext cx="152732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FailureMode</a:t>
            </a:r>
          </a:p>
          <a:p>
            <a:pPr algn="ctr">
              <a:lnSpc>
                <a:spcPct val="110000"/>
              </a:lnSpc>
              <a:spcAft>
                <a:spcPts val="100"/>
              </a:spcAft>
            </a:pPr>
            <a:r>
              <a:rPr sz="1300" b="0">
                <a:solidFill>
                  <a:srgbClr val="556175"/>
                </a:solidFill>
                <a:latin typeface="맑은 고딕"/>
                <a:ea typeface="맑은 고딕"/>
                <a:cs typeface="맑은 고딕"/>
              </a:rPr>
              <a:t>쿨러 냉각</a:t>
            </a:r>
          </a:p>
          <a:p>
            <a:pPr algn="ctr">
              <a:lnSpc>
                <a:spcPct val="110000"/>
              </a:lnSpc>
              <a:spcAft>
                <a:spcPts val="100"/>
              </a:spcAft>
            </a:pPr>
            <a:r>
              <a:rPr sz="1300" b="0">
                <a:solidFill>
                  <a:srgbClr val="556175"/>
                </a:solidFill>
                <a:latin typeface="맑은 고딕"/>
                <a:ea typeface="맑은 고딕"/>
                <a:cs typeface="맑은 고딕"/>
              </a:rPr>
              <a:t>성능 상실</a:t>
            </a:r>
          </a:p>
        </p:txBody>
      </p:sp>
      <p:sp>
        <p:nvSpPr>
          <p:cNvPr id="10" name="TextBox 9"/>
          <p:cNvSpPr txBox="1"/>
          <p:nvPr/>
        </p:nvSpPr>
        <p:spPr>
          <a:xfrm>
            <a:off x="1721140" y="394408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a:p>
            <a:pPr algn="ctr">
              <a:lnSpc>
                <a:spcPct val="110000"/>
              </a:lnSpc>
              <a:spcAft>
                <a:spcPts val="100"/>
              </a:spcAft>
            </a:pPr>
            <a:r>
              <a:rPr sz="1300" b="0">
                <a:solidFill>
                  <a:srgbClr val="556175"/>
                </a:solidFill>
                <a:latin typeface="맑은 고딕"/>
                <a:ea typeface="맑은 고딕"/>
                <a:cs typeface="맑은 고딕"/>
              </a:rPr>
              <a:t>감지한다</a:t>
            </a:r>
          </a:p>
        </p:txBody>
      </p:sp>
      <p:sp>
        <p:nvSpPr>
          <p:cNvPr id="11" name="TextBox 10"/>
          <p:cNvSpPr txBox="1"/>
          <p:nvPr/>
        </p:nvSpPr>
        <p:spPr>
          <a:xfrm>
            <a:off x="3292107" y="394408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913837" y="4747747"/>
            <a:ext cx="316375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출발점은 경보이다</a:t>
            </a:r>
          </a:p>
          <a:p>
            <a:pPr algn="ctr">
              <a:lnSpc>
                <a:spcPct val="110000"/>
              </a:lnSpc>
              <a:spcAft>
                <a:spcPts val="100"/>
              </a:spcAft>
            </a:pPr>
            <a:r>
              <a:rPr sz="1300" b="0">
                <a:solidFill>
                  <a:srgbClr val="556175"/>
                </a:solidFill>
                <a:latin typeface="맑은 고딕"/>
                <a:ea typeface="맑은 고딕"/>
                <a:cs typeface="맑은 고딕"/>
              </a:rPr>
              <a:t>경보에 패턴 이름이 실려 온다</a:t>
            </a:r>
          </a:p>
          <a:p>
            <a:pPr algn="ctr">
              <a:lnSpc>
                <a:spcPct val="110000"/>
              </a:lnSpc>
              <a:spcAft>
                <a:spcPts val="100"/>
              </a:spcAft>
            </a:pPr>
            <a:r>
              <a:rPr sz="1300" b="0">
                <a:solidFill>
                  <a:srgbClr val="556175"/>
                </a:solidFill>
                <a:latin typeface="맑은 고딕"/>
                <a:ea typeface="맑은 고딕"/>
                <a:cs typeface="맑은 고딕"/>
              </a:rPr>
              <a:t>COOLER_DEGRADATION</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②: 원인 후보와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고장 유형으로 들어오는 CAUSES를 거슬러 원인 후보를 모으고, 후보마다 EVIDENCED_BY로 확인할 증거를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pic>
        <p:nvPicPr>
          <p:cNvPr id="6" name="삽화:경로_2.svg" descr="illust_4459468887044242683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213959" y="254948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p:txBody>
      </p:sp>
      <p:sp>
        <p:nvSpPr>
          <p:cNvPr id="8" name="TextBox 7"/>
          <p:cNvSpPr txBox="1"/>
          <p:nvPr/>
        </p:nvSpPr>
        <p:spPr>
          <a:xfrm>
            <a:off x="5277635" y="1982190"/>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9" name="TextBox 8"/>
          <p:cNvSpPr txBox="1"/>
          <p:nvPr/>
        </p:nvSpPr>
        <p:spPr>
          <a:xfrm>
            <a:off x="6826783" y="507866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a:p>
            <a:pPr algn="ctr">
              <a:lnSpc>
                <a:spcPct val="110000"/>
              </a:lnSpc>
              <a:spcAft>
                <a:spcPts val="100"/>
              </a:spcAft>
            </a:pPr>
            <a:r>
              <a:rPr sz="1300" b="0">
                <a:solidFill>
                  <a:srgbClr val="556175"/>
                </a:solidFill>
                <a:latin typeface="맑은 고딕"/>
                <a:ea typeface="맑은 고딕"/>
                <a:cs typeface="맑은 고딕"/>
              </a:rPr>
              <a:t>증거로 확인한다</a:t>
            </a:r>
          </a:p>
        </p:txBody>
      </p:sp>
      <p:sp>
        <p:nvSpPr>
          <p:cNvPr id="10" name="TextBox 9"/>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a:t>
            </a:r>
          </a:p>
        </p:txBody>
      </p:sp>
      <p:sp>
        <p:nvSpPr>
          <p:cNvPr id="11" name="TextBox 10"/>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2" name="TextBox 11"/>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
        <p:nvSpPr>
          <p:cNvPr id="13" name="TextBox 12"/>
          <p:cNvSpPr txBox="1"/>
          <p:nvPr/>
        </p:nvSpPr>
        <p:spPr>
          <a:xfrm>
            <a:off x="804742" y="4464100"/>
            <a:ext cx="338194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원인(Cause)과 증거(Evidence)</a:t>
            </a:r>
          </a:p>
          <a:p>
            <a:pPr algn="ctr">
              <a:lnSpc>
                <a:spcPct val="110000"/>
              </a:lnSpc>
              <a:spcAft>
                <a:spcPts val="100"/>
              </a:spcAft>
            </a:pPr>
            <a:r>
              <a:rPr sz="1300" b="0">
                <a:solidFill>
                  <a:srgbClr val="556175"/>
                </a:solidFill>
                <a:latin typeface="맑은 고딕"/>
                <a:ea typeface="맑은 고딕"/>
                <a:cs typeface="맑은 고딕"/>
              </a:rPr>
              <a:t>들어오는 CAUSES를 거슬러 원인을 찾고</a:t>
            </a:r>
          </a:p>
          <a:p>
            <a:pPr algn="ctr">
              <a:lnSpc>
                <a:spcPct val="110000"/>
              </a:lnSpc>
              <a:spcAft>
                <a:spcPts val="100"/>
              </a:spcAft>
            </a:pPr>
            <a:r>
              <a:rPr sz="1300" b="0">
                <a:solidFill>
                  <a:srgbClr val="556175"/>
                </a:solidFill>
                <a:latin typeface="맑은 고딕"/>
                <a:ea typeface="맑은 고딕"/>
                <a:cs typeface="맑은 고딕"/>
              </a:rPr>
              <a:t>EVIDENCED_BY로 확인할 증거를 얻는다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③: 확인된 원인과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확인해 MITIGATED_BY로 조치에 이르며, 기준은 그래프에 두고 바뀌는 값은 저장소에서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pic>
        <p:nvPicPr>
          <p:cNvPr id="6" name="삽화:경로_3.svg" descr="illust_7021385610601103858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잰 값 46.2 % · 0.575 → 맞음</a:t>
            </a:r>
          </a:p>
        </p:txBody>
      </p:sp>
      <p:sp>
        <p:nvSpPr>
          <p:cNvPr id="8" name="TextBox 7"/>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잰 값 0.575 → 아님</a:t>
            </a:r>
          </a:p>
        </p:txBody>
      </p:sp>
      <p:sp>
        <p:nvSpPr>
          <p:cNvPr id="9" name="TextBox 8"/>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잰 값 28 ℃ → 아님</a:t>
            </a:r>
          </a:p>
        </p:txBody>
      </p:sp>
      <p:sp>
        <p:nvSpPr>
          <p:cNvPr id="10" name="TextBox 9"/>
          <p:cNvSpPr txBox="1"/>
          <p:nvPr/>
        </p:nvSpPr>
        <p:spPr>
          <a:xfrm>
            <a:off x="2822999" y="4345914"/>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1" name="TextBox 10"/>
          <p:cNvSpPr txBox="1"/>
          <p:nvPr/>
        </p:nvSpPr>
        <p:spPr>
          <a:xfrm>
            <a:off x="5386730" y="5220492"/>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Skill</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2" name="TextBox 11"/>
          <p:cNvSpPr txBox="1"/>
          <p:nvPr/>
        </p:nvSpPr>
        <p:spPr>
          <a:xfrm>
            <a:off x="7732271" y="5267766"/>
            <a:ext cx="370922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그래프 밖에서 읽는다</a:t>
            </a:r>
          </a:p>
          <a:p>
            <a:pPr algn="ctr">
              <a:lnSpc>
                <a:spcPct val="110000"/>
              </a:lnSpc>
              <a:spcAft>
                <a:spcPts val="100"/>
              </a:spcAft>
            </a:pPr>
            <a:r>
              <a:rPr sz="1300" b="0">
                <a:solidFill>
                  <a:srgbClr val="556175"/>
                </a:solidFill>
                <a:latin typeface="맑은 고딕"/>
                <a:ea typeface="맑은 고딕"/>
                <a:cs typeface="맑은 고딕"/>
              </a:rPr>
              <a:t>기준은 지식 그래프에 두고</a:t>
            </a:r>
          </a:p>
          <a:p>
            <a:pPr algn="ctr">
              <a:lnSpc>
                <a:spcPct val="110000"/>
              </a:lnSpc>
              <a:spcAft>
                <a:spcPts val="100"/>
              </a:spcAft>
            </a:pPr>
            <a:r>
              <a:rPr sz="1300" b="0">
                <a:solidFill>
                  <a:srgbClr val="556175"/>
                </a:solidFill>
                <a:latin typeface="맑은 고딕"/>
                <a:ea typeface="맑은 고딕"/>
                <a:cs typeface="맑은 고딕"/>
              </a:rPr>
              <a:t>계속 바뀌는 값은 시계열 저장소에서 읽는다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정의가 함께 있을 때 값의 뜻이 정해지고, 관계의 뜻이 이름으로 갈리며, 정의에 어긋난 연결이 걸러진다.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종류</a:t>
            </a:r>
          </a:p>
          <a:p>
            <a:pPr algn="l">
              <a:lnSpc>
                <a:spcPct val="110000"/>
              </a:lnSpc>
              <a:spcAft>
                <a:spcPts val="200"/>
              </a:spcAft>
            </a:pPr>
            <a:r>
              <a:rPr sz="1150" b="0">
                <a:solidFill>
                  <a:srgbClr val="556175"/>
                </a:solidFill>
                <a:latin typeface="맑은 고딕"/>
                <a:ea typeface="맑은 고딕"/>
                <a:cs typeface="맑은 고딕"/>
              </a:rPr>
              <a:t>대상의 갈래</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온톨로지가 다루는 대상의 갈래이다.</a:t>
            </a:r>
          </a:p>
          <a:p>
            <a:pPr algn="l">
              <a:lnSpc>
                <a:spcPct val="110000"/>
              </a:lnSpc>
              <a:spcAft>
                <a:spcPts val="300"/>
              </a:spcAft>
            </a:pPr>
            <a:r>
              <a:rPr sz="1400" b="0">
                <a:solidFill>
                  <a:srgbClr val="1F2A3A"/>
                </a:solidFill>
                <a:latin typeface="맑은 고딕"/>
                <a:ea typeface="맑은 고딕"/>
                <a:cs typeface="맑은 고딕"/>
              </a:rPr>
              <a:t>설비 쪽: 설비, 구성 요소, 센서 (예: HYD-01, 오일 쿨러, TS1)</a:t>
            </a:r>
          </a:p>
          <a:p>
            <a:pPr algn="l">
              <a:lnSpc>
                <a:spcPct val="110000"/>
              </a:lnSpc>
              <a:spcAft>
                <a:spcPts val="300"/>
              </a:spcAft>
            </a:pPr>
            <a:r>
              <a:rPr sz="1400" b="0">
                <a:solidFill>
                  <a:srgbClr val="1F2A3A"/>
                </a:solidFill>
                <a:latin typeface="맑은 고딕"/>
                <a:ea typeface="맑은 고딕"/>
                <a:cs typeface="맑은 고딕"/>
              </a:rPr>
              <a:t>진단 쪽: 이상 패턴, 증상, 고장 유형, 원인, 증거 (예: 쿨러 핀 오염은 원인)</a:t>
            </a:r>
          </a:p>
          <a:p>
            <a:pPr algn="l">
              <a:lnSpc>
                <a:spcPct val="110000"/>
              </a:lnSpc>
              <a:spcAft>
                <a:spcPts val="300"/>
              </a:spcAft>
            </a:pPr>
            <a:r>
              <a:rPr sz="1400" b="0">
                <a:solidFill>
                  <a:srgbClr val="1F2A3A"/>
                </a:solidFill>
                <a:latin typeface="맑은 고딕"/>
                <a:ea typeface="맑은 고딕"/>
                <a:cs typeface="맑은 고딕"/>
              </a:rPr>
              <a:t>조치 쪽: 조치 방법, 근거 문서 (예: 팬 최대 운전, HM-8.5)</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속성</a:t>
            </a:r>
          </a:p>
          <a:p>
            <a:pPr algn="l">
              <a:lnSpc>
                <a:spcPct val="110000"/>
              </a:lnSpc>
              <a:spcAft>
                <a:spcPts val="200"/>
              </a:spcAft>
            </a:pPr>
            <a:r>
              <a:rPr sz="1150" b="0">
                <a:solidFill>
                  <a:srgbClr val="556175"/>
                </a:solidFill>
                <a:latin typeface="맑은 고딕"/>
                <a:ea typeface="맑은 고딕"/>
                <a:cs typeface="맑은 고딕"/>
              </a:rPr>
              <a:t>℃ · 48 · 65</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대상마다 채워 두는 값의 칸이며, 같은 종류의 대상은 같은 칸을 갖는다.</a:t>
            </a:r>
          </a:p>
          <a:p>
            <a:pPr algn="l">
              <a:lnSpc>
                <a:spcPct val="110000"/>
              </a:lnSpc>
              <a:spcAft>
                <a:spcPts val="300"/>
              </a:spcAft>
            </a:pPr>
            <a:r>
              <a:rPr sz="1400" b="0">
                <a:solidFill>
                  <a:srgbClr val="1F2A3A"/>
                </a:solidFill>
                <a:latin typeface="맑은 고딕"/>
                <a:ea typeface="맑은 고딕"/>
                <a:cs typeface="맑은 고딕"/>
              </a:rPr>
              <a:t>유온: 단위 ℃, 정상값 48 ℃, 한계 65 ℃(인터록의 기준과 같다)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관계</a:t>
            </a:r>
          </a:p>
          <a:p>
            <a:pPr algn="l">
              <a:lnSpc>
                <a:spcPct val="110000"/>
              </a:lnSpc>
              <a:spcAft>
                <a:spcPts val="200"/>
              </a:spcAft>
            </a:pPr>
            <a:r>
              <a:rPr sz="1150" b="0">
                <a:solidFill>
                  <a:srgbClr val="556175"/>
                </a:solidFill>
                <a:latin typeface="맑은 고딕"/>
                <a:ea typeface="맑은 고딕"/>
                <a:cs typeface="맑은 고딕"/>
              </a:rPr>
              <a:t>완화와 근본 조치</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이름이 다르면 뜻이 다르다. 쿨러 냉각 성능 상실에서 조치로 가는 두 관계가 그렇다.</a:t>
            </a:r>
          </a:p>
          <a:p>
            <a:pPr algn="l">
              <a:lnSpc>
                <a:spcPct val="110000"/>
              </a:lnSpc>
              <a:spcAft>
                <a:spcPts val="300"/>
              </a:spcAft>
            </a:pPr>
            <a:r>
              <a:rPr sz="1400" b="0">
                <a:solidFill>
                  <a:srgbClr val="1F2A3A"/>
                </a:solidFill>
                <a:latin typeface="맑은 고딕"/>
                <a:ea typeface="맑은 고딕"/>
                <a:cs typeface="맑은 고딕"/>
              </a:rPr>
              <a:t>MITIGATED_BY → 팬 최대 운전: 우선 완화한다</a:t>
            </a:r>
          </a:p>
          <a:p>
            <a:pPr algn="l">
              <a:lnSpc>
                <a:spcPct val="110000"/>
              </a:lnSpc>
              <a:spcAft>
                <a:spcPts val="300"/>
              </a:spcAft>
            </a:pPr>
            <a:r>
              <a:rPr sz="1400" b="0">
                <a:solidFill>
                  <a:srgbClr val="1F2A3A"/>
                </a:solidFill>
                <a:latin typeface="맑은 고딕"/>
                <a:ea typeface="맑은 고딕"/>
                <a:cs typeface="맑은 고딕"/>
              </a:rPr>
              <a:t>REMEDIED_BY → 쿨러 핀 세척: 근본적으로 없앤다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제약</a:t>
            </a:r>
          </a:p>
          <a:p>
            <a:pPr algn="l">
              <a:lnSpc>
                <a:spcPct val="110000"/>
              </a:lnSpc>
              <a:spcAft>
                <a:spcPts val="200"/>
              </a:spcAft>
            </a:pPr>
            <a:r>
              <a:rPr sz="1150" b="0">
                <a:solidFill>
                  <a:srgbClr val="556175"/>
                </a:solidFill>
                <a:latin typeface="맑은 고딕"/>
                <a:ea typeface="맑은 고딕"/>
                <a:cs typeface="맑은 고딕"/>
              </a:rPr>
              <a:t>양 끝의 종류</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관계가 어느 종류에서 어느 종류로 이어질 수 있는지를 정해 어긋난 연결을 거른다.</a:t>
            </a:r>
          </a:p>
          <a:p>
            <a:pPr algn="l">
              <a:lnSpc>
                <a:spcPct val="110000"/>
              </a:lnSpc>
              <a:spcAft>
                <a:spcPts val="300"/>
              </a:spcAft>
            </a:pPr>
            <a:r>
              <a:rPr sz="1400" b="0">
                <a:solidFill>
                  <a:srgbClr val="1F2A3A"/>
                </a:solidFill>
                <a:latin typeface="맑은 고딕"/>
                <a:ea typeface="맑은 고딕"/>
                <a:cs typeface="맑은 고딕"/>
              </a:rPr>
              <a:t>쿨러 핀 오염 — CAUSES → 쿨러 냉각 성능 상실: 원인 → 고장 유형, 정의에 맞는다</a:t>
            </a:r>
          </a:p>
          <a:p>
            <a:pPr algn="l">
              <a:lnSpc>
                <a:spcPct val="110000"/>
              </a:lnSpc>
              <a:spcAft>
                <a:spcPts val="300"/>
              </a:spcAft>
            </a:pPr>
            <a:r>
              <a:rPr sz="1400" b="0">
                <a:solidFill>
                  <a:srgbClr val="1F2A3A"/>
                </a:solidFill>
                <a:latin typeface="맑은 고딕"/>
                <a:ea typeface="맑은 고딕"/>
                <a:cs typeface="맑은 고딕"/>
              </a:rPr>
              <a:t>유온 상승 — CAUSES → 팬 최대 운전: 증상 → 조치, 정의에 어긋난다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설비 쪽: 설비, 구성 요소, 센서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구성 요소, 센서가 함께 이어져 있어 같은 지식을 어느 설비의 어느 센서 값에 적용할지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pic>
        <p:nvPicPr>
          <p:cNvPr id="6" name="삽화:연결_설비쪽.svg" descr="illust_1778221101712559304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64181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a:p>
            <a:pPr algn="ctr">
              <a:lnSpc>
                <a:spcPct val="110000"/>
              </a:lnSpc>
              <a:spcAft>
                <a:spcPts val="100"/>
              </a:spcAft>
            </a:pPr>
            <a:r>
              <a:rPr sz="1300" b="0">
                <a:solidFill>
                  <a:srgbClr val="556175"/>
                </a:solidFill>
                <a:latin typeface="맑은 고딕"/>
                <a:ea typeface="맑은 고딕"/>
                <a:cs typeface="맑은 고딕"/>
              </a:rPr>
              <a:t>유온 센서 TS1</a:t>
            </a:r>
          </a:p>
        </p:txBody>
      </p:sp>
      <p:sp>
        <p:nvSpPr>
          <p:cNvPr id="8" name="TextBox 7"/>
          <p:cNvSpPr txBox="1"/>
          <p:nvPr/>
        </p:nvSpPr>
        <p:spPr>
          <a:xfrm>
            <a:off x="5332182"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구성 요소</a:t>
            </a:r>
          </a:p>
          <a:p>
            <a:pPr algn="ctr">
              <a:lnSpc>
                <a:spcPct val="110000"/>
              </a:lnSpc>
              <a:spcAft>
                <a:spcPts val="100"/>
              </a:spcAft>
            </a:pPr>
            <a:r>
              <a:rPr sz="1300" b="0">
                <a:solidFill>
                  <a:srgbClr val="556175"/>
                </a:solidFill>
                <a:latin typeface="맑은 고딕"/>
                <a:ea typeface="맑은 고딕"/>
                <a:cs typeface="맑은 고딕"/>
              </a:rPr>
              <a:t>오일 쿨러</a:t>
            </a:r>
          </a:p>
        </p:txBody>
      </p:sp>
      <p:sp>
        <p:nvSpPr>
          <p:cNvPr id="9" name="TextBox 8"/>
          <p:cNvSpPr txBox="1"/>
          <p:nvPr/>
        </p:nvSpPr>
        <p:spPr>
          <a:xfrm>
            <a:off x="8965044"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a:p>
            <a:pPr algn="ctr">
              <a:lnSpc>
                <a:spcPct val="110000"/>
              </a:lnSpc>
              <a:spcAft>
                <a:spcPts val="100"/>
              </a:spcAft>
            </a:pPr>
            <a:r>
              <a:rPr sz="1300" b="0">
                <a:solidFill>
                  <a:srgbClr val="556175"/>
                </a:solidFill>
                <a:latin typeface="맑은 고딕"/>
                <a:ea typeface="맑은 고딕"/>
                <a:cs typeface="맑은 고딕"/>
              </a:rPr>
              <a:t>HYD-01</a:t>
            </a:r>
          </a:p>
        </p:txBody>
      </p:sp>
      <p:sp>
        <p:nvSpPr>
          <p:cNvPr id="10" name="TextBox 9"/>
          <p:cNvSpPr txBox="1"/>
          <p:nvPr/>
        </p:nvSpPr>
        <p:spPr>
          <a:xfrm>
            <a:off x="3346654" y="276221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MONITORED_BY</a:t>
            </a:r>
          </a:p>
          <a:p>
            <a:pPr algn="ctr">
              <a:lnSpc>
                <a:spcPct val="110000"/>
              </a:lnSpc>
              <a:spcAft>
                <a:spcPts val="100"/>
              </a:spcAft>
            </a:pPr>
            <a:r>
              <a:rPr sz="1300" b="0">
                <a:solidFill>
                  <a:srgbClr val="556175"/>
                </a:solidFill>
                <a:latin typeface="맑은 고딕"/>
                <a:ea typeface="맑은 고딕"/>
                <a:cs typeface="맑은 고딕"/>
              </a:rPr>
              <a:t>계측된다</a:t>
            </a:r>
          </a:p>
        </p:txBody>
      </p:sp>
      <p:sp>
        <p:nvSpPr>
          <p:cNvPr id="11" name="TextBox 10"/>
          <p:cNvSpPr txBox="1"/>
          <p:nvPr/>
        </p:nvSpPr>
        <p:spPr>
          <a:xfrm>
            <a:off x="6772236" y="276221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HAS_COMPONENT</a:t>
            </a:r>
          </a:p>
          <a:p>
            <a:pPr algn="ctr">
              <a:lnSpc>
                <a:spcPct val="110000"/>
              </a:lnSpc>
              <a:spcAft>
                <a:spcPts val="100"/>
              </a:spcAft>
            </a:pPr>
            <a:r>
              <a:rPr sz="1300" b="0">
                <a:solidFill>
                  <a:srgbClr val="556175"/>
                </a:solidFill>
                <a:latin typeface="맑은 고딕"/>
                <a:ea typeface="맑은 고딕"/>
                <a:cs typeface="맑은 고딕"/>
              </a:rPr>
              <a:t>구성 요소로 갖는다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진단과 조치 쪽: 증상에서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방법이 근거 문서까지 관계로 이어져 있어, 추천안에는 그 조치의 근거가 함께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pic>
        <p:nvPicPr>
          <p:cNvPr id="6" name="삽화:연결_진단쪽.svg" descr="illust_5681924187586386808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2919"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8" name="TextBox 7"/>
          <p:cNvSpPr txBox="1"/>
          <p:nvPr/>
        </p:nvSpPr>
        <p:spPr>
          <a:xfrm>
            <a:off x="6204942" y="3045866"/>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10077813" y="3754983"/>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3619392" y="4180453"/>
            <a:ext cx="130913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1" name="TextBox 10"/>
          <p:cNvSpPr txBox="1"/>
          <p:nvPr/>
        </p:nvSpPr>
        <p:spPr>
          <a:xfrm>
            <a:off x="7841366" y="4180453"/>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2" name="TextBox 11"/>
          <p:cNvSpPr txBox="1"/>
          <p:nvPr/>
        </p:nvSpPr>
        <p:spPr>
          <a:xfrm>
            <a:off x="6204942" y="4605924"/>
            <a:ext cx="163642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완화된다</a:t>
            </a:r>
          </a:p>
        </p:txBody>
      </p:sp>
      <p:sp>
        <p:nvSpPr>
          <p:cNvPr id="13" name="TextBox 12"/>
          <p:cNvSpPr txBox="1"/>
          <p:nvPr/>
        </p:nvSpPr>
        <p:spPr>
          <a:xfrm>
            <a:off x="4132138" y="526776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4" name="TextBox 13"/>
          <p:cNvSpPr txBox="1"/>
          <p:nvPr/>
        </p:nvSpPr>
        <p:spPr>
          <a:xfrm>
            <a:off x="6390403" y="5693237"/>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HAS_STEP · REFERS_TO</a:t>
            </a:r>
          </a:p>
          <a:p>
            <a:pPr algn="ctr">
              <a:lnSpc>
                <a:spcPct val="110000"/>
              </a:lnSpc>
              <a:spcAft>
                <a:spcPts val="100"/>
              </a:spcAft>
            </a:pPr>
            <a:r>
              <a:rPr sz="1300" b="0">
                <a:solidFill>
                  <a:srgbClr val="556175"/>
                </a:solidFill>
                <a:latin typeface="맑은 고딕"/>
                <a:ea typeface="맑은 고딕"/>
                <a:cs typeface="맑은 고딕"/>
              </a:rPr>
              <a:t>단계를 거쳐 근거를 가리킨다</a:t>
            </a:r>
          </a:p>
        </p:txBody>
      </p:sp>
      <p:sp>
        <p:nvSpPr>
          <p:cNvPr id="15" name="TextBox 14"/>
          <p:cNvSpPr txBox="1"/>
          <p:nvPr/>
        </p:nvSpPr>
        <p:spPr>
          <a:xfrm>
            <a:off x="10077813" y="5267766"/>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문서</a:t>
            </a:r>
          </a:p>
          <a:p>
            <a:pPr algn="ctr">
              <a:lnSpc>
                <a:spcPct val="110000"/>
              </a:lnSpc>
              <a:spcAft>
                <a:spcPts val="100"/>
              </a:spcAft>
            </a:pPr>
            <a:r>
              <a:rPr sz="1300" b="0">
                <a:solidFill>
                  <a:srgbClr val="556175"/>
                </a:solidFill>
                <a:latin typeface="맑은 고딕"/>
                <a:ea typeface="맑은 고딕"/>
                <a:cs typeface="맑은 고딕"/>
              </a:rPr>
              <a:t>매뉴얼 HM-8.5</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온톨로지에 대한 흔한 오해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값의 저장소가 아니고 화살표는 통행 방향이 아니며, 온톨로지가 조치를 결정하지도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구분할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그래프에 센서 값이 들어 있다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읽는 방법이 들어 있고 값은 저장소에서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지식과 값</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화살표는 한쪽으로만 따라갈 수 있다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방향은 뜻을 정하며, 조회할 때는 거슬러 가기도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뜻과 조회</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온톨로지가 있으면 AI가 알아서 조치한다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관계를 따라 후보와 근거를 찾는 데까지이고, 조치는 사람이 승인한다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추천과 승인</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경보에서 온톨로지까지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원인을 말하지 않고 판단에 필요한 정보는 흩어져 있으므로, 대상과 관계를 정의해 컴퓨터가 따라가게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경보의 한계</a:t>
            </a:r>
          </a:p>
          <a:p>
            <a:pPr algn="ctr">
              <a:lnSpc>
                <a:spcPct val="110000"/>
              </a:lnSpc>
              <a:spcAft>
                <a:spcPts val="400"/>
              </a:spcAft>
            </a:pPr>
            <a:r>
              <a:rPr sz="1350" b="0">
                <a:solidFill>
                  <a:srgbClr val="1F2A3A"/>
                </a:solidFill>
                <a:latin typeface="맑은 고딕"/>
                <a:ea typeface="맑은 고딕"/>
                <a:cs typeface="맑은 고딕"/>
              </a:rPr>
              <a:t>조건을 벗어났다는</a:t>
            </a:r>
          </a:p>
          <a:p>
            <a:pPr algn="ctr">
              <a:lnSpc>
                <a:spcPct val="110000"/>
              </a:lnSpc>
              <a:spcAft>
                <a:spcPts val="400"/>
              </a:spcAft>
            </a:pPr>
            <a:r>
              <a:rPr sz="1350" b="0">
                <a:solidFill>
                  <a:srgbClr val="1F2A3A"/>
                </a:solidFill>
                <a:latin typeface="맑은 고딕"/>
                <a:ea typeface="맑은 고딕"/>
                <a:cs typeface="맑은 고딕"/>
              </a:rPr>
              <a:t>사실만 알린다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puzzle" descr="puzzle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흩어진 정보</a:t>
            </a:r>
          </a:p>
          <a:p>
            <a:pPr algn="ctr">
              <a:lnSpc>
                <a:spcPct val="110000"/>
              </a:lnSpc>
              <a:spcAft>
                <a:spcPts val="400"/>
              </a:spcAft>
            </a:pPr>
            <a:r>
              <a:rPr sz="1350" b="0">
                <a:solidFill>
                  <a:srgbClr val="1F2A3A"/>
                </a:solidFill>
                <a:latin typeface="맑은 고딕"/>
                <a:ea typeface="맑은 고딕"/>
                <a:cs typeface="맑은 고딕"/>
              </a:rPr>
              <a:t>값, 매뉴얼, 생산 일정이</a:t>
            </a:r>
          </a:p>
          <a:p>
            <a:pPr algn="ctr">
              <a:lnSpc>
                <a:spcPct val="110000"/>
              </a:lnSpc>
              <a:spcAft>
                <a:spcPts val="400"/>
              </a:spcAft>
            </a:pPr>
            <a:r>
              <a:rPr sz="1350" b="0">
                <a:solidFill>
                  <a:srgbClr val="1F2A3A"/>
                </a:solidFill>
                <a:latin typeface="맑은 고딕"/>
                <a:ea typeface="맑은 고딕"/>
                <a:cs typeface="맑은 고딕"/>
              </a:rPr>
              <a:t>서로 이어져 있지 않다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온톨로지</a:t>
            </a:r>
          </a:p>
          <a:p>
            <a:pPr algn="ctr">
              <a:lnSpc>
                <a:spcPct val="110000"/>
              </a:lnSpc>
              <a:spcAft>
                <a:spcPts val="400"/>
              </a:spcAft>
            </a:pPr>
            <a:r>
              <a:rPr sz="1350" b="0">
                <a:solidFill>
                  <a:srgbClr val="1F2A3A"/>
                </a:solidFill>
                <a:latin typeface="맑은 고딕"/>
                <a:ea typeface="맑은 고딕"/>
                <a:cs typeface="맑은 고딕"/>
              </a:rPr>
              <a:t>대상의 종류, 속성, 관계, 제약을</a:t>
            </a:r>
          </a:p>
          <a:p>
            <a:pPr algn="ctr">
              <a:lnSpc>
                <a:spcPct val="110000"/>
              </a:lnSpc>
              <a:spcAft>
                <a:spcPts val="400"/>
              </a:spcAft>
            </a:pPr>
            <a:r>
              <a:rPr sz="1350" b="0">
                <a:solidFill>
                  <a:srgbClr val="1F2A3A"/>
                </a:solidFill>
                <a:latin typeface="맑은 고딕"/>
                <a:ea typeface="맑은 고딕"/>
                <a:cs typeface="맑은 고딕"/>
              </a:rPr>
              <a:t>명시적으로 정의한다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route" descr="route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따라가기</a:t>
            </a:r>
          </a:p>
          <a:p>
            <a:pPr algn="ctr">
              <a:lnSpc>
                <a:spcPct val="110000"/>
              </a:lnSpc>
              <a:spcAft>
                <a:spcPts val="400"/>
              </a:spcAft>
            </a:pPr>
            <a:r>
              <a:rPr sz="1350" b="0">
                <a:solidFill>
                  <a:srgbClr val="1F2A3A"/>
                </a:solidFill>
                <a:latin typeface="맑은 고딕"/>
                <a:ea typeface="맑은 고딕"/>
                <a:cs typeface="맑은 고딕"/>
              </a:rPr>
              <a:t>관계를 따라</a:t>
            </a:r>
          </a:p>
          <a:p>
            <a:pPr algn="ctr">
              <a:lnSpc>
                <a:spcPct val="110000"/>
              </a:lnSpc>
              <a:spcAft>
                <a:spcPts val="400"/>
              </a:spcAft>
            </a:pPr>
            <a:r>
              <a:rPr sz="1350" b="0">
                <a:solidFill>
                  <a:srgbClr val="1F2A3A"/>
                </a:solidFill>
                <a:latin typeface="맑은 고딕"/>
                <a:ea typeface="맑은 고딕"/>
                <a:cs typeface="맑은 고딕"/>
              </a:rPr>
              <a:t>원인 후보와 조치에 이른다</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이후 과정에서 온톨로지가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이후 과정은 오늘 본 지식 그래프를 직접 설계하고 채운 뒤 에이전트와 프로세스가 그것을 쓰게 만드는 순서로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구조 설계</a:t>
            </a:r>
          </a:p>
          <a:p>
            <a:pPr algn="ctr">
              <a:lnSpc>
                <a:spcPct val="110000"/>
              </a:lnSpc>
              <a:spcAft>
                <a:spcPts val="400"/>
              </a:spcAft>
            </a:pPr>
            <a:r>
              <a:rPr sz="1350" b="0">
                <a:solidFill>
                  <a:srgbClr val="1F2A3A"/>
                </a:solidFill>
                <a:latin typeface="맑은 고딕"/>
                <a:ea typeface="맑은 고딕"/>
                <a:cs typeface="맑은 고딕"/>
              </a:rPr>
              <a:t>대상의 종류와</a:t>
            </a:r>
          </a:p>
          <a:p>
            <a:pPr algn="ctr">
              <a:lnSpc>
                <a:spcPct val="110000"/>
              </a:lnSpc>
              <a:spcAft>
                <a:spcPts val="400"/>
              </a:spcAft>
            </a:pPr>
            <a:r>
              <a:rPr sz="1350" b="0">
                <a:solidFill>
                  <a:srgbClr val="1F2A3A"/>
                </a:solidFill>
                <a:latin typeface="맑은 고딕"/>
                <a:ea typeface="맑은 고딕"/>
                <a:cs typeface="맑은 고딕"/>
              </a:rPr>
              <a:t>관계의 틀을 정해</a:t>
            </a:r>
          </a:p>
          <a:p>
            <a:pPr algn="ctr">
              <a:lnSpc>
                <a:spcPct val="110000"/>
              </a:lnSpc>
              <a:spcAft>
                <a:spcPts val="400"/>
              </a:spcAft>
            </a:pPr>
            <a:r>
              <a:rPr sz="1350" b="0">
                <a:solidFill>
                  <a:srgbClr val="1F2A3A"/>
                </a:solidFill>
                <a:latin typeface="맑은 고딕"/>
                <a:ea typeface="맑은 고딕"/>
                <a:cs typeface="맑은 고딕"/>
              </a:rPr>
              <a:t>그래프 DB에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조치와 판단</a:t>
            </a:r>
          </a:p>
          <a:p>
            <a:pPr algn="ctr">
              <a:lnSpc>
                <a:spcPct val="110000"/>
              </a:lnSpc>
              <a:spcAft>
                <a:spcPts val="400"/>
              </a:spcAft>
            </a:pPr>
            <a:r>
              <a:rPr sz="1350" b="0">
                <a:solidFill>
                  <a:srgbClr val="1F2A3A"/>
                </a:solidFill>
                <a:latin typeface="맑은 고딕"/>
                <a:ea typeface="맑은 고딕"/>
                <a:cs typeface="맑은 고딕"/>
              </a:rPr>
              <a:t>조치 절차,</a:t>
            </a:r>
          </a:p>
          <a:p>
            <a:pPr algn="ctr">
              <a:lnSpc>
                <a:spcPct val="110000"/>
              </a:lnSpc>
              <a:spcAft>
                <a:spcPts val="400"/>
              </a:spcAft>
            </a:pPr>
            <a:r>
              <a:rPr sz="1350" b="0">
                <a:solidFill>
                  <a:srgbClr val="1F2A3A"/>
                </a:solidFill>
                <a:latin typeface="맑은 고딕"/>
                <a:ea typeface="맑은 고딕"/>
                <a:cs typeface="맑은 고딕"/>
              </a:rPr>
              <a:t>판단 규칙, 성과 기준을</a:t>
            </a:r>
          </a:p>
          <a:p>
            <a:pPr algn="ctr">
              <a:lnSpc>
                <a:spcPct val="110000"/>
              </a:lnSpc>
              <a:spcAft>
                <a:spcPts val="400"/>
              </a:spcAft>
            </a:pPr>
            <a:r>
              <a:rPr sz="1350" b="0">
                <a:solidFill>
                  <a:srgbClr val="1F2A3A"/>
                </a:solidFill>
                <a:latin typeface="맑은 고딕"/>
                <a:ea typeface="맑은 고딕"/>
                <a:cs typeface="맑은 고딕"/>
              </a:rPr>
              <a:t>지식에 잇는다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문서에서 지식으로</a:t>
            </a:r>
          </a:p>
          <a:p>
            <a:pPr algn="ctr">
              <a:lnSpc>
                <a:spcPct val="110000"/>
              </a:lnSpc>
              <a:spcAft>
                <a:spcPts val="400"/>
              </a:spcAft>
            </a:pPr>
            <a:r>
              <a:rPr sz="1350" b="0">
                <a:solidFill>
                  <a:srgbClr val="1F2A3A"/>
                </a:solidFill>
                <a:latin typeface="맑은 고딕"/>
                <a:ea typeface="맑은 고딕"/>
                <a:cs typeface="맑은 고딕"/>
              </a:rPr>
              <a:t>매뉴얼에서</a:t>
            </a:r>
          </a:p>
          <a:p>
            <a:pPr algn="ctr">
              <a:lnSpc>
                <a:spcPct val="110000"/>
              </a:lnSpc>
              <a:spcAft>
                <a:spcPts val="400"/>
              </a:spcAft>
            </a:pPr>
            <a:r>
              <a:rPr sz="1350" b="0">
                <a:solidFill>
                  <a:srgbClr val="1F2A3A"/>
                </a:solidFill>
                <a:latin typeface="맑은 고딕"/>
                <a:ea typeface="맑은 고딕"/>
                <a:cs typeface="맑은 고딕"/>
              </a:rPr>
              <a:t>지식을 뽑아 검토하고</a:t>
            </a:r>
          </a:p>
          <a:p>
            <a:pPr algn="ctr">
              <a:lnSpc>
                <a:spcPct val="110000"/>
              </a:lnSpc>
              <a:spcAft>
                <a:spcPts val="400"/>
              </a:spcAft>
            </a:pPr>
            <a:r>
              <a:rPr sz="1350" b="0">
                <a:solidFill>
                  <a:srgbClr val="1F2A3A"/>
                </a:solidFill>
                <a:latin typeface="맑은 고딕"/>
                <a:ea typeface="맑은 고딕"/>
                <a:cs typeface="맑은 고딕"/>
              </a:rPr>
              <a:t>출처와 함께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에이전트와 프로세스</a:t>
            </a:r>
          </a:p>
          <a:p>
            <a:pPr algn="ctr">
              <a:lnSpc>
                <a:spcPct val="110000"/>
              </a:lnSpc>
              <a:spcAft>
                <a:spcPts val="400"/>
              </a:spcAft>
            </a:pPr>
            <a:r>
              <a:rPr sz="1350" b="0">
                <a:solidFill>
                  <a:srgbClr val="1F2A3A"/>
                </a:solidFill>
                <a:latin typeface="맑은 고딕"/>
                <a:ea typeface="맑은 고딕"/>
                <a:cs typeface="맑은 고딕"/>
              </a:rPr>
              <a:t>이 지식을 조회해</a:t>
            </a:r>
          </a:p>
          <a:p>
            <a:pPr algn="ctr">
              <a:lnSpc>
                <a:spcPct val="110000"/>
              </a:lnSpc>
              <a:spcAft>
                <a:spcPts val="400"/>
              </a:spcAft>
            </a:pPr>
            <a:r>
              <a:rPr sz="1350" b="0">
                <a:solidFill>
                  <a:srgbClr val="1F2A3A"/>
                </a:solidFill>
                <a:latin typeface="맑은 고딕"/>
                <a:ea typeface="맑은 고딕"/>
                <a:cs typeface="맑은 고딕"/>
              </a:rPr>
              <a:t>판단하고</a:t>
            </a:r>
          </a:p>
          <a:p>
            <a:pPr algn="ctr">
              <a:lnSpc>
                <a:spcPct val="110000"/>
              </a:lnSpc>
              <a:spcAft>
                <a:spcPts val="400"/>
              </a:spcAft>
            </a:pPr>
            <a:r>
              <a:rPr sz="1350" b="0">
                <a:solidFill>
                  <a:srgbClr val="1F2A3A"/>
                </a:solidFill>
                <a:latin typeface="맑은 고딕"/>
                <a:ea typeface="맑은 고딕"/>
                <a:cs typeface="맑은 고딕"/>
              </a:rPr>
              <a:t>승인과 실행으로 잇는다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본문에서 풀어 쓴 약어의 정식 명칭과 HYD에서 그 역할을 맡는 구성요소를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브로커(예: EMQX)</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추천했으며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 명령은 아직 만들어지지 않았고 승인을 기다린다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모두 값과 원인, 이름과 방향, 추천과 실행을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