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목표는 네 가지입니다. 먼저 배운 내용을 남기는 기록 방법을 정합니다. 그다음에는 HYD-01의 유온이 오르는 사건 하나를 따라가며 값의 경로, 경보 이후의 판단, 관계의 표현을 차례로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 필기를 넘겨 정리한 문서는 보기에는 좋아도 읽고 이해하는 일은 그대로 남습니다. 자료를 덮고 자신의 말로 써 보면 문장이 끊기는 자리가 드러나고, 그 자리가 공부할 범위입니다. 이렇게 쓴 기록을 분류해 두고 다시 찾아 쓰는 것이 지식 자산화입니다.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 기준은 둘입니다. 자료를 보지 않고 쓸 수 있는지, 말로 설명할 수 있는지입니다. 하나라도 막히면 그 자리가 아직 모르는 자리이고, 그 자리만 다시 공부해 고쳐 씁니다.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AI를 쓰지 말라는 것이 아니라 순서를 바꾸라는 것입니다. 먼저 물으면 답을 읽고 끝나서 자신의 문장이 남지 않습니다. 아는 범위를 먼저 써서 AI에 보여 주면 틀린 곳과 빠진 곳이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내용을 절차로 묶으면 네 단계입니다. 서술하고, 막힌 자리를 표시하고, 그 자리만 보완하고, 다시 확인합니다. 확인을 통과한 개념만 이해한 것으로 기록합니다.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과정에서 기록할 것은 네 가지입니다. 개념 정의와 동작 원리는 오늘부터 쌓이며, 참고한 자료와 출처를 함께 연결해 두어야 나중에 근거를 다시 확인할 수 있습니다. 실습 결과와 오류 해결 과정은 랩이 시작되면 늘어납니다. 오류의 원인과 해결 과정은 같은 문제를 다시 만났을 때 가장 먼저 찾게 되는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노션에서 기록을 쌓는 단위는 데이터베이스입니다. 기록 한 건이 항목 하나이고, 모든 항목이 같은 속성 칸을 갖습니다. 학습 노트의 속성은 분야, 이해도, 생성 일시이며, 항목을 열면 본문을 가진 페이지가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데이터베이스는 저장된 내용과 보여 주는 모양이 나뉘어 있습니다. 표, 갤러리, 보드는 복사본이 아니라 같은 데이터를 보는 세 가지 방법입니다. 그래서 한 보기에서 고친 값이 다른 보기에도 그대로 반영됩니다.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템플릿은 새 항목을 만들 때 본문에 미리 채워지는 양식입니다. 왼쪽이 이 과정에서 쓸 양식의 한 예입니다. 양식을 한번 정하면 모든 기록에 같은 틀을 씁니다.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속성으로 분류해 둔 효과가 여기서 나옵니다. 이해도가 설명 가능이 아닌 항목만 남기는 필터를 걸면 다시 공부할 목록이 나옵니다. 확인을 통과해 이해도를 올린 항목은 그 목록에서 빠집니다.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공개 방식은 둘입니다. 공유는 지정한 사람에게만 권한을 주고, 게시는 링크만 있으면 누구나 볼 수 있게 합니다. 게시하면 페이지 안의 데이터베이스 항목도 함께 보이므로 접속 키와 계정 정보는 노트에 적지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 만드는 것은 내용이 아니라 내용이 들어갈 구조입니다. 과정 홈과 세 구획, 학습 노트 데이터베이스를 만들고 첫 기록 한 건을 넣습니다.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선행 교육에서 배운 내용을 먼저 되짚겠습니다. 설비에서 생긴 물리량을 센서가 재고, PLC가 그 값을 읽어 설비를 제어하며, 관제 화면이 값을 보여 주고 조작을 받습니다. 이 수업은 그다음, 곧 그 값이 어디에 쌓이고 판단과 조치로 어떻게 이어지는지를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 전체가 사건 하나를 따라갑니다. 유압 설비 HYD-01의 유온이 정상값 48 ℃에서 오르기 시작하는 사건입니다. 그 값이 어디서 생기고, 어디에 쌓이고, 누가 알아차리는지를 순서대로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시스템 전체를 먼저 보겠습니다. 아홉 개의 기능 계층이 있고, 아래일수록 설비에 가깝고 위로 갈수록 판단과 실행에 가깝습니다. 오른쪽 세 칸은 보안 영역이며 파란 점이 그 계층이 놓인 영역입니다. 지금은 이름만 보아 두고 유온 한 값을 따라 올라가며 하나씩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TS1이 설비의 어느 자리에서 생기는 값인지 보겠습니다. 탱크, 펌프, 부하, 오일 쿨러, 팬이 있고 TS1은 쿨러로 들어가기 직전의 작동유 온도입니다. 이 그림에서 작동유가 도는 길과 열이 빠지는 자리를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탱크와 펌프를 봅니다. 탱크는 작동유를 담아 두고, 펌프가 그 작동유를 빨아올려 압력을 걸어 위쪽의 부하로 보냅니다. 다음으로 부하에서 뜨거워져 돌아오는 작동유가 오일 쿨러의 관을 지나는 동안 팬이 보내는 바람에 열을 내줍니다. 쿨러가 열을 충분히 내보내지 못하면 덜 식은 작동유가 탱크로 돌아가 다시 돌고, 쿨러 입구에서 재는 TS1이 조금씩 오릅니다. 냉각 효율 CE가 떨어지고 유온이 오르는 것이 이 사건의 모습입니다.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센서가 잰 값을 가장 먼저 받는 것은 설비 옆의 PLC입니다. PLC는 값을 읽어 설비를 제어하고, 위험한 값이 되면 서버의 판단을 기다리지 않고 인터록으로 설비를 세웁니다. 현장에서 제어기가 주고받는 통신은 단순하게 두고, 보안은 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2.0이 뒤에서 다시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코드 칸의 위쪽 태그 값을 봅니다. 센서가 잰 값이 태그마다 따로 올라오고, 유온 TS1과 냉각 효율 CE, 토출 압력 PS1과 팬 진동 VS1에는 각각 단위와 정상값이 있습니다. 이 단원은 TS1과 CE를 따라가고 PS1과 VS1은 원인을 가릴 때 다시 나옵니다. 다음으로 아래쪽 운전 상태입니다. 원격 자동 모드로 운전 중이고 팬 속도 60 %, 부하 90 %, 인터록은 통과 상태이며, 이 운전 상태는 조치를 내릴 수 있는지 판단할 때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값을 받아야 할 곳은 운전 화면과 수집 서비스 두 군데이고 앞으로 더 늘 수 있습니다. 보내는 쪽이 받는 쪽을 직접 연결하면 받는 쪽이 늘 때마다 설비 쪽 프로그램을 고쳐야 합니다. 가운데에 중개 서버를 두면 이 문제가 사라집니다. 이 방식의 이름이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브로커이고, HYD의 브로커는 EMQX입니다. 보내는 쪽인 발행자는 토픽이라는 주소를 붙여 브로커에 보내고, 받는 쪽인 구독자는 원하는 토픽을 받습니다. 그림에서 흐린 부분은 아직 다루지 않은 구간입니다. 우체국의 사서함에 견줄 수 있습니다. 받는 사람의 위치를 몰라도 번호만 알면 된다는 점이 닮았고, 브로커가 메시지를 보관하지 않고 바로 넘긴다는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값만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순서로 보면 세 걸음입니다. 받는 쪽이 먼저 받고 싶은 토픽을 브로커에 등록합니다. 보내는 쪽은 값을 토픽에 실어 브로커로 보냅니다. 브로커는 그 토픽을 등록해 둔 구독자 모두에게 메시지를 넘깁니다. 유온은 이렇게 1초에 한 번 올라옵니다.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사이의 구역이 DMZ입니다. DMZ의 connect-ingest가 EMQX를 구독해 받은 메시지를 IT의 이벤트 로그에 옮겨 적습니다. 값은 OT에서 IT로만 옮겨지고 반대로는 쓰지 않습니다. 건물의 안내 데스크에 견줄 수 있습니다. 정해진 창구를 거친다는 점이 닮았고, 사람을 들여보내는 것이 아니라 값을 한 방향으로 옮겨 적는다는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이벤트 로그라고 부른 것이 Redpanda입니다. 위가 EMQX가 전달한 메시지이고 아래가 Redpanda에 쌓인 레코드입니다. 토픽 경로에 있던 설비와 태그 이름이 레코드에서는 본문 안으로 들어갑니다. 값 55.71은 뒤에서 볼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번 더 옮겨 적는 이유가 여기에 있습니다. 브로커는 전달이 일이어서 넘기고 나면 값을 갖고 있지 않습니다. 이벤트 로그는 보관이 일이어서 저장 서비스와 감지기가 같은 값을 각자 읽을 수 있습니다. 생방송과 녹화본에 견줄 수 있습니다. 하나는 그 순간에만 전달되고 하나는 나중에 다시 볼 수 있다는 점이 닮았고, 로그의 기록도 보존 기간이 지나면 지워진다는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Redpanda에 쌓인 값을 읽어 가는 곳이 둘입니다. TimescaleDB는 값을 시각과 함께 저장하고, detector는 같은 값을 읽어 이상을 감지합니다. 두 가지를 하나씩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저장된 모습은 단순합니다. 값 하나가 한 줄이고, 줄마다 시각과 설비와 태그 이름과 값이 있습니다. 강조한 줄이 경보가 난 순간의 유온 55.71입니다. Grafana의 추세선은 이 줄들을 시각 순서로 이은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유온을 사람이 보는 화면이 둘입니다. FUXA는 EMQX에서 받은 지금의 값을 보여 주고 운전원의 조작을 받습니다. Grafana는 TimescaleDB에 쌓인 이력과 추세를 보여 줍니다. 지금 무슨 값인지는 FUXA에서, 어떻게 변해 왔는지는 Grafana에서 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유온이 오를 때 반응하는 장치가 셋입니다. FUXA의 알람, detector의 경보, PLC의 인터록입니다. 기준도 목적도 서로 다릅니다. 세 장치를 반응하는 온도 순서로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기준을 온도 순서로 놓으면 55, 60, 65입니다. detector의 경보가 가장 낮은 온도에서 먼저 반응하고, 그다음이 화면의 알람입니다. 마지막 65 ℃의 인터록은 설비를 세워 상태가 TRIP이 되며, 자동으로 풀리지 않고 유온이 55 ℃ 아래로 내려온 뒤 사람이 다시 걸어야 합니다. 인터록에 걸려 설비가 서기 전에 원인을 가리고 조치할 시간을 벌기 위한 순서입니다.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따라온 경로를 데이터의 종류로 다시 묶겠습니다. 센서와 PLC가 만든 원천 데이터, 그것을 재료로 계산한 가공 데이터, 조건이 성립했다는 이상 이벤트, 그리고 판단 결과입니다. 데이터 리니지는 이 네 가지가 어디서 무엇을 재료로 만들어졌는지를 되짚을 수 있게 하는 내력입니다.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실제 예입니다. 위의 유온 값 셋은 센서가 잰 그대로의 원천 데이터입니다. detector는 이런 값 여러 개에서 기울기를 계산합니다. 기울기가 0보다 크면 오르는 중입니다. 앞에서 본 경보 조건의 추세가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한 건의 실제 내용입니다. 이 경보를 가리키는 식별자가 있고, 어느 설비에서 어떤 패턴이 성립했는지가 적혀 있습니다. 아래에는 그 순간의 유온과 냉각 효율이 근거로 붙어 있습니다. 경보만 보아도 무엇을 근거로 났는지 알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올라가는 길과 반대 방향의 길이 하나 더 있습니다. 승인된 조치를 process가 명령으로 만들어 Redpanda에 기록하면, DMZ의 cmd-gateway가 검사한 뒤 OT의 브로커로 내보내고 PLC가 받습니다. 이 그림은 앞의 경로 그림과 방향이 반대여서 왼쪽이 IT입니다.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실제 내용입니다. 팬 속도를 100 %로 올리라는 내용과 함께, 어느 사건에서 나왔고 누가 승인했으며 언제까지 유효한지가 들어 있습니다. 명령이 늦게 도착해 상황이 바뀐 뒤에 실행되는 일을 막으려고 유효 시간을 둡니다.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cmd-gateway입니다. 명령의 형식, 유효 시간, 승인 기록, PLC의 운전 모드를 확인하고 하나라도 맞지 않으면 그 명령을 버립니다. 승인 기록을 따로 확인하므로 승인 없이 만들어진 명령은 설비에 닿지 못합니다. 다음으로 오른쪽의 PLC입니다. 관문을 지난 명령도 값이 허용 범위 안인지, 인터록에 걸려 있지 않은지를 다시 보며, 이 사건에서는 실행 완료와 인터록 통과라는 응답이 돌아왔습니다.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관문과 PLC가 명령을 검사하는 일도 이 1초 안에 끝났습니다.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정리하겠습니다. 에이전트는 추천까지만 합니다. 담당자가 승인하거나 거절하고, 승인된 조치만 process가 명령으로 만듭니다. 사람의 판단을 거치게 하는 이 구조를 HITL이라고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OT입니다. 설비와 PLC, 브로커, 운전 화면이 있고 멈추지 않는 것과 안전이 먼저여서, IT 쪽이 모두 멈춰도 OT 안의 제어와 운전 화면은 그대로 동작합니다. 다음으로 DMZ에는 올라가는 길을 맡은 connect-ingest와 내려가는 길을 맡은 cmd-gateway 둘뿐이며, IT 서비스가 OT의 브로커와 PLC 명령 경로에 닿는 길은 이 둘뿐입니다. 마지막으로 IT는 기록하고 분석하고 판단하는 영역입니다. 뒤에서 볼 지식 그래프와 에이전트도 이 영역에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구성요소를 계층 그림에 놓으면 아래 여섯 계층이 채워집니다. 이 여섯 계층이 하는 일은 값을 재고, 전달하고, 저장하고, 보여 주고, 기준을 벗어나면 알리는 것입니다. 계층마다 받는 것과 내는 것을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1계층과 2계층을 봅니다. 1계층이 낸 태그 값과 운전 상태를 2계층이 받아 토픽에 실린 메시지로 내며, 한 계층이 낸 것이 다음 계층이 받는 것입니다. 다음으로 3계층은 값을 올리고, 기록하고, 명령을 내리는 세 가지 일을 맡아 DMZ와 IT 두 영역에 걸쳐 있고, 4계층과 5계층이 이 계층의 기록을 읽어 일합니다. 마지막으로 4계층과 5계층은 같은 기록을 읽어 하나는 가공 데이터와 경보를 내고 하나는 값을 표에 저장합니다. 4계층은 이상을 알릴 뿐 원인을 가리지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다음의 일은 위의 세 계층이 맡습니다. 7계층이 지식을 내면 8계층의 에이전트가 그것을 조회해 근거가 붙은 추천안을 내고, 9계층은 승인된 것만 명령으로 만들어 실행한 뒤 기록을 남깁니다. 이 과정 전체가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한 장으로 줄이면 길이 둘입니다. 실선이 값이 올라가는 길이고 점선이 명령이 내려가는 길입니다. 여기까지가 값을 모아 이상을 알리는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108초를 나누어 보면 94초가 원인을 가리고 조치안을 비교하는 데 쓰였고, 13초가 담당자의 승인을 기다리는 데 쓰였습니다. 시간이 걸린 것은 판단이었습니다. 이 단원은 그 판단에 무엇이 필요했는지를 풀어 갑니다.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모자랐던 것을 세 낱말로 나누어 보겠습니다. 수치 그대로가 데이터, 의미가 붙은 것이 정보, 다른 대상과 이어져 판단에 쓸 수 있는 것이 지식입니다. 병원으로 치면 검사 수치, 정상 범위를 벗어났다는 표시, 의사의 진단에 해당합니다. 수치와 진단이 별개의 일이라는 점이 닮았고, 설비에서는 조치를 정할 때 생산 일정까지 함께 따진다는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사건의 문장 다섯 개를 위에서부터 봅니다.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현장에서는 같은 증상을 온도 상승이라고도 하고 과열이라고도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TimescaleDB에서 읽어 옵니다. 경보에서 조치까지 컴퓨터는 여섯 종류의 대상을 다섯 관계로 건넜고, 숙련자가 머릿속에서 잇던 화살표가 이것입니다.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정의로 돌아가겠습니다. 지금까지 그림에서 본 노드의 종류와 화살표가 네 가지 가운데 종류와 관계입니다. 여기에 속성과 제약이 더해집니다. 넷을 같은 사건으로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종류와 속성입니다. HYD의 온톨로지는 설비 쪽, 진단 쪽, 조치 쪽으로 종류를 두고, 유온이라는 대상에는 단위와 정상값과 한계가 속성으로 적혀 있습니다. 다음으로 관계입니다. 같은 고장 유형에서 조치로 가는 선이라도 MITIGATED_BY는 우선 완화한다는 뜻이고 REMEDIED_BY는 근본적으로 없앤다는 뜻입니다. 마지막으로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14.png"/><Relationship Id="rId6"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5.png"/><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1.png"/><Relationship Id="rId4" Type="http://schemas.openxmlformats.org/officeDocument/2006/relationships/image" Target="../media/image34.png"/><Relationship Id="rId5" Type="http://schemas.openxmlformats.org/officeDocument/2006/relationships/image" Target="../media/image3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8.png"/><Relationship Id="rId4" Type="http://schemas.openxmlformats.org/officeDocument/2006/relationships/image" Target="../media/image31.png"/><Relationship Id="rId5" Type="http://schemas.openxmlformats.org/officeDocument/2006/relationships/image" Target="../media/image3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40.png"/><Relationship Id="rId4" Type="http://schemas.openxmlformats.org/officeDocument/2006/relationships/image" Target="../media/image4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2.png"/><Relationship Id="rId4" Type="http://schemas.openxmlformats.org/officeDocument/2006/relationships/image" Target="../media/image43.png"/><Relationship Id="rId5" Type="http://schemas.openxmlformats.org/officeDocument/2006/relationships/image" Target="../media/image4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0.pn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1.png"/><Relationship Id="rId4" Type="http://schemas.openxmlformats.org/officeDocument/2006/relationships/image" Target="../media/image3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 Id="rId4" Type="http://schemas.openxmlformats.org/officeDocument/2006/relationships/image" Target="../media/image4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50.png"/><Relationship Id="rId4" Type="http://schemas.openxmlformats.org/officeDocument/2006/relationships/image" Target="../media/image49.png"/><Relationship Id="rId5" Type="http://schemas.openxmlformats.org/officeDocument/2006/relationships/image" Target="../media/image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1.png"/><Relationship Id="rId4" Type="http://schemas.openxmlformats.org/officeDocument/2006/relationships/image" Target="../media/image52.png"/><Relationship Id="rId5" Type="http://schemas.openxmlformats.org/officeDocument/2006/relationships/image" Target="../media/image35.png"/><Relationship Id="rId6" Type="http://schemas.openxmlformats.org/officeDocument/2006/relationships/image" Target="../media/image5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5.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43.png"/><Relationship Id="rId7" Type="http://schemas.openxmlformats.org/officeDocument/2006/relationships/image" Target="../media/image5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17.png"/><Relationship Id="rId4" Type="http://schemas.openxmlformats.org/officeDocument/2006/relationships/image" Target="../media/image34.png"/><Relationship Id="rId5" Type="http://schemas.openxmlformats.org/officeDocument/2006/relationships/image" Target="../media/image51.png"/><Relationship Id="rId6" Type="http://schemas.openxmlformats.org/officeDocument/2006/relationships/image" Target="../media/image41.png"/><Relationship Id="rId7" Type="http://schemas.openxmlformats.org/officeDocument/2006/relationships/image" Target="../media/image3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4.png"/><Relationship Id="rId4" Type="http://schemas.openxmlformats.org/officeDocument/2006/relationships/image" Target="../media/image5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3.png"/><Relationship Id="rId4" Type="http://schemas.openxmlformats.org/officeDocument/2006/relationships/image" Target="../media/image43.png"/><Relationship Id="rId5"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5.png"/><Relationship Id="rId4" Type="http://schemas.openxmlformats.org/officeDocument/2006/relationships/image" Target="../media/image53.png"/><Relationship Id="rId5" Type="http://schemas.openxmlformats.org/officeDocument/2006/relationships/image" Target="../media/image1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0.png"/><Relationship Id="rId4" Type="http://schemas.openxmlformats.org/officeDocument/2006/relationships/image" Target="../media/image57.png"/><Relationship Id="rId5" Type="http://schemas.openxmlformats.org/officeDocument/2006/relationships/image" Target="../media/image2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35.png"/><Relationship Id="rId4" Type="http://schemas.openxmlformats.org/officeDocument/2006/relationships/image" Target="../media/image55.png"/><Relationship Id="rId5" Type="http://schemas.openxmlformats.org/officeDocument/2006/relationships/image" Target="../media/image53.png"/><Relationship Id="rId6" Type="http://schemas.openxmlformats.org/officeDocument/2006/relationships/image" Target="../media/image17.png"/><Relationship Id="rId7" Type="http://schemas.openxmlformats.org/officeDocument/2006/relationships/image" Target="../media/image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13.png"/><Relationship Id="rId4" Type="http://schemas.openxmlformats.org/officeDocument/2006/relationships/image" Target="../media/image5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31.png"/><Relationship Id="rId4" Type="http://schemas.openxmlformats.org/officeDocument/2006/relationships/image" Target="../media/image35.png"/><Relationship Id="rId5" Type="http://schemas.openxmlformats.org/officeDocument/2006/relationships/image" Target="../media/image13.png"/><Relationship Id="rId6" Type="http://schemas.openxmlformats.org/officeDocument/2006/relationships/image" Target="../media/image5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6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31.png"/><Relationship Id="rId4" Type="http://schemas.openxmlformats.org/officeDocument/2006/relationships/image" Target="../media/image66.png"/><Relationship Id="rId5" Type="http://schemas.openxmlformats.org/officeDocument/2006/relationships/image" Target="../media/image1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23.png"/><Relationship Id="rId4" Type="http://schemas.openxmlformats.org/officeDocument/2006/relationships/image" Target="../media/image67.png"/><Relationship Id="rId5" Type="http://schemas.openxmlformats.org/officeDocument/2006/relationships/image" Target="../media/image68.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67.png"/><Relationship Id="rId4" Type="http://schemas.openxmlformats.org/officeDocument/2006/relationships/image" Target="../media/image5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24.png"/><Relationship Id="rId4" Type="http://schemas.openxmlformats.org/officeDocument/2006/relationships/image" Target="../media/image69.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7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74.png"/><Relationship Id="rId4" Type="http://schemas.openxmlformats.org/officeDocument/2006/relationships/image" Target="../media/image69.png"/><Relationship Id="rId5" Type="http://schemas.openxmlformats.org/officeDocument/2006/relationships/image" Target="../media/image22.png"/><Relationship Id="rId6" Type="http://schemas.openxmlformats.org/officeDocument/2006/relationships/image" Target="../media/image7.png"/><Relationship Id="rId7" Type="http://schemas.openxmlformats.org/officeDocument/2006/relationships/image" Target="../media/image53.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5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77.png"/><Relationship Id="rId4" Type="http://schemas.openxmlformats.org/officeDocument/2006/relationships/image" Target="../media/image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78.png"/><Relationship Id="rId4" Type="http://schemas.openxmlformats.org/officeDocument/2006/relationships/image" Target="../media/image79.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75.png"/><Relationship Id="rId4" Type="http://schemas.openxmlformats.org/officeDocument/2006/relationships/image" Target="../media/image32.png"/><Relationship Id="rId5" Type="http://schemas.openxmlformats.org/officeDocument/2006/relationships/image" Target="../media/image1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38.png"/><Relationship Id="rId4" Type="http://schemas.openxmlformats.org/officeDocument/2006/relationships/image" Target="../media/image68.png"/><Relationship Id="rId5" Type="http://schemas.openxmlformats.org/officeDocument/2006/relationships/image" Target="../media/image39.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10.png"/><Relationship Id="rId4" Type="http://schemas.openxmlformats.org/officeDocument/2006/relationships/image" Target="../media/image29.png"/><Relationship Id="rId5" Type="http://schemas.openxmlformats.org/officeDocument/2006/relationships/image" Target="../media/image80.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8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5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4.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85.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86.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87.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28.png"/><Relationship Id="rId4" Type="http://schemas.openxmlformats.org/officeDocument/2006/relationships/image" Target="../media/image47.png"/><Relationship Id="rId5" Type="http://schemas.openxmlformats.org/officeDocument/2006/relationships/image" Target="../media/image88.png"/><Relationship Id="rId6" Type="http://schemas.openxmlformats.org/officeDocument/2006/relationships/image" Target="../media/image25.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89.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90.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35.png"/><Relationship Id="rId4" Type="http://schemas.openxmlformats.org/officeDocument/2006/relationships/image" Target="../media/image91.png"/><Relationship Id="rId5" Type="http://schemas.openxmlformats.org/officeDocument/2006/relationships/image" Target="../media/image8.png"/><Relationship Id="rId6" Type="http://schemas.openxmlformats.org/officeDocument/2006/relationships/image" Target="../media/image6.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80.png"/><Relationship Id="rId4" Type="http://schemas.openxmlformats.org/officeDocument/2006/relationships/image" Target="../media/image22.png"/><Relationship Id="rId5" Type="http://schemas.openxmlformats.org/officeDocument/2006/relationships/image" Target="../media/image92.png"/><Relationship Id="rId6" Type="http://schemas.openxmlformats.org/officeDocument/2006/relationships/image" Target="../media/image55.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image" Target="../media/image93.png"/><Relationship Id="rId4" Type="http://schemas.openxmlformats.org/officeDocument/2006/relationships/image" Target="../media/image88.png"/><Relationship Id="rId5" Type="http://schemas.openxmlformats.org/officeDocument/2006/relationships/image" Target="../media/image94.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1일차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데이터가 판단과 조치로</a:t>
            </a:r>
          </a:p>
          <a:p>
            <a:pPr algn="l">
              <a:lnSpc>
                <a:spcPct val="110000"/>
              </a:lnSpc>
            </a:pPr>
            <a:r>
              <a:rPr sz="4000" b="1">
                <a:solidFill>
                  <a:srgbClr val="FFFFFF"/>
                </a:solidFill>
                <a:latin typeface="맑은 고딕"/>
                <a:ea typeface="맑은 고딕"/>
                <a:cs typeface="맑은 고딕"/>
              </a:rPr>
              <a:t>이어지는 전체 흐름</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유온 한 값이 지나가는 경로에서 온톨로지의 필요성까지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값 하나가 지나가는 경로를 따라가며 경보 이후의 판단에 무엇이 더 필요한지를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개념을 자신의 문장으로 기록한다</a:t>
            </a:r>
          </a:p>
          <a:p>
            <a:pPr algn="l">
              <a:lnSpc>
                <a:spcPct val="110000"/>
              </a:lnSpc>
              <a:spcAft>
                <a:spcPts val="400"/>
              </a:spcAft>
            </a:pPr>
            <a:r>
              <a:rPr sz="1350" b="0">
                <a:solidFill>
                  <a:srgbClr val="1F2A3A"/>
                </a:solidFill>
                <a:latin typeface="맑은 고딕"/>
                <a:ea typeface="맑은 고딕"/>
                <a:cs typeface="맑은 고딕"/>
              </a:rPr>
              <a:t>• 기록을 분류해 다시 찾아 쓰는 구조를 만든다</a:t>
            </a:r>
          </a:p>
        </p:txBody>
      </p:sp>
      <p:sp>
        <p:nvSpPr>
          <p:cNvPr id="10" name="Rounded Rectangle 9"/>
          <p:cNvSpPr/>
          <p:nvPr/>
        </p:nvSpPr>
        <p:spPr>
          <a:xfrm>
            <a:off x="777240" y="523894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경로</a:t>
            </a:r>
          </a:p>
          <a:p>
            <a:pPr algn="l">
              <a:lnSpc>
                <a:spcPct val="110000"/>
              </a:lnSpc>
              <a:spcAft>
                <a:spcPts val="400"/>
              </a:spcAft>
            </a:pPr>
            <a:r>
              <a:rPr sz="1350" b="0">
                <a:solidFill>
                  <a:srgbClr val="1F2A3A"/>
                </a:solidFill>
                <a:latin typeface="맑은 고딕"/>
                <a:ea typeface="맑은 고딕"/>
                <a:cs typeface="맑은 고딕"/>
              </a:rPr>
              <a:t>유온 한 값이 설비에서 저장소, 화면, 경보에 이르는 경로를 설명한다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시스템 구조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zoom-check" descr="zoom-check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경보 이후의 판단</a:t>
            </a:r>
          </a:p>
          <a:p>
            <a:pPr algn="l">
              <a:lnSpc>
                <a:spcPct val="110000"/>
              </a:lnSpc>
              <a:spcAft>
                <a:spcPts val="400"/>
              </a:spcAft>
            </a:pPr>
            <a:r>
              <a:rPr sz="1350" b="0">
                <a:solidFill>
                  <a:srgbClr val="1F2A3A"/>
                </a:solidFill>
                <a:latin typeface="맑은 고딕"/>
                <a:ea typeface="맑은 고딕"/>
                <a:cs typeface="맑은 고딕"/>
              </a:rPr>
              <a:t>• 경보가 알려 주는 것과 알려 주지 않는 것을 구분한다</a:t>
            </a:r>
          </a:p>
          <a:p>
            <a:pPr algn="l">
              <a:lnSpc>
                <a:spcPct val="110000"/>
              </a:lnSpc>
              <a:spcAft>
                <a:spcPts val="400"/>
              </a:spcAft>
            </a:pPr>
            <a:r>
              <a:rPr sz="1350" b="0">
                <a:solidFill>
                  <a:srgbClr val="1F2A3A"/>
                </a:solidFill>
                <a:latin typeface="맑은 고딕"/>
                <a:ea typeface="맑은 고딕"/>
                <a:cs typeface="맑은 고딕"/>
              </a:rPr>
              <a:t>• 판단에 필요한 정보가 어디에 있는지 말한다</a:t>
            </a:r>
          </a:p>
        </p:txBody>
      </p:sp>
      <p:sp>
        <p:nvSpPr>
          <p:cNvPr id="22" name="Rounded Rectangle 21"/>
          <p:cNvSpPr/>
          <p:nvPr/>
        </p:nvSpPr>
        <p:spPr>
          <a:xfrm>
            <a:off x="6461607" y="5238940"/>
            <a:ext cx="1630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필요성</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 증상, 원인, 조치를 노드와 관계로 나타낸다</a:t>
            </a:r>
          </a:p>
          <a:p>
            <a:pPr algn="l">
              <a:lnSpc>
                <a:spcPct val="110000"/>
              </a:lnSpc>
              <a:spcAft>
                <a:spcPts val="400"/>
              </a:spcAft>
            </a:pPr>
            <a:r>
              <a:rPr sz="1350" b="0">
                <a:solidFill>
                  <a:srgbClr val="1F2A3A"/>
                </a:solidFill>
                <a:latin typeface="맑은 고딕"/>
                <a:ea typeface="맑은 고딕"/>
                <a:cs typeface="맑은 고딕"/>
              </a:rPr>
              <a:t>• 관계의 이름과 방향을 문장으로 읽는다</a:t>
            </a:r>
          </a:p>
        </p:txBody>
      </p:sp>
      <p:sp>
        <p:nvSpPr>
          <p:cNvPr id="28" name="Rounded Rectangle 27"/>
          <p:cNvSpPr/>
          <p:nvPr/>
        </p:nvSpPr>
        <p:spPr>
          <a:xfrm>
            <a:off x="9303791" y="5238940"/>
            <a:ext cx="14782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기초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자신의 언어로 기록하고 다시 찾아 쓰는 구조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문서와 자신의 언어로 다시 쓴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AI가 정리해 준 문서는 결과물일 뿐이며, 이해는 학습자가 자신의 언어로 다시 쓸 때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AI가 정리해 준 문서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넘겨 정리를 맡긴 결과물이다</a:t>
            </a:r>
          </a:p>
          <a:p>
            <a:pPr algn="l">
              <a:lnSpc>
                <a:spcPct val="110000"/>
              </a:lnSpc>
              <a:spcAft>
                <a:spcPts val="600"/>
              </a:spcAft>
            </a:pPr>
            <a:r>
              <a:rPr sz="1450" b="0">
                <a:solidFill>
                  <a:srgbClr val="1F2A3A"/>
                </a:solidFill>
                <a:latin typeface="맑은 고딕"/>
                <a:ea typeface="맑은 고딕"/>
                <a:cs typeface="맑은 고딕"/>
              </a:rPr>
              <a:t>• 형식은 정돈되어 있으나 학습자의 판단이 들어 있지 않다</a:t>
            </a:r>
          </a:p>
          <a:p>
            <a:pPr algn="l">
              <a:lnSpc>
                <a:spcPct val="110000"/>
              </a:lnSpc>
              <a:spcAft>
                <a:spcPts val="600"/>
              </a:spcAft>
            </a:pPr>
            <a:r>
              <a:rPr sz="1450" b="0">
                <a:solidFill>
                  <a:srgbClr val="1F2A3A"/>
                </a:solidFill>
                <a:latin typeface="맑은 고딕"/>
                <a:ea typeface="맑은 고딕"/>
                <a:cs typeface="맑은 고딕"/>
              </a:rPr>
              <a:t>• 읽을 때는 아는 것 같지만 자료 없이 설명하면 막힌다</a:t>
            </a:r>
          </a:p>
          <a:p>
            <a:pPr algn="l">
              <a:lnSpc>
                <a:spcPct val="110000"/>
              </a:lnSpc>
              <a:spcAft>
                <a:spcPts val="600"/>
              </a:spcAft>
            </a:pPr>
            <a:r>
              <a:rPr sz="1450" b="0">
                <a:solidFill>
                  <a:srgbClr val="1F2A3A"/>
                </a:solidFill>
                <a:latin typeface="맑은 고딕"/>
                <a:ea typeface="맑은 고딕"/>
                <a:cs typeface="맑은 고딕"/>
              </a:rPr>
              <a:t>• 쌓일수록 다시 열지 않게 된다</a:t>
            </a:r>
          </a:p>
        </p:txBody>
      </p:sp>
      <p:sp>
        <p:nvSpPr>
          <p:cNvPr id="11" name="Rounded Rectangle 10"/>
          <p:cNvSpPr/>
          <p:nvPr/>
        </p:nvSpPr>
        <p:spPr>
          <a:xfrm>
            <a:off x="868680" y="5396865"/>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보관된 문서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자신의 언어로 다시 쓴 기록</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보지 않고 개념을 직접 서술한 기록이다</a:t>
            </a:r>
          </a:p>
          <a:p>
            <a:pPr algn="l">
              <a:lnSpc>
                <a:spcPct val="110000"/>
              </a:lnSpc>
              <a:spcAft>
                <a:spcPts val="600"/>
              </a:spcAft>
            </a:pPr>
            <a:r>
              <a:rPr sz="1450" b="0">
                <a:solidFill>
                  <a:srgbClr val="1F2A3A"/>
                </a:solidFill>
                <a:latin typeface="맑은 고딕"/>
                <a:ea typeface="맑은 고딕"/>
                <a:cs typeface="맑은 고딕"/>
              </a:rPr>
              <a:t>• 서술이 끊기는 자리에서 모르는 부분이 드러난다</a:t>
            </a:r>
          </a:p>
          <a:p>
            <a:pPr algn="l">
              <a:lnSpc>
                <a:spcPct val="110000"/>
              </a:lnSpc>
              <a:spcAft>
                <a:spcPts val="600"/>
              </a:spcAft>
            </a:pPr>
            <a:r>
              <a:rPr sz="1450" b="0">
                <a:solidFill>
                  <a:srgbClr val="1F2A3A"/>
                </a:solidFill>
                <a:latin typeface="맑은 고딕"/>
                <a:ea typeface="맑은 고딕"/>
                <a:cs typeface="맑은 고딕"/>
              </a:rPr>
              <a:t>• 그 부분을 보완해 고쳐 쓴 문장은 다시 설명할 수 있다</a:t>
            </a:r>
          </a:p>
          <a:p>
            <a:pPr algn="l">
              <a:lnSpc>
                <a:spcPct val="110000"/>
              </a:lnSpc>
              <a:spcAft>
                <a:spcPts val="600"/>
              </a:spcAft>
            </a:pPr>
            <a:r>
              <a:rPr sz="1450" b="0">
                <a:solidFill>
                  <a:srgbClr val="1F2A3A"/>
                </a:solidFill>
                <a:latin typeface="맑은 고딕"/>
                <a:ea typeface="맑은 고딕"/>
                <a:cs typeface="맑은 고딕"/>
              </a:rPr>
              <a:t>• 분류와 이해도를 함께 적어 두어 다시 찾아 쓴다</a:t>
            </a:r>
          </a:p>
        </p:txBody>
      </p:sp>
      <p:sp>
        <p:nvSpPr>
          <p:cNvPr id="18" name="Rounded Rectangle 17"/>
          <p:cNvSpPr/>
          <p:nvPr/>
        </p:nvSpPr>
        <p:spPr>
          <a:xfrm>
            <a:off x="6781647" y="5396865"/>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재사용하는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이해의 판정 기준: 설명 가능성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개념을 자료 없이 설명할 수 있는지가 이해 여부를 판정하는 가장 직접적인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writing" descr="writing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써 본다</a:t>
            </a:r>
          </a:p>
          <a:p>
            <a:pPr algn="l">
              <a:lnSpc>
                <a:spcPct val="110000"/>
              </a:lnSpc>
              <a:spcAft>
                <a:spcPts val="400"/>
              </a:spcAft>
            </a:pPr>
            <a:r>
              <a:rPr sz="1400" b="0">
                <a:solidFill>
                  <a:srgbClr val="1F2A3A"/>
                </a:solidFill>
                <a:latin typeface="맑은 고딕"/>
                <a:ea typeface="맑은 고딕"/>
                <a:cs typeface="맑은 고딕"/>
              </a:rPr>
              <a:t>자료를 덮고 정의, 동작 원리, 쓰임을 자신의 문장으로 적는다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microphone" descr="microphon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설명해 본다</a:t>
            </a:r>
          </a:p>
          <a:p>
            <a:pPr algn="l">
              <a:lnSpc>
                <a:spcPct val="110000"/>
              </a:lnSpc>
              <a:spcAft>
                <a:spcPts val="400"/>
              </a:spcAft>
            </a:pPr>
            <a:r>
              <a:rPr sz="1400" b="0">
                <a:solidFill>
                  <a:srgbClr val="1F2A3A"/>
                </a:solidFill>
                <a:latin typeface="맑은 고딕"/>
                <a:ea typeface="맑은 고딕"/>
                <a:cs typeface="맑은 고딕"/>
              </a:rPr>
              <a:t>• 다른 사람에게 말로 설명한다</a:t>
            </a:r>
          </a:p>
          <a:p>
            <a:pPr algn="l">
              <a:lnSpc>
                <a:spcPct val="110000"/>
              </a:lnSpc>
              <a:spcAft>
                <a:spcPts val="400"/>
              </a:spcAft>
            </a:pPr>
            <a:r>
              <a:rPr sz="1400" b="0">
                <a:solidFill>
                  <a:srgbClr val="1F2A3A"/>
                </a:solidFill>
                <a:latin typeface="맑은 고딕"/>
                <a:ea typeface="맑은 고딕"/>
                <a:cs typeface="맑은 고딕"/>
              </a:rPr>
              <a:t>• 표현이 달라도 뜻이 같으면 이해한 것이다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말</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자리</a:t>
            </a:r>
          </a:p>
          <a:p>
            <a:pPr algn="l">
              <a:lnSpc>
                <a:spcPct val="110000"/>
              </a:lnSpc>
              <a:spcAft>
                <a:spcPts val="400"/>
              </a:spcAft>
            </a:pPr>
            <a:r>
              <a:rPr sz="1400" b="0">
                <a:solidFill>
                  <a:srgbClr val="1F2A3A"/>
                </a:solidFill>
                <a:latin typeface="맑은 고딕"/>
                <a:ea typeface="맑은 고딕"/>
                <a:cs typeface="맑은 고딕"/>
              </a:rPr>
              <a:t>• 둘 중 하나라도 막히면 그 자리가 아직 모르는 자리이다</a:t>
            </a:r>
          </a:p>
          <a:p>
            <a:pPr algn="l">
              <a:lnSpc>
                <a:spcPct val="110000"/>
              </a:lnSpc>
              <a:spcAft>
                <a:spcPts val="400"/>
              </a:spcAft>
            </a:pPr>
            <a:r>
              <a:rPr sz="1400" b="0">
                <a:solidFill>
                  <a:srgbClr val="1F2A3A"/>
                </a:solidFill>
                <a:latin typeface="맑은 고딕"/>
                <a:ea typeface="맑은 고딕"/>
                <a:cs typeface="맑은 고딕"/>
              </a:rPr>
              <a:t>• 그 자리만 다시 공부해 고쳐 쓴다</a:t>
            </a:r>
          </a:p>
        </p:txBody>
      </p:sp>
      <p:sp>
        <p:nvSpPr>
          <p:cNvPr id="22" name="Rounded Rectangle 21"/>
          <p:cNvSpPr/>
          <p:nvPr/>
        </p:nvSpPr>
        <p:spPr>
          <a:xfrm>
            <a:off x="8356396" y="5041392"/>
            <a:ext cx="12191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볼 범위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 활용 순서: 질문 먼저와 서술 먼저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먼저 묻지 않고 아는 범위를 먼저 서술하면 보완해야 할 자리가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먼저 묻는다</a:t>
            </a:r>
          </a:p>
        </p:txBody>
      </p:sp>
      <p:sp>
        <p:nvSpPr>
          <p:cNvPr id="8" name="TextBox 7"/>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질문하고 답을 읽는 것으로 끝난다</a:t>
            </a:r>
          </a:p>
          <a:p>
            <a:pPr algn="l">
              <a:lnSpc>
                <a:spcPct val="110000"/>
              </a:lnSpc>
              <a:spcAft>
                <a:spcPts val="600"/>
              </a:spcAft>
            </a:pPr>
            <a:r>
              <a:rPr sz="1450" b="0">
                <a:solidFill>
                  <a:srgbClr val="1F2A3A"/>
                </a:solidFill>
                <a:latin typeface="맑은 고딕"/>
                <a:ea typeface="맑은 고딕"/>
                <a:cs typeface="맑은 고딕"/>
              </a:rPr>
              <a:t>• 자신의 서술이 남지 않는다</a:t>
            </a:r>
          </a:p>
          <a:p>
            <a:pPr algn="l">
              <a:lnSpc>
                <a:spcPct val="110000"/>
              </a:lnSpc>
              <a:spcAft>
                <a:spcPts val="600"/>
              </a:spcAft>
            </a:pPr>
            <a:r>
              <a:rPr sz="1450" b="0">
                <a:solidFill>
                  <a:srgbClr val="1F2A3A"/>
                </a:solidFill>
                <a:latin typeface="맑은 고딕"/>
                <a:ea typeface="맑은 고딕"/>
                <a:cs typeface="맑은 고딕"/>
              </a:rPr>
              <a:t>• 무엇을 모르는지 확인할 기회가 없다</a:t>
            </a:r>
          </a:p>
          <a:p>
            <a:pPr algn="l">
              <a:lnSpc>
                <a:spcPct val="110000"/>
              </a:lnSpc>
              <a:spcAft>
                <a:spcPts val="600"/>
              </a:spcAft>
            </a:pPr>
            <a:r>
              <a:rPr sz="1450" b="0">
                <a:solidFill>
                  <a:srgbClr val="1F2A3A"/>
                </a:solidFill>
                <a:latin typeface="맑은 고딕"/>
                <a:ea typeface="맑은 고딕"/>
                <a:cs typeface="맑은 고딕"/>
              </a:rPr>
              <a:t>• 답에 있던 낯선 용어가 풀리지 않고 남는다</a:t>
            </a:r>
          </a:p>
        </p:txBody>
      </p:sp>
      <p:sp>
        <p:nvSpPr>
          <p:cNvPr id="9" name="Rounded Rectangle 8"/>
          <p:cNvSpPr/>
          <p:nvPr/>
        </p:nvSpPr>
        <p:spPr>
          <a:xfrm>
            <a:off x="868680" y="5246433"/>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읽고 끝나는 학습</a:t>
            </a:r>
          </a:p>
        </p:txBody>
      </p:sp>
      <p:sp>
        <p:nvSpPr>
          <p:cNvPr id="11" name="Rounded Rectangle 10"/>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자신이 먼저 서술한다</a:t>
            </a:r>
          </a:p>
        </p:txBody>
      </p:sp>
      <p:sp>
        <p:nvSpPr>
          <p:cNvPr id="13" name="TextBox 12"/>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 없이 써 본 뒤 AI에 검토를 요청한다</a:t>
            </a:r>
          </a:p>
          <a:p>
            <a:pPr algn="l">
              <a:lnSpc>
                <a:spcPct val="110000"/>
              </a:lnSpc>
              <a:spcAft>
                <a:spcPts val="600"/>
              </a:spcAft>
            </a:pPr>
            <a:r>
              <a:rPr sz="1450" b="0">
                <a:solidFill>
                  <a:srgbClr val="1F2A3A"/>
                </a:solidFill>
                <a:latin typeface="맑은 고딕"/>
                <a:ea typeface="맑은 고딕"/>
                <a:cs typeface="맑은 고딕"/>
              </a:rPr>
              <a:t>• 손으로 써도 되고 말로 설명해 음성 입력으로 남겨도 된다</a:t>
            </a:r>
          </a:p>
          <a:p>
            <a:pPr algn="l">
              <a:lnSpc>
                <a:spcPct val="110000"/>
              </a:lnSpc>
              <a:spcAft>
                <a:spcPts val="600"/>
              </a:spcAft>
            </a:pPr>
            <a:r>
              <a:rPr sz="1450" b="0">
                <a:solidFill>
                  <a:srgbClr val="1F2A3A"/>
                </a:solidFill>
                <a:latin typeface="맑은 고딕"/>
                <a:ea typeface="맑은 고딕"/>
                <a:cs typeface="맑은 고딕"/>
              </a:rPr>
              <a:t>• 서툴러도 되며 목적은 막히는 자리를 찾는 것이다</a:t>
            </a:r>
          </a:p>
          <a:p>
            <a:pPr algn="l">
              <a:lnSpc>
                <a:spcPct val="110000"/>
              </a:lnSpc>
              <a:spcAft>
                <a:spcPts val="600"/>
              </a:spcAft>
            </a:pPr>
            <a:r>
              <a:rPr sz="1450" b="0">
                <a:solidFill>
                  <a:srgbClr val="1F2A3A"/>
                </a:solidFill>
                <a:latin typeface="맑은 고딕"/>
                <a:ea typeface="맑은 고딕"/>
                <a:cs typeface="맑은 고딕"/>
              </a:rPr>
              <a:t>• 지적받은 자리가 그대로 학습 범위가 된다</a:t>
            </a:r>
          </a:p>
        </p:txBody>
      </p:sp>
      <p:sp>
        <p:nvSpPr>
          <p:cNvPr id="14" name="Rounded Rectangle 13"/>
          <p:cNvSpPr/>
          <p:nvPr/>
        </p:nvSpPr>
        <p:spPr>
          <a:xfrm>
            <a:off x="6781647" y="5246433"/>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46433"/>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빈 곳을 찾는 학습</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 절차: 서술 · 식별 · 보완 ·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학습은 먼저 서술하고 막힌 자리를 찾아 그 자리만 보완한 뒤 다시 확인하는 순환으로 진행한다.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서술</a:t>
            </a:r>
          </a:p>
          <a:p>
            <a:pPr algn="ctr">
              <a:lnSpc>
                <a:spcPct val="110000"/>
              </a:lnSpc>
              <a:spcAft>
                <a:spcPts val="400"/>
              </a:spcAft>
            </a:pPr>
            <a:r>
              <a:rPr sz="1350" b="0">
                <a:solidFill>
                  <a:srgbClr val="1F2A3A"/>
                </a:solidFill>
                <a:latin typeface="맑은 고딕"/>
                <a:ea typeface="맑은 고딕"/>
                <a:cs typeface="맑은 고딕"/>
              </a:rPr>
              <a:t>자료를 덮고</a:t>
            </a:r>
          </a:p>
          <a:p>
            <a:pPr algn="ctr">
              <a:lnSpc>
                <a:spcPct val="110000"/>
              </a:lnSpc>
              <a:spcAft>
                <a:spcPts val="400"/>
              </a:spcAft>
            </a:pPr>
            <a:r>
              <a:rPr sz="1350" b="0">
                <a:solidFill>
                  <a:srgbClr val="1F2A3A"/>
                </a:solidFill>
                <a:latin typeface="맑은 고딕"/>
                <a:ea typeface="맑은 고딕"/>
                <a:cs typeface="맑은 고딕"/>
              </a:rPr>
              <a:t>개념을 자신의 문장으로 쓴다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식별</a:t>
            </a:r>
          </a:p>
          <a:p>
            <a:pPr algn="ctr">
              <a:lnSpc>
                <a:spcPct val="110000"/>
              </a:lnSpc>
              <a:spcAft>
                <a:spcPts val="400"/>
              </a:spcAft>
            </a:pPr>
            <a:r>
              <a:rPr sz="1350" b="0">
                <a:solidFill>
                  <a:srgbClr val="1F2A3A"/>
                </a:solidFill>
                <a:latin typeface="맑은 고딕"/>
                <a:ea typeface="맑은 고딕"/>
                <a:cs typeface="맑은 고딕"/>
              </a:rPr>
              <a:t>서술이 끊긴 자리와</a:t>
            </a:r>
          </a:p>
          <a:p>
            <a:pPr algn="ctr">
              <a:lnSpc>
                <a:spcPct val="110000"/>
              </a:lnSpc>
              <a:spcAft>
                <a:spcPts val="400"/>
              </a:spcAft>
            </a:pPr>
            <a:r>
              <a:rPr sz="1350" b="0">
                <a:solidFill>
                  <a:srgbClr val="1F2A3A"/>
                </a:solidFill>
                <a:latin typeface="맑은 고딕"/>
                <a:ea typeface="맑은 고딕"/>
                <a:cs typeface="맑은 고딕"/>
              </a:rPr>
              <a:t>틀렸다고 지적된 자리를 표시한다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보완</a:t>
            </a:r>
          </a:p>
          <a:p>
            <a:pPr algn="ctr">
              <a:lnSpc>
                <a:spcPct val="110000"/>
              </a:lnSpc>
              <a:spcAft>
                <a:spcPts val="400"/>
              </a:spcAft>
            </a:pPr>
            <a:r>
              <a:rPr sz="1350" b="0">
                <a:solidFill>
                  <a:srgbClr val="1F2A3A"/>
                </a:solidFill>
                <a:latin typeface="맑은 고딕"/>
                <a:ea typeface="맑은 고딕"/>
                <a:cs typeface="맑은 고딕"/>
              </a:rPr>
              <a:t>표시한 자리만 다시 학습한다</a:t>
            </a:r>
          </a:p>
          <a:p>
            <a:pPr algn="ctr">
              <a:lnSpc>
                <a:spcPct val="110000"/>
              </a:lnSpc>
              <a:spcAft>
                <a:spcPts val="400"/>
              </a:spcAft>
            </a:pPr>
            <a:r>
              <a:rPr sz="1350" b="0">
                <a:solidFill>
                  <a:srgbClr val="1F2A3A"/>
                </a:solidFill>
                <a:latin typeface="맑은 고딕"/>
                <a:ea typeface="맑은 고딕"/>
                <a:cs typeface="맑은 고딕"/>
              </a:rPr>
              <a:t>모르는 용어가 나오면 그 용어를 다시 묻는다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고쳐 쓴 내용을 자료 없이 다시 쓰고</a:t>
            </a:r>
          </a:p>
          <a:p>
            <a:pPr algn="ctr">
              <a:lnSpc>
                <a:spcPct val="110000"/>
              </a:lnSpc>
              <a:spcAft>
                <a:spcPts val="400"/>
              </a:spcAft>
            </a:pPr>
            <a:r>
              <a:rPr sz="1350" b="0">
                <a:solidFill>
                  <a:srgbClr val="1F2A3A"/>
                </a:solidFill>
                <a:latin typeface="맑은 고딕"/>
                <a:ea typeface="맑은 고딕"/>
                <a:cs typeface="맑은 고딕"/>
              </a:rPr>
              <a:t>다른 사람에게 설명한다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제조 AI 과정에서 축적할 기록의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과정에서는 개념 정의부터 오류의 원인과 해결 과정까지가 모두 기록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vocabulary" descr="vocabulary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 정의</a:t>
            </a:r>
          </a:p>
          <a:p>
            <a:pPr algn="l">
              <a:lnSpc>
                <a:spcPct val="110000"/>
              </a:lnSpc>
              <a:spcAft>
                <a:spcPts val="400"/>
              </a:spcAft>
            </a:pPr>
            <a:r>
              <a:rPr sz="1350" b="0">
                <a:solidFill>
                  <a:srgbClr val="1F2A3A"/>
                </a:solidFill>
                <a:latin typeface="맑은 고딕"/>
                <a:ea typeface="맑은 고딕"/>
                <a:cs typeface="맑은 고딕"/>
              </a:rPr>
              <a:t>• 용어의 정식 명칭과 뜻을 자신의 문장으로 적는다</a:t>
            </a:r>
          </a:p>
          <a:p>
            <a:pPr algn="l">
              <a:lnSpc>
                <a:spcPct val="110000"/>
              </a:lnSpc>
              <a:spcAft>
                <a:spcPts val="400"/>
              </a:spcAft>
            </a:pPr>
            <a:r>
              <a:rPr sz="1350" b="0">
                <a:solidFill>
                  <a:srgbClr val="1F2A3A"/>
                </a:solidFill>
                <a:latin typeface="맑은 고딕"/>
                <a:ea typeface="맑은 고딕"/>
                <a:cs typeface="맑은 고딕"/>
              </a:rPr>
              <a:t>• 헷갈리기 쉬운 용어와의 차이를 함께 적는다</a:t>
            </a:r>
          </a:p>
        </p:txBody>
      </p:sp>
      <p:sp>
        <p:nvSpPr>
          <p:cNvPr id="10" name="Rounded Rectangle 9"/>
          <p:cNvSpPr/>
          <p:nvPr/>
        </p:nvSpPr>
        <p:spPr>
          <a:xfrm>
            <a:off x="777240" y="5238940"/>
            <a:ext cx="1603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603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브로커와 토픽</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ettings-automation" descr="settings-automation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동작 원리</a:t>
            </a:r>
          </a:p>
          <a:p>
            <a:pPr algn="l">
              <a:lnSpc>
                <a:spcPct val="110000"/>
              </a:lnSpc>
              <a:spcAft>
                <a:spcPts val="400"/>
              </a:spcAft>
            </a:pPr>
            <a:r>
              <a:rPr sz="1350" b="0">
                <a:solidFill>
                  <a:srgbClr val="1F2A3A"/>
                </a:solidFill>
                <a:latin typeface="맑은 고딕"/>
                <a:ea typeface="맑은 고딕"/>
                <a:cs typeface="맑은 고딕"/>
              </a:rPr>
              <a:t>• 구성요소가 무엇을 받아 무엇을 넘기는지를 적는다</a:t>
            </a:r>
          </a:p>
          <a:p>
            <a:pPr algn="l">
              <a:lnSpc>
                <a:spcPct val="110000"/>
              </a:lnSpc>
              <a:spcAft>
                <a:spcPts val="400"/>
              </a:spcAft>
            </a:pPr>
            <a:r>
              <a:rPr sz="1350" b="0">
                <a:solidFill>
                  <a:srgbClr val="1F2A3A"/>
                </a:solidFill>
                <a:latin typeface="맑은 고딕"/>
                <a:ea typeface="맑은 고딕"/>
                <a:cs typeface="맑은 고딕"/>
              </a:rPr>
              <a:t>• 근거로 삼은 참고 자료와 출처를 함께 연결해 둔다</a:t>
            </a:r>
          </a:p>
        </p:txBody>
      </p:sp>
      <p:sp>
        <p:nvSpPr>
          <p:cNvPr id="16" name="Rounded Rectangle 15"/>
          <p:cNvSpPr/>
          <p:nvPr/>
        </p:nvSpPr>
        <p:spPr>
          <a:xfrm>
            <a:off x="3619423" y="5238940"/>
            <a:ext cx="1978152"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97815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detector 경보 조건</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terminal-2" descr="terminal-2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결과</a:t>
            </a:r>
          </a:p>
          <a:p>
            <a:pPr algn="l">
              <a:lnSpc>
                <a:spcPct val="110000"/>
              </a:lnSpc>
              <a:spcAft>
                <a:spcPts val="400"/>
              </a:spcAft>
            </a:pPr>
            <a:r>
              <a:rPr sz="1350" b="0">
                <a:solidFill>
                  <a:srgbClr val="1F2A3A"/>
                </a:solidFill>
                <a:latin typeface="맑은 고딕"/>
                <a:ea typeface="맑은 고딕"/>
                <a:cs typeface="맑은 고딕"/>
              </a:rPr>
              <a:t>무엇을 실행했고 어떤 결과가 나왔는지를 입력 · 출력과 함께 남긴다</a:t>
            </a:r>
          </a:p>
        </p:txBody>
      </p:sp>
      <p:sp>
        <p:nvSpPr>
          <p:cNvPr id="22" name="Rounded Rectangle 21"/>
          <p:cNvSpPr/>
          <p:nvPr/>
        </p:nvSpPr>
        <p:spPr>
          <a:xfrm>
            <a:off x="6461607" y="5238940"/>
            <a:ext cx="129844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관계 그림</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bug" descr="bug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오류와 해결</a:t>
            </a:r>
          </a:p>
          <a:p>
            <a:pPr algn="l">
              <a:lnSpc>
                <a:spcPct val="110000"/>
              </a:lnSpc>
              <a:spcAft>
                <a:spcPts val="400"/>
              </a:spcAft>
            </a:pPr>
            <a:r>
              <a:rPr sz="1350" b="0">
                <a:solidFill>
                  <a:srgbClr val="1F2A3A"/>
                </a:solidFill>
                <a:latin typeface="맑은 고딕"/>
                <a:ea typeface="맑은 고딕"/>
                <a:cs typeface="맑은 고딕"/>
              </a:rPr>
              <a:t>증상, 확인한 원인, 적용한 해결 방법을 순서대로 남긴다</a:t>
            </a:r>
          </a:p>
        </p:txBody>
      </p:sp>
      <p:sp>
        <p:nvSpPr>
          <p:cNvPr id="28" name="Rounded Rectangle 27"/>
          <p:cNvSpPr/>
          <p:nvPr/>
        </p:nvSpPr>
        <p:spPr>
          <a:xfrm>
            <a:off x="9303791" y="5238940"/>
            <a:ext cx="1801367"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80136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서비스 기동 실패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노션 데이터베이스: 항목과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기록 한 건을 데이터베이스의 항목으로 저장하고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분류하면 검색과 재사용이 가능해진다.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노션_데이터베이스.svg" descr="illust_636945683261383696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1816729"/>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같은 형식의 항목을 모은 집합</a:t>
            </a:r>
          </a:p>
        </p:txBody>
      </p:sp>
      <p:sp>
        <p:nvSpPr>
          <p:cNvPr id="8" name="TextBox 7"/>
          <p:cNvSpPr txBox="1"/>
          <p:nvPr/>
        </p:nvSpPr>
        <p:spPr>
          <a:xfrm>
            <a:off x="4001224" y="1816729"/>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모든 항목이 공통으로 갖는 칸</a:t>
            </a:r>
          </a:p>
        </p:txBody>
      </p:sp>
      <p:sp>
        <p:nvSpPr>
          <p:cNvPr id="9" name="TextBox 8"/>
          <p:cNvSpPr txBox="1"/>
          <p:nvPr/>
        </p:nvSpPr>
        <p:spPr>
          <a:xfrm>
            <a:off x="1808416" y="277167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이름</a:t>
            </a:r>
          </a:p>
        </p:txBody>
      </p:sp>
      <p:sp>
        <p:nvSpPr>
          <p:cNvPr id="10" name="TextBox 9"/>
          <p:cNvSpPr txBox="1"/>
          <p:nvPr/>
        </p:nvSpPr>
        <p:spPr>
          <a:xfrm>
            <a:off x="4001224"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분야</a:t>
            </a:r>
          </a:p>
        </p:txBody>
      </p:sp>
      <p:sp>
        <p:nvSpPr>
          <p:cNvPr id="11" name="TextBox 10"/>
          <p:cNvSpPr txBox="1"/>
          <p:nvPr/>
        </p:nvSpPr>
        <p:spPr>
          <a:xfrm>
            <a:off x="5190359"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이해도</a:t>
            </a:r>
          </a:p>
        </p:txBody>
      </p:sp>
      <p:sp>
        <p:nvSpPr>
          <p:cNvPr id="12" name="TextBox 11"/>
          <p:cNvSpPr txBox="1"/>
          <p:nvPr/>
        </p:nvSpPr>
        <p:spPr>
          <a:xfrm>
            <a:off x="6226761" y="2771674"/>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생성 일시</a:t>
            </a:r>
          </a:p>
        </p:txBody>
      </p:sp>
      <p:sp>
        <p:nvSpPr>
          <p:cNvPr id="13" name="TextBox 12"/>
          <p:cNvSpPr txBox="1"/>
          <p:nvPr/>
        </p:nvSpPr>
        <p:spPr>
          <a:xfrm>
            <a:off x="8146832" y="1816729"/>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항목 하나 = 페이지 하나</a:t>
            </a:r>
          </a:p>
          <a:p>
            <a:pPr algn="ctr">
              <a:lnSpc>
                <a:spcPct val="110000"/>
              </a:lnSpc>
              <a:spcAft>
                <a:spcPts val="100"/>
              </a:spcAft>
            </a:pPr>
            <a:r>
              <a:rPr sz="1300" b="0">
                <a:solidFill>
                  <a:srgbClr val="556175"/>
                </a:solidFill>
                <a:latin typeface="맑은 고딕"/>
                <a:ea typeface="맑은 고딕"/>
                <a:cs typeface="맑은 고딕"/>
              </a:rPr>
              <a:t>열면 제목, 속성, 본문이 나온다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보기: 같은 데이터를 보여 주는 세 가지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보기를 바꾸어도 데이터는 한 벌이므로 한 보기에서 고친 값은 다른 보기에도 그대로 반영된다.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노션_보기.svg" descr="illust_792571497061531349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223088" y="1769455"/>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보기(View)</a:t>
            </a:r>
          </a:p>
          <a:p>
            <a:pPr algn="ctr">
              <a:lnSpc>
                <a:spcPct val="110000"/>
              </a:lnSpc>
              <a:spcAft>
                <a:spcPts val="100"/>
              </a:spcAft>
            </a:pPr>
            <a:r>
              <a:rPr sz="1300" b="0">
                <a:solidFill>
                  <a:srgbClr val="556175"/>
                </a:solidFill>
                <a:latin typeface="맑은 고딕"/>
                <a:ea typeface="맑은 고딕"/>
                <a:cs typeface="맑은 고딕"/>
              </a:rPr>
              <a:t>같은 데이터를 다른 모양으로 보여 주는 화면</a:t>
            </a:r>
          </a:p>
        </p:txBody>
      </p:sp>
      <p:sp>
        <p:nvSpPr>
          <p:cNvPr id="8" name="TextBox 7"/>
          <p:cNvSpPr txBox="1"/>
          <p:nvPr/>
        </p:nvSpPr>
        <p:spPr>
          <a:xfrm>
            <a:off x="695647" y="493684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저장된 데이터는 한 벌이다</a:t>
            </a:r>
          </a:p>
        </p:txBody>
      </p:sp>
      <p:sp>
        <p:nvSpPr>
          <p:cNvPr id="9" name="TextBox 8"/>
          <p:cNvSpPr txBox="1"/>
          <p:nvPr/>
        </p:nvSpPr>
        <p:spPr>
          <a:xfrm>
            <a:off x="3990315"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a:t>
            </a:r>
          </a:p>
          <a:p>
            <a:pPr algn="ctr">
              <a:lnSpc>
                <a:spcPct val="110000"/>
              </a:lnSpc>
              <a:spcAft>
                <a:spcPts val="100"/>
              </a:spcAft>
            </a:pPr>
            <a:r>
              <a:rPr sz="1300" b="0">
                <a:solidFill>
                  <a:srgbClr val="556175"/>
                </a:solidFill>
                <a:latin typeface="맑은 고딕"/>
                <a:ea typeface="맑은 고딕"/>
                <a:cs typeface="맑은 고딕"/>
              </a:rPr>
              <a:t>속성 값을 나란히 비교한다</a:t>
            </a:r>
          </a:p>
        </p:txBody>
      </p:sp>
      <p:sp>
        <p:nvSpPr>
          <p:cNvPr id="10" name="TextBox 9"/>
          <p:cNvSpPr txBox="1"/>
          <p:nvPr/>
        </p:nvSpPr>
        <p:spPr>
          <a:xfrm>
            <a:off x="6532227"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갤러리</a:t>
            </a:r>
          </a:p>
          <a:p>
            <a:pPr algn="ctr">
              <a:lnSpc>
                <a:spcPct val="110000"/>
              </a:lnSpc>
              <a:spcAft>
                <a:spcPts val="100"/>
              </a:spcAft>
            </a:pPr>
            <a:r>
              <a:rPr sz="1300" b="0">
                <a:solidFill>
                  <a:srgbClr val="556175"/>
                </a:solidFill>
                <a:latin typeface="맑은 고딕"/>
                <a:ea typeface="맑은 고딕"/>
                <a:cs typeface="맑은 고딕"/>
              </a:rPr>
              <a:t>항목을 카드로 훑어본다</a:t>
            </a:r>
          </a:p>
        </p:txBody>
      </p:sp>
      <p:sp>
        <p:nvSpPr>
          <p:cNvPr id="11" name="TextBox 10"/>
          <p:cNvSpPr txBox="1"/>
          <p:nvPr/>
        </p:nvSpPr>
        <p:spPr>
          <a:xfrm>
            <a:off x="9074139"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보드</a:t>
            </a:r>
          </a:p>
          <a:p>
            <a:pPr algn="ctr">
              <a:lnSpc>
                <a:spcPct val="110000"/>
              </a:lnSpc>
              <a:spcAft>
                <a:spcPts val="100"/>
              </a:spcAft>
            </a:pPr>
            <a:r>
              <a:rPr sz="1300" b="0">
                <a:solidFill>
                  <a:srgbClr val="556175"/>
                </a:solidFill>
                <a:latin typeface="맑은 고딕"/>
                <a:ea typeface="맑은 고딕"/>
                <a:cs typeface="맑은 고딕"/>
              </a:rPr>
              <a:t>속성 값별로 묶어 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템플릿: 모든 기록이 같은 틀을 갖게 하는 양식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템플릿은 새 항목을 만들 때 본문에 미리 채워지는 양식으로, 기록의 형식을 하나로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개념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자료를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자신의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설명</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시스템에서의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어느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구성요소가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하는가</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다음에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설명이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끊긴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자리</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답에서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나온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낯선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용어</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개념별 제목</a:t>
            </a:r>
          </a:p>
          <a:p>
            <a:pPr algn="l">
              <a:lnSpc>
                <a:spcPct val="110000"/>
              </a:lnSpc>
              <a:spcAft>
                <a:spcPts val="400"/>
              </a:spcAft>
            </a:pPr>
            <a:r>
              <a:rPr sz="1400" b="0">
                <a:solidFill>
                  <a:srgbClr val="1F2A3A"/>
                </a:solidFill>
                <a:latin typeface="맑은 고딕"/>
                <a:ea typeface="맑은 고딕"/>
                <a:cs typeface="맑은 고딕"/>
              </a:rPr>
              <a:t>개념 하나에 제목 하나를 둔다. 제목이 나중에 검색어가 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다음에 확인할 것</a:t>
            </a:r>
          </a:p>
          <a:p>
            <a:pPr algn="l">
              <a:lnSpc>
                <a:spcPct val="110000"/>
              </a:lnSpc>
              <a:spcAft>
                <a:spcPts val="400"/>
              </a:spcAft>
            </a:pPr>
            <a:r>
              <a:rPr sz="1400" b="0">
                <a:solidFill>
                  <a:srgbClr val="1F2A3A"/>
                </a:solidFill>
                <a:latin typeface="맑은 고딕"/>
                <a:ea typeface="맑은 고딕"/>
                <a:cs typeface="맑은 고딕"/>
              </a:rPr>
              <a:t>막힌 자리를 체크 목록으로 남긴다. 해결해도 지우지 않아 진행이 기록된다.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기본 템플릿</a:t>
            </a:r>
          </a:p>
          <a:p>
            <a:pPr algn="l">
              <a:lnSpc>
                <a:spcPct val="110000"/>
              </a:lnSpc>
              <a:spcAft>
                <a:spcPts val="400"/>
              </a:spcAft>
            </a:pPr>
            <a:r>
              <a:rPr sz="1400" b="0">
                <a:solidFill>
                  <a:srgbClr val="1F2A3A"/>
                </a:solidFill>
                <a:latin typeface="맑은 고딕"/>
                <a:ea typeface="맑은 고딕"/>
                <a:cs typeface="맑은 고딕"/>
              </a:rPr>
              <a:t>기본으로 지정해 두면 어느 보기에서 항목을 만들어도 같은 양식이 채워진다.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필터: 다시 학습할 항목만 골라내기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이해도 속성에 필터를 걸면 아직 설명하지 못하는 항목만 모아 다시 학습할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이해도 기록</a:t>
            </a:r>
          </a:p>
          <a:p>
            <a:pPr algn="ctr">
              <a:lnSpc>
                <a:spcPct val="110000"/>
              </a:lnSpc>
              <a:spcAft>
                <a:spcPts val="400"/>
              </a:spcAft>
            </a:pPr>
            <a:r>
              <a:rPr sz="1350" b="0">
                <a:solidFill>
                  <a:srgbClr val="1F2A3A"/>
                </a:solidFill>
                <a:latin typeface="맑은 고딕"/>
                <a:ea typeface="맑은 고딕"/>
                <a:cs typeface="맑은 고딕"/>
              </a:rPr>
              <a:t>항목마다</a:t>
            </a:r>
          </a:p>
          <a:p>
            <a:pPr algn="ctr">
              <a:lnSpc>
                <a:spcPct val="110000"/>
              </a:lnSpc>
              <a:spcAft>
                <a:spcPts val="400"/>
              </a:spcAft>
            </a:pPr>
            <a:r>
              <a:rPr sz="1350" b="0">
                <a:solidFill>
                  <a:srgbClr val="1F2A3A"/>
                </a:solidFill>
                <a:latin typeface="맑은 고딕"/>
                <a:ea typeface="맑은 고딕"/>
                <a:cs typeface="맑은 고딕"/>
              </a:rPr>
              <a:t>설명 못함, 대충 앎,</a:t>
            </a:r>
          </a:p>
          <a:p>
            <a:pPr algn="ctr">
              <a:lnSpc>
                <a:spcPct val="110000"/>
              </a:lnSpc>
              <a:spcAft>
                <a:spcPts val="400"/>
              </a:spcAft>
            </a:pPr>
            <a:r>
              <a:rPr sz="1350" b="0">
                <a:solidFill>
                  <a:srgbClr val="1F2A3A"/>
                </a:solidFill>
                <a:latin typeface="맑은 고딕"/>
                <a:ea typeface="맑은 고딕"/>
                <a:cs typeface="맑은 고딕"/>
              </a:rPr>
              <a:t>설명 가능 가운데</a:t>
            </a:r>
          </a:p>
          <a:p>
            <a:pPr algn="ctr">
              <a:lnSpc>
                <a:spcPct val="110000"/>
              </a:lnSpc>
              <a:spcAft>
                <a:spcPts val="400"/>
              </a:spcAft>
            </a:pPr>
            <a:r>
              <a:rPr sz="1350" b="0">
                <a:solidFill>
                  <a:srgbClr val="1F2A3A"/>
                </a:solidFill>
                <a:latin typeface="맑은 고딕"/>
                <a:ea typeface="맑은 고딕"/>
                <a:cs typeface="맑은 고딕"/>
              </a:rPr>
              <a:t>하나를 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81478"/>
            <a:ext cx="731520" cy="731520"/>
          </a:xfrm>
          <a:prstGeom prst="ellipse">
            <a:avLst/>
          </a:prstGeom>
          <a:solidFill>
            <a:srgbClr val="5CB8F2"/>
          </a:solidFill>
          <a:ln>
            <a:noFill/>
          </a:ln>
        </p:spPr>
        <p:txBody>
          <a:bodyPr rtlCol="0" anchor="ctr"/>
          <a:lstStyle/>
          <a:p>
            <a:pPr algn="ctr"/>
          </a:p>
        </p:txBody>
      </p:sp>
      <p:pic>
        <p:nvPicPr>
          <p:cNvPr id="13" name="아이콘:filter" descr="filt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필터</a:t>
            </a:r>
          </a:p>
          <a:p>
            <a:pPr algn="ctr">
              <a:lnSpc>
                <a:spcPct val="110000"/>
              </a:lnSpc>
              <a:spcAft>
                <a:spcPts val="400"/>
              </a:spcAft>
            </a:pPr>
            <a:r>
              <a:rPr sz="1350" b="0">
                <a:solidFill>
                  <a:srgbClr val="1F2A3A"/>
                </a:solidFill>
                <a:latin typeface="맑은 고딕"/>
                <a:ea typeface="맑은 고딕"/>
                <a:cs typeface="맑은 고딕"/>
              </a:rPr>
              <a:t>Filter</a:t>
            </a:r>
          </a:p>
          <a:p>
            <a:pPr algn="ctr">
              <a:lnSpc>
                <a:spcPct val="110000"/>
              </a:lnSpc>
              <a:spcAft>
                <a:spcPts val="400"/>
              </a:spcAft>
            </a:pPr>
            <a:r>
              <a:rPr sz="1350" b="0">
                <a:solidFill>
                  <a:srgbClr val="1F2A3A"/>
                </a:solidFill>
                <a:latin typeface="맑은 고딕"/>
                <a:ea typeface="맑은 고딕"/>
                <a:cs typeface="맑은 고딕"/>
              </a:rPr>
              <a:t>「설명 가능」이 아닌</a:t>
            </a:r>
          </a:p>
          <a:p>
            <a:pPr algn="ctr">
              <a:lnSpc>
                <a:spcPct val="110000"/>
              </a:lnSpc>
              <a:spcAft>
                <a:spcPts val="400"/>
              </a:spcAft>
            </a:pPr>
            <a:r>
              <a:rPr sz="1350" b="0">
                <a:solidFill>
                  <a:srgbClr val="1F2A3A"/>
                </a:solidFill>
                <a:latin typeface="맑은 고딕"/>
                <a:ea typeface="맑은 고딕"/>
                <a:cs typeface="맑은 고딕"/>
              </a:rPr>
              <a:t>항목만 남기는</a:t>
            </a:r>
          </a:p>
          <a:p>
            <a:pPr algn="ctr">
              <a:lnSpc>
                <a:spcPct val="110000"/>
              </a:lnSpc>
              <a:spcAft>
                <a:spcPts val="400"/>
              </a:spcAft>
            </a:pPr>
            <a:r>
              <a:rPr sz="1350" b="0">
                <a:solidFill>
                  <a:srgbClr val="1F2A3A"/>
                </a:solidFill>
                <a:latin typeface="맑은 고딕"/>
                <a:ea typeface="맑은 고딕"/>
                <a:cs typeface="맑은 고딕"/>
              </a:rPr>
              <a:t>조건을 건다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재학습</a:t>
            </a:r>
          </a:p>
          <a:p>
            <a:pPr algn="ctr">
              <a:lnSpc>
                <a:spcPct val="110000"/>
              </a:lnSpc>
              <a:spcAft>
                <a:spcPts val="400"/>
              </a:spcAft>
            </a:pPr>
            <a:r>
              <a:rPr sz="1350" b="0">
                <a:solidFill>
                  <a:srgbClr val="1F2A3A"/>
                </a:solidFill>
                <a:latin typeface="맑은 고딕"/>
                <a:ea typeface="맑은 고딕"/>
                <a:cs typeface="맑은 고딕"/>
              </a:rPr>
              <a:t>남은 항목을</a:t>
            </a:r>
          </a:p>
          <a:p>
            <a:pPr algn="ctr">
              <a:lnSpc>
                <a:spcPct val="110000"/>
              </a:lnSpc>
              <a:spcAft>
                <a:spcPts val="400"/>
              </a:spcAft>
            </a:pPr>
            <a:r>
              <a:rPr sz="1350" b="0">
                <a:solidFill>
                  <a:srgbClr val="1F2A3A"/>
                </a:solidFill>
                <a:latin typeface="맑은 고딕"/>
                <a:ea typeface="맑은 고딕"/>
                <a:cs typeface="맑은 고딕"/>
              </a:rPr>
              <a:t>서술, 식별, 보완, 확인의</a:t>
            </a:r>
          </a:p>
          <a:p>
            <a:pPr algn="ctr">
              <a:lnSpc>
                <a:spcPct val="110000"/>
              </a:lnSpc>
              <a:spcAft>
                <a:spcPts val="400"/>
              </a:spcAft>
            </a:pPr>
            <a:r>
              <a:rPr sz="1350" b="0">
                <a:solidFill>
                  <a:srgbClr val="1F2A3A"/>
                </a:solidFill>
                <a:latin typeface="맑은 고딕"/>
                <a:ea typeface="맑은 고딕"/>
                <a:cs typeface="맑은 고딕"/>
              </a:rPr>
              <a:t>절차로 다시 본다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갱신</a:t>
            </a:r>
          </a:p>
          <a:p>
            <a:pPr algn="ctr">
              <a:lnSpc>
                <a:spcPct val="110000"/>
              </a:lnSpc>
              <a:spcAft>
                <a:spcPts val="400"/>
              </a:spcAft>
            </a:pPr>
            <a:r>
              <a:rPr sz="1350" b="0">
                <a:solidFill>
                  <a:srgbClr val="1F2A3A"/>
                </a:solidFill>
                <a:latin typeface="맑은 고딕"/>
                <a:ea typeface="맑은 고딕"/>
                <a:cs typeface="맑은 고딕"/>
              </a:rPr>
              <a:t>확인을 통과하면</a:t>
            </a:r>
          </a:p>
          <a:p>
            <a:pPr algn="ctr">
              <a:lnSpc>
                <a:spcPct val="110000"/>
              </a:lnSpc>
              <a:spcAft>
                <a:spcPts val="400"/>
              </a:spcAft>
            </a:pPr>
            <a:r>
              <a:rPr sz="1350" b="0">
                <a:solidFill>
                  <a:srgbClr val="1F2A3A"/>
                </a:solidFill>
                <a:latin typeface="맑은 고딕"/>
                <a:ea typeface="맑은 고딕"/>
                <a:cs typeface="맑은 고딕"/>
              </a:rPr>
              <a:t>이해도를 올린다</a:t>
            </a:r>
          </a:p>
          <a:p>
            <a:pPr algn="ctr">
              <a:lnSpc>
                <a:spcPct val="110000"/>
              </a:lnSpc>
              <a:spcAft>
                <a:spcPts val="400"/>
              </a:spcAft>
            </a:pPr>
            <a:r>
              <a:rPr sz="1350" b="0">
                <a:solidFill>
                  <a:srgbClr val="1F2A3A"/>
                </a:solidFill>
                <a:latin typeface="맑은 고딕"/>
                <a:ea typeface="맑은 고딕"/>
                <a:cs typeface="맑은 고딕"/>
              </a:rPr>
              <a:t>그 항목은 목록에서</a:t>
            </a:r>
          </a:p>
          <a:p>
            <a:pPr algn="ctr">
              <a:lnSpc>
                <a:spcPct val="110000"/>
              </a:lnSpc>
              <a:spcAft>
                <a:spcPts val="400"/>
              </a:spcAft>
            </a:pPr>
            <a:r>
              <a:rPr sz="1350" b="0">
                <a:solidFill>
                  <a:srgbClr val="1F2A3A"/>
                </a:solidFill>
                <a:latin typeface="맑은 고딕"/>
                <a:ea typeface="맑은 고딕"/>
                <a:cs typeface="맑은 고딕"/>
              </a:rPr>
              <a:t>빠진다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공유와 게시: 공개 범위의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게시한 페이지는 링크를 아는 누구에게나 보이므로 공개하기 전에 내용의 범위를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공유</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지정한 사용자에게만 열람 · 편집 권한을 준다</a:t>
            </a:r>
          </a:p>
          <a:p>
            <a:pPr algn="l">
              <a:lnSpc>
                <a:spcPct val="110000"/>
              </a:lnSpc>
              <a:spcAft>
                <a:spcPts val="600"/>
              </a:spcAft>
            </a:pPr>
            <a:r>
              <a:rPr sz="1450" b="0">
                <a:solidFill>
                  <a:srgbClr val="1F2A3A"/>
                </a:solidFill>
                <a:latin typeface="맑은 고딕"/>
                <a:ea typeface="맑은 고딕"/>
                <a:cs typeface="맑은 고딕"/>
              </a:rPr>
              <a:t>• 권한을 받은 계정으로 로그인해야 보인다</a:t>
            </a:r>
          </a:p>
          <a:p>
            <a:pPr algn="l">
              <a:lnSpc>
                <a:spcPct val="110000"/>
              </a:lnSpc>
              <a:spcAft>
                <a:spcPts val="600"/>
              </a:spcAft>
            </a:pPr>
            <a:r>
              <a:rPr sz="1450" b="0">
                <a:solidFill>
                  <a:srgbClr val="1F2A3A"/>
                </a:solidFill>
                <a:latin typeface="맑은 고딕"/>
                <a:ea typeface="맑은 고딕"/>
                <a:cs typeface="맑은 고딕"/>
              </a:rPr>
              <a:t>• 함께 작업하는 사람과 쓸 때 고른다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지정한 사람만</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게시</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페이지를 웹 주소로 공개한다</a:t>
            </a:r>
          </a:p>
          <a:p>
            <a:pPr algn="l">
              <a:lnSpc>
                <a:spcPct val="110000"/>
              </a:lnSpc>
              <a:spcAft>
                <a:spcPts val="600"/>
              </a:spcAft>
            </a:pPr>
            <a:r>
              <a:rPr sz="1450" b="0">
                <a:solidFill>
                  <a:srgbClr val="1F2A3A"/>
                </a:solidFill>
                <a:latin typeface="맑은 고딕"/>
                <a:ea typeface="맑은 고딕"/>
                <a:cs typeface="맑은 고딕"/>
              </a:rPr>
              <a:t>• 로그인 없이 링크만으로 열린다</a:t>
            </a:r>
          </a:p>
          <a:p>
            <a:pPr algn="l">
              <a:lnSpc>
                <a:spcPct val="110000"/>
              </a:lnSpc>
              <a:spcAft>
                <a:spcPts val="600"/>
              </a:spcAft>
            </a:pPr>
            <a:r>
              <a:rPr sz="1450" b="0">
                <a:solidFill>
                  <a:srgbClr val="1F2A3A"/>
                </a:solidFill>
                <a:latin typeface="맑은 고딕"/>
                <a:ea typeface="맑은 고딕"/>
                <a:cs typeface="맑은 고딕"/>
              </a:rPr>
              <a:t>• 페이지 안의 데이터베이스 항목도 함께 보인다</a:t>
            </a:r>
          </a:p>
          <a:p>
            <a:pPr algn="l">
              <a:lnSpc>
                <a:spcPct val="110000"/>
              </a:lnSpc>
              <a:spcAft>
                <a:spcPts val="600"/>
              </a:spcAft>
            </a:pPr>
            <a:r>
              <a:rPr sz="1450" b="0">
                <a:solidFill>
                  <a:srgbClr val="1F2A3A"/>
                </a:solidFill>
                <a:latin typeface="맑은 고딕"/>
                <a:ea typeface="맑은 고딕"/>
                <a:cs typeface="맑은 고딕"/>
              </a:rPr>
              <a:t>• 개인 정보, 계정, 접속 키는 넣지 않는다</a:t>
            </a:r>
          </a:p>
        </p:txBody>
      </p:sp>
      <p:sp>
        <p:nvSpPr>
          <p:cNvPr id="18" name="Rounded Rectangle 17"/>
          <p:cNvSpPr/>
          <p:nvPr/>
        </p:nvSpPr>
        <p:spPr>
          <a:xfrm>
            <a:off x="6781647" y="5096002"/>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링크를 아는 누구나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Notion 학습 노트의 구성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과정 홈과 학습 노트 데이터베이스를 만들어 이후 기록의 틀로 삼는다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과정 홈 하나와 학습 노트 데이터베이스 하나가 만들어지고 첫 기록 한 건이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전체의 입구가 되는 페이지이다</a:t>
            </a:r>
          </a:p>
          <a:p>
            <a:pPr algn="l">
              <a:lnSpc>
                <a:spcPct val="110000"/>
              </a:lnSpc>
              <a:spcAft>
                <a:spcPts val="400"/>
              </a:spcAft>
            </a:pPr>
            <a:r>
              <a:rPr sz="1400" b="0">
                <a:solidFill>
                  <a:srgbClr val="1F2A3A"/>
                </a:solidFill>
                <a:latin typeface="맑은 고딕"/>
                <a:ea typeface="맑은 고딕"/>
                <a:cs typeface="맑은 고딕"/>
              </a:rPr>
              <a:t>• 노트의 사용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기록의 종류마다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종류의 구분</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 노트 데이터베이스</a:t>
            </a:r>
          </a:p>
          <a:p>
            <a:pPr algn="l">
              <a:lnSpc>
                <a:spcPct val="110000"/>
              </a:lnSpc>
              <a:spcAft>
                <a:spcPts val="400"/>
              </a:spcAft>
            </a:pPr>
            <a:r>
              <a:rPr sz="1400" b="0">
                <a:solidFill>
                  <a:srgbClr val="1F2A3A"/>
                </a:solidFill>
                <a:latin typeface="맑은 고딕"/>
                <a:ea typeface="맑은 고딕"/>
                <a:cs typeface="맑은 고딕"/>
              </a:rPr>
              <a:t>• 속성은 분야, 이해도, 생성 일시이다</a:t>
            </a:r>
          </a:p>
          <a:p>
            <a:pPr algn="l">
              <a:lnSpc>
                <a:spcPct val="110000"/>
              </a:lnSpc>
              <a:spcAft>
                <a:spcPts val="400"/>
              </a:spcAft>
            </a:pPr>
            <a:r>
              <a:rPr sz="1400" b="0">
                <a:solidFill>
                  <a:srgbClr val="1F2A3A"/>
                </a:solidFill>
                <a:latin typeface="맑은 고딕"/>
                <a:ea typeface="맑은 고딕"/>
                <a:cs typeface="맑은 고딕"/>
              </a:rPr>
              <a:t>• 템플릿과 재학습 필터 보기를 함께 둔다</a:t>
            </a:r>
          </a:p>
          <a:p>
            <a:pPr algn="l">
              <a:lnSpc>
                <a:spcPct val="110000"/>
              </a:lnSpc>
              <a:spcAft>
                <a:spcPts val="400"/>
              </a:spcAft>
            </a:pPr>
            <a:r>
              <a:rPr sz="1400" b="0">
                <a:solidFill>
                  <a:srgbClr val="1F2A3A"/>
                </a:solidFill>
                <a:latin typeface="맑은 고딕"/>
                <a:ea typeface="맑은 고딕"/>
                <a:cs typeface="맑은 고딕"/>
              </a:rPr>
              <a:t>• 첫 기록으로 개념 하나를 자신의 문장으로 적는다</a:t>
            </a:r>
          </a:p>
        </p:txBody>
      </p:sp>
      <p:sp>
        <p:nvSpPr>
          <p:cNvPr id="22" name="Rounded Rectangle 21"/>
          <p:cNvSpPr/>
          <p:nvPr/>
        </p:nvSpPr>
        <p:spPr>
          <a:xfrm>
            <a:off x="8356396" y="5366766"/>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재학습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유온 TS1 한 값이 설비에서 저장소와 화면, 경보에 이르는 경로</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선행 교육의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설비에서 생긴 물리량은 센서와 PLC를 거쳐 관제 화면에 이르며, 이 수업은 그 값이 그 뒤에 어떻게 쓰이는지를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ectangle 5"/>
          <p:cNvSpPr/>
          <p:nvPr/>
        </p:nvSpPr>
        <p:spPr>
          <a:xfrm>
            <a:off x="1935441" y="3465385"/>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229470"/>
            <a:ext cx="618134" cy="618134"/>
          </a:xfrm>
          <a:prstGeom prst="rect">
            <a:avLst/>
          </a:prstGeom>
        </p:spPr>
      </p:pic>
      <p:sp>
        <p:nvSpPr>
          <p:cNvPr id="11" name="TextBox 10"/>
          <p:cNvSpPr txBox="1"/>
          <p:nvPr/>
        </p:nvSpPr>
        <p:spPr>
          <a:xfrm>
            <a:off x="640079"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측정값</a:t>
            </a:r>
          </a:p>
        </p:txBody>
      </p:sp>
      <p:sp>
        <p:nvSpPr>
          <p:cNvPr id="14" name="Oval 13"/>
          <p:cNvSpPr/>
          <p:nvPr/>
        </p:nvSpPr>
        <p:spPr>
          <a:xfrm>
            <a:off x="4114685"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229470"/>
            <a:ext cx="618134" cy="618134"/>
          </a:xfrm>
          <a:prstGeom prst="rect">
            <a:avLst/>
          </a:prstGeom>
        </p:spPr>
      </p:pic>
      <p:sp>
        <p:nvSpPr>
          <p:cNvPr id="16" name="TextBox 15"/>
          <p:cNvSpPr txBox="1"/>
          <p:nvPr/>
        </p:nvSpPr>
        <p:spPr>
          <a:xfrm>
            <a:off x="3413683"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값으로 내놓는다</a:t>
            </a:r>
          </a:p>
        </p:txBody>
      </p:sp>
      <p:sp>
        <p:nvSpPr>
          <p:cNvPr id="17" name="Chevron 16"/>
          <p:cNvSpPr/>
          <p:nvPr/>
        </p:nvSpPr>
        <p:spPr>
          <a:xfrm>
            <a:off x="8750579"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값과 상태</a:t>
            </a:r>
          </a:p>
        </p:txBody>
      </p:sp>
      <p:sp>
        <p:nvSpPr>
          <p:cNvPr id="19" name="Oval 18"/>
          <p:cNvSpPr/>
          <p:nvPr/>
        </p:nvSpPr>
        <p:spPr>
          <a:xfrm>
            <a:off x="688828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229470"/>
            <a:ext cx="618134" cy="618134"/>
          </a:xfrm>
          <a:prstGeom prst="rect">
            <a:avLst/>
          </a:prstGeom>
        </p:spPr>
      </p:pic>
      <p:sp>
        <p:nvSpPr>
          <p:cNvPr id="21" name="TextBox 20"/>
          <p:cNvSpPr txBox="1"/>
          <p:nvPr/>
        </p:nvSpPr>
        <p:spPr>
          <a:xfrm>
            <a:off x="6187287"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값을 읽어 설비를 제어한다</a:t>
            </a:r>
          </a:p>
        </p:txBody>
      </p:sp>
      <p:sp>
        <p:nvSpPr>
          <p:cNvPr id="22" name="Oval 21"/>
          <p:cNvSpPr/>
          <p:nvPr/>
        </p:nvSpPr>
        <p:spPr>
          <a:xfrm>
            <a:off x="9661893"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229470"/>
            <a:ext cx="618134" cy="618134"/>
          </a:xfrm>
          <a:prstGeom prst="rect">
            <a:avLst/>
          </a:prstGeom>
        </p:spPr>
      </p:pic>
      <p:sp>
        <p:nvSpPr>
          <p:cNvPr id="24" name="TextBox 23"/>
          <p:cNvSpPr txBox="1"/>
          <p:nvPr/>
        </p:nvSpPr>
        <p:spPr>
          <a:xfrm>
            <a:off x="8960891"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값을 보여 주고 조작을 받는다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사건: HYD-01의 유온 TS1 상승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단원은 유압 설비 HYD-01의 유온 TS1이 오르는 사건 하나를 따라가며 값이 지나가는 자리를 차례로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899918"/>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899918"/>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HYD-01의 유온 TS1이 48 ℃에서 오르기 시작한다</a:t>
            </a:r>
          </a:p>
        </p:txBody>
      </p:sp>
      <p:sp>
        <p:nvSpPr>
          <p:cNvPr id="8" name="Oval 7"/>
          <p:cNvSpPr/>
          <p:nvPr/>
        </p:nvSpPr>
        <p:spPr>
          <a:xfrm>
            <a:off x="548640" y="4180078"/>
            <a:ext cx="731520" cy="731520"/>
          </a:xfrm>
          <a:prstGeom prst="ellipse">
            <a:avLst/>
          </a:prstGeom>
          <a:solidFill>
            <a:srgbClr val="E7F3FD"/>
          </a:solidFill>
          <a:ln>
            <a:noFill/>
          </a:ln>
        </p:spPr>
        <p:txBody>
          <a:bodyPr rtlCol="0" anchor="ctr"/>
          <a:lstStyle/>
          <a:p>
            <a:pPr algn="ctr"/>
          </a:p>
        </p:txBody>
      </p:sp>
      <p:pic>
        <p:nvPicPr>
          <p:cNvPr id="9" name="아이콘:gauge" descr="gauge_13294B_1.6.png"/>
          <p:cNvPicPr>
            <a:picLocks noChangeAspect="1"/>
          </p:cNvPicPr>
          <p:nvPr/>
        </p:nvPicPr>
        <p:blipFill>
          <a:blip r:embed="rId3"/>
          <a:stretch>
            <a:fillRect/>
          </a:stretch>
        </p:blipFill>
        <p:spPr>
          <a:xfrm>
            <a:off x="702259" y="4333697"/>
            <a:ext cx="424281" cy="424281"/>
          </a:xfrm>
          <a:prstGeom prst="rect">
            <a:avLst/>
          </a:prstGeom>
        </p:spPr>
      </p:pic>
      <p:sp>
        <p:nvSpPr>
          <p:cNvPr id="10" name="TextBox 9"/>
          <p:cNvSpPr txBox="1"/>
          <p:nvPr/>
        </p:nvSpPr>
        <p:spPr>
          <a:xfrm>
            <a:off x="1371600"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생기는 곳</a:t>
            </a:r>
          </a:p>
          <a:p>
            <a:pPr algn="l">
              <a:lnSpc>
                <a:spcPct val="110000"/>
              </a:lnSpc>
              <a:spcAft>
                <a:spcPts val="400"/>
              </a:spcAft>
            </a:pPr>
            <a:r>
              <a:rPr sz="1400" b="0">
                <a:solidFill>
                  <a:srgbClr val="1F2A3A"/>
                </a:solidFill>
                <a:latin typeface="맑은 고딕"/>
                <a:ea typeface="맑은 고딕"/>
                <a:cs typeface="맑은 고딕"/>
              </a:rPr>
              <a:t>설비의 센서와 PLC</a:t>
            </a:r>
          </a:p>
        </p:txBody>
      </p:sp>
      <p:sp>
        <p:nvSpPr>
          <p:cNvPr id="11" name="Oval 10"/>
          <p:cNvSpPr/>
          <p:nvPr/>
        </p:nvSpPr>
        <p:spPr>
          <a:xfrm>
            <a:off x="4338218" y="4180078"/>
            <a:ext cx="731520" cy="731520"/>
          </a:xfrm>
          <a:prstGeom prst="ellipse">
            <a:avLst/>
          </a:prstGeom>
          <a:solidFill>
            <a:srgbClr val="E7F3FD"/>
          </a:solidFill>
          <a:ln>
            <a:noFill/>
          </a:ln>
        </p:spPr>
        <p:txBody>
          <a:bodyPr rtlCol="0" anchor="ctr"/>
          <a:lstStyle/>
          <a:p>
            <a:pPr algn="ctr"/>
          </a:p>
        </p:txBody>
      </p:sp>
      <p:pic>
        <p:nvPicPr>
          <p:cNvPr id="12" name="아이콘:stack-2" descr="stack-2_13294B_1.6.png"/>
          <p:cNvPicPr>
            <a:picLocks noChangeAspect="1"/>
          </p:cNvPicPr>
          <p:nvPr/>
        </p:nvPicPr>
        <p:blipFill>
          <a:blip r:embed="rId4"/>
          <a:stretch>
            <a:fillRect/>
          </a:stretch>
        </p:blipFill>
        <p:spPr>
          <a:xfrm>
            <a:off x="4491837" y="4333697"/>
            <a:ext cx="424281" cy="424281"/>
          </a:xfrm>
          <a:prstGeom prst="rect">
            <a:avLst/>
          </a:prstGeom>
        </p:spPr>
      </p:pic>
      <p:sp>
        <p:nvSpPr>
          <p:cNvPr id="13" name="TextBox 12"/>
          <p:cNvSpPr txBox="1"/>
          <p:nvPr/>
        </p:nvSpPr>
        <p:spPr>
          <a:xfrm>
            <a:off x="5161178"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쌓이는 곳</a:t>
            </a:r>
          </a:p>
          <a:p>
            <a:pPr algn="l">
              <a:lnSpc>
                <a:spcPct val="110000"/>
              </a:lnSpc>
              <a:spcAft>
                <a:spcPts val="400"/>
              </a:spcAft>
            </a:pPr>
            <a:r>
              <a:rPr sz="1400" b="0">
                <a:solidFill>
                  <a:srgbClr val="1F2A3A"/>
                </a:solidFill>
                <a:latin typeface="맑은 고딕"/>
                <a:ea typeface="맑은 고딕"/>
                <a:cs typeface="맑은 고딕"/>
              </a:rPr>
              <a:t>메시지, 기록, 저장소</a:t>
            </a:r>
          </a:p>
        </p:txBody>
      </p:sp>
      <p:sp>
        <p:nvSpPr>
          <p:cNvPr id="14" name="Oval 13"/>
          <p:cNvSpPr/>
          <p:nvPr/>
        </p:nvSpPr>
        <p:spPr>
          <a:xfrm>
            <a:off x="8127796" y="4180078"/>
            <a:ext cx="731520" cy="731520"/>
          </a:xfrm>
          <a:prstGeom prst="ellipse">
            <a:avLst/>
          </a:prstGeom>
          <a:solidFill>
            <a:srgbClr val="E7F3FD"/>
          </a:solidFill>
          <a:ln>
            <a:noFill/>
          </a:ln>
        </p:spPr>
        <p:txBody>
          <a:bodyPr rtlCol="0" anchor="ctr"/>
          <a:lstStyle/>
          <a:p>
            <a:pPr algn="ctr"/>
          </a:p>
        </p:txBody>
      </p:sp>
      <p:pic>
        <p:nvPicPr>
          <p:cNvPr id="15" name="아이콘:bell-ringing" descr="bell-ringing_13294B_1.6.png"/>
          <p:cNvPicPr>
            <a:picLocks noChangeAspect="1"/>
          </p:cNvPicPr>
          <p:nvPr/>
        </p:nvPicPr>
        <p:blipFill>
          <a:blip r:embed="rId5"/>
          <a:stretch>
            <a:fillRect/>
          </a:stretch>
        </p:blipFill>
        <p:spPr>
          <a:xfrm>
            <a:off x="8281416" y="4333697"/>
            <a:ext cx="424281" cy="424281"/>
          </a:xfrm>
          <a:prstGeom prst="rect">
            <a:avLst/>
          </a:prstGeom>
        </p:spPr>
      </p:pic>
      <p:sp>
        <p:nvSpPr>
          <p:cNvPr id="16" name="TextBox 15"/>
          <p:cNvSpPr txBox="1"/>
          <p:nvPr/>
        </p:nvSpPr>
        <p:spPr>
          <a:xfrm>
            <a:off x="8950756"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값을 알아차리는 곳</a:t>
            </a:r>
          </a:p>
          <a:p>
            <a:pPr algn="l">
              <a:lnSpc>
                <a:spcPct val="110000"/>
              </a:lnSpc>
              <a:spcAft>
                <a:spcPts val="400"/>
              </a:spcAft>
            </a:pPr>
            <a:r>
              <a:rPr sz="1400" b="0">
                <a:solidFill>
                  <a:srgbClr val="1F2A3A"/>
                </a:solidFill>
                <a:latin typeface="맑은 고딕"/>
                <a:ea typeface="맑은 고딕"/>
                <a:cs typeface="맑은 고딕"/>
              </a:rPr>
              <a:t>화면과 감지기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9개 기능 계층과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HYD는 현장 계측부터 승인과 실행까지를 아홉 기능 계층으로 나누고, 각 계층을 세 보안 영역에 배치한다.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계층_0_전체.svg" descr="illust_149273779038338741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설비_유압파워팩.svg" descr="illust_605375644560984382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 TS1이 오르는 까닭: 작동유의 순환과 쿨러의 열 방출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쿨러가 열을 덜 내보내면 덜 식은 작동유가 탱크로 돌아가 다시 돌므로 쿨러 입구의 유온 TS1이 오른다.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설비_유압파워팩.svg" descr="illust_605375644560984382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531504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작동유 탱크</a:t>
            </a:r>
          </a:p>
        </p:txBody>
      </p:sp>
      <p:sp>
        <p:nvSpPr>
          <p:cNvPr id="8" name="TextBox 7"/>
          <p:cNvSpPr txBox="1"/>
          <p:nvPr/>
        </p:nvSpPr>
        <p:spPr>
          <a:xfrm>
            <a:off x="1252031"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모터 · 펌프</a:t>
            </a:r>
          </a:p>
        </p:txBody>
      </p:sp>
      <p:sp>
        <p:nvSpPr>
          <p:cNvPr id="9" name="TextBox 8"/>
          <p:cNvSpPr txBox="1"/>
          <p:nvPr/>
        </p:nvSpPr>
        <p:spPr>
          <a:xfrm>
            <a:off x="7481353" y="1864004"/>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a:t>
            </a:r>
          </a:p>
        </p:txBody>
      </p:sp>
      <p:sp>
        <p:nvSpPr>
          <p:cNvPr id="10" name="TextBox 9"/>
          <p:cNvSpPr txBox="1"/>
          <p:nvPr/>
        </p:nvSpPr>
        <p:spPr>
          <a:xfrm>
            <a:off x="8386841" y="290404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뜨거운 작동유</a:t>
            </a:r>
          </a:p>
          <a:p>
            <a:pPr algn="ctr">
              <a:lnSpc>
                <a:spcPct val="110000"/>
              </a:lnSpc>
              <a:spcAft>
                <a:spcPts val="100"/>
              </a:spcAft>
            </a:pPr>
            <a:r>
              <a:rPr sz="1300" b="0">
                <a:solidFill>
                  <a:srgbClr val="556175"/>
                </a:solidFill>
                <a:latin typeface="맑은 고딕"/>
                <a:ea typeface="맑은 고딕"/>
                <a:cs typeface="맑은 고딕"/>
              </a:rPr>
              <a:t>부하에서 돌아온다</a:t>
            </a:r>
          </a:p>
        </p:txBody>
      </p:sp>
      <p:sp>
        <p:nvSpPr>
          <p:cNvPr id="11" name="TextBox 10"/>
          <p:cNvSpPr txBox="1"/>
          <p:nvPr/>
        </p:nvSpPr>
        <p:spPr>
          <a:xfrm>
            <a:off x="5550372" y="2667670"/>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 유온</a:t>
            </a:r>
          </a:p>
          <a:p>
            <a:pPr algn="ctr">
              <a:lnSpc>
                <a:spcPct val="110000"/>
              </a:lnSpc>
              <a:spcAft>
                <a:spcPts val="100"/>
              </a:spcAft>
            </a:pPr>
            <a:r>
              <a:rPr sz="1300" b="0">
                <a:solidFill>
                  <a:srgbClr val="556175"/>
                </a:solidFill>
                <a:latin typeface="맑은 고딕"/>
                <a:ea typeface="맑은 고딕"/>
                <a:cs typeface="맑은 고딕"/>
              </a:rPr>
              <a:t>쿨러 입구에서 잰다</a:t>
            </a:r>
          </a:p>
          <a:p>
            <a:pPr algn="ctr">
              <a:lnSpc>
                <a:spcPct val="110000"/>
              </a:lnSpc>
              <a:spcAft>
                <a:spcPts val="100"/>
              </a:spcAft>
            </a:pPr>
            <a:r>
              <a:rPr sz="1300" b="0">
                <a:solidFill>
                  <a:srgbClr val="556175"/>
                </a:solidFill>
                <a:latin typeface="맑은 고딕"/>
                <a:ea typeface="맑은 고딕"/>
                <a:cs typeface="맑은 고딕"/>
              </a:rPr>
              <a:t>정상 48 ℃</a:t>
            </a:r>
          </a:p>
        </p:txBody>
      </p:sp>
      <p:sp>
        <p:nvSpPr>
          <p:cNvPr id="12" name="TextBox 11"/>
          <p:cNvSpPr txBox="1"/>
          <p:nvPr/>
        </p:nvSpPr>
        <p:spPr>
          <a:xfrm>
            <a:off x="6314037" y="5244129"/>
            <a:ext cx="436379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작동유의 열을 공기로 내보낸다</a:t>
            </a:r>
          </a:p>
          <a:p>
            <a:pPr algn="ctr">
              <a:lnSpc>
                <a:spcPct val="110000"/>
              </a:lnSpc>
              <a:spcAft>
                <a:spcPts val="100"/>
              </a:spcAft>
            </a:pPr>
            <a:r>
              <a:rPr sz="1300" b="0">
                <a:solidFill>
                  <a:srgbClr val="556175"/>
                </a:solidFill>
                <a:latin typeface="맑은 고딕"/>
                <a:ea typeface="맑은 고딕"/>
                <a:cs typeface="맑은 고딕"/>
              </a:rPr>
              <a:t>열을 덜 내보내면 덜 식은 작동유가 다시 돈다</a:t>
            </a:r>
          </a:p>
        </p:txBody>
      </p:sp>
      <p:sp>
        <p:nvSpPr>
          <p:cNvPr id="13" name="TextBox 12"/>
          <p:cNvSpPr txBox="1"/>
          <p:nvPr/>
        </p:nvSpPr>
        <p:spPr>
          <a:xfrm>
            <a:off x="9870532" y="3991356"/>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팬</a:t>
            </a:r>
          </a:p>
        </p:txBody>
      </p:sp>
      <p:sp>
        <p:nvSpPr>
          <p:cNvPr id="14" name="TextBox 13"/>
          <p:cNvSpPr txBox="1"/>
          <p:nvPr/>
        </p:nvSpPr>
        <p:spPr>
          <a:xfrm>
            <a:off x="4895803" y="564596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돌아오는 길</a:t>
            </a:r>
          </a:p>
          <a:p>
            <a:pPr algn="ctr">
              <a:lnSpc>
                <a:spcPct val="110000"/>
              </a:lnSpc>
              <a:spcAft>
                <a:spcPts val="100"/>
              </a:spcAft>
            </a:pPr>
            <a:r>
              <a:rPr sz="1300" b="0">
                <a:solidFill>
                  <a:srgbClr val="556175"/>
                </a:solidFill>
                <a:latin typeface="맑은 고딕"/>
                <a:ea typeface="맑은 고딕"/>
                <a:cs typeface="맑은 고딕"/>
              </a:rPr>
              <a:t>쿨러를 거쳐 탱크로</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PLC: 센서 값을 읽고 설비를 보호하는 제어기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PLC는 센서 값을 읽어 설비를 제어하고, 값이 위험 수준에 이르면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센서 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조건이 되면 다른 명령보다 먼저 설비를 안전한 상태로 보내는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현장 통신</a:t>
            </a:r>
          </a:p>
          <a:p>
            <a:pPr algn="l">
              <a:lnSpc>
                <a:spcPct val="110000"/>
              </a:lnSpc>
              <a:spcAft>
                <a:spcPts val="200"/>
              </a:spcAft>
            </a:pPr>
            <a:r>
              <a:rPr sz="1150" b="0">
                <a:solidFill>
                  <a:srgbClr val="556175"/>
                </a:solidFill>
                <a:latin typeface="맑은 고딕"/>
                <a:ea typeface="맑은 고딕"/>
                <a:cs typeface="맑은 고딕"/>
              </a:rPr>
              <a:t>Modbus</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제어기가 주고받는 통신은 단순하게 둔다. 언제나 정해진 시간 안에 도착해야 하기 때문이다.</a:t>
            </a:r>
          </a:p>
          <a:p>
            <a:pPr algn="l">
              <a:lnSpc>
                <a:spcPct val="110000"/>
              </a:lnSpc>
              <a:spcAft>
                <a:spcPts val="300"/>
              </a:spcAft>
            </a:pPr>
            <a:r>
              <a:rPr sz="1400" b="0">
                <a:solidFill>
                  <a:srgbClr val="1F2A3A"/>
                </a:solidFill>
                <a:latin typeface="맑은 고딕"/>
                <a:ea typeface="맑은 고딕"/>
                <a:cs typeface="맑은 고딕"/>
              </a:rPr>
              <a:t>예: Modbus. 암호화와 인증을 넣지 않고, 보안은 위 계층이 맡는다.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PLC는 유온, 토출 압력, 팬 진동의 세 값 가운데 하나라도 한계를 벗어나면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65 ℃를 넘으면 정지한다</a:t>
            </a:r>
          </a:p>
        </p:txBody>
      </p:sp>
      <p:sp>
        <p:nvSpPr>
          <p:cNvPr id="10" name="Rounded Rectangle 9"/>
          <p:cNvSpPr/>
          <p:nvPr/>
        </p:nvSpPr>
        <p:spPr>
          <a:xfrm>
            <a:off x="777240" y="4824476"/>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130 bar 아래로 내려가면 정지한다</a:t>
            </a:r>
          </a:p>
        </p:txBody>
      </p:sp>
      <p:sp>
        <p:nvSpPr>
          <p:cNvPr id="16" name="Rounded Rectangle 15"/>
          <p:cNvSpPr/>
          <p:nvPr/>
        </p:nvSpPr>
        <p:spPr>
          <a:xfrm>
            <a:off x="4566818" y="482447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2.0 mm/s 이상이면 정지한다</a:t>
            </a:r>
          </a:p>
        </p:txBody>
      </p:sp>
      <p:sp>
        <p:nvSpPr>
          <p:cNvPr id="22" name="Rounded Rectangle 21"/>
          <p:cNvSpPr/>
          <p:nvPr/>
        </p:nvSpPr>
        <p:spPr>
          <a:xfrm>
            <a:off x="8356396" y="482447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태그 값과 운전 상태: PLC가 올려 보내는 두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엣지 게이트웨이는 태그 값과 운전 상태를 올려 보내며, 태그 값은 정상값에 견주어야 높낮이를 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2002917"/>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3328543"/>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PS1 · VS1</a:t>
            </a:r>
          </a:p>
          <a:p>
            <a:pPr algn="l">
              <a:lnSpc>
                <a:spcPct val="110000"/>
              </a:lnSpc>
              <a:spcAft>
                <a:spcPts val="400"/>
              </a:spcAft>
            </a:pPr>
            <a:r>
              <a:rPr sz="1400" b="0">
                <a:solidFill>
                  <a:srgbClr val="1F2A3A"/>
                </a:solidFill>
                <a:latin typeface="맑은 고딕"/>
                <a:ea typeface="맑은 고딕"/>
                <a:cs typeface="맑은 고딕"/>
              </a:rPr>
              <a:t>토출 압력(펌프가 내보내는 압력)은 정상 182 bar, 팬 진동(쿨러 팬의 떨림)은 정상 0.6 mm/s이다.</a:t>
            </a:r>
          </a:p>
        </p:txBody>
      </p:sp>
      <p:sp>
        <p:nvSpPr>
          <p:cNvPr id="10" name="TextBox 9"/>
          <p:cNvSpPr txBox="1"/>
          <p:nvPr/>
        </p:nvSpPr>
        <p:spPr>
          <a:xfrm>
            <a:off x="7635240" y="4654169"/>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운전 상태</a:t>
            </a:r>
          </a:p>
          <a:p>
            <a:pPr algn="l">
              <a:lnSpc>
                <a:spcPct val="110000"/>
              </a:lnSpc>
              <a:spcAft>
                <a:spcPts val="400"/>
              </a:spcAft>
            </a:pPr>
            <a:r>
              <a:rPr sz="1400" b="0">
                <a:solidFill>
                  <a:srgbClr val="1F2A3A"/>
                </a:solidFill>
                <a:latin typeface="맑은 고딕"/>
                <a:ea typeface="맑은 고딕"/>
                <a:cs typeface="맑은 고딕"/>
              </a:rPr>
              <a:t>설비가 어떤 모드로 돌고 있는지, 팬 속도와 부하가 몇 퍼센트인지를 담는다. interlock은 인터록에 걸리지 않았으면 PASS이다.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 브로커를 거쳐 값을 전달하는 발행 · 구독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리니지_1_MQTT.svg" descr="illust_533513715457844392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값을</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 EMQX</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구독자가 받고 싶은 토픽을 브로커에 먼저 등록해 두면, 발행된 메시지를 브로커가 그 구독자에게 전달한다.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EMQX에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토픽에 실어 EMQX로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EMQX가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영역의 경계와 수집 서비스 connect-ingest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OT와 IT는 직접 이어져 있지 않고, 계측값은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의 connect-ingest가 받아 IT로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리니지_2_DMZ.svg" descr="illust_832481257625274268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EMQX</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connect-ingest</a:t>
            </a:r>
          </a:p>
          <a:p>
            <a:pPr algn="ctr">
              <a:lnSpc>
                <a:spcPct val="110000"/>
              </a:lnSpc>
              <a:spcAft>
                <a:spcPts val="100"/>
              </a:spcAft>
            </a:pPr>
            <a:r>
              <a:rPr sz="1300" b="0">
                <a:solidFill>
                  <a:srgbClr val="556175"/>
                </a:solidFill>
                <a:latin typeface="맑은 고딕"/>
                <a:ea typeface="맑은 고딕"/>
                <a:cs typeface="맑은 고딕"/>
              </a:rPr>
              <a:t>EMQX를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값의 두 형식: MQTT 메시지와 Redpanda 레코드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connect-ingest는 토픽 경로에 있던 설비와 태그 이름을 본문에 넣어 </a:t>
            </a:r>
            <a:r>
              <a:rPr sz="1600" b="1">
                <a:solidFill>
                  <a:srgbClr val="1A6FC4"/>
                </a:solidFill>
                <a:latin typeface="맑은 고딕"/>
                <a:ea typeface="맑은 고딕"/>
                <a:cs typeface="맑은 고딕"/>
              </a:rPr>
              <a:t>Redpanda</a:t>
            </a:r>
            <a:r>
              <a:rPr sz="1600" b="0">
                <a:solidFill>
                  <a:srgbClr val="556175"/>
                </a:solidFill>
                <a:latin typeface="맑은 고딕"/>
                <a:ea typeface="맑은 고딕"/>
                <a:cs typeface="맑은 고딕"/>
              </a:rPr>
              <a:t>에 기록한다.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OT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EMQX</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MQTT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IT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Redpanda</a:t>
            </a:r>
            <a:r>
              <a:rPr sz="1300" b="0">
                <a:solidFill>
                  <a:srgbClr val="E8EEF6"/>
                </a:solidFill>
                <a:latin typeface="맑은 고딕"/>
                <a:ea typeface="맑은 고딕"/>
                <a:cs typeface="맑은 고딕"/>
              </a:rPr>
              <a:t>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쌓인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 · v · q</a:t>
            </a:r>
          </a:p>
          <a:p>
            <a:pPr algn="l">
              <a:lnSpc>
                <a:spcPct val="110000"/>
              </a:lnSpc>
              <a:spcAft>
                <a:spcPts val="400"/>
              </a:spcAft>
            </a:pPr>
            <a:r>
              <a:rPr sz="1400" b="0">
                <a:solidFill>
                  <a:srgbClr val="1F2A3A"/>
                </a:solidFill>
                <a:latin typeface="맑은 고딕"/>
                <a:ea typeface="맑은 고딕"/>
                <a:cs typeface="맑은 고딕"/>
              </a:rPr>
              <a:t>본문(payload)에 든 잰 시각, 값, 품질이다.</a:t>
            </a:r>
          </a:p>
          <a:p>
            <a:pPr algn="l">
              <a:lnSpc>
                <a:spcPct val="110000"/>
              </a:lnSpc>
              <a:spcAft>
                <a:spcPts val="400"/>
              </a:spcAft>
            </a:pPr>
            <a:r>
              <a:rPr sz="1400" b="0">
                <a:solidFill>
                  <a:srgbClr val="1F2A3A"/>
                </a:solidFill>
                <a:latin typeface="맑은 고딕"/>
                <a:ea typeface="맑은 고딕"/>
                <a:cs typeface="맑은 고딕"/>
              </a:rPr>
              <a:t>t는 세계 표준시로 한국 시간 11:13:08이며, 55.71은 그때의 유온이다.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Redpanda</a:t>
            </a:r>
          </a:p>
          <a:p>
            <a:pPr algn="l">
              <a:lnSpc>
                <a:spcPct val="110000"/>
              </a:lnSpc>
              <a:spcAft>
                <a:spcPts val="400"/>
              </a:spcAft>
            </a:pPr>
            <a:r>
              <a:rPr sz="1400" b="0">
                <a:solidFill>
                  <a:srgbClr val="1F2A3A"/>
                </a:solidFill>
                <a:latin typeface="맑은 고딕"/>
                <a:ea typeface="맑은 고딕"/>
                <a:cs typeface="맑은 고딕"/>
              </a:rPr>
              <a:t>Kafka API와 호환되는 이벤트 스트리밍 플랫폼이다. 받은 레코드를 순서대로 디스크에 보관한다.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plant.tag</a:t>
            </a:r>
          </a:p>
          <a:p>
            <a:pPr algn="l">
              <a:lnSpc>
                <a:spcPct val="110000"/>
              </a:lnSpc>
              <a:spcAft>
                <a:spcPts val="400"/>
              </a:spcAft>
            </a:pPr>
            <a:r>
              <a:rPr sz="1400" b="0">
                <a:solidFill>
                  <a:srgbClr val="1F2A3A"/>
                </a:solidFill>
                <a:latin typeface="맑은 고딕"/>
                <a:ea typeface="맑은 고딕"/>
                <a:cs typeface="맑은 고딕"/>
              </a:rPr>
              <a:t>태그 값이 쌓이는 Redpanda의 토픽이다.</a:t>
            </a:r>
          </a:p>
          <a:p>
            <a:pPr algn="l">
              <a:lnSpc>
                <a:spcPct val="110000"/>
              </a:lnSpc>
              <a:spcAft>
                <a:spcPts val="400"/>
              </a:spcAft>
            </a:pPr>
            <a:r>
              <a:rPr sz="1400" b="0">
                <a:solidFill>
                  <a:srgbClr val="1F2A3A"/>
                </a:solidFill>
                <a:latin typeface="맑은 고딕"/>
                <a:ea typeface="맑은 고딕"/>
                <a:cs typeface="맑은 고딕"/>
              </a:rPr>
              <a:t>키 hyd01은 설비별 레코드 순서를 지킨다.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옮겨 적는 이유</a:t>
            </a:r>
          </a:p>
          <a:p>
            <a:pPr algn="l">
              <a:lnSpc>
                <a:spcPct val="110000"/>
              </a:lnSpc>
              <a:spcAft>
                <a:spcPts val="400"/>
              </a:spcAft>
            </a:pPr>
            <a:r>
              <a:rPr sz="1400" b="0">
                <a:solidFill>
                  <a:srgbClr val="1F2A3A"/>
                </a:solidFill>
                <a:latin typeface="맑은 고딕"/>
                <a:ea typeface="맑은 고딕"/>
                <a:cs typeface="맑은 고딕"/>
              </a:rPr>
              <a:t>EMQX는 태그 메시지를 전달한 뒤 보관하지 않는다. Redpanda에 쌓인 레코드는 여러 서비스가 각자 다시 읽는다.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전달하는 브로커와 보관하는 이벤트 로그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EMQX는 메시지를 전달하고 나면 갖고 있지 않으며, Redpanda는 받은 레코드를 순서대로 보관한다.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EMQX</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값을 받지 못한다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Redpanda</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TimescaleDB와 detector: 값의 저장과 이상 감지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Redpanda에 쌓인 값은 </a:t>
            </a:r>
            <a:r>
              <a:rPr sz="1600" b="1">
                <a:solidFill>
                  <a:srgbClr val="1A6FC4"/>
                </a:solidFill>
                <a:latin typeface="맑은 고딕"/>
                <a:ea typeface="맑은 고딕"/>
                <a:cs typeface="맑은 고딕"/>
              </a:rPr>
              <a:t>TimescaleDB</a:t>
            </a:r>
            <a:r>
              <a:rPr sz="1600" b="0">
                <a:solidFill>
                  <a:srgbClr val="556175"/>
                </a:solidFill>
                <a:latin typeface="맑은 고딕"/>
                <a:ea typeface="맑은 고딕"/>
                <a:cs typeface="맑은 고딕"/>
              </a:rPr>
              <a:t>에 저장되고, detector는 같은 값을 읽어 이상을 감지한다.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리니지_3_저장감지.svg" descr="illust_878220379180258760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826672" y="261094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EMQX</a:t>
            </a:r>
          </a:p>
        </p:txBody>
      </p:sp>
      <p:sp>
        <p:nvSpPr>
          <p:cNvPr id="8" name="TextBox 7"/>
          <p:cNvSpPr txBox="1"/>
          <p:nvPr/>
        </p:nvSpPr>
        <p:spPr>
          <a:xfrm>
            <a:off x="7383168" y="2610941"/>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Redpanda</a:t>
            </a:r>
          </a:p>
        </p:txBody>
      </p:sp>
      <p:sp>
        <p:nvSpPr>
          <p:cNvPr id="9" name="TextBox 8"/>
          <p:cNvSpPr txBox="1"/>
          <p:nvPr/>
        </p:nvSpPr>
        <p:spPr>
          <a:xfrm>
            <a:off x="9063230" y="1864004"/>
            <a:ext cx="2400088" cy="1018920"/>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detector</a:t>
            </a:r>
          </a:p>
          <a:p>
            <a:pPr algn="ctr">
              <a:lnSpc>
                <a:spcPct val="110000"/>
              </a:lnSpc>
              <a:spcAft>
                <a:spcPts val="100"/>
              </a:spcAft>
            </a:pPr>
            <a:r>
              <a:rPr sz="1100" b="0">
                <a:solidFill>
                  <a:srgbClr val="556175"/>
                </a:solidFill>
                <a:latin typeface="맑은 고딕"/>
                <a:ea typeface="맑은 고딕"/>
                <a:cs typeface="맑은 고딕"/>
              </a:rPr>
              <a:t>감지기 · 조건이 일정 시간</a:t>
            </a:r>
          </a:p>
          <a:p>
            <a:pPr algn="ctr">
              <a:lnSpc>
                <a:spcPct val="110000"/>
              </a:lnSpc>
              <a:spcAft>
                <a:spcPts val="100"/>
              </a:spcAft>
            </a:pPr>
            <a:r>
              <a:rPr sz="1100" b="0">
                <a:solidFill>
                  <a:srgbClr val="556175"/>
                </a:solidFill>
                <a:latin typeface="맑은 고딕"/>
                <a:ea typeface="맑은 고딕"/>
                <a:cs typeface="맑은 고딕"/>
              </a:rPr>
              <a:t>이어지면 경보를 낸다</a:t>
            </a:r>
          </a:p>
          <a:p>
            <a:pPr algn="ctr">
              <a:lnSpc>
                <a:spcPct val="110000"/>
              </a:lnSpc>
              <a:spcAft>
                <a:spcPts val="100"/>
              </a:spcAft>
            </a:pPr>
            <a:r>
              <a:rPr sz="1100" b="0">
                <a:solidFill>
                  <a:srgbClr val="556175"/>
                </a:solidFill>
                <a:latin typeface="맑은 고딕"/>
                <a:ea typeface="맑은 고딕"/>
                <a:cs typeface="맑은 고딕"/>
              </a:rPr>
              <a:t>조건: 유온 55 ℃ 초과, 냉각 효율</a:t>
            </a:r>
          </a:p>
          <a:p>
            <a:pPr algn="ctr">
              <a:lnSpc>
                <a:spcPct val="110000"/>
              </a:lnSpc>
              <a:spcAft>
                <a:spcPts val="100"/>
              </a:spcAft>
            </a:pPr>
            <a:r>
              <a:rPr sz="1100" b="0">
                <a:solidFill>
                  <a:srgbClr val="556175"/>
                </a:solidFill>
                <a:latin typeface="맑은 고딕"/>
                <a:ea typeface="맑은 고딕"/>
                <a:cs typeface="맑은 고딕"/>
              </a:rPr>
              <a:t>70 % 미만, 유온 상승 중</a:t>
            </a:r>
          </a:p>
        </p:txBody>
      </p:sp>
      <p:sp>
        <p:nvSpPr>
          <p:cNvPr id="10" name="TextBox 9"/>
          <p:cNvSpPr txBox="1"/>
          <p:nvPr/>
        </p:nvSpPr>
        <p:spPr>
          <a:xfrm>
            <a:off x="7186797" y="5466319"/>
            <a:ext cx="2727373"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TimescaleDB</a:t>
            </a:r>
          </a:p>
          <a:p>
            <a:pPr algn="ctr">
              <a:lnSpc>
                <a:spcPct val="110000"/>
              </a:lnSpc>
              <a:spcAft>
                <a:spcPts val="100"/>
              </a:spcAft>
            </a:pPr>
            <a:r>
              <a:rPr sz="1100" b="0">
                <a:solidFill>
                  <a:srgbClr val="556175"/>
                </a:solidFill>
                <a:latin typeface="맑은 고딕"/>
                <a:ea typeface="맑은 고딕"/>
                <a:cs typeface="맑은 고딕"/>
              </a:rPr>
              <a:t>시계열 데이터베이스 · 표 tag_1s</a:t>
            </a:r>
          </a:p>
          <a:p>
            <a:pPr algn="ctr">
              <a:lnSpc>
                <a:spcPct val="110000"/>
              </a:lnSpc>
              <a:spcAft>
                <a:spcPts val="100"/>
              </a:spcAft>
            </a:pPr>
            <a:r>
              <a:rPr sz="1100" b="0">
                <a:solidFill>
                  <a:srgbClr val="556175"/>
                </a:solidFill>
                <a:latin typeface="맑은 고딕"/>
                <a:ea typeface="맑은 고딕"/>
                <a:cs typeface="맑은 고딕"/>
              </a:rPr>
              <a:t>한 행: 시각 · HYD-01 · TS1 · 55.71</a:t>
            </a:r>
          </a:p>
        </p:txBody>
      </p:sp>
      <p:sp>
        <p:nvSpPr>
          <p:cNvPr id="11" name="TextBox 10"/>
          <p:cNvSpPr txBox="1"/>
          <p:nvPr/>
        </p:nvSpPr>
        <p:spPr>
          <a:xfrm>
            <a:off x="10077813" y="5466319"/>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분석 화면</a:t>
            </a:r>
          </a:p>
        </p:txBody>
      </p:sp>
      <p:sp>
        <p:nvSpPr>
          <p:cNvPr id="12" name="TextBox 11"/>
          <p:cNvSpPr txBox="1"/>
          <p:nvPr/>
        </p:nvSpPr>
        <p:spPr>
          <a:xfrm>
            <a:off x="3717577" y="5466319"/>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 화면</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TimescaleDB에 쌓인 값의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TimescaleDB의 표 tag_1s에는 값 하나가 시각, 설비, 태그 이름, 값의 한 행으로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값 하나가 한 줄이다. 시각, 설비, 태그 이름, 값이 들어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추세선</a:t>
            </a:r>
          </a:p>
          <a:p>
            <a:pPr algn="l">
              <a:lnSpc>
                <a:spcPct val="110000"/>
              </a:lnSpc>
              <a:spcAft>
                <a:spcPts val="400"/>
              </a:spcAft>
            </a:pPr>
            <a:r>
              <a:rPr sz="1400" b="0">
                <a:solidFill>
                  <a:srgbClr val="1F2A3A"/>
                </a:solidFill>
                <a:latin typeface="맑은 고딕"/>
                <a:ea typeface="맑은 고딕"/>
                <a:cs typeface="맑은 고딕"/>
              </a:rPr>
              <a:t>Grafana의 추세선은 이 행들을 시각 순서로 이은 것이다.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조건은 두 값과 추세를 함께 보고, 그 상태가 일정 시간 이어진 뒤에야 성립해 잠깐 튄 값을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FUXA와 Grafana: 실시간 운전 화면과 이력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FUXA는 EMQX에서 받은 지금의 값을, Grafana는 TimescaleDB에 쌓인 이력을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FUXA</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오픈소스 웹 SCADA · HMI(Human-Machine Interface) 도구이다</a:t>
            </a:r>
          </a:p>
          <a:p>
            <a:pPr algn="l">
              <a:lnSpc>
                <a:spcPct val="110000"/>
              </a:lnSpc>
              <a:spcAft>
                <a:spcPts val="600"/>
              </a:spcAft>
            </a:pPr>
            <a:r>
              <a:rPr sz="1450" b="0">
                <a:solidFill>
                  <a:srgbClr val="1F2A3A"/>
                </a:solidFill>
                <a:latin typeface="맑은 고딕"/>
                <a:ea typeface="맑은 고딕"/>
                <a:cs typeface="맑은 고딕"/>
              </a:rPr>
              <a:t>• OT에서 EMQX를 직접 구독해 지금의 값을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p:txBody>
      </p:sp>
      <p:sp>
        <p:nvSpPr>
          <p:cNvPr id="11" name="Rounded Rectangle 10"/>
          <p:cNvSpPr/>
          <p:nvPr/>
        </p:nvSpPr>
        <p:spPr>
          <a:xfrm>
            <a:off x="868680" y="5246433"/>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0726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값과 조작</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Grafana</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TimescaleDB를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p:txBody>
      </p:sp>
      <p:sp>
        <p:nvSpPr>
          <p:cNvPr id="18" name="Rounded Rectangle 17"/>
          <p:cNvSpPr/>
          <p:nvPr/>
        </p:nvSpPr>
        <p:spPr>
          <a:xfrm>
            <a:off x="6781647" y="5246433"/>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유온에 반응하는 세 가지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유온에 화면의 알람, detector의 경보, PLC의 인터록이 서로 다른 기준과 목적으로 반응한다.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bell" descr="bel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FUXA의 알람</a:t>
            </a:r>
          </a:p>
          <a:p>
            <a:pPr algn="l">
              <a:lnSpc>
                <a:spcPct val="110000"/>
              </a:lnSpc>
              <a:spcAft>
                <a:spcPts val="400"/>
              </a:spcAft>
            </a:pPr>
            <a:r>
              <a:rPr sz="1400" b="0">
                <a:solidFill>
                  <a:srgbClr val="1F2A3A"/>
                </a:solidFill>
                <a:latin typeface="맑은 고딕"/>
                <a:ea typeface="맑은 고딕"/>
                <a:cs typeface="맑은 고딕"/>
              </a:rPr>
              <a:t>• 유온 하나가 60 ℃를 넘으면 화면에 띄운다</a:t>
            </a:r>
          </a:p>
          <a:p>
            <a:pPr algn="l">
              <a:lnSpc>
                <a:spcPct val="110000"/>
              </a:lnSpc>
              <a:spcAft>
                <a:spcPts val="400"/>
              </a:spcAft>
            </a:pPr>
            <a:r>
              <a:rPr sz="1400" b="0">
                <a:solidFill>
                  <a:srgbClr val="1F2A3A"/>
                </a:solidFill>
                <a:latin typeface="맑은 고딕"/>
                <a:ea typeface="맑은 고딕"/>
                <a:cs typeface="맑은 고딕"/>
              </a:rPr>
              <a:t>• 운전원에게 지금의 상태를 알린다</a:t>
            </a:r>
          </a:p>
        </p:txBody>
      </p:sp>
      <p:sp>
        <p:nvSpPr>
          <p:cNvPr id="10" name="Rounded Rectangle 9"/>
          <p:cNvSpPr/>
          <p:nvPr/>
        </p:nvSpPr>
        <p:spPr>
          <a:xfrm>
            <a:off x="777240" y="5258308"/>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 하나의 기준</a:t>
            </a:r>
          </a:p>
        </p:txBody>
      </p:sp>
      <p:sp>
        <p:nvSpPr>
          <p:cNvPr id="12" name="Rounded Rectangle 11"/>
          <p:cNvSpPr/>
          <p:nvPr/>
        </p:nvSpPr>
        <p:spPr>
          <a:xfrm>
            <a:off x="4338218"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5CB8F2"/>
          </a:solidFill>
          <a:ln>
            <a:noFill/>
          </a:ln>
        </p:spPr>
        <p:txBody>
          <a:bodyPr rtlCol="0" anchor="ctr"/>
          <a:lstStyle/>
          <a:p>
            <a:pPr algn="ctr"/>
          </a:p>
        </p:txBody>
      </p:sp>
      <p:pic>
        <p:nvPicPr>
          <p:cNvPr id="14" name="아이콘:radar" descr="radar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detector의 경보</a:t>
            </a:r>
          </a:p>
          <a:p>
            <a:pPr algn="l">
              <a:lnSpc>
                <a:spcPct val="110000"/>
              </a:lnSpc>
              <a:spcAft>
                <a:spcPts val="400"/>
              </a:spcAft>
            </a:pPr>
            <a:r>
              <a:rPr sz="1400" b="0">
                <a:solidFill>
                  <a:srgbClr val="1F2A3A"/>
                </a:solidFill>
                <a:latin typeface="맑은 고딕"/>
                <a:ea typeface="맑은 고딕"/>
                <a:cs typeface="맑은 고딕"/>
              </a:rPr>
              <a:t>• 유온 55 ℃ 초과, 냉각 효율 70 % 미만, 상승 추세가 함께 이어질 때 낸다</a:t>
            </a:r>
          </a:p>
          <a:p>
            <a:pPr algn="l">
              <a:lnSpc>
                <a:spcPct val="110000"/>
              </a:lnSpc>
              <a:spcAft>
                <a:spcPts val="400"/>
              </a:spcAft>
            </a:pPr>
            <a:r>
              <a:rPr sz="1400" b="0">
                <a:solidFill>
                  <a:srgbClr val="1F2A3A"/>
                </a:solidFill>
                <a:latin typeface="맑은 고딕"/>
                <a:ea typeface="맑은 고딕"/>
                <a:cs typeface="맑은 고딕"/>
              </a:rPr>
              <a:t>• 이후의 원인 진단과 조치 흐름을 시작시킨다</a:t>
            </a:r>
          </a:p>
        </p:txBody>
      </p:sp>
      <p:sp>
        <p:nvSpPr>
          <p:cNvPr id="16" name="Rounded Rectangle 15"/>
          <p:cNvSpPr/>
          <p:nvPr/>
        </p:nvSpPr>
        <p:spPr>
          <a:xfrm>
            <a:off x="4566818" y="5258308"/>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여러 값과 추세</a:t>
            </a:r>
          </a:p>
        </p:txBody>
      </p:sp>
      <p:sp>
        <p:nvSpPr>
          <p:cNvPr id="18" name="Rounded Rectangle 17"/>
          <p:cNvSpPr/>
          <p:nvPr/>
        </p:nvSpPr>
        <p:spPr>
          <a:xfrm>
            <a:off x="8127796"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E7F3FD"/>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PLC의 인터록</a:t>
            </a:r>
          </a:p>
          <a:p>
            <a:pPr algn="l">
              <a:lnSpc>
                <a:spcPct val="110000"/>
              </a:lnSpc>
              <a:spcAft>
                <a:spcPts val="400"/>
              </a:spcAft>
            </a:pPr>
            <a:r>
              <a:rPr sz="1400" b="0">
                <a:solidFill>
                  <a:srgbClr val="1F2A3A"/>
                </a:solidFill>
                <a:latin typeface="맑은 고딕"/>
                <a:ea typeface="맑은 고딕"/>
                <a:cs typeface="맑은 고딕"/>
              </a:rPr>
              <a:t>• 유온이 65 ℃를 넘으면 설비를 세운다</a:t>
            </a:r>
          </a:p>
          <a:p>
            <a:pPr algn="l">
              <a:lnSpc>
                <a:spcPct val="110000"/>
              </a:lnSpc>
              <a:spcAft>
                <a:spcPts val="400"/>
              </a:spcAft>
            </a:pPr>
            <a:r>
              <a:rPr sz="1400" b="0">
                <a:solidFill>
                  <a:srgbClr val="1F2A3A"/>
                </a:solidFill>
                <a:latin typeface="맑은 고딕"/>
                <a:ea typeface="맑은 고딕"/>
                <a:cs typeface="맑은 고딕"/>
              </a:rPr>
              <a:t>• 알리는 것이 아니라 설비를 보호한다</a:t>
            </a:r>
          </a:p>
        </p:txBody>
      </p:sp>
      <p:sp>
        <p:nvSpPr>
          <p:cNvPr id="22" name="Rounded Rectangle 21"/>
          <p:cNvSpPr/>
          <p:nvPr/>
        </p:nvSpPr>
        <p:spPr>
          <a:xfrm>
            <a:off x="8356396" y="5258308"/>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보호 정지</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기준의 순서와 인터록의 리셋: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℃의 경보가 먼저 반응하므로,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detector의 경보</a:t>
            </a:r>
          </a:p>
          <a:p>
            <a:pPr algn="ctr">
              <a:lnSpc>
                <a:spcPct val="110000"/>
              </a:lnSpc>
              <a:spcAft>
                <a:spcPts val="400"/>
              </a:spcAft>
            </a:pPr>
            <a:r>
              <a:rPr sz="1350" b="0">
                <a:solidFill>
                  <a:srgbClr val="1F2A3A"/>
                </a:solidFill>
                <a:latin typeface="맑은 고딕"/>
                <a:ea typeface="맑은 고딕"/>
                <a:cs typeface="맑은 고딕"/>
              </a:rPr>
              <a:t>가장 먼저 반응한다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FUXA의 알람</a:t>
            </a:r>
          </a:p>
          <a:p>
            <a:pPr algn="ctr">
              <a:lnSpc>
                <a:spcPct val="110000"/>
              </a:lnSpc>
              <a:spcAft>
                <a:spcPts val="400"/>
              </a:spcAft>
            </a:pPr>
            <a:r>
              <a:rPr sz="1350" b="0">
                <a:solidFill>
                  <a:srgbClr val="1F2A3A"/>
                </a:solidFill>
                <a:latin typeface="맑은 고딕"/>
                <a:ea typeface="맑은 고딕"/>
                <a:cs typeface="맑은 고딕"/>
              </a:rPr>
              <a:t>인터록보다 먼저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상태가 TRIP이 되고 자동으로 풀리지 않는다</a:t>
            </a:r>
          </a:p>
          <a:p>
            <a:pPr algn="ctr">
              <a:lnSpc>
                <a:spcPct val="110000"/>
              </a:lnSpc>
              <a:spcAft>
                <a:spcPts val="400"/>
              </a:spcAft>
            </a:pPr>
            <a:r>
              <a:rPr sz="1350" b="0">
                <a:solidFill>
                  <a:srgbClr val="1F2A3A"/>
                </a:solidFill>
                <a:latin typeface="맑은 고딕"/>
                <a:ea typeface="맑은 고딕"/>
                <a:cs typeface="맑은 고딕"/>
              </a:rPr>
              <a:t>유온이 55 ℃ 아래로 내려온 뒤</a:t>
            </a:r>
          </a:p>
          <a:p>
            <a:pPr algn="ctr">
              <a:lnSpc>
                <a:spcPct val="110000"/>
              </a:lnSpc>
              <a:spcAft>
                <a:spcPts val="400"/>
              </a:spcAft>
            </a:pPr>
            <a:r>
              <a:rPr sz="1350" b="0">
                <a:solidFill>
                  <a:srgbClr val="1F2A3A"/>
                </a:solidFill>
                <a:latin typeface="맑은 고딕"/>
                <a:ea typeface="맑은 고딕"/>
                <a:cs typeface="맑은 고딕"/>
              </a:rPr>
              <a:t>사람이 다시 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값이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데이터가 어디서 생겨 무엇을 거쳐 무엇으로 바뀌었는지를 되짚는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측정값</a:t>
            </a:r>
          </a:p>
          <a:p>
            <a:pPr algn="ctr">
              <a:lnSpc>
                <a:spcPct val="110000"/>
              </a:lnSpc>
              <a:spcAft>
                <a:spcPts val="400"/>
              </a:spcAft>
            </a:pPr>
            <a:r>
              <a:rPr sz="1350" b="0">
                <a:solidFill>
                  <a:srgbClr val="1F2A3A"/>
                </a:solidFill>
                <a:latin typeface="맑은 고딕"/>
                <a:ea typeface="맑은 고딕"/>
                <a:cs typeface="맑은 고딕"/>
              </a:rPr>
              <a:t>MQTT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connect-ingest와</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Redpanda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detector가 계산한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재료로 계산해 낸 값으로, detector는 최근 유온 값들에서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detector이다. 기울기가 0보다 크면 유온이 오르는 중이다.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이벤트의 예: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값이 아니라 무슨 일이 일어났다는 기록이며, 경보에는 식별자와 그때의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값이다. 근거가 경보에 붙어 다닌다.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cmd-gateway가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process</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Redpanda</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쌓인다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cmd-gateway</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EMQX</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무엇을 하라는 내용과 함께 누가 승인했는지와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버려진다.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cmd-gateway와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기록은 cmd-gateway가, 범위와 인터록은 PLC가 따로 확인하여 승인 없는 명령이 설비에 닿는 것을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cmd-gateway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911096"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91109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모두 맞는 명령만 OT로</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26492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2649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한 번 더 검사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사건에서 명령은 내려간 뒤 관문과 PLC의 검사를 거쳐 1초 안에 설비에 적용되었다.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설비 명령은 담당자가 승인한 뒤에 process만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값을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149850"/>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process</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14985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영역별 구성요소: OT · DMZ · IT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구성요소를 영역별로 묶으면 OT와 IT가 맡는 일이 갈리고, 두 영역에 함께 닿는 것은 DMZ의 두 서비스뿐임이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87346"/>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OT</a:t>
            </a:r>
          </a:p>
          <a:p>
            <a:pPr algn="l">
              <a:lnSpc>
                <a:spcPct val="110000"/>
              </a:lnSpc>
              <a:spcAft>
                <a:spcPts val="400"/>
              </a:spcAft>
            </a:pPr>
            <a:r>
              <a:rPr sz="1400" b="0">
                <a:solidFill>
                  <a:srgbClr val="1F2A3A"/>
                </a:solidFill>
                <a:latin typeface="맑은 고딕"/>
                <a:ea typeface="맑은 고딕"/>
                <a:cs typeface="맑은 고딕"/>
              </a:rPr>
              <a:t>• 설비 · PLC, 브로커 EMQX, 운전 화면 FUXA</a:t>
            </a:r>
          </a:p>
          <a:p>
            <a:pPr algn="l">
              <a:lnSpc>
                <a:spcPct val="110000"/>
              </a:lnSpc>
              <a:spcAft>
                <a:spcPts val="400"/>
              </a:spcAft>
            </a:pPr>
            <a:r>
              <a:rPr sz="1400" b="0">
                <a:solidFill>
                  <a:srgbClr val="1F2A3A"/>
                </a:solidFill>
                <a:latin typeface="맑은 고딕"/>
                <a:ea typeface="맑은 고딕"/>
                <a:cs typeface="맑은 고딕"/>
              </a:rPr>
              <a:t>• 설비를 직접 감시 · 제어한다</a:t>
            </a:r>
          </a:p>
          <a:p>
            <a:pPr algn="l">
              <a:lnSpc>
                <a:spcPct val="110000"/>
              </a:lnSpc>
              <a:spcAft>
                <a:spcPts val="400"/>
              </a:spcAft>
            </a:pPr>
            <a:r>
              <a:rPr sz="1400" b="0">
                <a:solidFill>
                  <a:srgbClr val="1F2A3A"/>
                </a:solidFill>
                <a:latin typeface="맑은 고딕"/>
                <a:ea typeface="맑은 고딕"/>
                <a:cs typeface="맑은 고딕"/>
              </a:rPr>
              <a:t>• 먼저 지키는 것: 가용성, 안전, 실시간성</a:t>
            </a:r>
          </a:p>
        </p:txBody>
      </p:sp>
      <p:sp>
        <p:nvSpPr>
          <p:cNvPr id="10" name="Rounded Rectangle 9"/>
          <p:cNvSpPr/>
          <p:nvPr/>
        </p:nvSpPr>
        <p:spPr>
          <a:xfrm>
            <a:off x="777240" y="5366766"/>
            <a:ext cx="1219199"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36676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감시 · 제어</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arrows-up-down" descr="arrows-up-down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DMZ</a:t>
            </a:r>
          </a:p>
          <a:p>
            <a:pPr algn="l">
              <a:lnSpc>
                <a:spcPct val="110000"/>
              </a:lnSpc>
              <a:spcAft>
                <a:spcPts val="400"/>
              </a:spcAft>
            </a:pPr>
            <a:r>
              <a:rPr sz="1400" b="0">
                <a:solidFill>
                  <a:srgbClr val="1F2A3A"/>
                </a:solidFill>
                <a:latin typeface="맑은 고딕"/>
                <a:ea typeface="맑은 고딕"/>
                <a:cs typeface="맑은 고딕"/>
              </a:rPr>
              <a:t>• 올라가는 길 connect-ingest: OT의 계측값을 IT로 옮기고 OT 쪽으로는 아무것도 쓰지 않는다</a:t>
            </a:r>
          </a:p>
          <a:p>
            <a:pPr algn="l">
              <a:lnSpc>
                <a:spcPct val="110000"/>
              </a:lnSpc>
              <a:spcAft>
                <a:spcPts val="400"/>
              </a:spcAft>
            </a:pPr>
            <a:r>
              <a:rPr sz="1400" b="0">
                <a:solidFill>
                  <a:srgbClr val="1F2A3A"/>
                </a:solidFill>
                <a:latin typeface="맑은 고딕"/>
                <a:ea typeface="맑은 고딕"/>
                <a:cs typeface="맑은 고딕"/>
              </a:rPr>
              <a:t>• 내려가는 길 cmd-gateway: IT의 명령을 검사해 OT로 내보내고 통과하지 못한 명령은 버린다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두 서비스만</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IT</a:t>
            </a:r>
          </a:p>
          <a:p>
            <a:pPr algn="l">
              <a:lnSpc>
                <a:spcPct val="110000"/>
              </a:lnSpc>
              <a:spcAft>
                <a:spcPts val="400"/>
              </a:spcAft>
            </a:pPr>
            <a:r>
              <a:rPr sz="1400" b="0">
                <a:solidFill>
                  <a:srgbClr val="1F2A3A"/>
                </a:solidFill>
                <a:latin typeface="맑은 고딕"/>
                <a:ea typeface="맑은 고딕"/>
                <a:cs typeface="맑은 고딕"/>
              </a:rPr>
              <a:t>• Redpanda: 순서대로 보관</a:t>
            </a:r>
          </a:p>
          <a:p>
            <a:pPr algn="l">
              <a:lnSpc>
                <a:spcPct val="110000"/>
              </a:lnSpc>
              <a:spcAft>
                <a:spcPts val="400"/>
              </a:spcAft>
            </a:pPr>
            <a:r>
              <a:rPr sz="1400" b="0">
                <a:solidFill>
                  <a:srgbClr val="1F2A3A"/>
                </a:solidFill>
                <a:latin typeface="맑은 고딕"/>
                <a:ea typeface="맑은 고딕"/>
                <a:cs typeface="맑은 고딕"/>
              </a:rPr>
              <a:t>• TimescaleDB: 시각과 함께 저장</a:t>
            </a:r>
          </a:p>
          <a:p>
            <a:pPr algn="l">
              <a:lnSpc>
                <a:spcPct val="110000"/>
              </a:lnSpc>
              <a:spcAft>
                <a:spcPts val="400"/>
              </a:spcAft>
            </a:pPr>
            <a:r>
              <a:rPr sz="1400" b="0">
                <a:solidFill>
                  <a:srgbClr val="1F2A3A"/>
                </a:solidFill>
                <a:latin typeface="맑은 고딕"/>
                <a:ea typeface="맑은 고딕"/>
                <a:cs typeface="맑은 고딕"/>
              </a:rPr>
              <a:t>• detector: 이상 감지</a:t>
            </a:r>
          </a:p>
          <a:p>
            <a:pPr algn="l">
              <a:lnSpc>
                <a:spcPct val="110000"/>
              </a:lnSpc>
              <a:spcAft>
                <a:spcPts val="400"/>
              </a:spcAft>
            </a:pPr>
            <a:r>
              <a:rPr sz="1400" b="0">
                <a:solidFill>
                  <a:srgbClr val="1F2A3A"/>
                </a:solidFill>
                <a:latin typeface="맑은 고딕"/>
                <a:ea typeface="맑은 고딕"/>
                <a:cs typeface="맑은 고딕"/>
              </a:rPr>
              <a:t>• Grafana: 이력과 추세</a:t>
            </a:r>
          </a:p>
        </p:txBody>
      </p:sp>
      <p:sp>
        <p:nvSpPr>
          <p:cNvPr id="22" name="Rounded Rectangle 21"/>
          <p:cNvSpPr/>
          <p:nvPr/>
        </p:nvSpPr>
        <p:spPr>
          <a:xfrm>
            <a:off x="8356396" y="5366766"/>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 · 분석 · 판단</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1~6: 값을 모아 이상을 알리는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Layer 1~6은 값을 재고 전달하고 저장하고 보여 주며, 기준을 벗어나면 알리는 데까지를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삽화:계층_L1-6.svg" descr="illust_238081292163252322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1841144" y="2029465"/>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a:p>
            <a:pPr algn="ctr">
              <a:lnSpc>
                <a:spcPct val="110000"/>
              </a:lnSpc>
              <a:spcAft>
                <a:spcPts val="100"/>
              </a:spcAft>
            </a:pPr>
            <a:r>
              <a:rPr sz="1300" b="0">
                <a:solidFill>
                  <a:srgbClr val="556175"/>
                </a:solidFill>
                <a:latin typeface="맑은 고딕"/>
                <a:ea typeface="맑은 고딕"/>
                <a:cs typeface="맑은 고딕"/>
              </a:rPr>
              <a:t>FUXA는 지금의 값과 조작, Grafana는 이력과 추세</a:t>
            </a:r>
          </a:p>
        </p:txBody>
      </p:sp>
      <p:sp>
        <p:nvSpPr>
          <p:cNvPr id="11" name="TextBox 10"/>
          <p:cNvSpPr txBox="1"/>
          <p:nvPr/>
        </p:nvSpPr>
        <p:spPr>
          <a:xfrm>
            <a:off x="1841144" y="274803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a:p>
            <a:pPr algn="ctr">
              <a:lnSpc>
                <a:spcPct val="110000"/>
              </a:lnSpc>
              <a:spcAft>
                <a:spcPts val="100"/>
              </a:spcAft>
            </a:pPr>
            <a:r>
              <a:rPr sz="1300" b="0">
                <a:solidFill>
                  <a:srgbClr val="556175"/>
                </a:solidFill>
                <a:latin typeface="맑은 고딕"/>
                <a:ea typeface="맑은 고딕"/>
                <a:cs typeface="맑은 고딕"/>
              </a:rPr>
              <a:t>TimescaleDB가 값을 시각과 함께 보관한다</a:t>
            </a:r>
          </a:p>
        </p:txBody>
      </p:sp>
      <p:sp>
        <p:nvSpPr>
          <p:cNvPr id="12" name="TextBox 11"/>
          <p:cNvSpPr txBox="1"/>
          <p:nvPr/>
        </p:nvSpPr>
        <p:spPr>
          <a:xfrm>
            <a:off x="1841144" y="3471336"/>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a:p>
            <a:pPr algn="ctr">
              <a:lnSpc>
                <a:spcPct val="110000"/>
              </a:lnSpc>
              <a:spcAft>
                <a:spcPts val="100"/>
              </a:spcAft>
            </a:pPr>
            <a:r>
              <a:rPr sz="1300" b="0">
                <a:solidFill>
                  <a:srgbClr val="556175"/>
                </a:solidFill>
                <a:latin typeface="맑은 고딕"/>
                <a:ea typeface="맑은 고딕"/>
                <a:cs typeface="맑은 고딕"/>
              </a:rPr>
              <a:t>detector가 조건이 이어지면 경보를 낸다</a:t>
            </a:r>
          </a:p>
        </p:txBody>
      </p:sp>
      <p:sp>
        <p:nvSpPr>
          <p:cNvPr id="13" name="TextBox 12"/>
          <p:cNvSpPr txBox="1"/>
          <p:nvPr/>
        </p:nvSpPr>
        <p:spPr>
          <a:xfrm>
            <a:off x="1841144" y="4189908"/>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a:p>
            <a:pPr algn="ctr">
              <a:lnSpc>
                <a:spcPct val="110000"/>
              </a:lnSpc>
              <a:spcAft>
                <a:spcPts val="100"/>
              </a:spcAft>
            </a:pPr>
            <a:r>
              <a:rPr sz="1300" b="0">
                <a:solidFill>
                  <a:srgbClr val="556175"/>
                </a:solidFill>
                <a:latin typeface="맑은 고딕"/>
                <a:ea typeface="맑은 고딕"/>
                <a:cs typeface="맑은 고딕"/>
              </a:rPr>
              <a:t>connect-ingest, cmd-gateway, Redpanda</a:t>
            </a:r>
          </a:p>
        </p:txBody>
      </p:sp>
      <p:sp>
        <p:nvSpPr>
          <p:cNvPr id="14" name="TextBox 13"/>
          <p:cNvSpPr txBox="1"/>
          <p:nvPr/>
        </p:nvSpPr>
        <p:spPr>
          <a:xfrm>
            <a:off x="1841144" y="4908480"/>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a:t>
            </a:r>
          </a:p>
          <a:p>
            <a:pPr algn="ctr">
              <a:lnSpc>
                <a:spcPct val="110000"/>
              </a:lnSpc>
              <a:spcAft>
                <a:spcPts val="100"/>
              </a:spcAft>
            </a:pPr>
            <a:r>
              <a:rPr sz="1300" b="0">
                <a:solidFill>
                  <a:srgbClr val="556175"/>
                </a:solidFill>
                <a:latin typeface="맑은 고딕"/>
                <a:ea typeface="맑은 고딕"/>
                <a:cs typeface="맑은 고딕"/>
              </a:rPr>
              <a:t>엣지 게이트웨이가 값에 이름을 붙이고, 브로커 EMQX가 중개한다</a:t>
            </a:r>
          </a:p>
        </p:txBody>
      </p:sp>
      <p:sp>
        <p:nvSpPr>
          <p:cNvPr id="15" name="TextBox 14"/>
          <p:cNvSpPr txBox="1"/>
          <p:nvPr/>
        </p:nvSpPr>
        <p:spPr>
          <a:xfrm>
            <a:off x="1841144" y="563650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a:p>
            <a:pPr algn="ctr">
              <a:lnSpc>
                <a:spcPct val="110000"/>
              </a:lnSpc>
              <a:spcAft>
                <a:spcPts val="100"/>
              </a:spcAft>
            </a:pPr>
            <a:r>
              <a:rPr sz="1300" b="0">
                <a:solidFill>
                  <a:srgbClr val="556175"/>
                </a:solidFill>
                <a:latin typeface="맑은 고딕"/>
                <a:ea typeface="맑은 고딕"/>
                <a:cs typeface="맑은 고딕"/>
              </a:rPr>
              <a:t>유압 파워팩 3기와 PLC</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1~5가 받는 것과 내는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계층이 낸 것을 다음 계층이 받으며, Layer 5까지는 값을 모으고 이상을 알릴 뿐 원인을 가리지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계층</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받는 것과 내는 것</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일</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1 · 센서 네트워크 · 설비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설비의 물리량과 PLC가 받아들인 설정값</a:t>
            </a:r>
          </a:p>
          <a:p>
            <a:pPr algn="l">
              <a:lnSpc>
                <a:spcPct val="110000"/>
              </a:lnSpc>
            </a:pPr>
            <a:r>
              <a:rPr sz="1400" b="0">
                <a:solidFill>
                  <a:srgbClr val="1F2A3A"/>
                </a:solidFill>
                <a:latin typeface="맑은 고딕"/>
                <a:ea typeface="맑은 고딕"/>
                <a:cs typeface="맑은 고딕"/>
              </a:rPr>
              <a:t>내는 것: 태그 값과 운전 상태</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값이 생긴다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2 · IoT 미들웨어 · MQTT</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태그 값과 운전 상태</a:t>
            </a:r>
          </a:p>
          <a:p>
            <a:pPr algn="l">
              <a:lnSpc>
                <a:spcPct val="110000"/>
              </a:lnSpc>
            </a:pPr>
            <a:r>
              <a:rPr sz="1400" b="0">
                <a:solidFill>
                  <a:srgbClr val="1F2A3A"/>
                </a:solidFill>
                <a:latin typeface="맑은 고딕"/>
                <a:ea typeface="맑은 고딕"/>
                <a:cs typeface="맑은 고딕"/>
              </a:rPr>
              <a:t>내는 것: 토픽에 실린 MQTT 메시지</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메시지가 된다</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3 · 이벤트 백본</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올린다: connect-ingest가 MQTT 메시지를 레코드로 옮긴다</a:t>
            </a:r>
          </a:p>
          <a:p>
            <a:pPr algn="l">
              <a:lnSpc>
                <a:spcPct val="110000"/>
              </a:lnSpc>
            </a:pPr>
            <a:r>
              <a:rPr sz="1400" b="0">
                <a:solidFill>
                  <a:srgbClr val="1F2A3A"/>
                </a:solidFill>
                <a:latin typeface="맑은 고딕"/>
                <a:ea typeface="맑은 고딕"/>
                <a:cs typeface="맑은 고딕"/>
              </a:rPr>
              <a:t>기록한다: Redpanda가 레코드를 순서대로 보관한다</a:t>
            </a:r>
          </a:p>
          <a:p>
            <a:pPr algn="l">
              <a:lnSpc>
                <a:spcPct val="110000"/>
              </a:lnSpc>
            </a:pPr>
            <a:r>
              <a:rPr sz="1400" b="0">
                <a:solidFill>
                  <a:srgbClr val="1F2A3A"/>
                </a:solidFill>
                <a:latin typeface="맑은 고딕"/>
                <a:ea typeface="맑은 고딕"/>
                <a:cs typeface="맑은 고딕"/>
              </a:rPr>
              <a:t>내린다: cmd-gateway가 검사한 명령만 내보낸다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DMZ와 IT에</a:t>
            </a:r>
          </a:p>
          <a:p>
            <a:pPr algn="l">
              <a:lnSpc>
                <a:spcPct val="110000"/>
              </a:lnSpc>
            </a:pPr>
            <a:r>
              <a:rPr sz="1250" b="1">
                <a:solidFill>
                  <a:srgbClr val="1A6FC4"/>
                </a:solidFill>
                <a:latin typeface="맑은 고딕"/>
                <a:ea typeface="맑은 고딕"/>
                <a:cs typeface="맑은 고딕"/>
              </a:rPr>
              <a:t>걸친다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4 · 스트림 처리</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Redpanda의 태그 값</a:t>
            </a:r>
          </a:p>
          <a:p>
            <a:pPr algn="l">
              <a:lnSpc>
                <a:spcPct val="110000"/>
              </a:lnSpc>
            </a:pPr>
            <a:r>
              <a:rPr sz="1400" b="0">
                <a:solidFill>
                  <a:srgbClr val="1F2A3A"/>
                </a:solidFill>
                <a:latin typeface="맑은 고딕"/>
                <a:ea typeface="맑은 고딕"/>
                <a:cs typeface="맑은 고딕"/>
              </a:rPr>
              <a:t>내는 것: 기울기 같은 가공 데이터와 경보</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detector</a:t>
            </a:r>
          </a:p>
          <a:p>
            <a:pPr algn="l">
              <a:lnSpc>
                <a:spcPct val="110000"/>
              </a:lnSpc>
            </a:pPr>
            <a:r>
              <a:rPr sz="1250" b="1">
                <a:solidFill>
                  <a:srgbClr val="556175"/>
                </a:solidFill>
                <a:latin typeface="맑은 고딕"/>
                <a:ea typeface="맑은 고딕"/>
                <a:cs typeface="맑은 고딕"/>
              </a:rPr>
              <a:t>원인을 가리지는</a:t>
            </a:r>
          </a:p>
          <a:p>
            <a:pPr algn="l">
              <a:lnSpc>
                <a:spcPct val="110000"/>
              </a:lnSpc>
            </a:pPr>
            <a:r>
              <a:rPr sz="1250" b="1">
                <a:solidFill>
                  <a:srgbClr val="556175"/>
                </a:solidFill>
                <a:latin typeface="맑은 고딕"/>
                <a:ea typeface="맑은 고딕"/>
                <a:cs typeface="맑은 고딕"/>
              </a:rPr>
              <a:t>않는다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5 · 시계열 저장소</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Redpanda의 태그 값과 경보</a:t>
            </a:r>
          </a:p>
          <a:p>
            <a:pPr algn="l">
              <a:lnSpc>
                <a:spcPct val="110000"/>
              </a:lnSpc>
            </a:pPr>
            <a:r>
              <a:rPr sz="1400" b="0">
                <a:solidFill>
                  <a:srgbClr val="1F2A3A"/>
                </a:solidFill>
                <a:latin typeface="맑은 고딕"/>
                <a:ea typeface="맑은 고딕"/>
                <a:cs typeface="맑은 고딕"/>
              </a:rPr>
              <a:t>내는 것: 시각으로 조회할 수 있는 표</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TimescaleDB</a:t>
            </a:r>
          </a:p>
          <a:p>
            <a:pPr algn="l">
              <a:lnSpc>
                <a:spcPct val="110000"/>
              </a:lnSpc>
            </a:pPr>
            <a:r>
              <a:rPr sz="1250" b="1">
                <a:solidFill>
                  <a:srgbClr val="556175"/>
                </a:solidFill>
                <a:latin typeface="맑은 고딕"/>
                <a:ea typeface="맑은 고딕"/>
                <a:cs typeface="맑은 고딕"/>
              </a:rPr>
              <a:t>판정은</a:t>
            </a:r>
          </a:p>
          <a:p>
            <a:pPr algn="l">
              <a:lnSpc>
                <a:spcPct val="110000"/>
              </a:lnSpc>
            </a:pPr>
            <a:r>
              <a:rPr sz="1250" b="1">
                <a:solidFill>
                  <a:srgbClr val="556175"/>
                </a:solidFill>
                <a:latin typeface="맑은 고딕"/>
                <a:ea typeface="맑은 고딕"/>
                <a:cs typeface="맑은 고딕"/>
              </a:rPr>
              <a:t>하지 않는다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과정은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계층_L7-9.svg" descr="illust_695003584115413319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process와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값을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Neo4j</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값이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값은 OT에서 DMZ를 거쳐 IT로 올라가 기록되고 감지되며, 승인된 명령만 DMZ의 검사를 거쳐 OT로 내려간다.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EMQX</a:t>
            </a:r>
          </a:p>
          <a:p>
            <a:pPr algn="ctr">
              <a:lnSpc>
                <a:spcPct val="110000"/>
              </a:lnSpc>
              <a:spcAft>
                <a:spcPts val="100"/>
              </a:spcAft>
            </a:pPr>
            <a:r>
              <a:rPr sz="1150" b="0">
                <a:solidFill>
                  <a:srgbClr val="556175"/>
                </a:solidFill>
                <a:latin typeface="맑은 고딕"/>
                <a:ea typeface="맑은 고딕"/>
                <a:cs typeface="맑은 고딕"/>
              </a:rPr>
              <a:t>MQTT 브로커</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connect-ingest</a:t>
            </a:r>
          </a:p>
          <a:p>
            <a:pPr algn="ctr">
              <a:lnSpc>
                <a:spcPct val="110000"/>
              </a:lnSpc>
              <a:spcAft>
                <a:spcPts val="100"/>
              </a:spcAft>
            </a:pPr>
            <a:r>
              <a:rPr sz="1150" b="0">
                <a:solidFill>
                  <a:srgbClr val="556175"/>
                </a:solidFill>
                <a:latin typeface="맑은 고딕"/>
                <a:ea typeface="맑은 고딕"/>
                <a:cs typeface="맑은 고딕"/>
              </a:rPr>
              <a:t>값을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cmd-gateway</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Redpanda</a:t>
            </a:r>
          </a:p>
          <a:p>
            <a:pPr algn="ctr">
              <a:lnSpc>
                <a:spcPct val="110000"/>
              </a:lnSpc>
              <a:spcAft>
                <a:spcPts val="100"/>
              </a:spcAft>
            </a:pPr>
            <a:r>
              <a:rPr sz="1150" b="0">
                <a:solidFill>
                  <a:srgbClr val="556175"/>
                </a:solidFill>
                <a:latin typeface="맑은 고딕"/>
                <a:ea typeface="맑은 고딕"/>
                <a:cs typeface="맑은 고딕"/>
              </a:rPr>
              <a:t>순서대로 보관 · detector가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process</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detector의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 후보를 가리고 조치안을 비교한 시간이다. 그동안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108초의 내역: 판단에 94초, 승인 대기에 13초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대부분은 원인을 가리고 조치안을 비교하는 데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728468"/>
            <a:ext cx="5410047"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search" descr="search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 가리기와 조치안 비교</a:t>
            </a:r>
          </a:p>
          <a:p>
            <a:pPr algn="l">
              <a:lnSpc>
                <a:spcPct val="110000"/>
              </a:lnSpc>
              <a:spcAft>
                <a:spcPts val="400"/>
              </a:spcAft>
            </a:pPr>
            <a:r>
              <a:rPr sz="1400" b="0">
                <a:solidFill>
                  <a:srgbClr val="1F2A3A"/>
                </a:solidFill>
                <a:latin typeface="맑은 고딕"/>
                <a:ea typeface="맑은 고딕"/>
                <a:cs typeface="맑은 고딕"/>
              </a:rPr>
              <a:t>에이전트가 지식과 값을 조회해 원인을 가리고 조치안을 냈다</a:t>
            </a:r>
          </a:p>
        </p:txBody>
      </p:sp>
      <p:sp>
        <p:nvSpPr>
          <p:cNvPr id="10" name="Rounded Rectangle 9"/>
          <p:cNvSpPr/>
          <p:nvPr/>
        </p:nvSpPr>
        <p:spPr>
          <a:xfrm>
            <a:off x="777240" y="4824476"/>
            <a:ext cx="905256"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94초</a:t>
            </a:r>
          </a:p>
        </p:txBody>
      </p:sp>
      <p:sp>
        <p:nvSpPr>
          <p:cNvPr id="12" name="Rounded Rectangle 11"/>
          <p:cNvSpPr/>
          <p:nvPr/>
        </p:nvSpPr>
        <p:spPr>
          <a:xfrm>
            <a:off x="6233007" y="2728468"/>
            <a:ext cx="5410047"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6461607" y="292963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6615226" y="3083255"/>
            <a:ext cx="424281" cy="424281"/>
          </a:xfrm>
          <a:prstGeom prst="rect">
            <a:avLst/>
          </a:prstGeom>
        </p:spPr>
      </p:pic>
      <p:sp>
        <p:nvSpPr>
          <p:cNvPr id="15" name="TextBox 14"/>
          <p:cNvSpPr txBox="1"/>
          <p:nvPr/>
        </p:nvSpPr>
        <p:spPr>
          <a:xfrm>
            <a:off x="6397599"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a:t>
            </a:r>
          </a:p>
          <a:p>
            <a:pPr algn="l">
              <a:lnSpc>
                <a:spcPct val="110000"/>
              </a:lnSpc>
              <a:spcAft>
                <a:spcPts val="400"/>
              </a:spcAft>
            </a:pPr>
            <a:r>
              <a:rPr sz="1400" b="0">
                <a:solidFill>
                  <a:srgbClr val="1F2A3A"/>
                </a:solidFill>
                <a:latin typeface="맑은 고딕"/>
                <a:ea typeface="맑은 고딕"/>
                <a:cs typeface="맑은 고딕"/>
              </a:rPr>
              <a:t>담당자가 추천과 근거를 보고 승인했다</a:t>
            </a:r>
          </a:p>
        </p:txBody>
      </p:sp>
      <p:sp>
        <p:nvSpPr>
          <p:cNvPr id="16" name="Rounded Rectangle 15"/>
          <p:cNvSpPr/>
          <p:nvPr/>
        </p:nvSpPr>
        <p:spPr>
          <a:xfrm>
            <a:off x="6461607" y="4824476"/>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13초</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pic>
        <p:nvPicPr>
          <p:cNvPr id="6" name="삽화:원인후보.svg" descr="illust_619000453094855457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의미를 붙이면 정보가 되고, 정보가 다른 대상과 이어져 판단에 쓰일 수 있을 때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ash" descr="hash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데이터</a:t>
            </a:r>
          </a:p>
          <a:p>
            <a:pPr algn="ctr">
              <a:lnSpc>
                <a:spcPct val="110000"/>
              </a:lnSpc>
              <a:spcAft>
                <a:spcPts val="400"/>
              </a:spcAft>
            </a:pPr>
            <a:r>
              <a:rPr sz="1350" b="0">
                <a:solidFill>
                  <a:srgbClr val="1F2A3A"/>
                </a:solidFill>
                <a:latin typeface="맑은 고딕"/>
                <a:ea typeface="맑은 고딕"/>
                <a:cs typeface="맑은 고딕"/>
              </a:rPr>
              <a:t>개별 수치이다</a:t>
            </a:r>
          </a:p>
          <a:p>
            <a:pPr algn="ctr">
              <a:lnSpc>
                <a:spcPct val="110000"/>
              </a:lnSpc>
              <a:spcAft>
                <a:spcPts val="400"/>
              </a:spcAft>
            </a:pPr>
            <a:r>
              <a:rPr sz="1350" b="0">
                <a:solidFill>
                  <a:srgbClr val="1F2A3A"/>
                </a:solidFill>
                <a:latin typeface="맑은 고딕"/>
                <a:ea typeface="맑은 고딕"/>
                <a:cs typeface="맑은 고딕"/>
              </a:rPr>
              <a:t>55.71</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info-circle" descr="info-circle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a:t>
            </a:r>
          </a:p>
          <a:p>
            <a:pPr algn="ctr">
              <a:lnSpc>
                <a:spcPct val="110000"/>
              </a:lnSpc>
              <a:spcAft>
                <a:spcPts val="400"/>
              </a:spcAft>
            </a:pPr>
            <a:r>
              <a:rPr sz="1350" b="0">
                <a:solidFill>
                  <a:srgbClr val="1F2A3A"/>
                </a:solidFill>
                <a:latin typeface="맑은 고딕"/>
                <a:ea typeface="맑은 고딕"/>
                <a:cs typeface="맑은 고딕"/>
              </a:rPr>
              <a:t>수치에 의미를 붙인 것이다</a:t>
            </a:r>
          </a:p>
          <a:p>
            <a:pPr algn="ctr">
              <a:lnSpc>
                <a:spcPct val="110000"/>
              </a:lnSpc>
              <a:spcAft>
                <a:spcPts val="400"/>
              </a:spcAft>
            </a:pPr>
            <a:r>
              <a:rPr sz="1350" b="0">
                <a:solidFill>
                  <a:srgbClr val="1F2A3A"/>
                </a:solidFill>
                <a:latin typeface="맑은 고딕"/>
                <a:ea typeface="맑은 고딕"/>
                <a:cs typeface="맑은 고딕"/>
              </a:rPr>
              <a:t>HYD-01의 유온 TS1이 55.71 ℃로</a:t>
            </a:r>
          </a:p>
          <a:p>
            <a:pPr algn="ctr">
              <a:lnSpc>
                <a:spcPct val="110000"/>
              </a:lnSpc>
              <a:spcAft>
                <a:spcPts val="400"/>
              </a:spcAft>
            </a:pPr>
            <a:r>
              <a:rPr sz="1350" b="0">
                <a:solidFill>
                  <a:srgbClr val="1F2A3A"/>
                </a:solidFill>
                <a:latin typeface="맑은 고딕"/>
                <a:ea typeface="맑은 고딕"/>
                <a:cs typeface="맑은 고딕"/>
              </a:rPr>
              <a:t>기준 55 ℃를 넘었다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bulb" descr="bulb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a:t>
            </a:r>
          </a:p>
          <a:p>
            <a:pPr algn="ctr">
              <a:lnSpc>
                <a:spcPct val="110000"/>
              </a:lnSpc>
              <a:spcAft>
                <a:spcPts val="400"/>
              </a:spcAft>
            </a:pPr>
            <a:r>
              <a:rPr sz="1350" b="0">
                <a:solidFill>
                  <a:srgbClr val="1F2A3A"/>
                </a:solidFill>
                <a:latin typeface="맑은 고딕"/>
                <a:ea typeface="맑은 고딕"/>
                <a:cs typeface="맑은 고딕"/>
              </a:rPr>
              <a:t>판단에 쓸 수 있게 이어진 것이다</a:t>
            </a:r>
          </a:p>
          <a:p>
            <a:pPr algn="ctr">
              <a:lnSpc>
                <a:spcPct val="110000"/>
              </a:lnSpc>
              <a:spcAft>
                <a:spcPts val="400"/>
              </a:spcAft>
            </a:pPr>
            <a:r>
              <a:rPr sz="1350" b="0">
                <a:solidFill>
                  <a:srgbClr val="1F2A3A"/>
                </a:solidFill>
                <a:latin typeface="맑은 고딕"/>
                <a:ea typeface="맑은 고딕"/>
                <a:cs typeface="맑은 고딕"/>
              </a:rPr>
              <a:t>유온 상승과 냉각 효율 저하는</a:t>
            </a:r>
          </a:p>
          <a:p>
            <a:pPr algn="ctr">
              <a:lnSpc>
                <a:spcPct val="110000"/>
              </a:lnSpc>
              <a:spcAft>
                <a:spcPts val="400"/>
              </a:spcAft>
            </a:pPr>
            <a:r>
              <a:rPr sz="1350" b="0">
                <a:solidFill>
                  <a:srgbClr val="1F2A3A"/>
                </a:solidFill>
                <a:latin typeface="맑은 고딕"/>
                <a:ea typeface="맑은 고딕"/>
                <a:cs typeface="맑은 고딕"/>
              </a:rPr>
              <a:t>쿨러의 냉각 성능 상실을 가리킨다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연습: 같은 사건의 데이터, 정보,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흩어진정보.svg" descr="illust_662970091384356909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TimescaleDB</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HYD는 Neo4j를 쓴다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Neo4j에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pic>
        <p:nvPicPr>
          <p:cNvPr id="6" name="삽화:노드관계.svg" descr="illust_650012557498715123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pic>
        <p:nvPicPr>
          <p:cNvPr id="6" name="삽화:관계.svg" descr="illust_269400356581138173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pic>
        <p:nvPicPr>
          <p:cNvPr id="6" name="삽화:경로_1.svg" descr="illust_494081344857909282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pic>
        <p:nvPicPr>
          <p:cNvPr id="6" name="삽화:경로_2.svg" descr="illust_430355633672474165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증거에 적힌 값을 읽어 원인을 확인한 뒤, 고장 유형에서 MITIGATED_BY를 따라 조치에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pic>
        <p:nvPicPr>
          <p:cNvPr id="6" name="삽화:경로_3.svg" descr="illust_878805883405549539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있고</a:t>
            </a:r>
          </a:p>
          <a:p>
            <a:pPr algn="ctr">
              <a:lnSpc>
                <a:spcPct val="110000"/>
              </a:lnSpc>
              <a:spcAft>
                <a:spcPts val="100"/>
              </a:spcAft>
            </a:pPr>
            <a:r>
              <a:rPr sz="1300" b="0">
                <a:solidFill>
                  <a:srgbClr val="556175"/>
                </a:solidFill>
                <a:latin typeface="맑은 고딕"/>
                <a:ea typeface="맑은 고딕"/>
                <a:cs typeface="맑은 고딕"/>
              </a:rPr>
              <a:t>잰 값은 TimescaleDB에서 읽는다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본 노드와 관계는 온톨로지의 종류와 관계에 해당하며, 여기에 속성과 제약이 더해져 정의가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종류</a:t>
            </a:r>
          </a:p>
          <a:p>
            <a:pPr algn="l">
              <a:lnSpc>
                <a:spcPct val="110000"/>
              </a:lnSpc>
              <a:spcAft>
                <a:spcPts val="400"/>
              </a:spcAft>
            </a:pPr>
            <a:r>
              <a:rPr sz="1350" b="0">
                <a:solidFill>
                  <a:srgbClr val="1F2A3A"/>
                </a:solidFill>
                <a:latin typeface="맑은 고딕"/>
                <a:ea typeface="맑은 고딕"/>
                <a:cs typeface="맑은 고딕"/>
              </a:rPr>
              <a:t>• 어떤 대상이 있는가를 정한다</a:t>
            </a:r>
          </a:p>
          <a:p>
            <a:pPr algn="l">
              <a:lnSpc>
                <a:spcPct val="110000"/>
              </a:lnSpc>
              <a:spcAft>
                <a:spcPts val="400"/>
              </a:spcAft>
            </a:pPr>
            <a:r>
              <a:rPr sz="1350" b="0">
                <a:solidFill>
                  <a:srgbClr val="1F2A3A"/>
                </a:solidFill>
                <a:latin typeface="맑은 고딕"/>
                <a:ea typeface="맑은 고딕"/>
                <a:cs typeface="맑은 고딕"/>
              </a:rPr>
              <a:t>• 설비, 센서, 증상, 고장 유형, 원인, 조치</a:t>
            </a:r>
          </a:p>
        </p:txBody>
      </p:sp>
      <p:sp>
        <p:nvSpPr>
          <p:cNvPr id="10" name="Rounded Rectangle 9"/>
          <p:cNvSpPr/>
          <p:nvPr/>
        </p:nvSpPr>
        <p:spPr>
          <a:xfrm>
            <a:off x="777240" y="5134356"/>
            <a:ext cx="1621536"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6215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핀 오염 = 원인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djustments-horizontal" descr="adjustments-horizontal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속성</a:t>
            </a:r>
          </a:p>
          <a:p>
            <a:pPr algn="l">
              <a:lnSpc>
                <a:spcPct val="110000"/>
              </a:lnSpc>
              <a:spcAft>
                <a:spcPts val="400"/>
              </a:spcAft>
            </a:pPr>
            <a:r>
              <a:rPr sz="1350" b="0">
                <a:solidFill>
                  <a:srgbClr val="1F2A3A"/>
                </a:solidFill>
                <a:latin typeface="맑은 고딕"/>
                <a:ea typeface="맑은 고딕"/>
                <a:cs typeface="맑은 고딕"/>
              </a:rPr>
              <a:t>• 대상이 갖는 값의 칸을 정한다</a:t>
            </a:r>
          </a:p>
          <a:p>
            <a:pPr algn="l">
              <a:lnSpc>
                <a:spcPct val="110000"/>
              </a:lnSpc>
              <a:spcAft>
                <a:spcPts val="400"/>
              </a:spcAft>
            </a:pPr>
            <a:r>
              <a:rPr sz="1350" b="0">
                <a:solidFill>
                  <a:srgbClr val="1F2A3A"/>
                </a:solidFill>
                <a:latin typeface="맑은 고딕"/>
                <a:ea typeface="맑은 고딕"/>
                <a:cs typeface="맑은 고딕"/>
              </a:rPr>
              <a:t>• 유온이라는 대상의 단위, 정상값, 한계</a:t>
            </a:r>
          </a:p>
        </p:txBody>
      </p:sp>
      <p:sp>
        <p:nvSpPr>
          <p:cNvPr id="16" name="Rounded Rectangle 15"/>
          <p:cNvSpPr/>
          <p:nvPr/>
        </p:nvSpPr>
        <p:spPr>
          <a:xfrm>
            <a:off x="3619423" y="5134356"/>
            <a:ext cx="15880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5880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 · 48 · 65</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a:t>
            </a:r>
          </a:p>
          <a:p>
            <a:pPr algn="l">
              <a:lnSpc>
                <a:spcPct val="110000"/>
              </a:lnSpc>
              <a:spcAft>
                <a:spcPts val="400"/>
              </a:spcAft>
            </a:pPr>
            <a:r>
              <a:rPr sz="1350" b="0">
                <a:solidFill>
                  <a:srgbClr val="1F2A3A"/>
                </a:solidFill>
                <a:latin typeface="맑은 고딕"/>
                <a:ea typeface="맑은 고딕"/>
                <a:cs typeface="맑은 고딕"/>
              </a:rPr>
              <a:t>• 대상 사이의 이름 있는 연결을 정한다</a:t>
            </a:r>
          </a:p>
          <a:p>
            <a:pPr algn="l">
              <a:lnSpc>
                <a:spcPct val="110000"/>
              </a:lnSpc>
              <a:spcAft>
                <a:spcPts val="400"/>
              </a:spcAft>
            </a:pPr>
            <a:r>
              <a:rPr sz="1350" b="0">
                <a:solidFill>
                  <a:srgbClr val="1F2A3A"/>
                </a:solidFill>
                <a:latin typeface="맑은 고딕"/>
                <a:ea typeface="맑은 고딕"/>
                <a:cs typeface="맑은 고딕"/>
              </a:rPr>
              <a:t>• CAUSES, INDICATES, MITIGATED_BY</a:t>
            </a:r>
          </a:p>
        </p:txBody>
      </p:sp>
      <p:sp>
        <p:nvSpPr>
          <p:cNvPr id="22" name="Rounded Rectangle 21"/>
          <p:cNvSpPr/>
          <p:nvPr/>
        </p:nvSpPr>
        <p:spPr>
          <a:xfrm>
            <a:off x="6461607" y="5134356"/>
            <a:ext cx="125272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일으킨다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제약</a:t>
            </a:r>
          </a:p>
          <a:p>
            <a:pPr algn="l">
              <a:lnSpc>
                <a:spcPct val="110000"/>
              </a:lnSpc>
              <a:spcAft>
                <a:spcPts val="400"/>
              </a:spcAft>
            </a:pPr>
            <a:r>
              <a:rPr sz="1350" b="0">
                <a:solidFill>
                  <a:srgbClr val="1F2A3A"/>
                </a:solidFill>
                <a:latin typeface="맑은 고딕"/>
                <a:ea typeface="맑은 고딕"/>
                <a:cs typeface="맑은 고딕"/>
              </a:rPr>
              <a:t>• 지켜야 하는 조건을 정한다</a:t>
            </a:r>
          </a:p>
          <a:p>
            <a:pPr algn="l">
              <a:lnSpc>
                <a:spcPct val="110000"/>
              </a:lnSpc>
              <a:spcAft>
                <a:spcPts val="400"/>
              </a:spcAft>
            </a:pPr>
            <a:r>
              <a:rPr sz="1350" b="0">
                <a:solidFill>
                  <a:srgbClr val="1F2A3A"/>
                </a:solidFill>
                <a:latin typeface="맑은 고딕"/>
                <a:ea typeface="맑은 고딕"/>
                <a:cs typeface="맑은 고딕"/>
              </a:rPr>
              <a:t>• CAUSES는 원인에서 고장 유형으로만 잇는다</a:t>
            </a:r>
          </a:p>
        </p:txBody>
      </p:sp>
      <p:sp>
        <p:nvSpPr>
          <p:cNvPr id="28" name="Rounded Rectangle 27"/>
          <p:cNvSpPr/>
          <p:nvPr/>
        </p:nvSpPr>
        <p:spPr>
          <a:xfrm>
            <a:off x="9303791" y="5134356"/>
            <a:ext cx="1496568"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양 끝의 종류</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사건으로 본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그래프의 설비 쪽에는 설비가 어떤 구성 요소로 이루어지고 각 구성 요소를 어느 센서가 재는지가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pic>
        <p:nvPicPr>
          <p:cNvPr id="6" name="삽화:연결_설비쪽.svg" descr="illust_2577220334893715572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진단과 조치 쪽에는 증상, 고장 유형, 원인, 조치 방법과 그 조치의 근거 문서가 이어져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pic>
        <p:nvPicPr>
          <p:cNvPr id="6" name="삽화:연결_진단쪽.svg" descr="illust_874834065014959895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처음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FUXA의 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