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갖추고,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읽기 쉬운 형태로 바뀌었을 뿐, 그 내용이 머릿속에 들어온 것은 아닙니다. 더 큰 문제는 착각입니다. 잘 정리된 문서를 손에 쥐면 그 내용을 내가 안다고 여기게 됩니다. 자료를 덮고 백지에 직접 써 보면 그제야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마이크에 대고 말해 받아 적게 해도 됩니다. 정해진 형식은 없습니다. 처음에는 한 가지를 깊이 파기보다 아는 내용을 넓게 훑으며 쭉 써 봅니다. 그러면 틀린 곳, 횡설수설한 곳, 막혀서 더 쓰지 못하는 곳이 드러납니다. 바로 그 부분이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전체의 줄기를 맞춘 다음에 막힌 곳을 하나씩 골라 깊게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곳만 집요하게 팝니다. 모르는 용어가 있으면 그 뜻을 묻고, 설명에 또 모르는 말이 나오면 다시 묻습니다. 초등학생도 알아들을 수 있게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벗어나지만 않는다면, 같은 뜻의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살펴본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짚어 보겠습니다. 센서는 설비에서 생긴 물리량을 재고, PLC는 그 계측값을 읽어 설비를 제어하며, 관제 화면은 계측값을 보여 주고 조작을 받습니다. 이 단원에서는 그다음을 다룹니다. 그 데이터를 모으고 판단해 조치로 잇는 시스템의 구조, 그리고 그 구조를 따라 데이터가 흐르는 길을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드는 계측값은 쿨러로 들어가기 직전의 작동유 온도인 유온 TS1과, 쿨러가 열을 내보내는 정도를 나타내는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Layer 1, 센서 네트워크와 설비입니다. 센서가 잰 계측값을 가장 먼저 받는 것은 설비 옆의 PLC입니다. PLC는 1초에도 수십 번씩 계측값을 읽고 판단을 끝냅니다. 같은 판단을 서버에 맡기면 오가는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2.0은 뒤에서 다시 나옵니다. 세 조건 모두 그대로 두면 설비가 손상되는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마치려면,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숫자라서 그 자체로는 무엇을 잰 것인지 알 수 없습니다. 엣지 게이트웨이는 이 숫자에 이름을 붙여 태그 값과 운전 상태로 올려 보냅니다. 위쪽의 유온 TS1과 냉각 효율 CE는 이 단원에서 계속 예로 들고,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군데이며, 앞으로 더 늘어날 수 있습니다. 보내는 쪽이 받는 쪽과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따라서 발행자는 구독자가 누구인지 몰라도 됩니다. 그림에서 흐리게 표시한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나누어 보면 네 칸입니다. 공장, 설비, 종류, 태그 이름입니다. HYD에는 같은 구조의 유압 파워팩이 세 대 있어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IT 쪽은 외부와 연결될 수 있어 침해될 가능성이 있고, OT는 설비를 직접 움직이기 때문에 잘못된 명령이 곧 사고로 이어집니다.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측정된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시점과 알아차리는 시점 사이에 간격이 생깁니다. 감지 서비스는 데이터가 기록되는 대로 하나씩 받아 조건과 비교합니다.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세 가지 조건을 봅니다. 유온이 55 ℃를 넘고, 냉각 효율이 70 % 아래이며, 유온이 오르는 중이어야 쿨러 성능 저하로 봅니다. 유온은 쿨러가 정상이어도 오를 수 있으므로, 유온만 높고 냉각 효율이 정상이면 이 경보는 울리지 않습니다. 다음으로 그래프에서 유온이 55 ℃를 넘은 11시 13분 4초와, 4초 뒤인 11시 13분 8초의 경보를 차례로 짚습니다. 그동안 조건이 계속 유지되는지 지켜본 것으로, 값이 잠깐 튀었다가 돌아오는 경우에는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발생한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값으로 이루어진 한 행에 들어갑니다. 가운데 행의 55.71이 경보가 발생한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울리고, 60 ℃에서는 운전 화면의 알람이, 65 ℃에서는 PLC의 인터록이 반응합니다. 경보와 알람은 상황을 알리고, 인터록은 설비를 세웁니다. 인터록은 사람이 다시 걸어야 풀리므로, 55 ℃에서 먼저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발생한 뒤의 일은 Layer 7부터 9까지, 즉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검사를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 기록으로 남습니다. 유효 시간이 지난 명령은 버려지므로, 상황이 달라진 뒤에 뒤늦게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확인하는 내용이 달라 검사를 두 번 합니다. 먼저 왼쪽의 명령 관문은 명령의 형식, 유효 시간, 승인 기록, 운전 모드를 봅니다. 다음으로 오른쪽의 PLC는 설정값이 범위 안에 있는지, 현재 인터록에 걸려 있지 않은지를 확인한 뒤 설정값을 바꾸고 결과를 돌려보냅니다. 명령서에 문제가 없어도 현재 설비가 명령을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명령이 내려가는 데 걸린 시간입니다. 승인은 11시 14분 56초, 명령은 57초, 응답은 58초입니다. 관문과 PLC의 명령 검사도 이 사이에 끝났습니다. 검사를 두 번 거쳐도 명령이 내려가는 과정이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계측값으로 계산한 기울기입니다. 기울기가 0보다 크면 유온이 오르고 있다는 뜻이며, 앞에서 본 경보 조건의 세 번째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경보에서 나온 것인지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판단하지는 않습니다. 경보 이후의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수업에서는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살펴보며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가려내고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좋아졌을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형식에 얽매이지 않고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파고들기보다 아는 내용을 폭넓게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이어지지만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틀린 곳과 흐릿한 곳을 먼저 바로잡아 전체의 줄기를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파고든다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설명하듯</a:t>
            </a:r>
          </a:p>
          <a:p>
            <a:pPr algn="ctr">
              <a:lnSpc>
                <a:spcPct val="110000"/>
              </a:lnSpc>
              <a:spcAft>
                <a:spcPts val="400"/>
              </a:spcAft>
            </a:pPr>
            <a:r>
              <a:rPr sz="135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같은 뜻의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내용을 이 방법으로 써서 개인 학습노트에 쌓아 가면,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새로운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 작성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각 기록이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각 기록에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단원에서는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5500324244562782373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위험 수준에 이르면 설비 옆의 PLC가 즉시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조건에 이르면 다른 명령보다 우선해 설비를 안전한 상태로 전환하는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제어</a:t>
            </a:r>
          </a:p>
          <a:p>
            <a:pPr algn="l">
              <a:lnSpc>
                <a:spcPct val="110000"/>
              </a:lnSpc>
              <a:spcAft>
                <a:spcPts val="200"/>
              </a:spcAft>
            </a:pPr>
            <a:r>
              <a:rPr sz="1150" b="0">
                <a:solidFill>
                  <a:srgbClr val="556175"/>
                </a:solidFill>
                <a:latin typeface="맑은 고딕"/>
                <a:ea typeface="맑은 고딕"/>
                <a:cs typeface="맑은 고딕"/>
              </a:rPr>
              <a:t>실시간성</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오가는 데는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손상되는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마모된다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손상된다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안에 도착해야 하므로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뜻을 알 수 없는 제어기 숫자에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3982139220261186761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해당 토픽을 등록한</a:t>
            </a:r>
          </a:p>
          <a:p>
            <a:pPr algn="ctr">
              <a:lnSpc>
                <a:spcPct val="110000"/>
              </a:lnSpc>
              <a:spcAft>
                <a:spcPts val="400"/>
              </a:spcAft>
            </a:pPr>
            <a:r>
              <a:rPr sz="1350" b="0">
                <a:solidFill>
                  <a:srgbClr val="1F2A3A"/>
                </a:solidFill>
                <a:latin typeface="맑은 고딕"/>
                <a:ea typeface="맑은 고딕"/>
                <a:cs typeface="맑은 고딕"/>
              </a:rPr>
              <a:t>모든 구독자에게 전달한다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연결되는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손상된다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연결될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연결된다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469677297477012762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브로커가 남기지 않는 데이터를 이벤트 로그가 수신 순서대로 기록해,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전달한다</a:t>
            </a:r>
          </a:p>
          <a:p>
            <a:pPr algn="l">
              <a:lnSpc>
                <a:spcPct val="110000"/>
              </a:lnSpc>
              <a:spcAft>
                <a:spcPts val="600"/>
              </a:spcAft>
            </a:pPr>
            <a:r>
              <a:rPr sz="1450" b="0">
                <a:solidFill>
                  <a:srgbClr val="1F2A3A"/>
                </a:solidFill>
                <a:latin typeface="맑은 고딕"/>
                <a:ea typeface="맑은 고딕"/>
                <a:cs typeface="맑은 고딕"/>
              </a:rPr>
              <a:t>• 나중에 연결된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처음부터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등이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시점과 알아차리는 시점 사이에 간격이 생긴다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조건과 비교한다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없으므로, 두 값과 추세를 함께 보고 조건이 일정 시간 이어져야 경보가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세 조건 모두 충족</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 기울기 &gt; 0 (상승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유지되자 경보가 울렸다.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어떤 일이 일어났는지를 남긴 기록이며, 경보에는 식별자와 당시의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시계열 저장소는 과거 데이터를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 정지에도 OT에서 현재 상태를,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현재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22504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2250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현재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하나를 기준으로 삼는다</a:t>
            </a:r>
          </a:p>
          <a:p>
            <a:pPr algn="ctr">
              <a:lnSpc>
                <a:spcPct val="110000"/>
              </a:lnSpc>
              <a:spcAft>
                <a:spcPts val="400"/>
              </a:spcAft>
            </a:pPr>
            <a:r>
              <a:rPr sz="13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만들어지므로, 설비를 움직이는 결정은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판단하고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관문에서 검사를 거친 뒤에만 OT의 브로커를 거쳐 PLC에 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현재 설비 상태를 보고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범위 안인가</a:t>
            </a:r>
          </a:p>
          <a:p>
            <a:pPr algn="l">
              <a:lnSpc>
                <a:spcPct val="110000"/>
              </a:lnSpc>
              <a:spcAft>
                <a:spcPts val="600"/>
              </a:spcAft>
            </a:pPr>
            <a:r>
              <a:rPr sz="1450" b="0">
                <a:solidFill>
                  <a:srgbClr val="1F2A3A"/>
                </a:solidFill>
                <a:latin typeface="맑은 고딕"/>
                <a:ea typeface="맑은 고딕"/>
                <a:cs typeface="맑은 고딕"/>
              </a:rPr>
              <a:t>• 인터록: 현재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8745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설비 상태를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승인부터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응답한다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 제어 판단의 근거를 최초 계측값까지 되짚는 데이터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계측값으로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올라갈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거쳐 온 자리를 하는 일에 따라 나누면 아홉 기능 계층이고, 놓인 망에 따라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10289795875867559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이후 원인을 판단하고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700896262322427448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판단하고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나누어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645735826471913765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156621153354420306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3693463134268316320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909080179791519992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8024159542169032087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8726160878513857174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8923074508994188848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4021891756610479756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536895030589369984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