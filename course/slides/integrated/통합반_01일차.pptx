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이번 회차에서 할 일은 네 가지입니다. 먼저 배운 내용을 자신의 지식으로 남기는 방법을 익히고 개인 학습노트를 만듭니다. 이어서 제조 설비에서 AI의 판단과 조치까지 이어지는 HYD의 구조를 계층별로 살펴보고, 데이터가 오가는 길을 따라갑니다. 실행 환경을 갖춘 뒤에는 설비 이상 한 건이 처리되는 과정을 포털에서 확인합니다. 마지막으로 이 시스템의 판단에 왜 온톨로지가 필요한지 알아봅니다.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필기와 강의 자료를 AI에게 넘기면 깔끔한 문서가 금방 나옵니다. 하지만 읽기 쉬운 형태로 바뀌었을 뿐, 그 내용이 머릿속에 들어온 것은 아닙니다. 더 큰 문제는 잘 정리된 문서를 보며 그 내용을 내가 안다고 착각하는 것입니다. 자료를 덮고 백지에 직접 써 보면 무엇을 알고 무엇을 모르는지 드러납니다.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자료를 덮고 백지에 이해한 내용을 써 봅니다. 타이핑해도 되고 말로 풀어 받아 적게 해도 되며, 처음에는 한 가지를 깊이 파기보다 아는 내용을 넓게 훑으며 쭉 써 봅니다. 그러면 틀린 곳, 횡설수설한 곳, 막혀서 더 쓰지 못하는 곳이 드러나는데, 바로 그 부분이 공부할 범위입니다. 먼저 틀린 곳과 횡설수설한 곳을 바로잡아 전체의 줄기를 잡습니다. 그런 다음 막힌 곳을 하나씩 골라 깊이 파고듭니다.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깊이 파고들 때는 막힌 곳에 집중합니다. 모르는 용어의 뜻을 묻고, 설명에 또 모르는 말이 나오면 다시 묻습니다. 초등학생도 알아들을 수 있게 풀어 달라고 해도 괜찮습니다. 더 내려갈 곳이 없으면 거기서부터 하나씩 이어 붙이며 처음의 용어로 돌아옵니다.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용어를 이해할 때 정의 문장을 그대로 외울 필요는 없습니다. 원리에서 벗어나지 않는다면 같은 뜻의 쉬운 말로 이해해도 됩니다. 내 말로 풀어낼 수 있어야 다른 말로 물어도 답할 수 있습니다. 앞으로 배우는 내용도 넓게 써 보고 고친 다음, 막힌 곳을 깊이 파며 정리합니다. 이렇게 내 말로 풀어 쓴 기록을 개인 학습노트에 쌓으면 이 과정에서 만드는 지식 자산이 됩니다.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실습에서는 노션으로 학습 기록을 담을 틀을 만듭니다. 과정 홈과 세 구획, 학습노트 데이터베이스를 만든 뒤 개념 하나를 내 말로 써서 첫 기록을 남깁니다. 노션을 다루는 법은 직접 해 보며 익힙니다.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먼저 현장 쪽을 짧게 짚어 보겠습니다. 센서는 설비의 물리량을 재고, PLC는 계측값을 읽어 설비를 제어하며, 관제 화면은 계측값을 보여 주고 조작을 받습니다. 이 단원에서는 그 데이터를 모아 판단하고 조치로 잇는 시스템의 구조를 다룹니다. 구조를 살펴보며 데이터가 흐르는 길도 함께 따라갑니다.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데이터가 처음 생기는 곳은 설비입니다. 유압 파워팩 HYD-01에는 탱크, 펌프, 부하, 오일 쿨러, 팬이 있고, 계측값마다 태그라는 이름이 붙습니다. 여기서 살펴볼 값은 쿨러로 들어가기 직전의 작동유 온도인 유온 TS1과, 쿨러가 열을 내보내는 정도를 나타내는 냉각 효율 CE입니다. 냉각 효율은 센서로 직접 재지 않고 다른 계측값으로 계산하는 가상 센서(Virtual Sensor) 값입니다.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데이터가 처음 생기는 곳은 Layer 1, 센서 네트워크와 설비입니다. 센서의 계측값을 가장 먼저 받는 것은 설비 옆의 PLC입니다. PLC는 입력을 읽고 프로그램을 실행해 출력을 쓰는 스캔 주기를 1초에도 수십 번씩 되풀이합니다. 같은 판단을 서버에 맡기면 통신 지연이나 단절의 영향을 받습니다. 그래서 설비를 지키는 판단은 설비 옆의 PLC가 인터록으로 끝냅니다.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HYD-01의 인터록은 세 가지입니다. 유온이 65 ℃를 넘거나, 토출 압력이 130 bar 아래로 떨어지거나, 팬 진동이 2.0 mm/s 이상이 되면 PLC가 설비를 세웁니다. 세 조건 모두 그대로 두면 설비가 손상될 수 있는 상태입니다. 유온 65 ℃와 팬 진동 2.0 mm/s는 이 단원의 경보와 조치 사례에서도 쓰이는 기준입니다.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PLC가 주고받는 현장 통신은 사무 통신과 요구 조건이 다릅니다. 사무 통신은 평균 지연과 처리량을 중시하지만, 현장 통신은 최악의 경우에도 정해진 시간 안에 도착해야 하며, 이를 결정성(Determinism)이라고 합니다. PLC가 1초에도 수십 번씩 판단을 마치려면 오가는 신호도 매번 제시간에 도착해야 합니다. 따라서 지연의 흔들림을 나타내는 지터(Jitter)가 작아야 합니다. 여기에 쓰이는 Modbus 같은 전통 규약에는 암호화와 인증이 없어, 보안은 망의 구조와 상위 계층이 맡습니다.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여기서부터는 Layer 2, IoT 미들웨어입니다. 제어기 안의 계측값은 레지스터 주소에 담긴 원시 값이라, 값만 보아서는 무엇을 잰 것인지 알 수 없습니다. 엣지 게이트웨이는 현장 규약으로 값을 읽어 태그 이름과 시각을 붙이고, 태그 값과 운전 상태 메시지로 올려 보냅니다. 위쪽의 유온 TS1과 냉각 효율 CE는 계측값의 예이고, 아래쪽의 운전 모드와 인터록 상태는 명령을 받을 수 있는지 판단할 때 쓰입니다.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유온 데이터를 받을 곳은 운전 화면과 수집 서비스 두 군데이며, 앞으로 더 늘어날 수 있습니다. 송신 측이 수신 측과 하나씩 직접 연결하는 방식을 점대점(Point-to-Point) 연결이라고 합니다. 이 방식에서는 수신 측이 늘 때마다 설비 쪽 프로그램을 고쳐야 합니다. 한쪽을 바꿀 때 다른 쪽도 고쳐야 하는 관계가 강한 결합(Tight Coupling)입니다. 가운데에 메시지 브로커를 두면 서로를 몰라도 되는 느슨한 결합(Loose Coupling)이 되며, 이렇게 주고받는 규약이 MQTT입니다.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MQTT(Message Queuing Telemetry Transport)는 작은 장치와 불안정한 네트워크를 위한 가벼운 발행 · 구독(Publish/Subscribe) 규약이며, 가운데의 메시지 브로커를 줄여 브로커라고 합니다. 먼저 운전 화면과 수집 서비스가 받을 토픽을 브로커에 구독해 둡니다. 엣지 게이트웨이가 유온 값을 토픽 plant/hyd01/tag/TS1로 발행하면, 브로커는 그 순간 이 토픽을 구독 중인 모든 구독자에게 메시지를 전달합니다. 이 계측 메시지는 그 순간의 전달에 쓰이므로, 나중에 연결한 구독자는 지나간 값을 받지 못합니다. 발행자는 구독자가 누구인지 몰라도 됩니다.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화면의 계측 토픽을 나누면 공장, 설비, 종류, 태그 이름의 네 칸입니다. HYD에는 같은 구조의 유압 파워팩이 세 대 있어 설비 자리만 hyd01, hyd02, hyd03으로 바뀝니다. 운전 상태 토픽은 태그 이름 없이 세 칸으로 끝납니다. 구독자는 토픽을 지정해 필요한 메시지만 골라 받습니다.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데이터가 브로커까지 왔지만, 분석하고 저장하는 서버는 브로커에 직접 연결되지 않습니다. 설비를 다루는 OT는 멈추지 않는 가용성과 안전을 우선합니다. 업무 데이터를 다루는 IT는 외부 연결을 통한 침해에 노출되어 있어 기밀성과 무결성을 중시합니다. 그래서 망 분리(Network Segmentation)로 두 영역을 나누고, 사이에 완충 구역을 둡니다. 설비를 지키는 판단을 PLC에 맡긴 것도 IT 쪽 서버를 거치지 않게 하기 위해서입니다.</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두 영역 사이의 완충 구역을 DMZ(Demilitarized Zone)라고 합니다. DMZ의 수집 서비스는 브로커를 구독해 받은 메시지를 IT의 이벤트 로그로 옮깁니다. 이렇게 한쪽으로만 복사하는 것을 단방향 복제(One-way Replication)라고 하며, 수집 서비스는 OT 쪽으로 아무것도 발행하지 않습니다. 현장 통신 규약에 부족한 보호 기능을, 들어오는 길을 제한하는 구조로 보완합니다.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수집 서비스가 데이터를 옮기는 곳은 Layer 3, 이벤트 백본의 이벤트 로그입니다. 위쪽은 브로커가 전달한 메시지이고 아래쪽은 로그에 남은 레코드로, 설비와 태그 이름을 토픽 경로에서 페이로드 안으로 옮겨 레코드 한 건만으로도 출처를 알 수 있게 했습니다. 이벤트 로그는 받은 순서대로 덧붙이는 추가 전용 로그이며, 기록을 쓰는 쪽을 생산자, 읽는 쪽을 소비자라고 합니다. 기록이 남아 있으므로 소비자는 오프셋을 기준으로 각자의 속도에 맞춰 읽고, 필요하면 다시 읽을 수 있습니다. IT 서비스는 설비를 직접 읽는 대신 이 로그나 여기서 데이터를 옮긴 저장소에서 계측값을 읽습니다.</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이벤트 로그의 데이터를 읽는 첫 번째 계층은 Layer 4, 스트림 처리입니다. 데이터를 저장소에 모아 두었다가 주기적으로 한꺼번에 처리하는 방식을 배치 처리(Batch Processing)라고 합니다. 이 방식에서는 이상이 생긴 때와 알아차리는 때 사이에 지연이 생깁니다. 감지 서비스는 데이터가 기록되는 대로 받아 조건과 비교합니다. 이렇게 끊임없이 도착하는 데이터를 그 자리에서 처리하는 방식이 스트림 처리입니다.</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오른쪽 맨 위의 세 조건을 보겠습니다. 유온이 55 ℃를 넘고, 냉각 효율이 70 % 아래이며, 유온이 오르는 중이어야 쿨러 성능 저하로 봅니다. 값 하나의 임계치 대신 여러 값의 조합과 추세, 지속 시간으로 판정하는 방식을 복합 이벤트 처리(CEP, Complex Event Processing)라고 합니다. 그래프에서 유온이 55 ℃를 넘은 11시 13분 4초와 경보가 난 11시 13분 8초를 차례로 짚어 봅니다. 경보가 성립하려면 조건이 이어져야 하는 시간을 유지 시간이라고 하며, 값이 잠깐 튀었다가 돌아오면 경보는 울리지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조건이 성립하면 감지 서비스가 경보를 냅니다. 경보는 계측값 자체가 아니라 어떤 일이 일어났는지를 남긴 기록입니다. 식별자는 경보 한 건을 가리키고, 패턴은 쿨러 성능 저하 조건이 성립했음을 나타냅니다. 계측값은 계속 바뀌므로 경보가 난 순간의 유온 55.71 ℃와 냉각 효율 46.2 %를 근거로 붙여 둡니다.</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이벤트 로그의 데이터를 읽는 두 번째 계층은 Layer 5, 시계열 저장소입니다. 이상은 흐르는 데이터에서 감지하지만, 과거 값을 시각으로 찾아보려면 따로 저장해 두어야 합니다. 계측값 하나가 시각, 설비, 태그 이름, 값으로 이루어진 한 행에 들어갑니다. 가운데 행의 55.71이 경보가 난 순간의 유온입니다.</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데이터를 사람에게 보여 주는 계층은 Layer 6, 관제입니다. 화면은 두 가지입니다. 운전 화면은 OT에서 브로커를 직접 구독해 현재 값을 보여 주고 조작을 받으며, IT 쪽 서버가 멈춰도 계속 동작합니다. 분석 화면은 IT에서 시계열 저장소를 조회해 이력과 추세를 보여 주며, 설비를 조작하지는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같은 유온을 보더라도 세 곳의 반응 기준과 역할은 다릅니다. 감지 서비스는 유온 55 ℃ 초과, 냉각 효율 저하, 유온 상승이 정해진 시간 동안 이어지면 경보를 냅니다. 운전 화면은 60 ℃를 기준으로 알람을 표시하고, PLC는 유온이 65 ℃를 넘으면 인터록으로 설비를 세웁니다. 경보와 알람은 상황을 알리고, 인터록은 보호 정지를 실행합니다. 인터록은 사람이 리셋해야 풀리므로, 그 전에 울리는 경보가 조치할 시간을 벌어 줍니다.</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경보가 난 뒤의 일은 Layer 7부터 9까지가 맡습니다. Layer 7은 증상, 원인, 조치의 관계를 지식으로 보관하며, Neo4j 같은 그래프 DB가 이 역할을 합니다. Layer 8의 에이전트는 지식과 데이터를 조회해 원인을 진단하고 조치안을 추천하지만, 설비에 명령을 보낼 수단은 없습니다. Layer 9에서는 담당자가 추천과 근거를 보고 승인하거나 거절하며, 사람의 판단을 거치는 구조를 HITL(Human-in-the-Loop)이라고 합니다. 프로세스 엔진은 승인된 조치만 명령으로 만들어 내려보내고 결과를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승인된 명령이 내려가는 경로입니다. 프로세스 엔진이 만든 명령은 이벤트 로그에 기록되고, DMZ의 명령 관문이 읽어 스키마, 허용 목록, 만료, 승인 기록, 운전 모드를 검사합니다. 통과한 명령만 OT의 브로커를 거쳐 PLC에 도착하며, PLC는 설정값이 범위 안인지, 현재 트립 상태는 아닌지 다시 확인합니다. 명령서에 문제가 없어도 설비가 받을 수 없는 상태라면 PLC가 거부합니다. 이렇게 여러 겹의 검사를 거치는 구조를 심층 방어(Defense in Depth)라고 합니다.</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내려가는 명령 한 건과 그 응답입니다. 명령에는 팬 속도를 100 %로 올리라는 작업과 승인자, 유효 시간이 적혀 있습니다. PLC는 명령 식별자 cmdId로 중복 명령을 가려냅니다. 운전원은 11시 14분 56초에 승인했고, 명령은 57초에 나갔으며, 응답은 58초에 돌아왔습니다. 확인 응답 ACK에는 실행 완료를 뜻하는 DONE과 인터록에 걸리지 않았음을 뜻하는 PASS가 실려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데이터가 어디서 왔고 어떻게 바뀌어 판단에 쓰였는지 남긴 내력이 데이터 리니지입니다. 센서가 잰 유온 계측값이 원천 데이터이고, 감지 서비스가 그 변화로 계산한 기울기가 가공 데이터입니다. 화면의 가공 레코드에는 유온 값과 계산한 기울기가 함께 실려 있습니다. 기울기가 0보다 크다는 것은 세 번째 경보 조건이며, 조건이 성립해 기록된 경보를 바탕으로 판단 결과가 나왔습니다. 판단이 어떤 계측값에서 비롯되었는지 거꾸로 되짚을 수 있는 성질을 추적성(Traceability)이라고 합니다.</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판단 결과도 기록으로 남습니다. 경보, 사건, 판단, 명령, 작업지시에 각각 식별자가 붙고 서로 연결됩니다. 그래서 작업지시 하나에서 출발해 어떤 판단과 경보에서 나온 것인지 거꾸로 따라갈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지금까지 살펴본 구조를 모으면, Layer 1~3은 설비와 제어기, 엣지 게이트웨이와 브로커, 이벤트 로그입니다. Layer 4~6은 스트림 처리, 시계열 저장소, 관제 화면입니다. Layer 7~9는 온톨로지, AI 에이전트, 프로세스와 승인·앱입니다. 계층은 하는 일에 따른 구분이고, 오른쪽 세 칸은 각 요소가 놓인 망에 따른 보안 영역입니다. 파란 점은 각 계층이 놓인 영역을 나타내며, 같은 계층 안에서도 영역은 다를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단원을 마무리하겠습니다. 데이터는 수집 서비스를 거쳐 위로만 올라갑니다. 자동 조치 명령은 사람의 승인, 명령 관문의 검사, PLC의 검사를 모두 거친 것만 내려옵니다. 이렇게 경로를 나누고 검사해 현장 통신 규약에 부족한 보호 기능을 보완합니다.</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실습에서는 앞에서 그림으로 본 시스템을 실행합니다. 사용하는 도구는 VS Code, GitHub Copilot, Python, Docker입니다. GitHub Copilot에 말로 요청하고 AI가 쓴 코드를 실행하며 고쳐 가는 방식을 바이브 코딩이라고 합니다. 랩의 코드도 이 방식으로 만들며, 이번 실습에서는 Docker Compose로 서비스를 올리고 포털이 열리는지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시연에서는 쿨러의 성능이 떨어지는 사건 한 건을 처음부터 끝까지 처리해 봅니다. 화면의 다섯 단계를 따라가며 어떤 정보가 쓰이는지 살펴보겠습니다. 각 단계의 결과가 다음 단계로 어떻게 넘어가는지도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저장된 값으로 쿨러 사건을 살펴보면, 위쪽은 유온이고 아래쪽은 냉각 효율입니다. 경보는 11시 13분 8초에 났지만 조치는 108초 뒤에 승인되었고, 그동안 유온은 61.8 ℃까지 올랐습니다. 경보만으로는 원인을 알 수 없어, 원인을 가리고 조치안을 비교하는 과정이 필요했습니다. 체온계의 고열 표시처럼 이상은 바로 알 수 있어도 원인은 따로 확인해야 합니다. 다만 이 사건에서는 응급 조치를 고를 때도 원인 판단이 먼저 필요했습니다.</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사건의 판단을 네 질문으로 나누어, 다섯 문장으로 살펴보겠습니다. 46.2만으로는 무엇을 잰 값인지, 단위와 기준이 무엇인지 알 수 없어 어느 질문에도 답하지 못합니다. 대상과 단위가 붙으면 「지금 얼마인가」에, 기준이 붙으면 「벗어났는가」에 답할 수 있습니다. 태그 이름과 경보 조건이 이 역할을 합니다. 아래 두 줄처럼 정보가 원인으로, 원인이 조치로 이어진 지식이 있어야 「왜 벗어났는가」와 「무엇을 할 것인가」에 답할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설비 매뉴얼은 같은 증상에 대해 세 가지 원인 후보를 제시합니다. 쿨러 핀 오염은 먼지나 유막으로 핀이 막힌 상태이고, 팬 구동 불량은 팬이 제 속도로 돌지 못하는 상태이며, 주변 온도 상승은 설비 주변의 공기가 더운 상태입니다. 유온만으로는 셋을 구분할 수 없어, 후보마다 정해진 값과 기준에 측정값을 대조하며 이 확인 항목과 기준을 증거라고 부릅니다. 이 사건에서 판별에 쓴 평균값은 냉각 효율 46.2 %, 팬 진동 0.575 mm/s, 캐비닛 온도 28 ℃입니다. 냉각 효율과 팬 진동은 핀 오염 기준에 맞고, 팬 진동으로 팬 구동 불량을, 캐비닛 온도로 주변 온도 상승을 배제합니다.</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원인을 가려야 하는 이유는 원인에 따라 조치가 달라지기 때문입니다. 핀이 막혔으면 세척하고, 팬에 문제가 있으면 벨트를 점검하며, 주변 공기가 더우면 환기를 보강합니다. 원인에 맞지 않는 조치로는 근본 문제를 해결할 수 없습니다.</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조치에는 두 가지가 있습니다. 이 사건에서 승인된 팬 최대 운전은 유온을 우선 낮추는 완화 조치입니다. 팬 속도를 올려도 핀은 여전히 막혀 있어 냉각 효율은 기준 아래에 머물렀습니다. 원인을 없애는 근본 조치는 핀 세척이며, 작업지시로 따로 등록되었습니다.</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원인을 가리지 않은 조치는 해가 될 수도 있습니다. 이 사건에서는 팬 최대 운전이 맞았지만, 팬 베어링이 닳은 설비에서 같은 조치를 하면 진동이 인터록 기준을 넘어 설비가 멈춥니다. 유온이 오르면 팬 속도를 올린다는 한 줄의 규칙으로는 부족합니다.</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판단에 쓰인 정보가 어디에 있었는지 보겠습니다. 센서 값, 운전 상태, 매뉴얼, 생산 일정은 서로 다른 곳에 있습니다. 센서 값과 운전 상태는 운전 중 바뀌며, 생산 계획과 실적을 관리하는 MES에는 긴급 오더의 납기까지 약 6시간이 남았다고 기록되어 있었습니다. 그림의 점선은 이 정보들을 지식으로 연결하기 전의 상태를 나타냅니다.</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왼쪽의 매뉴얼 문장에는 원인 후보와 확인할 값, 기준이 모두 들어 있지만 사람이 읽고 해석해야 합니다. 이를 컴퓨터가 따라가게 하려면 오른쪽의 세 연결을 명시해야 합니다. 경보가 매뉴얼의 어느 대목에 해당하는지, 그 기준을 어느 태그 값과 비교할지, 확인한 원인에 어떤 조치가 맞는지를 잇는 것입니다. 정보가 있는 곳을 찾는 데서 나아가, 판단에 필요한 관계를 기록해야 합니다.</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숙련자는 증상을 읽고 고장 유형을 짐작한 뒤, 원인 후보와 증거를 대조해 조치를 고릅니다. 상자 사이의 화살표 하나하나가 머릿속 지식이며, 이를 기록하지 않고 사람에게만 맡기면 세 가지 한계가 생깁니다. 같은 경보에서도 떠올리는 후보와 순서가 사람마다 다릅니다. 숙련자가 없으면 판단이 늦어지는데, 이 사건처럼 경보 뒤 2분도 되지 않아 유온이 61.8 ℃까지 오를 수 있습니다. 또 프로그램이나 AI가 같은 판단 경로를 따라가기 어렵습니다.</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연결을 적어 둘 곳으로 먼저 떠오르는 것은 표와 문서, 그리고 프로그램 코드입니다. 이 표에서는 원인이 셋이고 핀 오염의 확인 항목이 둘이라 같은 고장 유형이 네 줄에 반복되며, 표와 문서의 의미를 연결하려면 관계를 따로 정의해야 합니다. 판별 기준을 코드에 넣으면 컴퓨터가 실행할 수 있지만, 기준이 바뀔 때 코드를 고쳐야 하고 판단 근거와 출처도 별도로 기록해야 합니다. 그래서 대상과 관계를 프로그램과 분리된 지식으로 적어 둡니다. 사람이 검토하고 컴퓨터가 따라갈 수 있으며, 지식을 프로그램과 별개로 고칠 수 있어야 합니다.</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AI에게 그대로 물으면 그럴듯한 답이 나옵니다. 하지만 이 설비의 매뉴얼과 현재 값을 주지 않으면 답의 근거를 확인할 수 없습니다. 적어 둔 지식과 값을 조회하게 하고 그 과정을 기록하면 무엇을 근거로 판단했는지 확인할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온톨로지는 대상과 관계를 정해진 형식으로 정의해 사람과 컴퓨터가 함께 쓰는 지식 모델입니다. HYD에서는 대상의 종류를 설비 쪽, 진단 쪽, 조치 쪽으로 나누며, 유온에는 단위와 정상값, 한계가 속성으로 적혀 있습니다. 고장 유형에서 조치로 이어지는 관계라도 MITIGATED_BY는 우선 완화한다는 뜻이고, REMEDIED_BY는 근본적으로 없앤다는 뜻입니다. 제약은 CAUSES의 양 끝을 원인과 고장 유형으로 정해, 어긋난 연결을 검사할 기준이 됩니다. 이런 명시적 정의와 검증 기준이 관계 그림과 온톨로지를 구분합니다.</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같은 뜻으로 쓴다는 것이 어떤 모습인지 보겠습니다. 같은 증상을 두고 어떤 사람은 온도 상승이라고 하고, 어떤 사람은 과열이라고 합니다. HYD의 온톨로지는 이 말들을 유온 상승이라는 하나의 대상에 묶어 둡니다. 그래서 누가 어떤 말로 부르든 같은 대상을 가리킵니다.</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온톨로지는 관계 그림이나 그래프 DB와 자주 혼동됩니다. 관계 그림은 사람이 보는 표현이고, 그래프 DB는 저장 도구입니다. 지식 그래프는 온톨로지에 맞춰 실제 대상과 관계를 채운 것이며, HYD에서는 그래프 DB에 저장합니다. 여기에는 값을 읽는 방법을 두고, 계속 바뀌는 센서 값은 시계열 저장소에서 읽습니다. 온톨로지는 원인 후보와 근거를 찾는 바탕이며, 조치는 사람이 승인합니다.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지식 그래프는 노드와 관계로 이루어집니다. 동그라미는 대상 하나를 나타내는 노드이고, 화살표는 이름과 방향을 가진 관계입니다. 화살표가 나가는 쪽을 주어, 관계 이름을 서술어, 들어가는 쪽을 목적어로 읽습니다. 그림은 「쿨러 핀 오염은 쿨러 냉각 성능 상실을 일으킨다」라는 문장이 됩니다. 관계 이름과 방향이 이 문장의 뜻에 맞아야 합니다.</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HYD 지식 그래프의 주요 관계를 모은 지도를 왼쪽 위의 설비부터 읽어 보겠습니다. HYD-01의 구성 요소인 오일 쿨러는 유온 센서 TS1로 계측되며, 이 센서에서 유온 상승이라는 증상이 관측됩니다. 증상인 유온 상승과 원인인 쿨러 핀 오염은 모두 쿨러 냉각 성능 상실로 이어지고, 이 고장 유형은 오일 쿨러에서 발생하며 팬 최대 운전으로 완화됩니다. 조치 방법은 단계(Step)를 거쳐 매뉴얼 HM-8.5를 근거로 가리키지만, 지도에서는 그 단계를 줄여 화살표 하나로 나타냈습니다. 고장 유형에 연결된 완화 조치 후보는 원인 확인 전에도 찾을 수 있지만, 실제 추천은 원인과 증거를 확인한 뒤에 합니다.</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화살표의 방향은 관계 이름의 뜻이 정합니다. CAUSES는 원인이 고장 유형을 일으킨다는 뜻이므로 원인에서 고장 유형으로 저장됩니다. 경보에서 출발하면 고장 유형에 먼저 도착하므로, 컴퓨터는 들어오는 CAUSES를 거슬러 원인 후보를 찾습니다. 반대 방향의 관계를 새로 만드는 것이 아니라 저장된 관계를 거슬러 따라가는 것입니다. 잘못된 것은 거슬러 조회하는 일이 아니라 관계 이름과 저장 방향이 어긋난 경우입니다.</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컴퓨터가 이 그래프로 원인과 조치를 찾는 과정을 두 걸음으로 나누어 보겠습니다. 출발점인 경보에는 쿨러 성능 저하라는 이상 패턴의 이름 COOLER_DEGRADATION이 실려 옵니다. 이상 패턴은 DETECTS로 유온 상승이라는 증상을 감지하고, 증상은 INDICATES로 쿨러 냉각 성능 상실이라는 고장 유형을 가리킵니다. 앞의 지도에서 생략한 이상 패턴이 경보와 지식 그래프를 잇는 입구입니다.</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고장 유형에서 들어오는 CAUSES를 거슬러 원인 후보 셋을 모읍니다. 원인마다 EVIDENCED_BY로 연결된 증거에 어떤 값을 어느 기준과 비교할지 적혀 있어, 해당 값을 시계열 저장소에서 읽어 대조합니다. 평균값인 냉각 효율 46.2 %와 팬 진동 0.575 mm/s가 기준에 맞아 쿨러 핀 오염으로 판단하고, 나머지 둘은 배제합니다. 조치는 고장 유형에서 MITIGATED_BY를 따라 팬 최대 운전을 찾습니다. 판별 기준은 지식 그래프에 두고 바뀌는 값은 저장소에서 읽으며, 이렇게 숙련자의 머릿속 연결을 컴퓨터가 따라갑니다.</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단원을 다섯 걸음으로 정리하겠습니다. 경보는 조건을 벗어났다는 사실만 알리고 판단에 필요한 정보는 흩어져 있으므로, 대상과 관계를 온톨로지로 정의합니다. 컴퓨터는 그 관계를 따라 원인 후보와 증거를 찾고, 에이전트는 값을 대조해 조치를 추천합니다. 담당자가 승인한 뒤에만 프로세스 엔진이 조치를 명령으로 만들어 내려보냅니다. 온톨로지는 이 판단의 바탕이며, 스스로 조치를 결정하지는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실습의 목적은 노드와 관계, 방향을 직접 정해 보는 것입니다. 쿨러 사건의 설비, 센서, 증상, 원인, 조치를 노드로 놓고 관계를 이어 이름을 붙입니다. 다 그린 뒤에는 화살표를 하나씩 문장으로 읽어 뜻이 통하는지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본문에서 풀어 쓴 약어의 정식 명칭을 모았습니다. 뜻은 앞에서 설명했으므로 여기서는 이름과 역할을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경보가 알려 주는 사실과 원인 판단을 구분하는 문항입니다. 앞의 사건과 다른 값을 넣은 가정이며, VS1은 팬 진동이고 TS4는 캐비닛 온도입니다. 화면의 값을 판별 기준과 대조해 보세요.</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화살표 방향을 외웠는지가 아니라, 관계를 문장으로 읽었을 때 뜻이 맞는지 확인하는 문항입니다. 보기를 하나씩 문장으로 읽어 보세요.</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누가 무엇을 할 수 있는지 묻는 문항입니다. 시연에서 에이전트가 한 일과 담당자가 승인한 뒤에 일어난 일을 떠올려 보세요.</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문항의 판단 기준입니다. 첫 문항은 경보와 원인을, 둘째 문항은 이름과 방향을, 셋째 문항은 추천과 실행을 구분하는지 봅니다. 둘째 문항의 2번에서 INDICATES는 증상에서 고장 유형으로 이어지는 관계이므로, 원인을 주어로 두면 양 끝의 종류가 맞지 않습니다.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image" Target="../media/image8.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9.png"/><Relationship Id="rId4" Type="http://schemas.openxmlformats.org/officeDocument/2006/relationships/image" Target="../media/image10.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image" Target="../media/image1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image" Target="../media/image16.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17.png"/><Relationship Id="rId4" Type="http://schemas.openxmlformats.org/officeDocument/2006/relationships/image" Target="../media/image5.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18.png"/><Relationship Id="rId4" Type="http://schemas.openxmlformats.org/officeDocument/2006/relationships/image" Target="../media/image19.png"/><Relationship Id="rId5" Type="http://schemas.openxmlformats.org/officeDocument/2006/relationships/image" Target="../media/image20.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image" Target="../media/image21.png"/><Relationship Id="rId4" Type="http://schemas.openxmlformats.org/officeDocument/2006/relationships/image" Target="../media/image22.png"/><Relationship Id="rId5" Type="http://schemas.openxmlformats.org/officeDocument/2006/relationships/image" Target="../media/image23.png"/><Relationship Id="rId6" Type="http://schemas.openxmlformats.org/officeDocument/2006/relationships/image" Target="../media/image2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25.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image" Target="../media/image26.png"/><Relationship Id="rId4" Type="http://schemas.openxmlformats.org/officeDocument/2006/relationships/image" Target="../media/image22.png"/><Relationship Id="rId5" Type="http://schemas.openxmlformats.org/officeDocument/2006/relationships/image" Target="../media/image27.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image" Target="../media/image28.png"/><Relationship Id="rId4" Type="http://schemas.openxmlformats.org/officeDocument/2006/relationships/image" Target="../media/image2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image" Target="../media/image29.png"/><Relationship Id="rId4" Type="http://schemas.openxmlformats.org/officeDocument/2006/relationships/image" Target="../media/image30.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 Id="rId3" Type="http://schemas.openxmlformats.org/officeDocument/2006/relationships/image" Target="../media/image3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 Id="rId3" Type="http://schemas.openxmlformats.org/officeDocument/2006/relationships/image" Target="../media/image21.png"/><Relationship Id="rId4" Type="http://schemas.openxmlformats.org/officeDocument/2006/relationships/image" Target="../media/image28.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 Id="rId3" Type="http://schemas.openxmlformats.org/officeDocument/2006/relationships/image" Target="../media/image32.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 Id="rId3" Type="http://schemas.openxmlformats.org/officeDocument/2006/relationships/image" Target="../media/image20.png"/><Relationship Id="rId4" Type="http://schemas.openxmlformats.org/officeDocument/2006/relationships/image" Target="../media/image33.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 Id="rId3" Type="http://schemas.openxmlformats.org/officeDocument/2006/relationships/image" Target="../media/image34.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 Id="rId3" Type="http://schemas.openxmlformats.org/officeDocument/2006/relationships/image" Target="../media/image35.png"/><Relationship Id="rId4" Type="http://schemas.openxmlformats.org/officeDocument/2006/relationships/image" Target="../media/image36.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 Id="rId3" Type="http://schemas.openxmlformats.org/officeDocument/2006/relationships/image" Target="../media/image33.png"/><Relationship Id="rId4" Type="http://schemas.openxmlformats.org/officeDocument/2006/relationships/image" Target="../media/image37.png"/><Relationship Id="rId5" Type="http://schemas.openxmlformats.org/officeDocument/2006/relationships/image" Target="../media/image38.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 Id="rId3" Type="http://schemas.openxmlformats.org/officeDocument/2006/relationships/image" Target="../media/image39.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 Id="rId3" Type="http://schemas.openxmlformats.org/officeDocument/2006/relationships/image" Target="../media/image40.png"/><Relationship Id="rId4" Type="http://schemas.openxmlformats.org/officeDocument/2006/relationships/image" Target="../media/image41.png"/><Relationship Id="rId5" Type="http://schemas.openxmlformats.org/officeDocument/2006/relationships/image" Target="../media/image38.png"/><Relationship Id="rId6" Type="http://schemas.openxmlformats.org/officeDocument/2006/relationships/image" Target="../media/image30.png"/><Relationship Id="rId7" Type="http://schemas.openxmlformats.org/officeDocument/2006/relationships/image" Target="../media/image23.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 Id="rId3" Type="http://schemas.openxmlformats.org/officeDocument/2006/relationships/image" Target="../media/image42.png"/><Relationship Id="rId4" Type="http://schemas.openxmlformats.org/officeDocument/2006/relationships/image" Target="../media/image43.png"/><Relationship Id="rId5" Type="http://schemas.openxmlformats.org/officeDocument/2006/relationships/image" Target="../media/image44.png"/><Relationship Id="rId6" Type="http://schemas.openxmlformats.org/officeDocument/2006/relationships/image" Target="../media/image45.png"/><Relationship Id="rId7" Type="http://schemas.openxmlformats.org/officeDocument/2006/relationships/image" Target="../media/image46.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 Id="rId3" Type="http://schemas.openxmlformats.org/officeDocument/2006/relationships/image" Target="../media/image47.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 Id="rId3" Type="http://schemas.openxmlformats.org/officeDocument/2006/relationships/image" Target="../media/image48.png"/><Relationship Id="rId4" Type="http://schemas.openxmlformats.org/officeDocument/2006/relationships/image" Target="../media/image49.png"/><Relationship Id="rId5" Type="http://schemas.openxmlformats.org/officeDocument/2006/relationships/image" Target="../media/image50.png"/><Relationship Id="rId6" Type="http://schemas.openxmlformats.org/officeDocument/2006/relationships/image" Target="../media/image5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 Id="rId3" Type="http://schemas.openxmlformats.org/officeDocument/2006/relationships/image" Target="../media/image42.png"/><Relationship Id="rId4" Type="http://schemas.openxmlformats.org/officeDocument/2006/relationships/image" Target="../media/image44.png"/><Relationship Id="rId5" Type="http://schemas.openxmlformats.org/officeDocument/2006/relationships/image" Target="../media/image52.png"/><Relationship Id="rId6" Type="http://schemas.openxmlformats.org/officeDocument/2006/relationships/image" Target="../media/image40.png"/><Relationship Id="rId7" Type="http://schemas.openxmlformats.org/officeDocument/2006/relationships/image" Target="../media/image53.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 Id="rId3" Type="http://schemas.openxmlformats.org/officeDocument/2006/relationships/image" Target="../media/image54.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 Id="rId3" Type="http://schemas.openxmlformats.org/officeDocument/2006/relationships/image" Target="../media/image55.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 Id="rId3" Type="http://schemas.openxmlformats.org/officeDocument/2006/relationships/image" Target="../media/image56.png"/><Relationship Id="rId4" Type="http://schemas.openxmlformats.org/officeDocument/2006/relationships/image" Target="../media/image57.png"/><Relationship Id="rId5" Type="http://schemas.openxmlformats.org/officeDocument/2006/relationships/image" Target="../media/image58.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 Id="rId3" Type="http://schemas.openxmlformats.org/officeDocument/2006/relationships/image" Target="../media/image57.png"/><Relationship Id="rId4" Type="http://schemas.openxmlformats.org/officeDocument/2006/relationships/image" Target="../media/image46.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 Id="rId3" Type="http://schemas.openxmlformats.org/officeDocument/2006/relationships/image" Target="../media/image59.png"/><Relationship Id="rId4" Type="http://schemas.openxmlformats.org/officeDocument/2006/relationships/image" Target="../media/image60.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 Id="rId3" Type="http://schemas.openxmlformats.org/officeDocument/2006/relationships/image" Target="../media/image6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 Id="rId3" Type="http://schemas.openxmlformats.org/officeDocument/2006/relationships/image" Target="../media/image62.png"/><Relationship Id="rId4" Type="http://schemas.openxmlformats.org/officeDocument/2006/relationships/image" Target="../media/image60.png"/><Relationship Id="rId5" Type="http://schemas.openxmlformats.org/officeDocument/2006/relationships/image" Target="../media/image63.png"/><Relationship Id="rId6" Type="http://schemas.openxmlformats.org/officeDocument/2006/relationships/image" Target="../media/image53.png"/><Relationship Id="rId7" Type="http://schemas.openxmlformats.org/officeDocument/2006/relationships/image" Target="../media/image52.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 Id="rId3" Type="http://schemas.openxmlformats.org/officeDocument/2006/relationships/image" Target="../media/image64.png"/><Relationship Id="rId4" Type="http://schemas.openxmlformats.org/officeDocument/2006/relationships/image" Target="../media/image65.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 Id="rId3" Type="http://schemas.openxmlformats.org/officeDocument/2006/relationships/image" Target="../media/image26.png"/><Relationship Id="rId4" Type="http://schemas.openxmlformats.org/officeDocument/2006/relationships/image" Target="../media/image58.png"/><Relationship Id="rId5" Type="http://schemas.openxmlformats.org/officeDocument/2006/relationships/image" Target="../media/image27.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 Id="rId3" Type="http://schemas.openxmlformats.org/officeDocument/2006/relationships/image" Target="../media/image66.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 Id="rId3" Type="http://schemas.openxmlformats.org/officeDocument/2006/relationships/image" Target="../media/image67.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 Id="rId3" Type="http://schemas.openxmlformats.org/officeDocument/2006/relationships/image" Target="../media/image68.png"/><Relationship Id="rId4" Type="http://schemas.openxmlformats.org/officeDocument/2006/relationships/image" Target="../media/image69.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 Id="rId3" Type="http://schemas.openxmlformats.org/officeDocument/2006/relationships/image" Target="../media/image70.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 Id="rId3" Type="http://schemas.openxmlformats.org/officeDocument/2006/relationships/image" Target="../media/image7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 Id="rId3" Type="http://schemas.openxmlformats.org/officeDocument/2006/relationships/image" Target="../media/image8.png"/><Relationship Id="rId4" Type="http://schemas.openxmlformats.org/officeDocument/2006/relationships/image" Target="../media/image72.png"/><Relationship Id="rId5" Type="http://schemas.openxmlformats.org/officeDocument/2006/relationships/image" Target="../media/image44.png"/><Relationship Id="rId6" Type="http://schemas.openxmlformats.org/officeDocument/2006/relationships/image" Target="../media/image52.png"/><Relationship Id="rId7" Type="http://schemas.openxmlformats.org/officeDocument/2006/relationships/image" Target="../media/image40.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3294B"/>
        </a:solidFill>
        <a:effectLst/>
      </p:bgPr>
    </p:bg>
    <p:spTree>
      <p:nvGrpSpPr>
        <p:cNvPr id="1" name=""/>
        <p:cNvGrpSpPr/>
        <p:nvPr/>
      </p:nvGrpSpPr>
      <p:grpSpPr/>
      <p:sp>
        <p:nvSpPr>
          <p:cNvPr id="2" name="TextBox 1"/>
          <p:cNvSpPr txBox="1"/>
          <p:nvPr/>
        </p:nvSpPr>
        <p:spPr>
          <a:xfrm>
            <a:off x="457200" y="841248"/>
            <a:ext cx="8229600" cy="457200"/>
          </a:xfrm>
          <a:prstGeom prst="rect">
            <a:avLst/>
          </a:prstGeom>
          <a:noFill/>
        </p:spPr>
        <p:txBody>
          <a:bodyPr wrap="square" anchor="t"/>
          <a:lstStyle/>
          <a:p>
            <a:pPr algn="l" eaLnBrk="0">
              <a:lnSpc>
                <a:spcPct val="110000"/>
              </a:lnSpc>
            </a:pPr>
            <a:r>
              <a:rPr sz="2000" b="1">
                <a:solidFill>
                  <a:srgbClr val="8FCFF8"/>
                </a:solidFill>
                <a:latin typeface="맑은 고딕"/>
                <a:ea typeface="맑은 고딕"/>
                <a:cs typeface="맑은 고딕"/>
              </a:rPr>
              <a:t>경남대학교 피지컬AI 사관학교</a:t>
            </a:r>
          </a:p>
        </p:txBody>
      </p:sp>
      <p:sp>
        <p:nvSpPr>
          <p:cNvPr id="3" name="Rectangle 2"/>
          <p:cNvSpPr/>
          <p:nvPr/>
        </p:nvSpPr>
        <p:spPr>
          <a:xfrm>
            <a:off x="548640" y="13167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1700784"/>
            <a:ext cx="7863840" cy="420624"/>
          </a:xfrm>
          <a:prstGeom prst="rect">
            <a:avLst/>
          </a:prstGeom>
          <a:noFill/>
        </p:spPr>
        <p:txBody>
          <a:bodyPr wrap="square" anchor="t"/>
          <a:lstStyle/>
          <a:p>
            <a:pPr algn="l" eaLnBrk="0">
              <a:lnSpc>
                <a:spcPct val="110000"/>
              </a:lnSpc>
            </a:pPr>
            <a:r>
              <a:rPr sz="1800" b="1">
                <a:solidFill>
                  <a:srgbClr val="8FCFF8"/>
                </a:solidFill>
                <a:latin typeface="맑은 고딕"/>
                <a:ea typeface="맑은 고딕"/>
                <a:cs typeface="맑은 고딕"/>
              </a:rPr>
              <a:t>통합반 1회차</a:t>
            </a:r>
          </a:p>
        </p:txBody>
      </p:sp>
      <p:sp>
        <p:nvSpPr>
          <p:cNvPr id="5" name="TextBox 4"/>
          <p:cNvSpPr txBox="1"/>
          <p:nvPr/>
        </p:nvSpPr>
        <p:spPr>
          <a:xfrm>
            <a:off x="457200" y="2395728"/>
            <a:ext cx="8412480" cy="1920240"/>
          </a:xfrm>
          <a:prstGeom prst="rect">
            <a:avLst/>
          </a:prstGeom>
          <a:noFill/>
        </p:spPr>
        <p:txBody>
          <a:bodyPr wrap="square" anchor="t"/>
          <a:lstStyle/>
          <a:p>
            <a:pPr algn="l" eaLnBrk="0">
              <a:lnSpc>
                <a:spcPct val="110000"/>
              </a:lnSpc>
            </a:pPr>
            <a:r>
              <a:rPr sz="4000" b="1">
                <a:solidFill>
                  <a:srgbClr val="FFFFFF"/>
                </a:solidFill>
                <a:latin typeface="맑은 고딕"/>
                <a:ea typeface="맑은 고딕"/>
                <a:cs typeface="맑은 고딕"/>
              </a:rPr>
              <a:t>설비 데이터에서 판단과 조치까지,</a:t>
            </a:r>
          </a:p>
          <a:p>
            <a:pPr algn="l" eaLnBrk="0">
              <a:lnSpc>
                <a:spcPct val="110000"/>
              </a:lnSpc>
            </a:pPr>
            <a:r>
              <a:rPr sz="4000" b="1">
                <a:solidFill>
                  <a:srgbClr val="FFFFFF"/>
                </a:solidFill>
                <a:latin typeface="맑은 고딕"/>
                <a:ea typeface="맑은 고딕"/>
                <a:cs typeface="맑은 고딕"/>
              </a:rPr>
              <a:t>그리고 온톨로지가 필요한 이유</a:t>
            </a:r>
          </a:p>
        </p:txBody>
      </p:sp>
      <p:sp>
        <p:nvSpPr>
          <p:cNvPr id="6" name="TextBox 5"/>
          <p:cNvSpPr txBox="1"/>
          <p:nvPr/>
        </p:nvSpPr>
        <p:spPr>
          <a:xfrm>
            <a:off x="457200" y="4407408"/>
            <a:ext cx="8412480" cy="731520"/>
          </a:xfrm>
          <a:prstGeom prst="rect">
            <a:avLst/>
          </a:prstGeom>
          <a:noFill/>
        </p:spPr>
        <p:txBody>
          <a:bodyPr wrap="square" anchor="t"/>
          <a:lstStyle/>
          <a:p>
            <a:pPr algn="l" eaLnBrk="0">
              <a:lnSpc>
                <a:spcPct val="110000"/>
              </a:lnSpc>
            </a:pPr>
            <a:r>
              <a:rPr sz="1900" b="0">
                <a:solidFill>
                  <a:srgbClr val="C6D0DE"/>
                </a:solidFill>
                <a:latin typeface="맑은 고딕"/>
                <a:ea typeface="맑은 고딕"/>
                <a:cs typeface="맑은 고딕"/>
              </a:rPr>
              <a:t>HYD 시스템을 직접 실행하며 설비 이상 한 건이 처리되는 과정을 따라간다</a:t>
            </a:r>
          </a:p>
        </p:txBody>
      </p:sp>
      <p:pic>
        <p:nvPicPr>
          <p:cNvPr id="7" name="로고:uEngine" descr="logo-uengine_FFFFFF_None.png"/>
          <p:cNvPicPr>
            <a:picLocks noChangeAspect="1"/>
          </p:cNvPicPr>
          <p:nvPr/>
        </p:nvPicPr>
        <p:blipFill>
          <a:blip r:embed="rId2"/>
          <a:stretch>
            <a:fillRect/>
          </a:stretch>
        </p:blipFill>
        <p:spPr>
          <a:xfrm>
            <a:off x="7315200" y="5669280"/>
            <a:ext cx="1325880" cy="275115"/>
          </a:xfrm>
          <a:prstGeom prst="rect">
            <a:avLst/>
          </a:prstGeom>
        </p:spPr>
      </p:pic>
      <p:sp>
        <p:nvSpPr>
          <p:cNvPr id="8" name="Rectangle 7"/>
          <p:cNvSpPr/>
          <p:nvPr/>
        </p:nvSpPr>
        <p:spPr>
          <a:xfrm>
            <a:off x="9464040" y="1188719"/>
            <a:ext cx="1188720" cy="1188720"/>
          </a:xfrm>
          <a:prstGeom prst="rect">
            <a:avLst/>
          </a:prstGeom>
          <a:solidFill>
            <a:srgbClr val="243D66"/>
          </a:solidFill>
          <a:ln>
            <a:noFill/>
          </a:ln>
        </p:spPr>
        <p:txBody>
          <a:bodyPr rtlCol="0" anchor="ctr"/>
          <a:lstStyle/>
          <a:p>
            <a:pPr algn="ctr"/>
          </a:p>
        </p:txBody>
      </p:sp>
      <p:pic>
        <p:nvPicPr>
          <p:cNvPr id="9" name="아이콘:temperature-plus" descr="temperature-plus_5CB8F2_1.5.png"/>
          <p:cNvPicPr>
            <a:picLocks noChangeAspect="1"/>
          </p:cNvPicPr>
          <p:nvPr/>
        </p:nvPicPr>
        <p:blipFill>
          <a:blip r:embed="rId3"/>
          <a:stretch>
            <a:fillRect/>
          </a:stretch>
        </p:blipFill>
        <p:spPr>
          <a:xfrm>
            <a:off x="9701784" y="1426463"/>
            <a:ext cx="713232" cy="713232"/>
          </a:xfrm>
          <a:prstGeom prst="rect">
            <a:avLst/>
          </a:prstGeom>
        </p:spPr>
      </p:pic>
      <p:sp>
        <p:nvSpPr>
          <p:cNvPr id="10" name="Down Arrow 9"/>
          <p:cNvSpPr/>
          <p:nvPr/>
        </p:nvSpPr>
        <p:spPr>
          <a:xfrm>
            <a:off x="9902952" y="2450591"/>
            <a:ext cx="310896" cy="310896"/>
          </a:xfrm>
          <a:prstGeom prst="downArrow">
            <a:avLst/>
          </a:prstGeom>
          <a:solidFill>
            <a:srgbClr val="5CB8F2"/>
          </a:solidFill>
          <a:ln>
            <a:noFill/>
          </a:ln>
        </p:spPr>
        <p:txBody>
          <a:bodyPr rtlCol="0" anchor="ctr"/>
          <a:lstStyle/>
          <a:p>
            <a:pPr algn="ctr"/>
          </a:p>
        </p:txBody>
      </p:sp>
      <p:sp>
        <p:nvSpPr>
          <p:cNvPr id="11" name="Rectangle 10"/>
          <p:cNvSpPr/>
          <p:nvPr/>
        </p:nvSpPr>
        <p:spPr>
          <a:xfrm>
            <a:off x="9464040" y="2834639"/>
            <a:ext cx="1188720" cy="1188720"/>
          </a:xfrm>
          <a:prstGeom prst="rect">
            <a:avLst/>
          </a:prstGeom>
          <a:solidFill>
            <a:srgbClr val="243D66"/>
          </a:solidFill>
          <a:ln>
            <a:noFill/>
          </a:ln>
        </p:spPr>
        <p:txBody>
          <a:bodyPr rtlCol="0" anchor="ctr"/>
          <a:lstStyle/>
          <a:p>
            <a:pPr algn="ctr"/>
          </a:p>
        </p:txBody>
      </p:sp>
      <p:pic>
        <p:nvPicPr>
          <p:cNvPr id="12" name="아이콘:topology-star-3" descr="topology-star-3_5CB8F2_1.5.png"/>
          <p:cNvPicPr>
            <a:picLocks noChangeAspect="1"/>
          </p:cNvPicPr>
          <p:nvPr/>
        </p:nvPicPr>
        <p:blipFill>
          <a:blip r:embed="rId4"/>
          <a:stretch>
            <a:fillRect/>
          </a:stretch>
        </p:blipFill>
        <p:spPr>
          <a:xfrm>
            <a:off x="9701784" y="3072383"/>
            <a:ext cx="713232" cy="713232"/>
          </a:xfrm>
          <a:prstGeom prst="rect">
            <a:avLst/>
          </a:prstGeom>
        </p:spPr>
      </p:pic>
      <p:sp>
        <p:nvSpPr>
          <p:cNvPr id="13" name="Down Arrow 12"/>
          <p:cNvSpPr/>
          <p:nvPr/>
        </p:nvSpPr>
        <p:spPr>
          <a:xfrm>
            <a:off x="9902952" y="4096511"/>
            <a:ext cx="310896" cy="310896"/>
          </a:xfrm>
          <a:prstGeom prst="downArrow">
            <a:avLst/>
          </a:prstGeom>
          <a:solidFill>
            <a:srgbClr val="5CB8F2"/>
          </a:solidFill>
          <a:ln>
            <a:noFill/>
          </a:ln>
        </p:spPr>
        <p:txBody>
          <a:bodyPr rtlCol="0" anchor="ctr"/>
          <a:lstStyle/>
          <a:p>
            <a:pPr algn="ctr"/>
          </a:p>
        </p:txBody>
      </p:sp>
      <p:sp>
        <p:nvSpPr>
          <p:cNvPr id="14" name="Rectangle 13"/>
          <p:cNvSpPr/>
          <p:nvPr/>
        </p:nvSpPr>
        <p:spPr>
          <a:xfrm>
            <a:off x="9464040" y="4480560"/>
            <a:ext cx="1188720" cy="1188720"/>
          </a:xfrm>
          <a:prstGeom prst="rect">
            <a:avLst/>
          </a:prstGeom>
          <a:solidFill>
            <a:srgbClr val="5CB8F2"/>
          </a:solidFill>
          <a:ln>
            <a:noFill/>
          </a:ln>
        </p:spPr>
        <p:txBody>
          <a:bodyPr rtlCol="0" anchor="ctr"/>
          <a:lstStyle/>
          <a:p>
            <a:pPr algn="ctr"/>
          </a:p>
        </p:txBody>
      </p:sp>
      <p:pic>
        <p:nvPicPr>
          <p:cNvPr id="15" name="아이콘:user-check" descr="user-check_13294B_1.5.png"/>
          <p:cNvPicPr>
            <a:picLocks noChangeAspect="1"/>
          </p:cNvPicPr>
          <p:nvPr/>
        </p:nvPicPr>
        <p:blipFill>
          <a:blip r:embed="rId5"/>
          <a:stretch>
            <a:fillRect/>
          </a:stretch>
        </p:blipFill>
        <p:spPr>
          <a:xfrm>
            <a:off x="9701784" y="4718304"/>
            <a:ext cx="713232" cy="713232"/>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학습목표</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배움을 지식 자산으로 남기고, HYD의 구조와 처리 흐름을 따라 온톨로지가 필요한 이유를 이해한다.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a:t>
            </a:r>
          </a:p>
        </p:txBody>
      </p:sp>
      <p:sp>
        <p:nvSpPr>
          <p:cNvPr id="6" name="Rounded Rectangle 5"/>
          <p:cNvSpPr/>
          <p:nvPr/>
        </p:nvSpPr>
        <p:spPr>
          <a:xfrm>
            <a:off x="548640" y="2018855"/>
            <a:ext cx="2567863" cy="3945001"/>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220023"/>
            <a:ext cx="731520" cy="731520"/>
          </a:xfrm>
          <a:prstGeom prst="ellipse">
            <a:avLst/>
          </a:prstGeom>
          <a:solidFill>
            <a:srgbClr val="E7F3FD"/>
          </a:solidFill>
          <a:ln>
            <a:noFill/>
          </a:ln>
        </p:spPr>
        <p:txBody>
          <a:bodyPr rtlCol="0" anchor="ctr"/>
          <a:lstStyle/>
          <a:p>
            <a:pPr algn="ctr"/>
          </a:p>
        </p:txBody>
      </p:sp>
      <p:pic>
        <p:nvPicPr>
          <p:cNvPr id="8" name="아이콘:notebook" descr="notebook_13294B_1.6.png"/>
          <p:cNvPicPr>
            <a:picLocks noChangeAspect="1"/>
          </p:cNvPicPr>
          <p:nvPr/>
        </p:nvPicPr>
        <p:blipFill>
          <a:blip r:embed="rId3"/>
          <a:stretch>
            <a:fillRect/>
          </a:stretch>
        </p:blipFill>
        <p:spPr>
          <a:xfrm>
            <a:off x="930859" y="2373642"/>
            <a:ext cx="424281" cy="424281"/>
          </a:xfrm>
          <a:prstGeom prst="rect">
            <a:avLst/>
          </a:prstGeom>
        </p:spPr>
      </p:pic>
      <p:sp>
        <p:nvSpPr>
          <p:cNvPr id="9" name="TextBox 8"/>
          <p:cNvSpPr txBox="1"/>
          <p:nvPr/>
        </p:nvSpPr>
        <p:spPr>
          <a:xfrm>
            <a:off x="713232" y="3042983"/>
            <a:ext cx="2238679" cy="2417953"/>
          </a:xfrm>
          <a:prstGeom prst="rect">
            <a:avLst/>
          </a:prstGeom>
          <a:noFill/>
        </p:spPr>
        <p:txBody>
          <a:bodyPr wrap="square" anchor="t"/>
          <a:lstStyle/>
          <a:p>
            <a:pPr algn="l" eaLnBrk="0">
              <a:lnSpc>
                <a:spcPct val="110000"/>
              </a:lnSpc>
              <a:spcAft>
                <a:spcPts val="400"/>
              </a:spcAft>
            </a:pPr>
            <a:r>
              <a:rPr sz="1750" b="1">
                <a:solidFill>
                  <a:srgbClr val="13294B"/>
                </a:solidFill>
                <a:latin typeface="맑은 고딕"/>
                <a:ea typeface="맑은 고딕"/>
                <a:cs typeface="맑은 고딕"/>
              </a:rPr>
              <a:t>지식 자산화</a:t>
            </a:r>
          </a:p>
          <a:p>
            <a:pPr algn="l" eaLnBrk="0" marL="154305" indent="-154305">
              <a:lnSpc>
                <a:spcPct val="110000"/>
              </a:lnSpc>
              <a:spcAft>
                <a:spcPts val="400"/>
              </a:spcAft>
            </a:pPr>
            <a:r>
              <a:rPr sz="1350" b="0">
                <a:solidFill>
                  <a:srgbClr val="1F2A3A"/>
                </a:solidFill>
                <a:latin typeface="맑은 고딕"/>
                <a:ea typeface="맑은 고딕"/>
                <a:cs typeface="맑은 고딕"/>
              </a:rPr>
              <a:t>• 배운 내용을 자신의 문장으로 기록하고 다시 찾아 쓰는 방법을 익힌다</a:t>
            </a:r>
          </a:p>
          <a:p>
            <a:pPr algn="l" eaLnBrk="0" marL="154305" indent="-154305">
              <a:lnSpc>
                <a:spcPct val="110000"/>
              </a:lnSpc>
              <a:spcAft>
                <a:spcPts val="400"/>
              </a:spcAft>
            </a:pPr>
            <a:r>
              <a:rPr sz="1350" b="0">
                <a:solidFill>
                  <a:srgbClr val="1F2A3A"/>
                </a:solidFill>
                <a:latin typeface="맑은 고딕"/>
                <a:ea typeface="맑은 고딕"/>
                <a:cs typeface="맑은 고딕"/>
              </a:rPr>
              <a:t>• 개인 학습노트를 만들어 앞으로의 배움을 쌓아 간다</a:t>
            </a:r>
          </a:p>
        </p:txBody>
      </p:sp>
      <p:sp>
        <p:nvSpPr>
          <p:cNvPr id="10" name="Rounded Rectangle 9"/>
          <p:cNvSpPr/>
          <p:nvPr/>
        </p:nvSpPr>
        <p:spPr>
          <a:xfrm>
            <a:off x="777240" y="5534088"/>
            <a:ext cx="10210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534088"/>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학습 기록</a:t>
            </a:r>
          </a:p>
        </p:txBody>
      </p:sp>
      <p:sp>
        <p:nvSpPr>
          <p:cNvPr id="12" name="Rounded Rectangle 11"/>
          <p:cNvSpPr/>
          <p:nvPr/>
        </p:nvSpPr>
        <p:spPr>
          <a:xfrm>
            <a:off x="3390823" y="2018855"/>
            <a:ext cx="2567863" cy="3945001"/>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220023"/>
            <a:ext cx="731520" cy="731520"/>
          </a:xfrm>
          <a:prstGeom prst="ellipse">
            <a:avLst/>
          </a:prstGeom>
          <a:solidFill>
            <a:srgbClr val="E7F3FD"/>
          </a:solidFill>
          <a:ln>
            <a:noFill/>
          </a:ln>
        </p:spPr>
        <p:txBody>
          <a:bodyPr rtlCol="0" anchor="ctr"/>
          <a:lstStyle/>
          <a:p>
            <a:pPr algn="ctr"/>
          </a:p>
        </p:txBody>
      </p:sp>
      <p:pic>
        <p:nvPicPr>
          <p:cNvPr id="14" name="아이콘:sitemap" descr="sitemap_13294B_1.6.png"/>
          <p:cNvPicPr>
            <a:picLocks noChangeAspect="1"/>
          </p:cNvPicPr>
          <p:nvPr/>
        </p:nvPicPr>
        <p:blipFill>
          <a:blip r:embed="rId4"/>
          <a:stretch>
            <a:fillRect/>
          </a:stretch>
        </p:blipFill>
        <p:spPr>
          <a:xfrm>
            <a:off x="3773043" y="2373642"/>
            <a:ext cx="424281" cy="424281"/>
          </a:xfrm>
          <a:prstGeom prst="rect">
            <a:avLst/>
          </a:prstGeom>
        </p:spPr>
      </p:pic>
      <p:sp>
        <p:nvSpPr>
          <p:cNvPr id="15" name="TextBox 14"/>
          <p:cNvSpPr txBox="1"/>
          <p:nvPr/>
        </p:nvSpPr>
        <p:spPr>
          <a:xfrm>
            <a:off x="3555415" y="3042983"/>
            <a:ext cx="2238679" cy="2417953"/>
          </a:xfrm>
          <a:prstGeom prst="rect">
            <a:avLst/>
          </a:prstGeom>
          <a:noFill/>
        </p:spPr>
        <p:txBody>
          <a:bodyPr wrap="square" anchor="t"/>
          <a:lstStyle/>
          <a:p>
            <a:pPr algn="l" eaLnBrk="0">
              <a:lnSpc>
                <a:spcPct val="110000"/>
              </a:lnSpc>
              <a:spcAft>
                <a:spcPts val="400"/>
              </a:spcAft>
            </a:pPr>
            <a:r>
              <a:rPr sz="1750" b="1">
                <a:solidFill>
                  <a:srgbClr val="13294B"/>
                </a:solidFill>
                <a:latin typeface="맑은 고딕"/>
                <a:ea typeface="맑은 고딕"/>
                <a:cs typeface="맑은 고딕"/>
              </a:rPr>
              <a:t>시스템 아키텍처와 계층</a:t>
            </a:r>
          </a:p>
          <a:p>
            <a:pPr algn="l" eaLnBrk="0" marL="154305" indent="-154305">
              <a:lnSpc>
                <a:spcPct val="110000"/>
              </a:lnSpc>
              <a:spcAft>
                <a:spcPts val="400"/>
              </a:spcAft>
            </a:pPr>
            <a:r>
              <a:rPr sz="1350" b="0">
                <a:solidFill>
                  <a:srgbClr val="1F2A3A"/>
                </a:solidFill>
                <a:latin typeface="맑은 고딕"/>
                <a:ea typeface="맑은 고딕"/>
                <a:cs typeface="맑은 고딕"/>
              </a:rPr>
              <a:t>• 제조 설비에서 AI의 판단과 조치까지 이어지는 HYD의 구조를 계층별로 이해한다</a:t>
            </a:r>
          </a:p>
          <a:p>
            <a:pPr algn="l" eaLnBrk="0" marL="154305" indent="-154305">
              <a:lnSpc>
                <a:spcPct val="110000"/>
              </a:lnSpc>
              <a:spcAft>
                <a:spcPts val="400"/>
              </a:spcAft>
            </a:pPr>
            <a:r>
              <a:rPr sz="1350" b="0">
                <a:solidFill>
                  <a:srgbClr val="1F2A3A"/>
                </a:solidFill>
                <a:latin typeface="맑은 고딕"/>
                <a:ea typeface="맑은 고딕"/>
                <a:cs typeface="맑은 고딕"/>
              </a:rPr>
              <a:t>• 데이터가 올라가는 길과 명령이 내려가는 길을 따라간다</a:t>
            </a:r>
          </a:p>
        </p:txBody>
      </p:sp>
      <p:sp>
        <p:nvSpPr>
          <p:cNvPr id="16" name="Rounded Rectangle 15"/>
          <p:cNvSpPr/>
          <p:nvPr/>
        </p:nvSpPr>
        <p:spPr>
          <a:xfrm>
            <a:off x="3619423" y="5534088"/>
            <a:ext cx="1676399"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534088"/>
            <a:ext cx="167639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구조와 데이터 흐름</a:t>
            </a:r>
          </a:p>
        </p:txBody>
      </p:sp>
      <p:sp>
        <p:nvSpPr>
          <p:cNvPr id="18" name="Rounded Rectangle 17"/>
          <p:cNvSpPr/>
          <p:nvPr/>
        </p:nvSpPr>
        <p:spPr>
          <a:xfrm>
            <a:off x="6233007" y="2018855"/>
            <a:ext cx="2567863" cy="3945001"/>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220023"/>
            <a:ext cx="731520" cy="731520"/>
          </a:xfrm>
          <a:prstGeom prst="ellipse">
            <a:avLst/>
          </a:prstGeom>
          <a:solidFill>
            <a:srgbClr val="E7F3FD"/>
          </a:solidFill>
          <a:ln>
            <a:noFill/>
          </a:ln>
        </p:spPr>
        <p:txBody>
          <a:bodyPr rtlCol="0" anchor="ctr"/>
          <a:lstStyle/>
          <a:p>
            <a:pPr algn="ctr"/>
          </a:p>
        </p:txBody>
      </p:sp>
      <p:pic>
        <p:nvPicPr>
          <p:cNvPr id="20" name="아이콘:player-play" descr="player-play_13294B_1.6.png"/>
          <p:cNvPicPr>
            <a:picLocks noChangeAspect="1"/>
          </p:cNvPicPr>
          <p:nvPr/>
        </p:nvPicPr>
        <p:blipFill>
          <a:blip r:embed="rId5"/>
          <a:stretch>
            <a:fillRect/>
          </a:stretch>
        </p:blipFill>
        <p:spPr>
          <a:xfrm>
            <a:off x="6615226" y="2373642"/>
            <a:ext cx="424281" cy="424281"/>
          </a:xfrm>
          <a:prstGeom prst="rect">
            <a:avLst/>
          </a:prstGeom>
        </p:spPr>
      </p:pic>
      <p:sp>
        <p:nvSpPr>
          <p:cNvPr id="21" name="TextBox 20"/>
          <p:cNvSpPr txBox="1"/>
          <p:nvPr/>
        </p:nvSpPr>
        <p:spPr>
          <a:xfrm>
            <a:off x="6397599" y="3042983"/>
            <a:ext cx="2238679" cy="2417953"/>
          </a:xfrm>
          <a:prstGeom prst="rect">
            <a:avLst/>
          </a:prstGeom>
          <a:noFill/>
        </p:spPr>
        <p:txBody>
          <a:bodyPr wrap="square" anchor="t"/>
          <a:lstStyle/>
          <a:p>
            <a:pPr algn="l" eaLnBrk="0">
              <a:lnSpc>
                <a:spcPct val="110000"/>
              </a:lnSpc>
              <a:spcAft>
                <a:spcPts val="400"/>
              </a:spcAft>
            </a:pPr>
            <a:r>
              <a:rPr sz="1750" b="1">
                <a:solidFill>
                  <a:srgbClr val="13294B"/>
                </a:solidFill>
                <a:latin typeface="맑은 고딕"/>
                <a:ea typeface="맑은 고딕"/>
                <a:cs typeface="맑은 고딕"/>
              </a:rPr>
              <a:t>전체 흐름의 실행</a:t>
            </a:r>
          </a:p>
          <a:p>
            <a:pPr algn="l" eaLnBrk="0" marL="154305" indent="-154305">
              <a:lnSpc>
                <a:spcPct val="110000"/>
              </a:lnSpc>
              <a:spcAft>
                <a:spcPts val="400"/>
              </a:spcAft>
            </a:pPr>
            <a:r>
              <a:rPr sz="1350" b="0">
                <a:solidFill>
                  <a:srgbClr val="1F2A3A"/>
                </a:solidFill>
                <a:latin typeface="맑은 고딕"/>
                <a:ea typeface="맑은 고딕"/>
                <a:cs typeface="맑은 고딕"/>
              </a:rPr>
              <a:t>• 실행 환경을 갖추고 설비 이상 한 건을 직접 처리해 본다</a:t>
            </a:r>
          </a:p>
          <a:p>
            <a:pPr algn="l" eaLnBrk="0" marL="154305" indent="-154305">
              <a:lnSpc>
                <a:spcPct val="110000"/>
              </a:lnSpc>
              <a:spcAft>
                <a:spcPts val="400"/>
              </a:spcAft>
            </a:pPr>
            <a:r>
              <a:rPr sz="1350" b="0">
                <a:solidFill>
                  <a:srgbClr val="1F2A3A"/>
                </a:solidFill>
                <a:latin typeface="맑은 고딕"/>
                <a:ea typeface="맑은 고딕"/>
                <a:cs typeface="맑은 고딕"/>
              </a:rPr>
              <a:t>• 경보에서 조치까지의 과정을 포털에서 확인한다</a:t>
            </a:r>
          </a:p>
        </p:txBody>
      </p:sp>
      <p:sp>
        <p:nvSpPr>
          <p:cNvPr id="22" name="Rounded Rectangle 21"/>
          <p:cNvSpPr/>
          <p:nvPr/>
        </p:nvSpPr>
        <p:spPr>
          <a:xfrm>
            <a:off x="6461607" y="5534088"/>
            <a:ext cx="117348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534088"/>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실행과 확인</a:t>
            </a:r>
          </a:p>
        </p:txBody>
      </p:sp>
      <p:sp>
        <p:nvSpPr>
          <p:cNvPr id="24" name="Rounded Rectangle 23"/>
          <p:cNvSpPr/>
          <p:nvPr/>
        </p:nvSpPr>
        <p:spPr>
          <a:xfrm>
            <a:off x="9075191" y="2018855"/>
            <a:ext cx="2567863" cy="3945001"/>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220023"/>
            <a:ext cx="731520" cy="731520"/>
          </a:xfrm>
          <a:prstGeom prst="ellipse">
            <a:avLst/>
          </a:prstGeom>
          <a:solidFill>
            <a:srgbClr val="5CB8F2"/>
          </a:solidFill>
          <a:ln>
            <a:noFill/>
          </a:ln>
        </p:spPr>
        <p:txBody>
          <a:bodyPr rtlCol="0" anchor="ctr"/>
          <a:lstStyle/>
          <a:p>
            <a:pPr algn="ctr"/>
          </a:p>
        </p:txBody>
      </p:sp>
      <p:pic>
        <p:nvPicPr>
          <p:cNvPr id="26" name="아이콘:topology-star-3" descr="topology-star-3_13294B_1.6.png"/>
          <p:cNvPicPr>
            <a:picLocks noChangeAspect="1"/>
          </p:cNvPicPr>
          <p:nvPr/>
        </p:nvPicPr>
        <p:blipFill>
          <a:blip r:embed="rId6"/>
          <a:stretch>
            <a:fillRect/>
          </a:stretch>
        </p:blipFill>
        <p:spPr>
          <a:xfrm>
            <a:off x="9457410" y="2373642"/>
            <a:ext cx="424281" cy="424281"/>
          </a:xfrm>
          <a:prstGeom prst="rect">
            <a:avLst/>
          </a:prstGeom>
        </p:spPr>
      </p:pic>
      <p:sp>
        <p:nvSpPr>
          <p:cNvPr id="27" name="TextBox 26"/>
          <p:cNvSpPr txBox="1"/>
          <p:nvPr/>
        </p:nvSpPr>
        <p:spPr>
          <a:xfrm>
            <a:off x="9239783" y="3042983"/>
            <a:ext cx="2238679" cy="2417953"/>
          </a:xfrm>
          <a:prstGeom prst="rect">
            <a:avLst/>
          </a:prstGeom>
          <a:noFill/>
        </p:spPr>
        <p:txBody>
          <a:bodyPr wrap="square" anchor="t"/>
          <a:lstStyle/>
          <a:p>
            <a:pPr algn="l" eaLnBrk="0">
              <a:lnSpc>
                <a:spcPct val="110000"/>
              </a:lnSpc>
              <a:spcAft>
                <a:spcPts val="400"/>
              </a:spcAft>
            </a:pPr>
            <a:r>
              <a:rPr sz="1750" b="1">
                <a:solidFill>
                  <a:srgbClr val="13294B"/>
                </a:solidFill>
                <a:latin typeface="맑은 고딕"/>
                <a:ea typeface="맑은 고딕"/>
                <a:cs typeface="맑은 고딕"/>
              </a:rPr>
              <a:t>온톨로지의 필요성</a:t>
            </a:r>
          </a:p>
          <a:p>
            <a:pPr algn="l" eaLnBrk="0" marL="154305" indent="-154305">
              <a:lnSpc>
                <a:spcPct val="110000"/>
              </a:lnSpc>
              <a:spcAft>
                <a:spcPts val="400"/>
              </a:spcAft>
            </a:pPr>
            <a:r>
              <a:rPr sz="1350" b="0">
                <a:solidFill>
                  <a:srgbClr val="1F2A3A"/>
                </a:solidFill>
                <a:latin typeface="맑은 고딕"/>
                <a:ea typeface="맑은 고딕"/>
                <a:cs typeface="맑은 고딕"/>
              </a:rPr>
              <a:t>• 원인을 가리고 조치를 고르는 데 온톨로지가 필요한 이유를 설명한다</a:t>
            </a:r>
          </a:p>
          <a:p>
            <a:pPr algn="l" eaLnBrk="0" marL="154305" indent="-154305">
              <a:lnSpc>
                <a:spcPct val="110000"/>
              </a:lnSpc>
              <a:spcAft>
                <a:spcPts val="400"/>
              </a:spcAft>
            </a:pPr>
            <a:r>
              <a:rPr sz="1350" b="0">
                <a:solidFill>
                  <a:srgbClr val="1F2A3A"/>
                </a:solidFill>
                <a:latin typeface="맑은 고딕"/>
                <a:ea typeface="맑은 고딕"/>
                <a:cs typeface="맑은 고딕"/>
              </a:rPr>
              <a:t>• 증상, 원인, 조치를 이름과 방향이 있는 관계로 그려 본다</a:t>
            </a:r>
          </a:p>
        </p:txBody>
      </p:sp>
      <p:sp>
        <p:nvSpPr>
          <p:cNvPr id="28" name="Rounded Rectangle 27"/>
          <p:cNvSpPr/>
          <p:nvPr/>
        </p:nvSpPr>
        <p:spPr>
          <a:xfrm>
            <a:off x="9303791" y="5534088"/>
            <a:ext cx="97536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534088"/>
            <a:ext cx="9753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온톨로지</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목차</a:t>
            </a:r>
          </a:p>
        </p:txBody>
      </p:sp>
      <p:sp>
        <p:nvSpPr>
          <p:cNvPr id="3" name="Rectangle 2"/>
          <p:cNvSpPr/>
          <p:nvPr/>
        </p:nvSpPr>
        <p:spPr>
          <a:xfrm>
            <a:off x="548640" y="1097280"/>
            <a:ext cx="11094415" cy="18288"/>
          </a:xfrm>
          <a:prstGeom prst="rect">
            <a:avLst/>
          </a:prstGeom>
          <a:solidFill>
            <a:srgbClr val="D3D9E1"/>
          </a:solidFill>
          <a:ln>
            <a:noFill/>
          </a:ln>
        </p:spPr>
        <p:txBody>
          <a:bodyPr rtlCol="0" anchor="ctr"/>
          <a:lstStyle/>
          <a:p>
            <a:pPr algn="ctr"/>
          </a:p>
        </p:txBody>
      </p:sp>
      <p:sp>
        <p:nvSpPr>
          <p:cNvPr id="4" name="TextBox 3"/>
          <p:cNvSpPr txBox="1"/>
          <p:nvPr/>
        </p:nvSpPr>
        <p:spPr>
          <a:xfrm>
            <a:off x="548640" y="1965960"/>
            <a:ext cx="822960" cy="73152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01</a:t>
            </a:r>
          </a:p>
        </p:txBody>
      </p:sp>
      <p:sp>
        <p:nvSpPr>
          <p:cNvPr id="5" name="TextBox 4"/>
          <p:cNvSpPr txBox="1"/>
          <p:nvPr/>
        </p:nvSpPr>
        <p:spPr>
          <a:xfrm>
            <a:off x="1417319" y="1965960"/>
            <a:ext cx="8488375" cy="73152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학습 내용의 지식 자산화</a:t>
            </a:r>
          </a:p>
        </p:txBody>
      </p:sp>
      <p:sp>
        <p:nvSpPr>
          <p:cNvPr id="6" name="Rounded Rectangle 5"/>
          <p:cNvSpPr/>
          <p:nvPr/>
        </p:nvSpPr>
        <p:spPr>
          <a:xfrm>
            <a:off x="10088575" y="2185415"/>
            <a:ext cx="1371600" cy="292608"/>
          </a:xfrm>
          <a:prstGeom prst="roundRect">
            <a:avLst>
              <a:gd name="adj" fmla="val 50000"/>
            </a:avLst>
          </a:prstGeom>
          <a:solidFill>
            <a:srgbClr val="D3D9E1"/>
          </a:solidFill>
          <a:ln>
            <a:noFill/>
          </a:ln>
        </p:spPr>
        <p:txBody>
          <a:bodyPr rtlCol="0" anchor="ctr"/>
          <a:lstStyle/>
          <a:p>
            <a:pPr algn="ctr"/>
          </a:p>
        </p:txBody>
      </p:sp>
      <p:sp>
        <p:nvSpPr>
          <p:cNvPr id="7" name="TextBox 6"/>
          <p:cNvSpPr txBox="1"/>
          <p:nvPr/>
        </p:nvSpPr>
        <p:spPr>
          <a:xfrm>
            <a:off x="10088575" y="2185415"/>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 · 실습</a:t>
            </a:r>
          </a:p>
        </p:txBody>
      </p:sp>
      <p:sp>
        <p:nvSpPr>
          <p:cNvPr id="8" name="Rectangle 7"/>
          <p:cNvSpPr/>
          <p:nvPr/>
        </p:nvSpPr>
        <p:spPr>
          <a:xfrm>
            <a:off x="548640" y="2688336"/>
            <a:ext cx="11094415" cy="13716"/>
          </a:xfrm>
          <a:prstGeom prst="rect">
            <a:avLst/>
          </a:prstGeom>
          <a:solidFill>
            <a:srgbClr val="D3D9E1"/>
          </a:solidFill>
          <a:ln>
            <a:noFill/>
          </a:ln>
        </p:spPr>
        <p:txBody>
          <a:bodyPr rtlCol="0" anchor="ctr"/>
          <a:lstStyle/>
          <a:p>
            <a:pPr algn="ctr"/>
          </a:p>
        </p:txBody>
      </p:sp>
      <p:sp>
        <p:nvSpPr>
          <p:cNvPr id="9" name="TextBox 8"/>
          <p:cNvSpPr txBox="1"/>
          <p:nvPr/>
        </p:nvSpPr>
        <p:spPr>
          <a:xfrm>
            <a:off x="548640" y="2697480"/>
            <a:ext cx="822960" cy="73152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02</a:t>
            </a:r>
          </a:p>
        </p:txBody>
      </p:sp>
      <p:sp>
        <p:nvSpPr>
          <p:cNvPr id="10" name="TextBox 9"/>
          <p:cNvSpPr txBox="1"/>
          <p:nvPr/>
        </p:nvSpPr>
        <p:spPr>
          <a:xfrm>
            <a:off x="1417319" y="2697480"/>
            <a:ext cx="8488375" cy="73152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HYD 시스템 구조와 데이터 흐름</a:t>
            </a:r>
          </a:p>
        </p:txBody>
      </p:sp>
      <p:sp>
        <p:nvSpPr>
          <p:cNvPr id="11" name="Rounded Rectangle 10"/>
          <p:cNvSpPr/>
          <p:nvPr/>
        </p:nvSpPr>
        <p:spPr>
          <a:xfrm>
            <a:off x="10088575" y="2916936"/>
            <a:ext cx="137160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10088575" y="291693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 · 실습</a:t>
            </a:r>
          </a:p>
        </p:txBody>
      </p:sp>
      <p:sp>
        <p:nvSpPr>
          <p:cNvPr id="13" name="Rectangle 12"/>
          <p:cNvSpPr/>
          <p:nvPr/>
        </p:nvSpPr>
        <p:spPr>
          <a:xfrm>
            <a:off x="548640" y="3419856"/>
            <a:ext cx="11094415" cy="13716"/>
          </a:xfrm>
          <a:prstGeom prst="rect">
            <a:avLst/>
          </a:prstGeom>
          <a:solidFill>
            <a:srgbClr val="D3D9E1"/>
          </a:solidFill>
          <a:ln>
            <a:noFill/>
          </a:ln>
        </p:spPr>
        <p:txBody>
          <a:bodyPr rtlCol="0" anchor="ctr"/>
          <a:lstStyle/>
          <a:p>
            <a:pPr algn="ctr"/>
          </a:p>
        </p:txBody>
      </p:sp>
      <p:sp>
        <p:nvSpPr>
          <p:cNvPr id="14" name="TextBox 13"/>
          <p:cNvSpPr txBox="1"/>
          <p:nvPr/>
        </p:nvSpPr>
        <p:spPr>
          <a:xfrm>
            <a:off x="548640" y="3429000"/>
            <a:ext cx="822960" cy="73152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03</a:t>
            </a:r>
          </a:p>
        </p:txBody>
      </p:sp>
      <p:sp>
        <p:nvSpPr>
          <p:cNvPr id="15" name="TextBox 14"/>
          <p:cNvSpPr txBox="1"/>
          <p:nvPr/>
        </p:nvSpPr>
        <p:spPr>
          <a:xfrm>
            <a:off x="1417319" y="3429000"/>
            <a:ext cx="8488375" cy="73152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수치만으로 조치를 정할 수 없는 이유</a:t>
            </a:r>
          </a:p>
        </p:txBody>
      </p:sp>
      <p:sp>
        <p:nvSpPr>
          <p:cNvPr id="16" name="Rounded Rectangle 15"/>
          <p:cNvSpPr/>
          <p:nvPr/>
        </p:nvSpPr>
        <p:spPr>
          <a:xfrm>
            <a:off x="10088575" y="3648456"/>
            <a:ext cx="137160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10088575" y="364845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a:t>
            </a:r>
          </a:p>
        </p:txBody>
      </p:sp>
      <p:sp>
        <p:nvSpPr>
          <p:cNvPr id="18" name="Rectangle 17"/>
          <p:cNvSpPr/>
          <p:nvPr/>
        </p:nvSpPr>
        <p:spPr>
          <a:xfrm>
            <a:off x="548640" y="4151376"/>
            <a:ext cx="11094415" cy="13716"/>
          </a:xfrm>
          <a:prstGeom prst="rect">
            <a:avLst/>
          </a:prstGeom>
          <a:solidFill>
            <a:srgbClr val="D3D9E1"/>
          </a:solidFill>
          <a:ln>
            <a:noFill/>
          </a:ln>
        </p:spPr>
        <p:txBody>
          <a:bodyPr rtlCol="0" anchor="ctr"/>
          <a:lstStyle/>
          <a:p>
            <a:pPr algn="ctr"/>
          </a:p>
        </p:txBody>
      </p:sp>
      <p:sp>
        <p:nvSpPr>
          <p:cNvPr id="19" name="TextBox 18"/>
          <p:cNvSpPr txBox="1"/>
          <p:nvPr/>
        </p:nvSpPr>
        <p:spPr>
          <a:xfrm>
            <a:off x="548640" y="4160520"/>
            <a:ext cx="822960" cy="73152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04</a:t>
            </a:r>
          </a:p>
        </p:txBody>
      </p:sp>
      <p:sp>
        <p:nvSpPr>
          <p:cNvPr id="20" name="TextBox 19"/>
          <p:cNvSpPr txBox="1"/>
          <p:nvPr/>
        </p:nvSpPr>
        <p:spPr>
          <a:xfrm>
            <a:off x="1417319" y="4160520"/>
            <a:ext cx="8488375" cy="73152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판단 근거의 연결</a:t>
            </a:r>
          </a:p>
        </p:txBody>
      </p:sp>
      <p:sp>
        <p:nvSpPr>
          <p:cNvPr id="21" name="Rounded Rectangle 20"/>
          <p:cNvSpPr/>
          <p:nvPr/>
        </p:nvSpPr>
        <p:spPr>
          <a:xfrm>
            <a:off x="10088575" y="4379976"/>
            <a:ext cx="1371600" cy="292608"/>
          </a:xfrm>
          <a:prstGeom prst="roundRect">
            <a:avLst>
              <a:gd name="adj" fmla="val 50000"/>
            </a:avLst>
          </a:prstGeom>
          <a:solidFill>
            <a:srgbClr val="D3D9E1"/>
          </a:solidFill>
          <a:ln>
            <a:noFill/>
          </a:ln>
        </p:spPr>
        <p:txBody>
          <a:bodyPr rtlCol="0" anchor="ctr"/>
          <a:lstStyle/>
          <a:p>
            <a:pPr algn="ctr"/>
          </a:p>
        </p:txBody>
      </p:sp>
      <p:sp>
        <p:nvSpPr>
          <p:cNvPr id="22" name="TextBox 21"/>
          <p:cNvSpPr txBox="1"/>
          <p:nvPr/>
        </p:nvSpPr>
        <p:spPr>
          <a:xfrm>
            <a:off x="10088575" y="437997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a:t>
            </a:r>
          </a:p>
        </p:txBody>
      </p:sp>
      <p:sp>
        <p:nvSpPr>
          <p:cNvPr id="23" name="Rectangle 22"/>
          <p:cNvSpPr/>
          <p:nvPr/>
        </p:nvSpPr>
        <p:spPr>
          <a:xfrm>
            <a:off x="548640" y="4882896"/>
            <a:ext cx="11094415" cy="13716"/>
          </a:xfrm>
          <a:prstGeom prst="rect">
            <a:avLst/>
          </a:prstGeom>
          <a:solidFill>
            <a:srgbClr val="D3D9E1"/>
          </a:solidFill>
          <a:ln>
            <a:noFill/>
          </a:ln>
        </p:spPr>
        <p:txBody>
          <a:bodyPr rtlCol="0" anchor="ctr"/>
          <a:lstStyle/>
          <a:p>
            <a:pPr algn="ctr"/>
          </a:p>
        </p:txBody>
      </p:sp>
      <p:sp>
        <p:nvSpPr>
          <p:cNvPr id="24" name="TextBox 23"/>
          <p:cNvSpPr txBox="1"/>
          <p:nvPr/>
        </p:nvSpPr>
        <p:spPr>
          <a:xfrm>
            <a:off x="548640" y="4892040"/>
            <a:ext cx="822960" cy="73152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05</a:t>
            </a:r>
          </a:p>
        </p:txBody>
      </p:sp>
      <p:sp>
        <p:nvSpPr>
          <p:cNvPr id="25" name="TextBox 24"/>
          <p:cNvSpPr txBox="1"/>
          <p:nvPr/>
        </p:nvSpPr>
        <p:spPr>
          <a:xfrm>
            <a:off x="1417319" y="4892040"/>
            <a:ext cx="8488375" cy="73152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온톨로지의 정의와 관계</a:t>
            </a:r>
          </a:p>
        </p:txBody>
      </p:sp>
      <p:sp>
        <p:nvSpPr>
          <p:cNvPr id="26" name="Rounded Rectangle 25"/>
          <p:cNvSpPr/>
          <p:nvPr/>
        </p:nvSpPr>
        <p:spPr>
          <a:xfrm>
            <a:off x="10088575" y="5111496"/>
            <a:ext cx="1371600" cy="292608"/>
          </a:xfrm>
          <a:prstGeom prst="roundRect">
            <a:avLst>
              <a:gd name="adj" fmla="val 50000"/>
            </a:avLst>
          </a:prstGeom>
          <a:solidFill>
            <a:srgbClr val="D3D9E1"/>
          </a:solidFill>
          <a:ln>
            <a:noFill/>
          </a:ln>
        </p:spPr>
        <p:txBody>
          <a:bodyPr rtlCol="0" anchor="ctr"/>
          <a:lstStyle/>
          <a:p>
            <a:pPr algn="ctr"/>
          </a:p>
        </p:txBody>
      </p:sp>
      <p:sp>
        <p:nvSpPr>
          <p:cNvPr id="27" name="TextBox 26"/>
          <p:cNvSpPr txBox="1"/>
          <p:nvPr/>
        </p:nvSpPr>
        <p:spPr>
          <a:xfrm>
            <a:off x="10088575" y="511149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 · 실습</a:t>
            </a:r>
          </a:p>
        </p:txBody>
      </p:sp>
      <p:sp>
        <p:nvSpPr>
          <p:cNvPr id="28" name="TextBox 27"/>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01</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학습 내용의 지식 자산화</a:t>
            </a:r>
          </a:p>
        </p:txBody>
      </p:sp>
      <p:sp>
        <p:nvSpPr>
          <p:cNvPr id="6" name="Rounded Rectangle 5"/>
          <p:cNvSpPr/>
          <p:nvPr/>
        </p:nvSpPr>
        <p:spPr>
          <a:xfrm>
            <a:off x="3108960" y="4160520"/>
            <a:ext cx="1290319"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1290319"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 · 실습</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강의에 앞서, 배운 것을 내 말로 남겨 자산으로 만드는 방법</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AI가 정리한 자료와 내 머릿속의 이해</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AI가 정리한 문서는 읽기 쉬워졌을 뿐인데도, 그 내용을 내가 안다는 착각을 일으킨다.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a:t>
            </a:r>
          </a:p>
        </p:txBody>
      </p:sp>
      <p:sp>
        <p:nvSpPr>
          <p:cNvPr id="6" name="Rounded Rectangle 5"/>
          <p:cNvSpPr/>
          <p:nvPr/>
        </p:nvSpPr>
        <p:spPr>
          <a:xfrm>
            <a:off x="548640" y="2240343"/>
            <a:ext cx="5181447" cy="3502025"/>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441511"/>
            <a:ext cx="731520" cy="731520"/>
          </a:xfrm>
          <a:prstGeom prst="ellipse">
            <a:avLst/>
          </a:prstGeom>
          <a:solidFill>
            <a:srgbClr val="FFFFFF"/>
          </a:solidFill>
          <a:ln>
            <a:noFill/>
          </a:ln>
        </p:spPr>
        <p:txBody>
          <a:bodyPr rtlCol="0" anchor="ctr"/>
          <a:lstStyle/>
          <a:p>
            <a:pPr algn="ctr"/>
          </a:p>
        </p:txBody>
      </p:sp>
      <p:pic>
        <p:nvPicPr>
          <p:cNvPr id="8" name="아이콘:file-text" descr="file-text_13294B_1.6.png"/>
          <p:cNvPicPr>
            <a:picLocks noChangeAspect="1"/>
          </p:cNvPicPr>
          <p:nvPr/>
        </p:nvPicPr>
        <p:blipFill>
          <a:blip r:embed="rId3"/>
          <a:stretch>
            <a:fillRect/>
          </a:stretch>
        </p:blipFill>
        <p:spPr>
          <a:xfrm>
            <a:off x="976579" y="2595130"/>
            <a:ext cx="424281" cy="424281"/>
          </a:xfrm>
          <a:prstGeom prst="rect">
            <a:avLst/>
          </a:prstGeom>
        </p:spPr>
      </p:pic>
      <p:sp>
        <p:nvSpPr>
          <p:cNvPr id="9" name="TextBox 8"/>
          <p:cNvSpPr txBox="1"/>
          <p:nvPr/>
        </p:nvSpPr>
        <p:spPr>
          <a:xfrm>
            <a:off x="1691640" y="2441511"/>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AI에게 넘겨 만든 자료</a:t>
            </a:r>
          </a:p>
        </p:txBody>
      </p:sp>
      <p:sp>
        <p:nvSpPr>
          <p:cNvPr id="10" name="TextBox 9"/>
          <p:cNvSpPr txBox="1"/>
          <p:nvPr/>
        </p:nvSpPr>
        <p:spPr>
          <a:xfrm>
            <a:off x="822959" y="3291903"/>
            <a:ext cx="4632807" cy="1901825"/>
          </a:xfrm>
          <a:prstGeom prst="rect">
            <a:avLst/>
          </a:prstGeom>
          <a:noFill/>
        </p:spPr>
        <p:txBody>
          <a:bodyPr wrap="square" anchor="t"/>
          <a:lstStyle/>
          <a:p>
            <a:pPr algn="l" eaLnBrk="0" marL="165735" indent="-165735">
              <a:lnSpc>
                <a:spcPct val="110000"/>
              </a:lnSpc>
              <a:spcAft>
                <a:spcPts val="600"/>
              </a:spcAft>
            </a:pPr>
            <a:r>
              <a:rPr sz="1450" b="0">
                <a:solidFill>
                  <a:srgbClr val="1F2A3A"/>
                </a:solidFill>
                <a:latin typeface="맑은 고딕"/>
                <a:ea typeface="맑은 고딕"/>
                <a:cs typeface="맑은 고딕"/>
              </a:rPr>
              <a:t>• 필기와 강의 자료를 넘기면 보기 좋게 정리해 준다</a:t>
            </a:r>
          </a:p>
          <a:p>
            <a:pPr algn="l" eaLnBrk="0" marL="165735" indent="-165735">
              <a:lnSpc>
                <a:spcPct val="110000"/>
              </a:lnSpc>
              <a:spcAft>
                <a:spcPts val="600"/>
              </a:spcAft>
            </a:pPr>
            <a:r>
              <a:rPr sz="1450" b="0">
                <a:solidFill>
                  <a:srgbClr val="1F2A3A"/>
                </a:solidFill>
                <a:latin typeface="맑은 고딕"/>
                <a:ea typeface="맑은 고딕"/>
                <a:cs typeface="맑은 고딕"/>
              </a:rPr>
              <a:t>• 읽기 쉬운 형태로 바뀔 뿐이다</a:t>
            </a:r>
          </a:p>
          <a:p>
            <a:pPr algn="l" eaLnBrk="0" marL="165735" indent="-165735">
              <a:lnSpc>
                <a:spcPct val="110000"/>
              </a:lnSpc>
              <a:spcAft>
                <a:spcPts val="600"/>
              </a:spcAft>
            </a:pPr>
            <a:r>
              <a:rPr sz="1450" b="0">
                <a:solidFill>
                  <a:srgbClr val="1F2A3A"/>
                </a:solidFill>
                <a:latin typeface="맑은 고딕"/>
                <a:ea typeface="맑은 고딕"/>
                <a:cs typeface="맑은 고딕"/>
              </a:rPr>
              <a:t>• 정리된 문서를 보면 그 내용을 안다고 착각한다</a:t>
            </a:r>
          </a:p>
          <a:p>
            <a:pPr algn="l" eaLnBrk="0" marL="165735" indent="-165735">
              <a:lnSpc>
                <a:spcPct val="110000"/>
              </a:lnSpc>
              <a:spcAft>
                <a:spcPts val="600"/>
              </a:spcAft>
            </a:pPr>
            <a:r>
              <a:rPr sz="1450" b="0">
                <a:solidFill>
                  <a:srgbClr val="1F2A3A"/>
                </a:solidFill>
                <a:latin typeface="맑은 고딕"/>
                <a:ea typeface="맑은 고딕"/>
                <a:cs typeface="맑은 고딕"/>
              </a:rPr>
              <a:t>• 자료를 덮으면 설명이 막힌다</a:t>
            </a:r>
          </a:p>
        </p:txBody>
      </p:sp>
      <p:sp>
        <p:nvSpPr>
          <p:cNvPr id="11" name="Rounded Rectangle 10"/>
          <p:cNvSpPr/>
          <p:nvPr/>
        </p:nvSpPr>
        <p:spPr>
          <a:xfrm>
            <a:off x="868680" y="5285168"/>
            <a:ext cx="137160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285168"/>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읽기 좋은 문서</a:t>
            </a:r>
          </a:p>
        </p:txBody>
      </p:sp>
      <p:sp>
        <p:nvSpPr>
          <p:cNvPr id="13" name="Rounded Rectangle 12"/>
          <p:cNvSpPr/>
          <p:nvPr/>
        </p:nvSpPr>
        <p:spPr>
          <a:xfrm>
            <a:off x="6461607" y="2240343"/>
            <a:ext cx="5181447" cy="3502025"/>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441511"/>
            <a:ext cx="731520" cy="731520"/>
          </a:xfrm>
          <a:prstGeom prst="ellipse">
            <a:avLst/>
          </a:prstGeom>
          <a:solidFill>
            <a:srgbClr val="5CB8F2"/>
          </a:solidFill>
          <a:ln>
            <a:noFill/>
          </a:ln>
        </p:spPr>
        <p:txBody>
          <a:bodyPr rtlCol="0" anchor="ctr"/>
          <a:lstStyle/>
          <a:p>
            <a:pPr algn="ctr"/>
          </a:p>
        </p:txBody>
      </p:sp>
      <p:pic>
        <p:nvPicPr>
          <p:cNvPr id="15" name="아이콘:pencil" descr="pencil_13294B_1.6.png"/>
          <p:cNvPicPr>
            <a:picLocks noChangeAspect="1"/>
          </p:cNvPicPr>
          <p:nvPr/>
        </p:nvPicPr>
        <p:blipFill>
          <a:blip r:embed="rId4"/>
          <a:stretch>
            <a:fillRect/>
          </a:stretch>
        </p:blipFill>
        <p:spPr>
          <a:xfrm>
            <a:off x="6889546" y="2595130"/>
            <a:ext cx="424281" cy="424281"/>
          </a:xfrm>
          <a:prstGeom prst="rect">
            <a:avLst/>
          </a:prstGeom>
        </p:spPr>
      </p:pic>
      <p:sp>
        <p:nvSpPr>
          <p:cNvPr id="16" name="TextBox 15"/>
          <p:cNvSpPr txBox="1"/>
          <p:nvPr/>
        </p:nvSpPr>
        <p:spPr>
          <a:xfrm>
            <a:off x="7604607" y="2441511"/>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백지에 내 말로 쓴 기록</a:t>
            </a:r>
          </a:p>
        </p:txBody>
      </p:sp>
      <p:sp>
        <p:nvSpPr>
          <p:cNvPr id="17" name="TextBox 16"/>
          <p:cNvSpPr txBox="1"/>
          <p:nvPr/>
        </p:nvSpPr>
        <p:spPr>
          <a:xfrm>
            <a:off x="6735927" y="3291903"/>
            <a:ext cx="4632807" cy="1901825"/>
          </a:xfrm>
          <a:prstGeom prst="rect">
            <a:avLst/>
          </a:prstGeom>
          <a:noFill/>
        </p:spPr>
        <p:txBody>
          <a:bodyPr wrap="square" anchor="t"/>
          <a:lstStyle/>
          <a:p>
            <a:pPr algn="l" eaLnBrk="0" marL="177165" indent="-177165">
              <a:lnSpc>
                <a:spcPct val="110000"/>
              </a:lnSpc>
              <a:spcAft>
                <a:spcPts val="600"/>
              </a:spcAft>
            </a:pPr>
            <a:r>
              <a:rPr sz="1550" b="0">
                <a:solidFill>
                  <a:srgbClr val="1F2A3A"/>
                </a:solidFill>
                <a:latin typeface="맑은 고딕"/>
                <a:ea typeface="맑은 고딕"/>
                <a:cs typeface="맑은 고딕"/>
              </a:rPr>
              <a:t>• 자료를 덮고 이해한 만큼 형식에 얽매이지 않고 써 본다</a:t>
            </a:r>
          </a:p>
          <a:p>
            <a:pPr algn="l" eaLnBrk="0" marL="177165" indent="-177165">
              <a:lnSpc>
                <a:spcPct val="110000"/>
              </a:lnSpc>
              <a:spcAft>
                <a:spcPts val="600"/>
              </a:spcAft>
            </a:pPr>
            <a:r>
              <a:rPr sz="1550" b="0">
                <a:solidFill>
                  <a:srgbClr val="1F2A3A"/>
                </a:solidFill>
                <a:latin typeface="맑은 고딕"/>
                <a:ea typeface="맑은 고딕"/>
                <a:cs typeface="맑은 고딕"/>
              </a:rPr>
              <a:t>• 쓰다가 막히는 곳에서 모르는 부분이 드러난다</a:t>
            </a:r>
          </a:p>
          <a:p>
            <a:pPr algn="l" eaLnBrk="0" marL="177165" indent="-177165">
              <a:lnSpc>
                <a:spcPct val="110000"/>
              </a:lnSpc>
              <a:spcAft>
                <a:spcPts val="600"/>
              </a:spcAft>
            </a:pPr>
            <a:r>
              <a:rPr sz="1550" b="0">
                <a:solidFill>
                  <a:srgbClr val="1F2A3A"/>
                </a:solidFill>
                <a:latin typeface="맑은 고딕"/>
                <a:ea typeface="맑은 고딕"/>
                <a:cs typeface="맑은 고딕"/>
              </a:rPr>
              <a:t>• 직접 쓰고 고친 내용은 머릿속에 남는다</a:t>
            </a:r>
          </a:p>
        </p:txBody>
      </p:sp>
      <p:sp>
        <p:nvSpPr>
          <p:cNvPr id="18" name="Rounded Rectangle 17"/>
          <p:cNvSpPr/>
          <p:nvPr/>
        </p:nvSpPr>
        <p:spPr>
          <a:xfrm>
            <a:off x="6781647" y="5285168"/>
            <a:ext cx="141732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285168"/>
            <a:ext cx="141732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내 것이 된 지식</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백지에 넓게 써 보고, 너비부터 고친다</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넓게 써서 틀리거나 흐릿한 곳을 먼저 바로잡고, 막힌 곳을 하나씩 골라 깊이 파고든다.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a:t>
            </a:r>
          </a:p>
        </p:txBody>
      </p:sp>
      <p:sp>
        <p:nvSpPr>
          <p:cNvPr id="6" name="Rounded Rectangle 5"/>
          <p:cNvSpPr/>
          <p:nvPr/>
        </p:nvSpPr>
        <p:spPr>
          <a:xfrm>
            <a:off x="548640" y="2433320"/>
            <a:ext cx="3515258" cy="311607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634488"/>
            <a:ext cx="731520" cy="731520"/>
          </a:xfrm>
          <a:prstGeom prst="ellipse">
            <a:avLst/>
          </a:prstGeom>
          <a:solidFill>
            <a:srgbClr val="E7F3FD"/>
          </a:solidFill>
          <a:ln>
            <a:noFill/>
          </a:ln>
        </p:spPr>
        <p:txBody>
          <a:bodyPr rtlCol="0" anchor="ctr"/>
          <a:lstStyle/>
          <a:p>
            <a:pPr algn="ctr"/>
          </a:p>
        </p:txBody>
      </p:sp>
      <p:pic>
        <p:nvPicPr>
          <p:cNvPr id="8" name="아이콘:x" descr="x_13294B_1.6.png"/>
          <p:cNvPicPr>
            <a:picLocks noChangeAspect="1"/>
          </p:cNvPicPr>
          <p:nvPr/>
        </p:nvPicPr>
        <p:blipFill>
          <a:blip r:embed="rId3"/>
          <a:stretch>
            <a:fillRect/>
          </a:stretch>
        </p:blipFill>
        <p:spPr>
          <a:xfrm>
            <a:off x="930859" y="2788107"/>
            <a:ext cx="424281" cy="424281"/>
          </a:xfrm>
          <a:prstGeom prst="rect">
            <a:avLst/>
          </a:prstGeom>
        </p:spPr>
      </p:pic>
      <p:sp>
        <p:nvSpPr>
          <p:cNvPr id="9" name="TextBox 8"/>
          <p:cNvSpPr txBox="1"/>
          <p:nvPr/>
        </p:nvSpPr>
        <p:spPr>
          <a:xfrm>
            <a:off x="713232" y="3457448"/>
            <a:ext cx="3186074" cy="1589023"/>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틀린 곳</a:t>
            </a:r>
          </a:p>
          <a:p>
            <a:pPr algn="l" eaLnBrk="0" marL="205740" indent="-205740">
              <a:lnSpc>
                <a:spcPct val="110000"/>
              </a:lnSpc>
              <a:spcAft>
                <a:spcPts val="400"/>
              </a:spcAft>
            </a:pPr>
            <a:r>
              <a:rPr sz="1800" b="0">
                <a:solidFill>
                  <a:srgbClr val="1F2A3A"/>
                </a:solidFill>
                <a:latin typeface="맑은 고딕"/>
                <a:ea typeface="맑은 고딕"/>
                <a:cs typeface="맑은 고딕"/>
              </a:rPr>
              <a:t>• 사실과 다르게 쓴 문장</a:t>
            </a:r>
          </a:p>
          <a:p>
            <a:pPr algn="l" eaLnBrk="0" marL="205740" indent="-205740">
              <a:lnSpc>
                <a:spcPct val="110000"/>
              </a:lnSpc>
              <a:spcAft>
                <a:spcPts val="400"/>
              </a:spcAft>
            </a:pPr>
            <a:r>
              <a:rPr sz="1800" b="0">
                <a:solidFill>
                  <a:srgbClr val="1F2A3A"/>
                </a:solidFill>
                <a:latin typeface="맑은 고딕"/>
                <a:ea typeface="맑은 고딕"/>
                <a:cs typeface="맑은 고딕"/>
              </a:rPr>
              <a:t>• 먼저 바로잡는다</a:t>
            </a:r>
          </a:p>
        </p:txBody>
      </p:sp>
      <p:sp>
        <p:nvSpPr>
          <p:cNvPr id="10" name="Rounded Rectangle 9"/>
          <p:cNvSpPr/>
          <p:nvPr/>
        </p:nvSpPr>
        <p:spPr>
          <a:xfrm>
            <a:off x="777240" y="5119624"/>
            <a:ext cx="156972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19624"/>
            <a:ext cx="156972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잘못 알고 있는 것</a:t>
            </a:r>
          </a:p>
        </p:txBody>
      </p:sp>
      <p:sp>
        <p:nvSpPr>
          <p:cNvPr id="12" name="Rounded Rectangle 11"/>
          <p:cNvSpPr/>
          <p:nvPr/>
        </p:nvSpPr>
        <p:spPr>
          <a:xfrm>
            <a:off x="4338218" y="2433320"/>
            <a:ext cx="3515258" cy="311607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634488"/>
            <a:ext cx="731520" cy="731520"/>
          </a:xfrm>
          <a:prstGeom prst="ellipse">
            <a:avLst/>
          </a:prstGeom>
          <a:solidFill>
            <a:srgbClr val="E7F3FD"/>
          </a:solidFill>
          <a:ln>
            <a:noFill/>
          </a:ln>
        </p:spPr>
        <p:txBody>
          <a:bodyPr rtlCol="0" anchor="ctr"/>
          <a:lstStyle/>
          <a:p>
            <a:pPr algn="ctr"/>
          </a:p>
        </p:txBody>
      </p:sp>
      <p:pic>
        <p:nvPicPr>
          <p:cNvPr id="14" name="아이콘:message-dots" descr="message-dots_13294B_1.6.png"/>
          <p:cNvPicPr>
            <a:picLocks noChangeAspect="1"/>
          </p:cNvPicPr>
          <p:nvPr/>
        </p:nvPicPr>
        <p:blipFill>
          <a:blip r:embed="rId4"/>
          <a:stretch>
            <a:fillRect/>
          </a:stretch>
        </p:blipFill>
        <p:spPr>
          <a:xfrm>
            <a:off x="4720437" y="2788107"/>
            <a:ext cx="424281" cy="424281"/>
          </a:xfrm>
          <a:prstGeom prst="rect">
            <a:avLst/>
          </a:prstGeom>
        </p:spPr>
      </p:pic>
      <p:sp>
        <p:nvSpPr>
          <p:cNvPr id="15" name="TextBox 14"/>
          <p:cNvSpPr txBox="1"/>
          <p:nvPr/>
        </p:nvSpPr>
        <p:spPr>
          <a:xfrm>
            <a:off x="4502810" y="3457448"/>
            <a:ext cx="3186074" cy="1589023"/>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횡설수설한 곳</a:t>
            </a:r>
          </a:p>
          <a:p>
            <a:pPr algn="l" eaLnBrk="0" marL="205740" indent="-205740">
              <a:lnSpc>
                <a:spcPct val="110000"/>
              </a:lnSpc>
              <a:spcAft>
                <a:spcPts val="400"/>
              </a:spcAft>
            </a:pPr>
            <a:r>
              <a:rPr sz="1800" b="0">
                <a:solidFill>
                  <a:srgbClr val="1F2A3A"/>
                </a:solidFill>
                <a:latin typeface="맑은 고딕"/>
                <a:ea typeface="맑은 고딕"/>
                <a:cs typeface="맑은 고딕"/>
              </a:rPr>
              <a:t>• 말은 이어지지만 뜻이 분명하지 않은 문장</a:t>
            </a:r>
          </a:p>
          <a:p>
            <a:pPr algn="l" eaLnBrk="0" marL="205740" indent="-205740">
              <a:lnSpc>
                <a:spcPct val="110000"/>
              </a:lnSpc>
              <a:spcAft>
                <a:spcPts val="400"/>
              </a:spcAft>
            </a:pPr>
            <a:r>
              <a:rPr sz="1800" b="0">
                <a:solidFill>
                  <a:srgbClr val="1F2A3A"/>
                </a:solidFill>
                <a:latin typeface="맑은 고딕"/>
                <a:ea typeface="맑은 고딕"/>
                <a:cs typeface="맑은 고딕"/>
              </a:rPr>
              <a:t>• 먼저 바로잡는다</a:t>
            </a:r>
          </a:p>
        </p:txBody>
      </p:sp>
      <p:sp>
        <p:nvSpPr>
          <p:cNvPr id="16" name="Rounded Rectangle 15"/>
          <p:cNvSpPr/>
          <p:nvPr/>
        </p:nvSpPr>
        <p:spPr>
          <a:xfrm>
            <a:off x="4566818" y="5119624"/>
            <a:ext cx="1523999"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119624"/>
            <a:ext cx="152399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흐릿하게 아는 것</a:t>
            </a:r>
          </a:p>
        </p:txBody>
      </p:sp>
      <p:sp>
        <p:nvSpPr>
          <p:cNvPr id="18" name="Rounded Rectangle 17"/>
          <p:cNvSpPr/>
          <p:nvPr/>
        </p:nvSpPr>
        <p:spPr>
          <a:xfrm>
            <a:off x="8127796" y="2433320"/>
            <a:ext cx="3515258" cy="3116072"/>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634488"/>
            <a:ext cx="731520" cy="731520"/>
          </a:xfrm>
          <a:prstGeom prst="ellipse">
            <a:avLst/>
          </a:prstGeom>
          <a:solidFill>
            <a:srgbClr val="5CB8F2"/>
          </a:solidFill>
          <a:ln>
            <a:noFill/>
          </a:ln>
        </p:spPr>
        <p:txBody>
          <a:bodyPr rtlCol="0" anchor="ctr"/>
          <a:lstStyle/>
          <a:p>
            <a:pPr algn="ctr"/>
          </a:p>
        </p:txBody>
      </p:sp>
      <p:pic>
        <p:nvPicPr>
          <p:cNvPr id="20" name="아이콘:lock" descr="lock_13294B_1.6.png"/>
          <p:cNvPicPr>
            <a:picLocks noChangeAspect="1"/>
          </p:cNvPicPr>
          <p:nvPr/>
        </p:nvPicPr>
        <p:blipFill>
          <a:blip r:embed="rId5"/>
          <a:stretch>
            <a:fillRect/>
          </a:stretch>
        </p:blipFill>
        <p:spPr>
          <a:xfrm>
            <a:off x="8510016" y="2788107"/>
            <a:ext cx="424281" cy="424281"/>
          </a:xfrm>
          <a:prstGeom prst="rect">
            <a:avLst/>
          </a:prstGeom>
        </p:spPr>
      </p:pic>
      <p:sp>
        <p:nvSpPr>
          <p:cNvPr id="21" name="TextBox 20"/>
          <p:cNvSpPr txBox="1"/>
          <p:nvPr/>
        </p:nvSpPr>
        <p:spPr>
          <a:xfrm>
            <a:off x="8292388" y="3457448"/>
            <a:ext cx="3186074" cy="1589023"/>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막힌 곳</a:t>
            </a:r>
          </a:p>
          <a:p>
            <a:pPr algn="l" eaLnBrk="0" marL="205740" indent="-205740">
              <a:lnSpc>
                <a:spcPct val="110000"/>
              </a:lnSpc>
              <a:spcAft>
                <a:spcPts val="400"/>
              </a:spcAft>
            </a:pPr>
            <a:r>
              <a:rPr sz="1800" b="0">
                <a:solidFill>
                  <a:srgbClr val="1F2A3A"/>
                </a:solidFill>
                <a:latin typeface="맑은 고딕"/>
                <a:ea typeface="맑은 고딕"/>
                <a:cs typeface="맑은 고딕"/>
              </a:rPr>
              <a:t>• 더 쓰지 못하고 멈춘 자리</a:t>
            </a:r>
          </a:p>
          <a:p>
            <a:pPr algn="l" eaLnBrk="0" marL="205740" indent="-205740">
              <a:lnSpc>
                <a:spcPct val="110000"/>
              </a:lnSpc>
              <a:spcAft>
                <a:spcPts val="400"/>
              </a:spcAft>
            </a:pPr>
            <a:r>
              <a:rPr sz="1800" b="0">
                <a:solidFill>
                  <a:srgbClr val="1F2A3A"/>
                </a:solidFill>
                <a:latin typeface="맑은 고딕"/>
                <a:ea typeface="맑은 고딕"/>
                <a:cs typeface="맑은 고딕"/>
              </a:rPr>
              <a:t>• 줄기를 잡은 뒤 하나씩 깊이 판다</a:t>
            </a:r>
          </a:p>
        </p:txBody>
      </p:sp>
      <p:sp>
        <p:nvSpPr>
          <p:cNvPr id="22" name="Rounded Rectangle 21"/>
          <p:cNvSpPr/>
          <p:nvPr/>
        </p:nvSpPr>
        <p:spPr>
          <a:xfrm>
            <a:off x="8356396" y="5119624"/>
            <a:ext cx="102108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119624"/>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모르는 것</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모르는 말은 바닥까지 내려가 판다</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모르는 말은 뜻을 계속 물으며 바닥까지 내려간 뒤, 하나씩 이어 붙이며 처음의 용어를 이해한다.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7</a:t>
            </a:r>
          </a:p>
        </p:txBody>
      </p:sp>
      <p:sp>
        <p:nvSpPr>
          <p:cNvPr id="6" name="Rounded Rectangle 5"/>
          <p:cNvSpPr/>
          <p:nvPr/>
        </p:nvSpPr>
        <p:spPr>
          <a:xfrm>
            <a:off x="548640" y="2445956"/>
            <a:ext cx="2485567" cy="3090799"/>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425663" y="2628836"/>
            <a:ext cx="731520" cy="731520"/>
          </a:xfrm>
          <a:prstGeom prst="ellipse">
            <a:avLst/>
          </a:prstGeom>
          <a:solidFill>
            <a:srgbClr val="FFFFFF"/>
          </a:solidFill>
          <a:ln>
            <a:noFill/>
          </a:ln>
        </p:spPr>
        <p:txBody>
          <a:bodyPr rtlCol="0" anchor="ctr"/>
          <a:lstStyle/>
          <a:p>
            <a:pPr algn="ctr"/>
          </a:p>
        </p:txBody>
      </p:sp>
      <p:pic>
        <p:nvPicPr>
          <p:cNvPr id="8" name="아이콘:lock" descr="lock_13294B_1.6.png"/>
          <p:cNvPicPr>
            <a:picLocks noChangeAspect="1"/>
          </p:cNvPicPr>
          <p:nvPr/>
        </p:nvPicPr>
        <p:blipFill>
          <a:blip r:embed="rId3"/>
          <a:stretch>
            <a:fillRect/>
          </a:stretch>
        </p:blipFill>
        <p:spPr>
          <a:xfrm>
            <a:off x="1579283" y="2782455"/>
            <a:ext cx="424281" cy="424281"/>
          </a:xfrm>
          <a:prstGeom prst="rect">
            <a:avLst/>
          </a:prstGeom>
        </p:spPr>
      </p:pic>
      <p:sp>
        <p:nvSpPr>
          <p:cNvPr id="9" name="TextBox 8"/>
          <p:cNvSpPr txBox="1"/>
          <p:nvPr/>
        </p:nvSpPr>
        <p:spPr>
          <a:xfrm>
            <a:off x="621792" y="3433508"/>
            <a:ext cx="2339263" cy="2030094"/>
          </a:xfrm>
          <a:prstGeom prst="rect">
            <a:avLst/>
          </a:prstGeom>
          <a:noFill/>
        </p:spPr>
        <p:txBody>
          <a:bodyPr wrap="square" anchor="t"/>
          <a:lstStyle/>
          <a:p>
            <a:pPr algn="ctr" eaLnBrk="0">
              <a:lnSpc>
                <a:spcPct val="110000"/>
              </a:lnSpc>
              <a:spcAft>
                <a:spcPts val="400"/>
              </a:spcAft>
            </a:pPr>
            <a:r>
              <a:rPr sz="1850" b="1">
                <a:solidFill>
                  <a:srgbClr val="13294B"/>
                </a:solidFill>
                <a:latin typeface="맑은 고딕"/>
                <a:ea typeface="맑은 고딕"/>
                <a:cs typeface="맑은 고딕"/>
              </a:rPr>
              <a:t>막힌 용어</a:t>
            </a:r>
          </a:p>
          <a:p>
            <a:pPr algn="ctr" eaLnBrk="0">
              <a:lnSpc>
                <a:spcPct val="110000"/>
              </a:lnSpc>
              <a:spcAft>
                <a:spcPts val="400"/>
              </a:spcAft>
            </a:pPr>
            <a:r>
              <a:rPr sz="1500" b="0">
                <a:solidFill>
                  <a:srgbClr val="1F2A3A"/>
                </a:solidFill>
                <a:latin typeface="맑은 고딕"/>
                <a:ea typeface="맑은 고딕"/>
                <a:cs typeface="맑은 고딕"/>
              </a:rPr>
              <a:t>공부할 범위에서</a:t>
            </a:r>
          </a:p>
          <a:p>
            <a:pPr algn="ctr" eaLnBrk="0">
              <a:lnSpc>
                <a:spcPct val="110000"/>
              </a:lnSpc>
              <a:spcAft>
                <a:spcPts val="400"/>
              </a:spcAft>
            </a:pPr>
            <a:r>
              <a:rPr sz="1500" b="0">
                <a:solidFill>
                  <a:srgbClr val="1F2A3A"/>
                </a:solidFill>
                <a:latin typeface="맑은 고딕"/>
                <a:ea typeface="맑은 고딕"/>
                <a:cs typeface="맑은 고딕"/>
              </a:rPr>
              <a:t>모르는 용어를</a:t>
            </a:r>
          </a:p>
          <a:p>
            <a:pPr algn="ctr" eaLnBrk="0">
              <a:lnSpc>
                <a:spcPct val="110000"/>
              </a:lnSpc>
              <a:spcAft>
                <a:spcPts val="400"/>
              </a:spcAft>
            </a:pPr>
            <a:r>
              <a:rPr sz="1500" b="0">
                <a:solidFill>
                  <a:srgbClr val="1F2A3A"/>
                </a:solidFill>
                <a:latin typeface="맑은 고딕"/>
                <a:ea typeface="맑은 고딕"/>
                <a:cs typeface="맑은 고딕"/>
              </a:rPr>
              <a:t>고른다</a:t>
            </a:r>
          </a:p>
        </p:txBody>
      </p:sp>
      <p:sp>
        <p:nvSpPr>
          <p:cNvPr id="10" name="Right Arrow 9"/>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3418255" y="2445956"/>
            <a:ext cx="2485567" cy="3090799"/>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4295279" y="2628836"/>
            <a:ext cx="731520" cy="731520"/>
          </a:xfrm>
          <a:prstGeom prst="ellipse">
            <a:avLst/>
          </a:prstGeom>
          <a:solidFill>
            <a:srgbClr val="FFFFFF"/>
          </a:solidFill>
          <a:ln>
            <a:noFill/>
          </a:ln>
        </p:spPr>
        <p:txBody>
          <a:bodyPr rtlCol="0" anchor="ctr"/>
          <a:lstStyle/>
          <a:p>
            <a:pPr algn="ctr"/>
          </a:p>
        </p:txBody>
      </p:sp>
      <p:pic>
        <p:nvPicPr>
          <p:cNvPr id="13" name="아이콘:help" descr="help_13294B_1.6.png"/>
          <p:cNvPicPr>
            <a:picLocks noChangeAspect="1"/>
          </p:cNvPicPr>
          <p:nvPr/>
        </p:nvPicPr>
        <p:blipFill>
          <a:blip r:embed="rId4"/>
          <a:stretch>
            <a:fillRect/>
          </a:stretch>
        </p:blipFill>
        <p:spPr>
          <a:xfrm>
            <a:off x="4448898" y="2782455"/>
            <a:ext cx="424281" cy="424281"/>
          </a:xfrm>
          <a:prstGeom prst="rect">
            <a:avLst/>
          </a:prstGeom>
        </p:spPr>
      </p:pic>
      <p:sp>
        <p:nvSpPr>
          <p:cNvPr id="14" name="TextBox 13"/>
          <p:cNvSpPr txBox="1"/>
          <p:nvPr/>
        </p:nvSpPr>
        <p:spPr>
          <a:xfrm>
            <a:off x="3491407" y="3433508"/>
            <a:ext cx="2339263" cy="2030094"/>
          </a:xfrm>
          <a:prstGeom prst="rect">
            <a:avLst/>
          </a:prstGeom>
          <a:noFill/>
        </p:spPr>
        <p:txBody>
          <a:bodyPr wrap="square" anchor="t"/>
          <a:lstStyle/>
          <a:p>
            <a:pPr algn="ctr" eaLnBrk="0">
              <a:lnSpc>
                <a:spcPct val="110000"/>
              </a:lnSpc>
              <a:spcAft>
                <a:spcPts val="400"/>
              </a:spcAft>
            </a:pPr>
            <a:r>
              <a:rPr sz="1850" b="1">
                <a:solidFill>
                  <a:srgbClr val="13294B"/>
                </a:solidFill>
                <a:latin typeface="맑은 고딕"/>
                <a:ea typeface="맑은 고딕"/>
                <a:cs typeface="맑은 고딕"/>
              </a:rPr>
              <a:t>뜻을 묻는다</a:t>
            </a:r>
          </a:p>
          <a:p>
            <a:pPr algn="ctr" eaLnBrk="0">
              <a:lnSpc>
                <a:spcPct val="110000"/>
              </a:lnSpc>
              <a:spcAft>
                <a:spcPts val="400"/>
              </a:spcAft>
            </a:pPr>
            <a:r>
              <a:rPr sz="1500" b="0">
                <a:solidFill>
                  <a:srgbClr val="1F2A3A"/>
                </a:solidFill>
                <a:latin typeface="맑은 고딕"/>
                <a:ea typeface="맑은 고딕"/>
                <a:cs typeface="맑은 고딕"/>
              </a:rPr>
              <a:t>그 용어가</a:t>
            </a:r>
          </a:p>
          <a:p>
            <a:pPr algn="ctr" eaLnBrk="0">
              <a:lnSpc>
                <a:spcPct val="110000"/>
              </a:lnSpc>
              <a:spcAft>
                <a:spcPts val="400"/>
              </a:spcAft>
            </a:pPr>
            <a:r>
              <a:rPr sz="1500" b="0">
                <a:solidFill>
                  <a:srgbClr val="1F2A3A"/>
                </a:solidFill>
                <a:latin typeface="맑은 고딕"/>
                <a:ea typeface="맑은 고딕"/>
                <a:cs typeface="맑은 고딕"/>
              </a:rPr>
              <a:t>무엇을 뜻하는지</a:t>
            </a:r>
          </a:p>
          <a:p>
            <a:pPr algn="ctr" eaLnBrk="0">
              <a:lnSpc>
                <a:spcPct val="110000"/>
              </a:lnSpc>
              <a:spcAft>
                <a:spcPts val="400"/>
              </a:spcAft>
            </a:pPr>
            <a:r>
              <a:rPr sz="1500" b="0">
                <a:solidFill>
                  <a:srgbClr val="1F2A3A"/>
                </a:solidFill>
                <a:latin typeface="맑은 고딕"/>
                <a:ea typeface="맑은 고딕"/>
                <a:cs typeface="맑은 고딕"/>
              </a:rPr>
              <a:t>AI에게 묻는다</a:t>
            </a:r>
          </a:p>
        </p:txBody>
      </p:sp>
      <p:sp>
        <p:nvSpPr>
          <p:cNvPr id="15" name="Right Arrow 14"/>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6287871" y="2445956"/>
            <a:ext cx="2485567" cy="3090799"/>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7164895" y="2628836"/>
            <a:ext cx="731520" cy="731520"/>
          </a:xfrm>
          <a:prstGeom prst="ellipse">
            <a:avLst/>
          </a:prstGeom>
          <a:solidFill>
            <a:srgbClr val="FFFFFF"/>
          </a:solidFill>
          <a:ln>
            <a:noFill/>
          </a:ln>
        </p:spPr>
        <p:txBody>
          <a:bodyPr rtlCol="0" anchor="ctr"/>
          <a:lstStyle/>
          <a:p>
            <a:pPr algn="ctr"/>
          </a:p>
        </p:txBody>
      </p:sp>
      <p:pic>
        <p:nvPicPr>
          <p:cNvPr id="18" name="아이콘:arrow-down" descr="arrow-down_13294B_1.6.png"/>
          <p:cNvPicPr>
            <a:picLocks noChangeAspect="1"/>
          </p:cNvPicPr>
          <p:nvPr/>
        </p:nvPicPr>
        <p:blipFill>
          <a:blip r:embed="rId5"/>
          <a:stretch>
            <a:fillRect/>
          </a:stretch>
        </p:blipFill>
        <p:spPr>
          <a:xfrm>
            <a:off x="7318514" y="2782455"/>
            <a:ext cx="424281" cy="424281"/>
          </a:xfrm>
          <a:prstGeom prst="rect">
            <a:avLst/>
          </a:prstGeom>
        </p:spPr>
      </p:pic>
      <p:sp>
        <p:nvSpPr>
          <p:cNvPr id="19" name="TextBox 18"/>
          <p:cNvSpPr txBox="1"/>
          <p:nvPr/>
        </p:nvSpPr>
        <p:spPr>
          <a:xfrm>
            <a:off x="6361023" y="3433508"/>
            <a:ext cx="2339263" cy="2030094"/>
          </a:xfrm>
          <a:prstGeom prst="rect">
            <a:avLst/>
          </a:prstGeom>
          <a:noFill/>
        </p:spPr>
        <p:txBody>
          <a:bodyPr wrap="square" anchor="t"/>
          <a:lstStyle/>
          <a:p>
            <a:pPr algn="ctr" eaLnBrk="0">
              <a:lnSpc>
                <a:spcPct val="110000"/>
              </a:lnSpc>
              <a:spcAft>
                <a:spcPts val="400"/>
              </a:spcAft>
            </a:pPr>
            <a:r>
              <a:rPr sz="1850" b="1">
                <a:solidFill>
                  <a:srgbClr val="13294B"/>
                </a:solidFill>
                <a:latin typeface="맑은 고딕"/>
                <a:ea typeface="맑은 고딕"/>
                <a:cs typeface="맑은 고딕"/>
              </a:rPr>
              <a:t>계속 내려간다</a:t>
            </a:r>
          </a:p>
          <a:p>
            <a:pPr algn="ctr" eaLnBrk="0">
              <a:lnSpc>
                <a:spcPct val="110000"/>
              </a:lnSpc>
              <a:spcAft>
                <a:spcPts val="400"/>
              </a:spcAft>
            </a:pPr>
            <a:r>
              <a:rPr sz="1500" b="0">
                <a:solidFill>
                  <a:srgbClr val="1F2A3A"/>
                </a:solidFill>
                <a:latin typeface="맑은 고딕"/>
                <a:ea typeface="맑은 고딕"/>
                <a:cs typeface="맑은 고딕"/>
              </a:rPr>
              <a:t>설명 속에 또 모르는 말이</a:t>
            </a:r>
          </a:p>
          <a:p>
            <a:pPr algn="ctr" eaLnBrk="0">
              <a:lnSpc>
                <a:spcPct val="110000"/>
              </a:lnSpc>
              <a:spcAft>
                <a:spcPts val="400"/>
              </a:spcAft>
            </a:pPr>
            <a:r>
              <a:rPr sz="1500" b="0">
                <a:solidFill>
                  <a:srgbClr val="1F2A3A"/>
                </a:solidFill>
                <a:latin typeface="맑은 고딕"/>
                <a:ea typeface="맑은 고딕"/>
                <a:cs typeface="맑은 고딕"/>
              </a:rPr>
              <a:t>있으면 다시 묻는다</a:t>
            </a:r>
          </a:p>
          <a:p>
            <a:pPr algn="ctr" eaLnBrk="0">
              <a:lnSpc>
                <a:spcPct val="110000"/>
              </a:lnSpc>
              <a:spcAft>
                <a:spcPts val="400"/>
              </a:spcAft>
            </a:pPr>
            <a:r>
              <a:rPr sz="1500" b="0">
                <a:solidFill>
                  <a:srgbClr val="1F2A3A"/>
                </a:solidFill>
                <a:latin typeface="맑은 고딕"/>
                <a:ea typeface="맑은 고딕"/>
                <a:cs typeface="맑은 고딕"/>
              </a:rPr>
              <a:t>초등학생에게 설명하듯</a:t>
            </a:r>
          </a:p>
          <a:p>
            <a:pPr algn="ctr" eaLnBrk="0">
              <a:lnSpc>
                <a:spcPct val="110000"/>
              </a:lnSpc>
              <a:spcAft>
                <a:spcPts val="400"/>
              </a:spcAft>
            </a:pPr>
            <a:r>
              <a:rPr sz="1500" b="0">
                <a:solidFill>
                  <a:srgbClr val="1F2A3A"/>
                </a:solidFill>
                <a:latin typeface="맑은 고딕"/>
                <a:ea typeface="맑은 고딕"/>
                <a:cs typeface="맑은 고딕"/>
              </a:rPr>
              <a:t>풀어 달라고 해도 된다</a:t>
            </a:r>
          </a:p>
        </p:txBody>
      </p:sp>
      <p:sp>
        <p:nvSpPr>
          <p:cNvPr id="20" name="Right Arrow 19"/>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9157487" y="2445956"/>
            <a:ext cx="2485567" cy="3090799"/>
          </a:xfrm>
          <a:prstGeom prst="roundRect">
            <a:avLst>
              <a:gd name="adj" fmla="val 5000"/>
            </a:avLst>
          </a:prstGeom>
          <a:solidFill>
            <a:srgbClr val="E7F3FD"/>
          </a:solidFill>
          <a:ln w="25400">
            <a:solidFill>
              <a:srgbClr val="5CB8F2"/>
            </a:solidFill>
          </a:ln>
        </p:spPr>
        <p:txBody>
          <a:bodyPr rtlCol="0" anchor="ctr"/>
          <a:lstStyle/>
          <a:p>
            <a:pPr algn="ctr"/>
          </a:p>
        </p:txBody>
      </p:sp>
      <p:sp>
        <p:nvSpPr>
          <p:cNvPr id="22" name="Oval 21"/>
          <p:cNvSpPr/>
          <p:nvPr/>
        </p:nvSpPr>
        <p:spPr>
          <a:xfrm>
            <a:off x="10034511" y="2628836"/>
            <a:ext cx="731520" cy="731520"/>
          </a:xfrm>
          <a:prstGeom prst="ellipse">
            <a:avLst/>
          </a:prstGeom>
          <a:solidFill>
            <a:srgbClr val="5CB8F2"/>
          </a:solidFill>
          <a:ln>
            <a:noFill/>
          </a:ln>
        </p:spPr>
        <p:txBody>
          <a:bodyPr rtlCol="0" anchor="ctr"/>
          <a:lstStyle/>
          <a:p>
            <a:pPr algn="ctr"/>
          </a:p>
        </p:txBody>
      </p:sp>
      <p:pic>
        <p:nvPicPr>
          <p:cNvPr id="23" name="아이콘:arrow-up" descr="arrow-up_13294B_1.6.png"/>
          <p:cNvPicPr>
            <a:picLocks noChangeAspect="1"/>
          </p:cNvPicPr>
          <p:nvPr/>
        </p:nvPicPr>
        <p:blipFill>
          <a:blip r:embed="rId6"/>
          <a:stretch>
            <a:fillRect/>
          </a:stretch>
        </p:blipFill>
        <p:spPr>
          <a:xfrm>
            <a:off x="10188130" y="2782455"/>
            <a:ext cx="424281" cy="424281"/>
          </a:xfrm>
          <a:prstGeom prst="rect">
            <a:avLst/>
          </a:prstGeom>
        </p:spPr>
      </p:pic>
      <p:sp>
        <p:nvSpPr>
          <p:cNvPr id="24" name="TextBox 23"/>
          <p:cNvSpPr txBox="1"/>
          <p:nvPr/>
        </p:nvSpPr>
        <p:spPr>
          <a:xfrm>
            <a:off x="9230639" y="3433508"/>
            <a:ext cx="2339263" cy="2030094"/>
          </a:xfrm>
          <a:prstGeom prst="rect">
            <a:avLst/>
          </a:prstGeom>
          <a:noFill/>
        </p:spPr>
        <p:txBody>
          <a:bodyPr wrap="square" anchor="t"/>
          <a:lstStyle/>
          <a:p>
            <a:pPr algn="ctr" eaLnBrk="0">
              <a:lnSpc>
                <a:spcPct val="110000"/>
              </a:lnSpc>
              <a:spcAft>
                <a:spcPts val="400"/>
              </a:spcAft>
            </a:pPr>
            <a:r>
              <a:rPr sz="1850" b="1">
                <a:solidFill>
                  <a:srgbClr val="13294B"/>
                </a:solidFill>
                <a:latin typeface="맑은 고딕"/>
                <a:ea typeface="맑은 고딕"/>
                <a:cs typeface="맑은 고딕"/>
              </a:rPr>
              <a:t>올라온다</a:t>
            </a:r>
          </a:p>
          <a:p>
            <a:pPr algn="ctr" eaLnBrk="0">
              <a:lnSpc>
                <a:spcPct val="110000"/>
              </a:lnSpc>
              <a:spcAft>
                <a:spcPts val="400"/>
              </a:spcAft>
            </a:pPr>
            <a:r>
              <a:rPr sz="1500" b="0">
                <a:solidFill>
                  <a:srgbClr val="1F2A3A"/>
                </a:solidFill>
                <a:latin typeface="맑은 고딕"/>
                <a:ea typeface="맑은 고딕"/>
                <a:cs typeface="맑은 고딕"/>
              </a:rPr>
              <a:t>바닥에서부터</a:t>
            </a:r>
          </a:p>
          <a:p>
            <a:pPr algn="ctr" eaLnBrk="0">
              <a:lnSpc>
                <a:spcPct val="110000"/>
              </a:lnSpc>
              <a:spcAft>
                <a:spcPts val="400"/>
              </a:spcAft>
            </a:pPr>
            <a:r>
              <a:rPr sz="1500" b="0">
                <a:solidFill>
                  <a:srgbClr val="1F2A3A"/>
                </a:solidFill>
                <a:latin typeface="맑은 고딕"/>
                <a:ea typeface="맑은 고딕"/>
                <a:cs typeface="맑은 고딕"/>
              </a:rPr>
              <a:t>하나씩 이어 붙이며</a:t>
            </a:r>
          </a:p>
          <a:p>
            <a:pPr algn="ctr" eaLnBrk="0">
              <a:lnSpc>
                <a:spcPct val="110000"/>
              </a:lnSpc>
              <a:spcAft>
                <a:spcPts val="400"/>
              </a:spcAft>
            </a:pPr>
            <a:r>
              <a:rPr sz="1500" b="0">
                <a:solidFill>
                  <a:srgbClr val="1F2A3A"/>
                </a:solidFill>
                <a:latin typeface="맑은 고딕"/>
                <a:ea typeface="맑은 고딕"/>
                <a:cs typeface="맑은 고딕"/>
              </a:rPr>
              <a:t>처음의 용어로</a:t>
            </a:r>
          </a:p>
          <a:p>
            <a:pPr algn="ctr" eaLnBrk="0">
              <a:lnSpc>
                <a:spcPct val="110000"/>
              </a:lnSpc>
              <a:spcAft>
                <a:spcPts val="400"/>
              </a:spcAft>
            </a:pPr>
            <a:r>
              <a:rPr sz="1500" b="0">
                <a:solidFill>
                  <a:srgbClr val="1F2A3A"/>
                </a:solidFill>
                <a:latin typeface="맑은 고딕"/>
                <a:ea typeface="맑은 고딕"/>
                <a:cs typeface="맑은 고딕"/>
              </a:rPr>
              <a:t>돌아온다</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뜻을 내 말로 옮겨 학습노트에 쌓는다</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정의를 외우는 대신 내 말로 풀어 쓴 기록을 학습노트에 쌓으면, 그 기록이 지식 자산이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8</a:t>
            </a:r>
          </a:p>
        </p:txBody>
      </p:sp>
      <p:sp>
        <p:nvSpPr>
          <p:cNvPr id="6" name="Rounded Rectangle 5"/>
          <p:cNvSpPr/>
          <p:nvPr/>
        </p:nvSpPr>
        <p:spPr>
          <a:xfrm>
            <a:off x="548640" y="2336546"/>
            <a:ext cx="5181447" cy="3309620"/>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537714"/>
            <a:ext cx="731520" cy="731520"/>
          </a:xfrm>
          <a:prstGeom prst="ellipse">
            <a:avLst/>
          </a:prstGeom>
          <a:solidFill>
            <a:srgbClr val="FFFFFF"/>
          </a:solidFill>
          <a:ln>
            <a:noFill/>
          </a:ln>
        </p:spPr>
        <p:txBody>
          <a:bodyPr rtlCol="0" anchor="ctr"/>
          <a:lstStyle/>
          <a:p>
            <a:pPr algn="ctr"/>
          </a:p>
        </p:txBody>
      </p:sp>
      <p:pic>
        <p:nvPicPr>
          <p:cNvPr id="8" name="아이콘:book" descr="book_13294B_1.6.png"/>
          <p:cNvPicPr>
            <a:picLocks noChangeAspect="1"/>
          </p:cNvPicPr>
          <p:nvPr/>
        </p:nvPicPr>
        <p:blipFill>
          <a:blip r:embed="rId3"/>
          <a:stretch>
            <a:fillRect/>
          </a:stretch>
        </p:blipFill>
        <p:spPr>
          <a:xfrm>
            <a:off x="976579" y="2691333"/>
            <a:ext cx="424281" cy="424281"/>
          </a:xfrm>
          <a:prstGeom prst="rect">
            <a:avLst/>
          </a:prstGeom>
        </p:spPr>
      </p:pic>
      <p:sp>
        <p:nvSpPr>
          <p:cNvPr id="9" name="TextBox 8"/>
          <p:cNvSpPr txBox="1"/>
          <p:nvPr/>
        </p:nvSpPr>
        <p:spPr>
          <a:xfrm>
            <a:off x="1691640" y="2537714"/>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정의를 그대로 외운다</a:t>
            </a:r>
          </a:p>
        </p:txBody>
      </p:sp>
      <p:sp>
        <p:nvSpPr>
          <p:cNvPr id="10" name="TextBox 9"/>
          <p:cNvSpPr txBox="1"/>
          <p:nvPr/>
        </p:nvSpPr>
        <p:spPr>
          <a:xfrm>
            <a:off x="822959" y="3388105"/>
            <a:ext cx="4632807" cy="1709420"/>
          </a:xfrm>
          <a:prstGeom prst="rect">
            <a:avLst/>
          </a:prstGeom>
          <a:noFill/>
        </p:spPr>
        <p:txBody>
          <a:bodyPr wrap="square" anchor="t"/>
          <a:lstStyle/>
          <a:p>
            <a:pPr algn="l" eaLnBrk="0" marL="200025" indent="-200025">
              <a:lnSpc>
                <a:spcPct val="110000"/>
              </a:lnSpc>
              <a:spcAft>
                <a:spcPts val="600"/>
              </a:spcAft>
            </a:pPr>
            <a:r>
              <a:rPr sz="1750" b="0">
                <a:solidFill>
                  <a:srgbClr val="1F2A3A"/>
                </a:solidFill>
                <a:latin typeface="맑은 고딕"/>
                <a:ea typeface="맑은 고딕"/>
                <a:cs typeface="맑은 고딕"/>
              </a:rPr>
              <a:t>• 문장은 기억하지만 다른 말로 물으면 답하지 못한다</a:t>
            </a:r>
          </a:p>
          <a:p>
            <a:pPr algn="l" eaLnBrk="0" marL="200025" indent="-200025">
              <a:lnSpc>
                <a:spcPct val="110000"/>
              </a:lnSpc>
              <a:spcAft>
                <a:spcPts val="600"/>
              </a:spcAft>
            </a:pPr>
            <a:r>
              <a:rPr sz="1750" b="0">
                <a:solidFill>
                  <a:srgbClr val="1F2A3A"/>
                </a:solidFill>
                <a:latin typeface="맑은 고딕"/>
                <a:ea typeface="맑은 고딕"/>
                <a:cs typeface="맑은 고딕"/>
              </a:rPr>
              <a:t>• 외운 문장을 벗어나면 설명하지 못한다</a:t>
            </a:r>
          </a:p>
        </p:txBody>
      </p:sp>
      <p:sp>
        <p:nvSpPr>
          <p:cNvPr id="11" name="Rounded Rectangle 10"/>
          <p:cNvSpPr/>
          <p:nvPr/>
        </p:nvSpPr>
        <p:spPr>
          <a:xfrm>
            <a:off x="868680" y="5188966"/>
            <a:ext cx="102108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188966"/>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외운 문장</a:t>
            </a:r>
          </a:p>
        </p:txBody>
      </p:sp>
      <p:sp>
        <p:nvSpPr>
          <p:cNvPr id="13" name="Rounded Rectangle 12"/>
          <p:cNvSpPr/>
          <p:nvPr/>
        </p:nvSpPr>
        <p:spPr>
          <a:xfrm>
            <a:off x="6461607" y="2336546"/>
            <a:ext cx="5181447" cy="3309620"/>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537714"/>
            <a:ext cx="731520" cy="731520"/>
          </a:xfrm>
          <a:prstGeom prst="ellipse">
            <a:avLst/>
          </a:prstGeom>
          <a:solidFill>
            <a:srgbClr val="5CB8F2"/>
          </a:solidFill>
          <a:ln>
            <a:noFill/>
          </a:ln>
        </p:spPr>
        <p:txBody>
          <a:bodyPr rtlCol="0" anchor="ctr"/>
          <a:lstStyle/>
          <a:p>
            <a:pPr algn="ctr"/>
          </a:p>
        </p:txBody>
      </p:sp>
      <p:pic>
        <p:nvPicPr>
          <p:cNvPr id="15" name="아이콘:notebook" descr="notebook_13294B_1.6.png"/>
          <p:cNvPicPr>
            <a:picLocks noChangeAspect="1"/>
          </p:cNvPicPr>
          <p:nvPr/>
        </p:nvPicPr>
        <p:blipFill>
          <a:blip r:embed="rId4"/>
          <a:stretch>
            <a:fillRect/>
          </a:stretch>
        </p:blipFill>
        <p:spPr>
          <a:xfrm>
            <a:off x="6889546" y="2691333"/>
            <a:ext cx="424281" cy="424281"/>
          </a:xfrm>
          <a:prstGeom prst="rect">
            <a:avLst/>
          </a:prstGeom>
        </p:spPr>
      </p:pic>
      <p:sp>
        <p:nvSpPr>
          <p:cNvPr id="16" name="TextBox 15"/>
          <p:cNvSpPr txBox="1"/>
          <p:nvPr/>
        </p:nvSpPr>
        <p:spPr>
          <a:xfrm>
            <a:off x="7604607" y="2537714"/>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내 말로 옮겨 쌓는다</a:t>
            </a:r>
          </a:p>
        </p:txBody>
      </p:sp>
      <p:sp>
        <p:nvSpPr>
          <p:cNvPr id="17" name="TextBox 16"/>
          <p:cNvSpPr txBox="1"/>
          <p:nvPr/>
        </p:nvSpPr>
        <p:spPr>
          <a:xfrm>
            <a:off x="6735927" y="3388105"/>
            <a:ext cx="4632807" cy="1709420"/>
          </a:xfrm>
          <a:prstGeom prst="rect">
            <a:avLst/>
          </a:prstGeom>
          <a:noFill/>
        </p:spPr>
        <p:txBody>
          <a:bodyPr wrap="square" anchor="t"/>
          <a:lstStyle/>
          <a:p>
            <a:pPr algn="l" eaLnBrk="0" marL="200025" indent="-200025">
              <a:lnSpc>
                <a:spcPct val="110000"/>
              </a:lnSpc>
              <a:spcAft>
                <a:spcPts val="600"/>
              </a:spcAft>
            </a:pPr>
            <a:r>
              <a:rPr sz="1750" b="0">
                <a:solidFill>
                  <a:srgbClr val="1F2A3A"/>
                </a:solidFill>
                <a:latin typeface="맑은 고딕"/>
                <a:ea typeface="맑은 고딕"/>
                <a:cs typeface="맑은 고딕"/>
              </a:rPr>
              <a:t>• 원리는 그대로 두고 표현만 쉽게 바꾼다</a:t>
            </a:r>
          </a:p>
          <a:p>
            <a:pPr algn="l" eaLnBrk="0" marL="200025" indent="-200025">
              <a:lnSpc>
                <a:spcPct val="110000"/>
              </a:lnSpc>
              <a:spcAft>
                <a:spcPts val="600"/>
              </a:spcAft>
            </a:pPr>
            <a:r>
              <a:rPr sz="1750" b="0">
                <a:solidFill>
                  <a:srgbClr val="1F2A3A"/>
                </a:solidFill>
                <a:latin typeface="맑은 고딕"/>
                <a:ea typeface="맑은 고딕"/>
                <a:cs typeface="맑은 고딕"/>
              </a:rPr>
              <a:t>• 다른 말로 물어도 답하고 남에게 설명할 수 있다</a:t>
            </a:r>
          </a:p>
          <a:p>
            <a:pPr algn="l" eaLnBrk="0" marL="200025" indent="-200025">
              <a:lnSpc>
                <a:spcPct val="110000"/>
              </a:lnSpc>
              <a:spcAft>
                <a:spcPts val="600"/>
              </a:spcAft>
            </a:pPr>
            <a:r>
              <a:rPr sz="1750" b="0">
                <a:solidFill>
                  <a:srgbClr val="1F2A3A"/>
                </a:solidFill>
                <a:latin typeface="맑은 고딕"/>
                <a:ea typeface="맑은 고딕"/>
                <a:cs typeface="맑은 고딕"/>
              </a:rPr>
              <a:t>• 이렇게 쓴 기록을 개인 학습노트에 모은다</a:t>
            </a:r>
          </a:p>
        </p:txBody>
      </p:sp>
      <p:sp>
        <p:nvSpPr>
          <p:cNvPr id="18" name="Rounded Rectangle 17"/>
          <p:cNvSpPr/>
          <p:nvPr/>
        </p:nvSpPr>
        <p:spPr>
          <a:xfrm>
            <a:off x="6781647" y="5188966"/>
            <a:ext cx="11734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188966"/>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쌓이는 자산</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실습: 지식 자산화를 위한 개인 학습노트 만들기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앞으로 배울 내용을 내 말로 쌓아 갈 학습노트의 틀을 만든다</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실습에서 만드는 학습노트</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과정 홈과 학습노트 데이터베이스를 만들고, 개념 하나를 내 말로 써서 첫 기록을 남긴다.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10</a:t>
            </a:r>
          </a:p>
        </p:txBody>
      </p:sp>
      <p:sp>
        <p:nvSpPr>
          <p:cNvPr id="6" name="Rounded Rectangle 5"/>
          <p:cNvSpPr/>
          <p:nvPr/>
        </p:nvSpPr>
        <p:spPr>
          <a:xfrm>
            <a:off x="548640" y="2123439"/>
            <a:ext cx="3515258" cy="373583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324608"/>
            <a:ext cx="731520" cy="731520"/>
          </a:xfrm>
          <a:prstGeom prst="ellipse">
            <a:avLst/>
          </a:prstGeom>
          <a:solidFill>
            <a:srgbClr val="E7F3FD"/>
          </a:solidFill>
          <a:ln>
            <a:noFill/>
          </a:ln>
        </p:spPr>
        <p:txBody>
          <a:bodyPr rtlCol="0" anchor="ctr"/>
          <a:lstStyle/>
          <a:p>
            <a:pPr algn="ctr"/>
          </a:p>
        </p:txBody>
      </p:sp>
      <p:pic>
        <p:nvPicPr>
          <p:cNvPr id="8" name="아이콘:home" descr="home_13294B_1.6.png"/>
          <p:cNvPicPr>
            <a:picLocks noChangeAspect="1"/>
          </p:cNvPicPr>
          <p:nvPr/>
        </p:nvPicPr>
        <p:blipFill>
          <a:blip r:embed="rId3"/>
          <a:stretch>
            <a:fillRect/>
          </a:stretch>
        </p:blipFill>
        <p:spPr>
          <a:xfrm>
            <a:off x="930859" y="2478227"/>
            <a:ext cx="424281" cy="424281"/>
          </a:xfrm>
          <a:prstGeom prst="rect">
            <a:avLst/>
          </a:prstGeom>
        </p:spPr>
      </p:pic>
      <p:sp>
        <p:nvSpPr>
          <p:cNvPr id="9" name="TextBox 8"/>
          <p:cNvSpPr txBox="1"/>
          <p:nvPr/>
        </p:nvSpPr>
        <p:spPr>
          <a:xfrm>
            <a:off x="713232" y="3147568"/>
            <a:ext cx="3186074" cy="2208784"/>
          </a:xfrm>
          <a:prstGeom prst="rect">
            <a:avLst/>
          </a:prstGeom>
          <a:noFill/>
        </p:spPr>
        <p:txBody>
          <a:bodyPr wrap="square" anchor="t"/>
          <a:lstStyle/>
          <a:p>
            <a:pPr algn="l" eaLnBrk="0">
              <a:lnSpc>
                <a:spcPct val="110000"/>
              </a:lnSpc>
              <a:spcAft>
                <a:spcPts val="400"/>
              </a:spcAft>
            </a:pPr>
            <a:r>
              <a:rPr sz="2000" b="1">
                <a:solidFill>
                  <a:srgbClr val="13294B"/>
                </a:solidFill>
                <a:latin typeface="맑은 고딕"/>
                <a:ea typeface="맑은 고딕"/>
                <a:cs typeface="맑은 고딕"/>
              </a:rPr>
              <a:t>과정 홈</a:t>
            </a:r>
          </a:p>
          <a:p>
            <a:pPr algn="l" eaLnBrk="0" marL="182880" indent="-182880">
              <a:lnSpc>
                <a:spcPct val="110000"/>
              </a:lnSpc>
              <a:spcAft>
                <a:spcPts val="400"/>
              </a:spcAft>
            </a:pPr>
            <a:r>
              <a:rPr sz="1600" b="0">
                <a:solidFill>
                  <a:srgbClr val="1F2A3A"/>
                </a:solidFill>
                <a:latin typeface="맑은 고딕"/>
                <a:ea typeface="맑은 고딕"/>
                <a:cs typeface="맑은 고딕"/>
              </a:rPr>
              <a:t>• 과정 전체로 들어가는 첫 페이지이다</a:t>
            </a:r>
          </a:p>
          <a:p>
            <a:pPr algn="l" eaLnBrk="0" marL="182880" indent="-182880">
              <a:lnSpc>
                <a:spcPct val="110000"/>
              </a:lnSpc>
              <a:spcAft>
                <a:spcPts val="400"/>
              </a:spcAft>
            </a:pPr>
            <a:r>
              <a:rPr sz="1600" b="0">
                <a:solidFill>
                  <a:srgbClr val="1F2A3A"/>
                </a:solidFill>
                <a:latin typeface="맑은 고딕"/>
                <a:ea typeface="맑은 고딕"/>
                <a:cs typeface="맑은 고딕"/>
              </a:rPr>
              <a:t>• 노트 작성 규칙을 몇 줄로 적어 둔다</a:t>
            </a:r>
          </a:p>
        </p:txBody>
      </p:sp>
      <p:sp>
        <p:nvSpPr>
          <p:cNvPr id="10" name="Rounded Rectangle 9"/>
          <p:cNvSpPr/>
          <p:nvPr/>
        </p:nvSpPr>
        <p:spPr>
          <a:xfrm>
            <a:off x="777240" y="5429504"/>
            <a:ext cx="11734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429504"/>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기록의 입구</a:t>
            </a:r>
          </a:p>
        </p:txBody>
      </p:sp>
      <p:sp>
        <p:nvSpPr>
          <p:cNvPr id="12" name="Rounded Rectangle 11"/>
          <p:cNvSpPr/>
          <p:nvPr/>
        </p:nvSpPr>
        <p:spPr>
          <a:xfrm>
            <a:off x="4338218" y="2123439"/>
            <a:ext cx="3515258" cy="373583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324608"/>
            <a:ext cx="731520" cy="731520"/>
          </a:xfrm>
          <a:prstGeom prst="ellipse">
            <a:avLst/>
          </a:prstGeom>
          <a:solidFill>
            <a:srgbClr val="E7F3FD"/>
          </a:solidFill>
          <a:ln>
            <a:noFill/>
          </a:ln>
        </p:spPr>
        <p:txBody>
          <a:bodyPr rtlCol="0" anchor="ctr"/>
          <a:lstStyle/>
          <a:p>
            <a:pPr algn="ctr"/>
          </a:p>
        </p:txBody>
      </p:sp>
      <p:pic>
        <p:nvPicPr>
          <p:cNvPr id="14" name="아이콘:category" descr="category_13294B_1.6.png"/>
          <p:cNvPicPr>
            <a:picLocks noChangeAspect="1"/>
          </p:cNvPicPr>
          <p:nvPr/>
        </p:nvPicPr>
        <p:blipFill>
          <a:blip r:embed="rId4"/>
          <a:stretch>
            <a:fillRect/>
          </a:stretch>
        </p:blipFill>
        <p:spPr>
          <a:xfrm>
            <a:off x="4720437" y="2478227"/>
            <a:ext cx="424281" cy="424281"/>
          </a:xfrm>
          <a:prstGeom prst="rect">
            <a:avLst/>
          </a:prstGeom>
        </p:spPr>
      </p:pic>
      <p:sp>
        <p:nvSpPr>
          <p:cNvPr id="15" name="TextBox 14"/>
          <p:cNvSpPr txBox="1"/>
          <p:nvPr/>
        </p:nvSpPr>
        <p:spPr>
          <a:xfrm>
            <a:off x="4502810" y="3147568"/>
            <a:ext cx="3186074" cy="2208784"/>
          </a:xfrm>
          <a:prstGeom prst="rect">
            <a:avLst/>
          </a:prstGeom>
          <a:noFill/>
        </p:spPr>
        <p:txBody>
          <a:bodyPr wrap="square" anchor="t"/>
          <a:lstStyle/>
          <a:p>
            <a:pPr algn="l" eaLnBrk="0">
              <a:lnSpc>
                <a:spcPct val="110000"/>
              </a:lnSpc>
              <a:spcAft>
                <a:spcPts val="400"/>
              </a:spcAft>
            </a:pPr>
            <a:r>
              <a:rPr sz="2000" b="1">
                <a:solidFill>
                  <a:srgbClr val="13294B"/>
                </a:solidFill>
                <a:latin typeface="맑은 고딕"/>
                <a:ea typeface="맑은 고딕"/>
                <a:cs typeface="맑은 고딕"/>
              </a:rPr>
              <a:t>세 구획</a:t>
            </a:r>
          </a:p>
          <a:p>
            <a:pPr algn="l" eaLnBrk="0" marL="182880" indent="-182880">
              <a:lnSpc>
                <a:spcPct val="110000"/>
              </a:lnSpc>
              <a:spcAft>
                <a:spcPts val="400"/>
              </a:spcAft>
            </a:pPr>
            <a:r>
              <a:rPr sz="1600" b="0">
                <a:solidFill>
                  <a:srgbClr val="1F2A3A"/>
                </a:solidFill>
                <a:latin typeface="맑은 고딕"/>
                <a:ea typeface="맑은 고딕"/>
                <a:cs typeface="맑은 고딕"/>
              </a:rPr>
              <a:t>• 본문을 개념 정리, 참고 자료, 실습 결과로 나눈다</a:t>
            </a:r>
          </a:p>
          <a:p>
            <a:pPr algn="l" eaLnBrk="0" marL="182880" indent="-182880">
              <a:lnSpc>
                <a:spcPct val="110000"/>
              </a:lnSpc>
              <a:spcAft>
                <a:spcPts val="400"/>
              </a:spcAft>
            </a:pPr>
            <a:r>
              <a:rPr sz="1600" b="0">
                <a:solidFill>
                  <a:srgbClr val="1F2A3A"/>
                </a:solidFill>
                <a:latin typeface="맑은 고딕"/>
                <a:ea typeface="맑은 고딕"/>
                <a:cs typeface="맑은 고딕"/>
              </a:rPr>
              <a:t>• 각 기록이 놓일 자리를 정한다</a:t>
            </a:r>
          </a:p>
        </p:txBody>
      </p:sp>
      <p:sp>
        <p:nvSpPr>
          <p:cNvPr id="16" name="Rounded Rectangle 15"/>
          <p:cNvSpPr/>
          <p:nvPr/>
        </p:nvSpPr>
        <p:spPr>
          <a:xfrm>
            <a:off x="4566818" y="5429504"/>
            <a:ext cx="11734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429504"/>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기록의 자리</a:t>
            </a:r>
          </a:p>
        </p:txBody>
      </p:sp>
      <p:sp>
        <p:nvSpPr>
          <p:cNvPr id="18" name="Rounded Rectangle 17"/>
          <p:cNvSpPr/>
          <p:nvPr/>
        </p:nvSpPr>
        <p:spPr>
          <a:xfrm>
            <a:off x="8127796" y="2123439"/>
            <a:ext cx="3515258" cy="3735832"/>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324608"/>
            <a:ext cx="731520" cy="731520"/>
          </a:xfrm>
          <a:prstGeom prst="ellipse">
            <a:avLst/>
          </a:prstGeom>
          <a:solidFill>
            <a:srgbClr val="5CB8F2"/>
          </a:solidFill>
          <a:ln>
            <a:noFill/>
          </a:ln>
        </p:spPr>
        <p:txBody>
          <a:bodyPr rtlCol="0" anchor="ctr"/>
          <a:lstStyle/>
          <a:p>
            <a:pPr algn="ctr"/>
          </a:p>
        </p:txBody>
      </p:sp>
      <p:pic>
        <p:nvPicPr>
          <p:cNvPr id="20" name="아이콘:database" descr="database_13294B_1.6.png"/>
          <p:cNvPicPr>
            <a:picLocks noChangeAspect="1"/>
          </p:cNvPicPr>
          <p:nvPr/>
        </p:nvPicPr>
        <p:blipFill>
          <a:blip r:embed="rId5"/>
          <a:stretch>
            <a:fillRect/>
          </a:stretch>
        </p:blipFill>
        <p:spPr>
          <a:xfrm>
            <a:off x="8510016" y="2478227"/>
            <a:ext cx="424281" cy="424281"/>
          </a:xfrm>
          <a:prstGeom prst="rect">
            <a:avLst/>
          </a:prstGeom>
        </p:spPr>
      </p:pic>
      <p:sp>
        <p:nvSpPr>
          <p:cNvPr id="21" name="TextBox 20"/>
          <p:cNvSpPr txBox="1"/>
          <p:nvPr/>
        </p:nvSpPr>
        <p:spPr>
          <a:xfrm>
            <a:off x="8292388" y="3147568"/>
            <a:ext cx="3186074" cy="2208784"/>
          </a:xfrm>
          <a:prstGeom prst="rect">
            <a:avLst/>
          </a:prstGeom>
          <a:noFill/>
        </p:spPr>
        <p:txBody>
          <a:bodyPr wrap="square" anchor="t"/>
          <a:lstStyle/>
          <a:p>
            <a:pPr algn="l" eaLnBrk="0">
              <a:lnSpc>
                <a:spcPct val="110000"/>
              </a:lnSpc>
              <a:spcAft>
                <a:spcPts val="400"/>
              </a:spcAft>
            </a:pPr>
            <a:r>
              <a:rPr sz="2000" b="1">
                <a:solidFill>
                  <a:srgbClr val="13294B"/>
                </a:solidFill>
                <a:latin typeface="맑은 고딕"/>
                <a:ea typeface="맑은 고딕"/>
                <a:cs typeface="맑은 고딕"/>
              </a:rPr>
              <a:t>학습노트 데이터베이스</a:t>
            </a:r>
          </a:p>
          <a:p>
            <a:pPr algn="l" eaLnBrk="0" marL="182880" indent="-182880">
              <a:lnSpc>
                <a:spcPct val="110000"/>
              </a:lnSpc>
              <a:spcAft>
                <a:spcPts val="400"/>
              </a:spcAft>
            </a:pPr>
            <a:r>
              <a:rPr sz="1600" b="0">
                <a:solidFill>
                  <a:srgbClr val="1F2A3A"/>
                </a:solidFill>
                <a:latin typeface="맑은 고딕"/>
                <a:ea typeface="맑은 고딕"/>
                <a:cs typeface="맑은 고딕"/>
              </a:rPr>
              <a:t>• 각 기록에 분야, 이해도, 작성일을 붙인다</a:t>
            </a:r>
          </a:p>
          <a:p>
            <a:pPr algn="l" eaLnBrk="0" marL="182880" indent="-182880">
              <a:lnSpc>
                <a:spcPct val="110000"/>
              </a:lnSpc>
              <a:spcAft>
                <a:spcPts val="400"/>
              </a:spcAft>
            </a:pPr>
            <a:r>
              <a:rPr sz="1600" b="0">
                <a:solidFill>
                  <a:srgbClr val="1F2A3A"/>
                </a:solidFill>
                <a:latin typeface="맑은 고딕"/>
                <a:ea typeface="맑은 고딕"/>
                <a:cs typeface="맑은 고딕"/>
              </a:rPr>
              <a:t>• 이해도가 낮은 기록만 모아 다시 볼 수 있게 한다</a:t>
            </a:r>
          </a:p>
          <a:p>
            <a:pPr algn="l" eaLnBrk="0" marL="182880" indent="-182880">
              <a:lnSpc>
                <a:spcPct val="110000"/>
              </a:lnSpc>
              <a:spcAft>
                <a:spcPts val="400"/>
              </a:spcAft>
            </a:pPr>
            <a:r>
              <a:rPr sz="1600" b="0">
                <a:solidFill>
                  <a:srgbClr val="1F2A3A"/>
                </a:solidFill>
                <a:latin typeface="맑은 고딕"/>
                <a:ea typeface="맑은 고딕"/>
                <a:cs typeface="맑은 고딕"/>
              </a:rPr>
              <a:t>• 첫 기록으로 개념 하나를 내 말로 쓴다</a:t>
            </a:r>
          </a:p>
        </p:txBody>
      </p:sp>
      <p:sp>
        <p:nvSpPr>
          <p:cNvPr id="22" name="Rounded Rectangle 21"/>
          <p:cNvSpPr/>
          <p:nvPr/>
        </p:nvSpPr>
        <p:spPr>
          <a:xfrm>
            <a:off x="8356396" y="5429504"/>
            <a:ext cx="1523999"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429504"/>
            <a:ext cx="152399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분류와 다시 보기</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02</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HYD 시스템 구조와 데이터 흐름</a:t>
            </a:r>
          </a:p>
        </p:txBody>
      </p:sp>
      <p:sp>
        <p:nvSpPr>
          <p:cNvPr id="6" name="Rounded Rectangle 5"/>
          <p:cNvSpPr/>
          <p:nvPr/>
        </p:nvSpPr>
        <p:spPr>
          <a:xfrm>
            <a:off x="3108960" y="4160520"/>
            <a:ext cx="1290319"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1290319"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 · 실습</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제조 설비에서 AI의 판단과 조치까지 이어지는 시스템의 구조, 계층, 데이터 흐름</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설비에서 관제 화면까지: 현장의 구성요소</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설비에서 센서·PLC·관제 화면으로 이어진 데이터를 판단과 조치로 연결하는 구조를 살펴본다.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12</a:t>
            </a:r>
          </a:p>
        </p:txBody>
      </p:sp>
      <p:sp>
        <p:nvSpPr>
          <p:cNvPr id="6" name="Rectangle 5"/>
          <p:cNvSpPr/>
          <p:nvPr/>
        </p:nvSpPr>
        <p:spPr>
          <a:xfrm>
            <a:off x="1935441" y="3364674"/>
            <a:ext cx="8320811" cy="146304"/>
          </a:xfrm>
          <a:prstGeom prst="rect">
            <a:avLst/>
          </a:prstGeom>
          <a:solidFill>
            <a:srgbClr val="5CB8F2"/>
          </a:solidFill>
          <a:ln>
            <a:noFill/>
          </a:ln>
        </p:spPr>
        <p:txBody>
          <a:bodyPr rtlCol="0" anchor="ctr"/>
          <a:lstStyle/>
          <a:p>
            <a:pPr algn="ctr"/>
          </a:p>
        </p:txBody>
      </p:sp>
      <p:sp>
        <p:nvSpPr>
          <p:cNvPr id="7" name="Chevron 6"/>
          <p:cNvSpPr/>
          <p:nvPr/>
        </p:nvSpPr>
        <p:spPr>
          <a:xfrm>
            <a:off x="3203371" y="3254946"/>
            <a:ext cx="237744" cy="365760"/>
          </a:xfrm>
          <a:prstGeom prst="chevron">
            <a:avLst/>
          </a:prstGeom>
          <a:solidFill>
            <a:srgbClr val="13294B"/>
          </a:solidFill>
          <a:ln>
            <a:noFill/>
          </a:ln>
        </p:spPr>
        <p:txBody>
          <a:bodyPr rtlCol="0" anchor="ctr"/>
          <a:lstStyle/>
          <a:p>
            <a:pPr algn="ctr"/>
          </a:p>
        </p:txBody>
      </p:sp>
      <p:sp>
        <p:nvSpPr>
          <p:cNvPr id="8" name="TextBox 7"/>
          <p:cNvSpPr txBox="1"/>
          <p:nvPr/>
        </p:nvSpPr>
        <p:spPr>
          <a:xfrm>
            <a:off x="2438361" y="2907474"/>
            <a:ext cx="1767763" cy="310896"/>
          </a:xfrm>
          <a:prstGeom prst="rect">
            <a:avLst/>
          </a:prstGeom>
          <a:noFill/>
        </p:spPr>
        <p:txBody>
          <a:bodyPr wrap="square" anchor="ctr"/>
          <a:lstStyle/>
          <a:p>
            <a:pPr algn="ctr" eaLnBrk="0">
              <a:lnSpc>
                <a:spcPct val="110000"/>
              </a:lnSpc>
            </a:pPr>
            <a:r>
              <a:rPr sz="1150" b="1">
                <a:solidFill>
                  <a:srgbClr val="1A6FC4"/>
                </a:solidFill>
                <a:latin typeface="맑은 고딕"/>
                <a:ea typeface="맑은 고딕"/>
                <a:cs typeface="맑은 고딕"/>
              </a:rPr>
              <a:t>물리량</a:t>
            </a:r>
          </a:p>
        </p:txBody>
      </p:sp>
      <p:sp>
        <p:nvSpPr>
          <p:cNvPr id="9" name="Oval 8"/>
          <p:cNvSpPr/>
          <p:nvPr/>
        </p:nvSpPr>
        <p:spPr>
          <a:xfrm>
            <a:off x="1341081" y="2843466"/>
            <a:ext cx="1188720" cy="1188720"/>
          </a:xfrm>
          <a:prstGeom prst="ellipse">
            <a:avLst/>
          </a:prstGeom>
          <a:solidFill>
            <a:srgbClr val="FFFFFF"/>
          </a:solidFill>
          <a:ln w="28575">
            <a:solidFill>
              <a:srgbClr val="13294B"/>
            </a:solidFill>
          </a:ln>
        </p:spPr>
        <p:txBody>
          <a:bodyPr rtlCol="0" anchor="ctr"/>
          <a:lstStyle/>
          <a:p>
            <a:pPr algn="ctr"/>
          </a:p>
        </p:txBody>
      </p:sp>
      <p:pic>
        <p:nvPicPr>
          <p:cNvPr id="10" name="아이콘:engine" descr="engine_13294B_1.6.png"/>
          <p:cNvPicPr>
            <a:picLocks noChangeAspect="1"/>
          </p:cNvPicPr>
          <p:nvPr/>
        </p:nvPicPr>
        <p:blipFill>
          <a:blip r:embed="rId3"/>
          <a:stretch>
            <a:fillRect/>
          </a:stretch>
        </p:blipFill>
        <p:spPr>
          <a:xfrm>
            <a:off x="1626374" y="3128759"/>
            <a:ext cx="618134" cy="618134"/>
          </a:xfrm>
          <a:prstGeom prst="rect">
            <a:avLst/>
          </a:prstGeom>
        </p:spPr>
      </p:pic>
      <p:sp>
        <p:nvSpPr>
          <p:cNvPr id="11" name="TextBox 10"/>
          <p:cNvSpPr txBox="1"/>
          <p:nvPr/>
        </p:nvSpPr>
        <p:spPr>
          <a:xfrm>
            <a:off x="640079" y="4169346"/>
            <a:ext cx="2590723" cy="1335658"/>
          </a:xfrm>
          <a:prstGeom prst="rect">
            <a:avLst/>
          </a:prstGeom>
          <a:noFill/>
        </p:spPr>
        <p:txBody>
          <a:bodyPr wrap="square" anchor="t"/>
          <a:lstStyle/>
          <a:p>
            <a:pPr algn="ctr" eaLnBrk="0">
              <a:lnSpc>
                <a:spcPct val="110000"/>
              </a:lnSpc>
              <a:spcAft>
                <a:spcPts val="400"/>
              </a:spcAft>
            </a:pPr>
            <a:r>
              <a:rPr sz="1650" b="1">
                <a:solidFill>
                  <a:srgbClr val="13294B"/>
                </a:solidFill>
                <a:latin typeface="맑은 고딕"/>
                <a:ea typeface="맑은 고딕"/>
                <a:cs typeface="맑은 고딕"/>
              </a:rPr>
              <a:t>설비</a:t>
            </a:r>
          </a:p>
          <a:p>
            <a:pPr algn="ctr" eaLnBrk="0">
              <a:lnSpc>
                <a:spcPct val="110000"/>
              </a:lnSpc>
              <a:spcAft>
                <a:spcPts val="400"/>
              </a:spcAft>
            </a:pPr>
            <a:r>
              <a:rPr sz="1300" b="0">
                <a:solidFill>
                  <a:srgbClr val="1F2A3A"/>
                </a:solidFill>
                <a:latin typeface="맑은 고딕"/>
                <a:ea typeface="맑은 고딕"/>
                <a:cs typeface="맑은 고딕"/>
              </a:rPr>
              <a:t>공정에서 압력, 온도, 진동 같은</a:t>
            </a:r>
          </a:p>
          <a:p>
            <a:pPr algn="ctr" eaLnBrk="0">
              <a:lnSpc>
                <a:spcPct val="110000"/>
              </a:lnSpc>
              <a:spcAft>
                <a:spcPts val="400"/>
              </a:spcAft>
            </a:pPr>
            <a:r>
              <a:rPr sz="1300" b="0">
                <a:solidFill>
                  <a:srgbClr val="1F2A3A"/>
                </a:solidFill>
                <a:latin typeface="맑은 고딕"/>
                <a:ea typeface="맑은 고딕"/>
                <a:cs typeface="맑은 고딕"/>
              </a:rPr>
              <a:t>물리량이 생긴다</a:t>
            </a:r>
          </a:p>
        </p:txBody>
      </p:sp>
      <p:sp>
        <p:nvSpPr>
          <p:cNvPr id="12" name="Chevron 11"/>
          <p:cNvSpPr/>
          <p:nvPr/>
        </p:nvSpPr>
        <p:spPr>
          <a:xfrm>
            <a:off x="5976975" y="3254946"/>
            <a:ext cx="237744" cy="365760"/>
          </a:xfrm>
          <a:prstGeom prst="chevron">
            <a:avLst/>
          </a:prstGeom>
          <a:solidFill>
            <a:srgbClr val="13294B"/>
          </a:solidFill>
          <a:ln>
            <a:noFill/>
          </a:ln>
        </p:spPr>
        <p:txBody>
          <a:bodyPr rtlCol="0" anchor="ctr"/>
          <a:lstStyle/>
          <a:p>
            <a:pPr algn="ctr"/>
          </a:p>
        </p:txBody>
      </p:sp>
      <p:sp>
        <p:nvSpPr>
          <p:cNvPr id="13" name="TextBox 12"/>
          <p:cNvSpPr txBox="1"/>
          <p:nvPr/>
        </p:nvSpPr>
        <p:spPr>
          <a:xfrm>
            <a:off x="5211965" y="2907474"/>
            <a:ext cx="1767763" cy="310896"/>
          </a:xfrm>
          <a:prstGeom prst="rect">
            <a:avLst/>
          </a:prstGeom>
          <a:noFill/>
        </p:spPr>
        <p:txBody>
          <a:bodyPr wrap="square" anchor="ctr"/>
          <a:lstStyle/>
          <a:p>
            <a:pPr algn="ctr" eaLnBrk="0">
              <a:lnSpc>
                <a:spcPct val="110000"/>
              </a:lnSpc>
            </a:pPr>
            <a:r>
              <a:rPr sz="1150" b="1">
                <a:solidFill>
                  <a:srgbClr val="1A6FC4"/>
                </a:solidFill>
                <a:latin typeface="맑은 고딕"/>
                <a:ea typeface="맑은 고딕"/>
                <a:cs typeface="맑은 고딕"/>
              </a:rPr>
              <a:t>계측값</a:t>
            </a:r>
          </a:p>
        </p:txBody>
      </p:sp>
      <p:sp>
        <p:nvSpPr>
          <p:cNvPr id="14" name="Oval 13"/>
          <p:cNvSpPr/>
          <p:nvPr/>
        </p:nvSpPr>
        <p:spPr>
          <a:xfrm>
            <a:off x="4114685" y="2843466"/>
            <a:ext cx="1188720" cy="1188720"/>
          </a:xfrm>
          <a:prstGeom prst="ellipse">
            <a:avLst/>
          </a:prstGeom>
          <a:solidFill>
            <a:srgbClr val="FFFFFF"/>
          </a:solidFill>
          <a:ln w="28575">
            <a:solidFill>
              <a:srgbClr val="13294B"/>
            </a:solidFill>
          </a:ln>
        </p:spPr>
        <p:txBody>
          <a:bodyPr rtlCol="0" anchor="ctr"/>
          <a:lstStyle/>
          <a:p>
            <a:pPr algn="ctr"/>
          </a:p>
        </p:txBody>
      </p:sp>
      <p:pic>
        <p:nvPicPr>
          <p:cNvPr id="15" name="아이콘:gauge" descr="gauge_13294B_1.6.png"/>
          <p:cNvPicPr>
            <a:picLocks noChangeAspect="1"/>
          </p:cNvPicPr>
          <p:nvPr/>
        </p:nvPicPr>
        <p:blipFill>
          <a:blip r:embed="rId4"/>
          <a:stretch>
            <a:fillRect/>
          </a:stretch>
        </p:blipFill>
        <p:spPr>
          <a:xfrm>
            <a:off x="4399978" y="3128759"/>
            <a:ext cx="618134" cy="618134"/>
          </a:xfrm>
          <a:prstGeom prst="rect">
            <a:avLst/>
          </a:prstGeom>
        </p:spPr>
      </p:pic>
      <p:sp>
        <p:nvSpPr>
          <p:cNvPr id="16" name="TextBox 15"/>
          <p:cNvSpPr txBox="1"/>
          <p:nvPr/>
        </p:nvSpPr>
        <p:spPr>
          <a:xfrm>
            <a:off x="3413683" y="4169346"/>
            <a:ext cx="2590723" cy="1335658"/>
          </a:xfrm>
          <a:prstGeom prst="rect">
            <a:avLst/>
          </a:prstGeom>
          <a:noFill/>
        </p:spPr>
        <p:txBody>
          <a:bodyPr wrap="square" anchor="t"/>
          <a:lstStyle/>
          <a:p>
            <a:pPr algn="ctr" eaLnBrk="0">
              <a:lnSpc>
                <a:spcPct val="110000"/>
              </a:lnSpc>
              <a:spcAft>
                <a:spcPts val="400"/>
              </a:spcAft>
            </a:pPr>
            <a:r>
              <a:rPr sz="1650" b="1">
                <a:solidFill>
                  <a:srgbClr val="13294B"/>
                </a:solidFill>
                <a:latin typeface="맑은 고딕"/>
                <a:ea typeface="맑은 고딕"/>
                <a:cs typeface="맑은 고딕"/>
              </a:rPr>
              <a:t>센서</a:t>
            </a:r>
          </a:p>
          <a:p>
            <a:pPr algn="ctr" eaLnBrk="0">
              <a:lnSpc>
                <a:spcPct val="110000"/>
              </a:lnSpc>
              <a:spcAft>
                <a:spcPts val="400"/>
              </a:spcAft>
            </a:pPr>
            <a:r>
              <a:rPr sz="1300" b="0">
                <a:solidFill>
                  <a:srgbClr val="1F2A3A"/>
                </a:solidFill>
                <a:latin typeface="맑은 고딕"/>
                <a:ea typeface="맑은 고딕"/>
                <a:cs typeface="맑은 고딕"/>
              </a:rPr>
              <a:t>물리량을 전기 신호로 바꿔</a:t>
            </a:r>
          </a:p>
          <a:p>
            <a:pPr algn="ctr" eaLnBrk="0">
              <a:lnSpc>
                <a:spcPct val="110000"/>
              </a:lnSpc>
              <a:spcAft>
                <a:spcPts val="400"/>
              </a:spcAft>
            </a:pPr>
            <a:r>
              <a:rPr sz="1300" b="0">
                <a:solidFill>
                  <a:srgbClr val="1F2A3A"/>
                </a:solidFill>
                <a:latin typeface="맑은 고딕"/>
                <a:ea typeface="맑은 고딕"/>
                <a:cs typeface="맑은 고딕"/>
              </a:rPr>
              <a:t>계측값으로 내놓는다</a:t>
            </a:r>
          </a:p>
        </p:txBody>
      </p:sp>
      <p:sp>
        <p:nvSpPr>
          <p:cNvPr id="17" name="Chevron 16"/>
          <p:cNvSpPr/>
          <p:nvPr/>
        </p:nvSpPr>
        <p:spPr>
          <a:xfrm>
            <a:off x="8750579" y="3254946"/>
            <a:ext cx="237744" cy="365760"/>
          </a:xfrm>
          <a:prstGeom prst="chevron">
            <a:avLst/>
          </a:prstGeom>
          <a:solidFill>
            <a:srgbClr val="13294B"/>
          </a:solidFill>
          <a:ln>
            <a:noFill/>
          </a:ln>
        </p:spPr>
        <p:txBody>
          <a:bodyPr rtlCol="0" anchor="ctr"/>
          <a:lstStyle/>
          <a:p>
            <a:pPr algn="ctr"/>
          </a:p>
        </p:txBody>
      </p:sp>
      <p:sp>
        <p:nvSpPr>
          <p:cNvPr id="18" name="TextBox 17"/>
          <p:cNvSpPr txBox="1"/>
          <p:nvPr/>
        </p:nvSpPr>
        <p:spPr>
          <a:xfrm>
            <a:off x="7985569" y="2907474"/>
            <a:ext cx="1767763" cy="310896"/>
          </a:xfrm>
          <a:prstGeom prst="rect">
            <a:avLst/>
          </a:prstGeom>
          <a:noFill/>
        </p:spPr>
        <p:txBody>
          <a:bodyPr wrap="square" anchor="ctr"/>
          <a:lstStyle/>
          <a:p>
            <a:pPr algn="ctr" eaLnBrk="0">
              <a:lnSpc>
                <a:spcPct val="110000"/>
              </a:lnSpc>
            </a:pPr>
            <a:r>
              <a:rPr sz="1150" b="1">
                <a:solidFill>
                  <a:srgbClr val="1A6FC4"/>
                </a:solidFill>
                <a:latin typeface="맑은 고딕"/>
                <a:ea typeface="맑은 고딕"/>
                <a:cs typeface="맑은 고딕"/>
              </a:rPr>
              <a:t>계측값과 상태</a:t>
            </a:r>
          </a:p>
        </p:txBody>
      </p:sp>
      <p:sp>
        <p:nvSpPr>
          <p:cNvPr id="19" name="Oval 18"/>
          <p:cNvSpPr/>
          <p:nvPr/>
        </p:nvSpPr>
        <p:spPr>
          <a:xfrm>
            <a:off x="6888289" y="2843466"/>
            <a:ext cx="1188720" cy="1188720"/>
          </a:xfrm>
          <a:prstGeom prst="ellipse">
            <a:avLst/>
          </a:prstGeom>
          <a:solidFill>
            <a:srgbClr val="FFFFFF"/>
          </a:solidFill>
          <a:ln w="28575">
            <a:solidFill>
              <a:srgbClr val="13294B"/>
            </a:solidFill>
          </a:ln>
        </p:spPr>
        <p:txBody>
          <a:bodyPr rtlCol="0" anchor="ctr"/>
          <a:lstStyle/>
          <a:p>
            <a:pPr algn="ctr"/>
          </a:p>
        </p:txBody>
      </p:sp>
      <p:pic>
        <p:nvPicPr>
          <p:cNvPr id="20" name="아이콘:cpu" descr="cpu_13294B_1.6.png"/>
          <p:cNvPicPr>
            <a:picLocks noChangeAspect="1"/>
          </p:cNvPicPr>
          <p:nvPr/>
        </p:nvPicPr>
        <p:blipFill>
          <a:blip r:embed="rId5"/>
          <a:stretch>
            <a:fillRect/>
          </a:stretch>
        </p:blipFill>
        <p:spPr>
          <a:xfrm>
            <a:off x="7173582" y="3128759"/>
            <a:ext cx="618134" cy="618134"/>
          </a:xfrm>
          <a:prstGeom prst="rect">
            <a:avLst/>
          </a:prstGeom>
        </p:spPr>
      </p:pic>
      <p:sp>
        <p:nvSpPr>
          <p:cNvPr id="21" name="TextBox 20"/>
          <p:cNvSpPr txBox="1"/>
          <p:nvPr/>
        </p:nvSpPr>
        <p:spPr>
          <a:xfrm>
            <a:off x="6187287" y="4169346"/>
            <a:ext cx="2590723" cy="1335658"/>
          </a:xfrm>
          <a:prstGeom prst="rect">
            <a:avLst/>
          </a:prstGeom>
          <a:noFill/>
        </p:spPr>
        <p:txBody>
          <a:bodyPr wrap="square" anchor="t"/>
          <a:lstStyle/>
          <a:p>
            <a:pPr algn="ctr" eaLnBrk="0">
              <a:lnSpc>
                <a:spcPct val="110000"/>
              </a:lnSpc>
              <a:spcAft>
                <a:spcPts val="400"/>
              </a:spcAft>
            </a:pPr>
            <a:r>
              <a:rPr sz="1650" b="1">
                <a:solidFill>
                  <a:srgbClr val="13294B"/>
                </a:solidFill>
                <a:latin typeface="맑은 고딕"/>
                <a:ea typeface="맑은 고딕"/>
                <a:cs typeface="맑은 고딕"/>
              </a:rPr>
              <a:t>PLC</a:t>
            </a:r>
          </a:p>
          <a:p>
            <a:pPr algn="ctr" eaLnBrk="0">
              <a:lnSpc>
                <a:spcPct val="110000"/>
              </a:lnSpc>
              <a:spcAft>
                <a:spcPts val="400"/>
              </a:spcAft>
            </a:pPr>
            <a:r>
              <a:rPr sz="1300" b="0">
                <a:solidFill>
                  <a:srgbClr val="1F2A3A"/>
                </a:solidFill>
                <a:latin typeface="맑은 고딕"/>
                <a:ea typeface="맑은 고딕"/>
                <a:cs typeface="맑은 고딕"/>
              </a:rPr>
              <a:t>Programmable Logic Controller</a:t>
            </a:r>
          </a:p>
          <a:p>
            <a:pPr algn="ctr" eaLnBrk="0">
              <a:lnSpc>
                <a:spcPct val="110000"/>
              </a:lnSpc>
              <a:spcAft>
                <a:spcPts val="400"/>
              </a:spcAft>
            </a:pPr>
            <a:r>
              <a:rPr sz="1300" b="0">
                <a:solidFill>
                  <a:srgbClr val="1F2A3A"/>
                </a:solidFill>
                <a:latin typeface="맑은 고딕"/>
                <a:ea typeface="맑은 고딕"/>
                <a:cs typeface="맑은 고딕"/>
              </a:rPr>
              <a:t>계측값을 읽어 설비를 제어한다</a:t>
            </a:r>
          </a:p>
        </p:txBody>
      </p:sp>
      <p:sp>
        <p:nvSpPr>
          <p:cNvPr id="22" name="Oval 21"/>
          <p:cNvSpPr/>
          <p:nvPr/>
        </p:nvSpPr>
        <p:spPr>
          <a:xfrm>
            <a:off x="9661893" y="2843466"/>
            <a:ext cx="1188720" cy="1188720"/>
          </a:xfrm>
          <a:prstGeom prst="ellipse">
            <a:avLst/>
          </a:prstGeom>
          <a:solidFill>
            <a:srgbClr val="5CB8F2"/>
          </a:solidFill>
          <a:ln w="28575">
            <a:solidFill>
              <a:srgbClr val="13294B"/>
            </a:solidFill>
          </a:ln>
        </p:spPr>
        <p:txBody>
          <a:bodyPr rtlCol="0" anchor="ctr"/>
          <a:lstStyle/>
          <a:p>
            <a:pPr algn="ctr"/>
          </a:p>
        </p:txBody>
      </p:sp>
      <p:pic>
        <p:nvPicPr>
          <p:cNvPr id="23" name="아이콘:device-desktop-analytics" descr="device-desktop-analytics_13294B_1.6.png"/>
          <p:cNvPicPr>
            <a:picLocks noChangeAspect="1"/>
          </p:cNvPicPr>
          <p:nvPr/>
        </p:nvPicPr>
        <p:blipFill>
          <a:blip r:embed="rId6"/>
          <a:stretch>
            <a:fillRect/>
          </a:stretch>
        </p:blipFill>
        <p:spPr>
          <a:xfrm>
            <a:off x="9947186" y="3128759"/>
            <a:ext cx="618134" cy="618134"/>
          </a:xfrm>
          <a:prstGeom prst="rect">
            <a:avLst/>
          </a:prstGeom>
        </p:spPr>
      </p:pic>
      <p:sp>
        <p:nvSpPr>
          <p:cNvPr id="24" name="TextBox 23"/>
          <p:cNvSpPr txBox="1"/>
          <p:nvPr/>
        </p:nvSpPr>
        <p:spPr>
          <a:xfrm>
            <a:off x="8960891" y="4169346"/>
            <a:ext cx="2590723" cy="1335658"/>
          </a:xfrm>
          <a:prstGeom prst="rect">
            <a:avLst/>
          </a:prstGeom>
          <a:noFill/>
        </p:spPr>
        <p:txBody>
          <a:bodyPr wrap="square" anchor="t"/>
          <a:lstStyle/>
          <a:p>
            <a:pPr algn="ctr" eaLnBrk="0">
              <a:lnSpc>
                <a:spcPct val="110000"/>
              </a:lnSpc>
              <a:spcAft>
                <a:spcPts val="400"/>
              </a:spcAft>
            </a:pPr>
            <a:r>
              <a:rPr sz="1650" b="1">
                <a:solidFill>
                  <a:srgbClr val="13294B"/>
                </a:solidFill>
                <a:latin typeface="맑은 고딕"/>
                <a:ea typeface="맑은 고딕"/>
                <a:cs typeface="맑은 고딕"/>
              </a:rPr>
              <a:t>관제 화면</a:t>
            </a:r>
          </a:p>
          <a:p>
            <a:pPr algn="ctr" eaLnBrk="0">
              <a:lnSpc>
                <a:spcPct val="110000"/>
              </a:lnSpc>
              <a:spcAft>
                <a:spcPts val="400"/>
              </a:spcAft>
            </a:pPr>
            <a:r>
              <a:rPr sz="1200" b="0">
                <a:solidFill>
                  <a:srgbClr val="1F2A3A"/>
                </a:solidFill>
                <a:latin typeface="맑은 고딕"/>
                <a:ea typeface="맑은 고딕"/>
                <a:cs typeface="맑은 고딕"/>
              </a:rPr>
              <a:t>SCADA: Supervisory Control</a:t>
            </a:r>
          </a:p>
          <a:p>
            <a:pPr algn="ctr" eaLnBrk="0">
              <a:lnSpc>
                <a:spcPct val="110000"/>
              </a:lnSpc>
              <a:spcAft>
                <a:spcPts val="400"/>
              </a:spcAft>
            </a:pPr>
            <a:r>
              <a:rPr sz="1200" b="0">
                <a:solidFill>
                  <a:srgbClr val="1F2A3A"/>
                </a:solidFill>
                <a:latin typeface="맑은 고딕"/>
                <a:ea typeface="맑은 고딕"/>
                <a:cs typeface="맑은 고딕"/>
              </a:rPr>
              <a:t>and Data Acquisition</a:t>
            </a:r>
          </a:p>
          <a:p>
            <a:pPr algn="ctr" eaLnBrk="0">
              <a:lnSpc>
                <a:spcPct val="110000"/>
              </a:lnSpc>
              <a:spcAft>
                <a:spcPts val="400"/>
              </a:spcAft>
            </a:pPr>
            <a:r>
              <a:rPr sz="1200" b="0">
                <a:solidFill>
                  <a:srgbClr val="1F2A3A"/>
                </a:solidFill>
                <a:latin typeface="맑은 고딕"/>
                <a:ea typeface="맑은 고딕"/>
                <a:cs typeface="맑은 고딕"/>
              </a:rPr>
              <a:t>계측값을 보여 주고 조작을 받는다</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유압 파워팩 HYD-01의 구성과 유온 TS1의 계측 지점</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계측값에는 </a:t>
            </a:r>
            <a:r>
              <a:rPr sz="1600" b="1">
                <a:solidFill>
                  <a:srgbClr val="1A6FC4"/>
                </a:solidFill>
                <a:latin typeface="맑은 고딕"/>
                <a:ea typeface="맑은 고딕"/>
                <a:cs typeface="맑은 고딕"/>
              </a:rPr>
              <a:t>태그</a:t>
            </a:r>
            <a:r>
              <a:rPr sz="1600" b="0">
                <a:solidFill>
                  <a:srgbClr val="556175"/>
                </a:solidFill>
                <a:latin typeface="맑은 고딕"/>
                <a:ea typeface="맑은 고딕"/>
                <a:cs typeface="맑은 고딕"/>
              </a:rPr>
              <a:t>(Tag)라는 이름이 붙고, 유온 TS1은 쿨러 입구에서 잰 작동유 온도이다.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13</a:t>
            </a:r>
          </a:p>
        </p:txBody>
      </p:sp>
      <p:pic>
        <p:nvPicPr>
          <p:cNvPr id="6" name="삽화:설비_유압파워팩.svg" descr="illust_860876868329577578_179195996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241122" y="5315041"/>
            <a:ext cx="1527329"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작동유 탱크</a:t>
            </a:r>
          </a:p>
          <a:p>
            <a:pPr algn="ctr" eaLnBrk="0">
              <a:lnSpc>
                <a:spcPct val="110000"/>
              </a:lnSpc>
              <a:spcAft>
                <a:spcPts val="100"/>
              </a:spcAft>
            </a:pPr>
            <a:r>
              <a:rPr sz="1100" b="0">
                <a:solidFill>
                  <a:srgbClr val="556175"/>
                </a:solidFill>
                <a:latin typeface="맑은 고딕"/>
                <a:ea typeface="맑은 고딕"/>
                <a:cs typeface="맑은 고딕"/>
              </a:rPr>
              <a:t>작동유를 담아 둔다</a:t>
            </a:r>
          </a:p>
        </p:txBody>
      </p:sp>
      <p:sp>
        <p:nvSpPr>
          <p:cNvPr id="8" name="TextBox 7"/>
          <p:cNvSpPr txBox="1"/>
          <p:nvPr/>
        </p:nvSpPr>
        <p:spPr>
          <a:xfrm>
            <a:off x="1415674" y="3116778"/>
            <a:ext cx="1636424" cy="678053"/>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모터 · 펌프</a:t>
            </a:r>
          </a:p>
          <a:p>
            <a:pPr algn="ctr" eaLnBrk="0">
              <a:lnSpc>
                <a:spcPct val="110000"/>
              </a:lnSpc>
              <a:spcAft>
                <a:spcPts val="100"/>
              </a:spcAft>
            </a:pPr>
            <a:r>
              <a:rPr sz="1100" b="0">
                <a:solidFill>
                  <a:srgbClr val="556175"/>
                </a:solidFill>
                <a:latin typeface="맑은 고딕"/>
                <a:ea typeface="맑은 고딕"/>
                <a:cs typeface="맑은 고딕"/>
              </a:rPr>
              <a:t>작동유를 빨아올려</a:t>
            </a:r>
          </a:p>
          <a:p>
            <a:pPr algn="ctr" eaLnBrk="0">
              <a:lnSpc>
                <a:spcPct val="110000"/>
              </a:lnSpc>
              <a:spcAft>
                <a:spcPts val="100"/>
              </a:spcAft>
            </a:pPr>
            <a:r>
              <a:rPr sz="1100" b="0">
                <a:solidFill>
                  <a:srgbClr val="556175"/>
                </a:solidFill>
                <a:latin typeface="맑은 고딕"/>
                <a:ea typeface="맑은 고딕"/>
                <a:cs typeface="맑은 고딕"/>
              </a:rPr>
              <a:t>압력을 걸어 보낸다</a:t>
            </a:r>
          </a:p>
        </p:txBody>
      </p:sp>
      <p:sp>
        <p:nvSpPr>
          <p:cNvPr id="9" name="TextBox 8"/>
          <p:cNvSpPr txBox="1"/>
          <p:nvPr/>
        </p:nvSpPr>
        <p:spPr>
          <a:xfrm>
            <a:off x="5277635" y="1901823"/>
            <a:ext cx="1309139"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PS1</a:t>
            </a:r>
          </a:p>
          <a:p>
            <a:pPr algn="ctr" eaLnBrk="0">
              <a:lnSpc>
                <a:spcPct val="110000"/>
              </a:lnSpc>
              <a:spcAft>
                <a:spcPts val="100"/>
              </a:spcAft>
            </a:pPr>
            <a:r>
              <a:rPr sz="1100" b="0">
                <a:solidFill>
                  <a:srgbClr val="556175"/>
                </a:solidFill>
                <a:latin typeface="맑은 고딕"/>
                <a:ea typeface="맑은 고딕"/>
                <a:cs typeface="맑은 고딕"/>
              </a:rPr>
              <a:t>토출 압력 (bar)</a:t>
            </a:r>
          </a:p>
        </p:txBody>
      </p:sp>
      <p:sp>
        <p:nvSpPr>
          <p:cNvPr id="10" name="TextBox 9"/>
          <p:cNvSpPr txBox="1"/>
          <p:nvPr/>
        </p:nvSpPr>
        <p:spPr>
          <a:xfrm>
            <a:off x="7481353" y="1807275"/>
            <a:ext cx="1963709"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부하</a:t>
            </a:r>
          </a:p>
          <a:p>
            <a:pPr algn="ctr" eaLnBrk="0">
              <a:lnSpc>
                <a:spcPct val="110000"/>
              </a:lnSpc>
              <a:spcAft>
                <a:spcPts val="100"/>
              </a:spcAft>
            </a:pPr>
            <a:r>
              <a:rPr sz="1100" b="0">
                <a:solidFill>
                  <a:srgbClr val="556175"/>
                </a:solidFill>
                <a:latin typeface="맑은 고딕"/>
                <a:ea typeface="맑은 고딕"/>
                <a:cs typeface="맑은 고딕"/>
              </a:rPr>
              <a:t>유압으로 움직이는 기계 쪽</a:t>
            </a:r>
          </a:p>
        </p:txBody>
      </p:sp>
      <p:sp>
        <p:nvSpPr>
          <p:cNvPr id="11" name="TextBox 10"/>
          <p:cNvSpPr txBox="1"/>
          <p:nvPr/>
        </p:nvSpPr>
        <p:spPr>
          <a:xfrm>
            <a:off x="5659467" y="2762219"/>
            <a:ext cx="1854614" cy="848487"/>
          </a:xfrm>
          <a:prstGeom prst="rect">
            <a:avLst/>
          </a:prstGeom>
          <a:noFill/>
        </p:spPr>
        <p:txBody>
          <a:bodyPr wrap="square" anchor="t"/>
          <a:lstStyle/>
          <a:p>
            <a:pPr algn="ctr" eaLnBrk="0">
              <a:lnSpc>
                <a:spcPct val="110000"/>
              </a:lnSpc>
              <a:spcAft>
                <a:spcPts val="100"/>
              </a:spcAft>
            </a:pPr>
            <a:r>
              <a:rPr sz="1350" b="1">
                <a:solidFill>
                  <a:srgbClr val="1A6FC4"/>
                </a:solidFill>
                <a:latin typeface="맑은 고딕"/>
                <a:ea typeface="맑은 고딕"/>
                <a:cs typeface="맑은 고딕"/>
              </a:rPr>
              <a:t>TS1 유온</a:t>
            </a:r>
          </a:p>
          <a:p>
            <a:pPr algn="ctr" eaLnBrk="0">
              <a:lnSpc>
                <a:spcPct val="110000"/>
              </a:lnSpc>
              <a:spcAft>
                <a:spcPts val="100"/>
              </a:spcAft>
            </a:pPr>
            <a:r>
              <a:rPr sz="1100" b="0">
                <a:solidFill>
                  <a:srgbClr val="556175"/>
                </a:solidFill>
                <a:latin typeface="맑은 고딕"/>
                <a:ea typeface="맑은 고딕"/>
                <a:cs typeface="맑은 고딕"/>
              </a:rPr>
              <a:t>쿨러로 들어가는</a:t>
            </a:r>
          </a:p>
          <a:p>
            <a:pPr algn="ctr" eaLnBrk="0">
              <a:lnSpc>
                <a:spcPct val="110000"/>
              </a:lnSpc>
              <a:spcAft>
                <a:spcPts val="100"/>
              </a:spcAft>
            </a:pPr>
            <a:r>
              <a:rPr sz="1100" b="0">
                <a:solidFill>
                  <a:srgbClr val="556175"/>
                </a:solidFill>
                <a:latin typeface="맑은 고딕"/>
                <a:ea typeface="맑은 고딕"/>
                <a:cs typeface="맑은 고딕"/>
              </a:rPr>
              <a:t>작동유의 온도</a:t>
            </a:r>
          </a:p>
          <a:p>
            <a:pPr algn="ctr" eaLnBrk="0">
              <a:lnSpc>
                <a:spcPct val="110000"/>
              </a:lnSpc>
              <a:spcAft>
                <a:spcPts val="100"/>
              </a:spcAft>
            </a:pPr>
            <a:r>
              <a:rPr sz="1100" b="0">
                <a:solidFill>
                  <a:srgbClr val="556175"/>
                </a:solidFill>
                <a:latin typeface="맑은 고딕"/>
                <a:ea typeface="맑은 고딕"/>
                <a:cs typeface="맑은 고딕"/>
              </a:rPr>
              <a:t>정상 48 ℃</a:t>
            </a:r>
          </a:p>
        </p:txBody>
      </p:sp>
      <p:sp>
        <p:nvSpPr>
          <p:cNvPr id="12" name="TextBox 11"/>
          <p:cNvSpPr txBox="1"/>
          <p:nvPr/>
        </p:nvSpPr>
        <p:spPr>
          <a:xfrm>
            <a:off x="3892129" y="3636797"/>
            <a:ext cx="1963709" cy="848487"/>
          </a:xfrm>
          <a:prstGeom prst="rect">
            <a:avLst/>
          </a:prstGeom>
          <a:noFill/>
        </p:spPr>
        <p:txBody>
          <a:bodyPr wrap="square" anchor="t"/>
          <a:lstStyle/>
          <a:p>
            <a:pPr algn="ctr" eaLnBrk="0">
              <a:lnSpc>
                <a:spcPct val="110000"/>
              </a:lnSpc>
              <a:spcAft>
                <a:spcPts val="100"/>
              </a:spcAft>
            </a:pPr>
            <a:r>
              <a:rPr sz="1350" b="1">
                <a:solidFill>
                  <a:srgbClr val="1A6FC4"/>
                </a:solidFill>
                <a:latin typeface="맑은 고딕"/>
                <a:ea typeface="맑은 고딕"/>
                <a:cs typeface="맑은 고딕"/>
              </a:rPr>
              <a:t>CE 냉각 효율</a:t>
            </a:r>
          </a:p>
          <a:p>
            <a:pPr algn="ctr" eaLnBrk="0">
              <a:lnSpc>
                <a:spcPct val="110000"/>
              </a:lnSpc>
              <a:spcAft>
                <a:spcPts val="100"/>
              </a:spcAft>
            </a:pPr>
            <a:r>
              <a:rPr sz="1100" b="0">
                <a:solidFill>
                  <a:srgbClr val="556175"/>
                </a:solidFill>
                <a:latin typeface="맑은 고딕"/>
                <a:ea typeface="맑은 고딕"/>
                <a:cs typeface="맑은 고딕"/>
              </a:rPr>
              <a:t>쿨러가 열을 빼내는 정도</a:t>
            </a:r>
          </a:p>
          <a:p>
            <a:pPr algn="ctr" eaLnBrk="0">
              <a:lnSpc>
                <a:spcPct val="110000"/>
              </a:lnSpc>
              <a:spcAft>
                <a:spcPts val="100"/>
              </a:spcAft>
            </a:pPr>
            <a:r>
              <a:rPr sz="1100" b="0">
                <a:solidFill>
                  <a:srgbClr val="556175"/>
                </a:solidFill>
                <a:latin typeface="맑은 고딕"/>
                <a:ea typeface="맑은 고딕"/>
                <a:cs typeface="맑은 고딕"/>
              </a:rPr>
              <a:t>다른 값으로 계산한 값</a:t>
            </a:r>
          </a:p>
          <a:p>
            <a:pPr algn="ctr" eaLnBrk="0">
              <a:lnSpc>
                <a:spcPct val="110000"/>
              </a:lnSpc>
              <a:spcAft>
                <a:spcPts val="100"/>
              </a:spcAft>
            </a:pPr>
            <a:r>
              <a:rPr sz="1100" b="0">
                <a:solidFill>
                  <a:srgbClr val="556175"/>
                </a:solidFill>
                <a:latin typeface="맑은 고딕"/>
                <a:ea typeface="맑은 고딕"/>
                <a:cs typeface="맑은 고딕"/>
              </a:rPr>
              <a:t>정상 84 %</a:t>
            </a:r>
          </a:p>
        </p:txBody>
      </p:sp>
      <p:sp>
        <p:nvSpPr>
          <p:cNvPr id="13" name="TextBox 12"/>
          <p:cNvSpPr txBox="1"/>
          <p:nvPr/>
        </p:nvSpPr>
        <p:spPr>
          <a:xfrm>
            <a:off x="6695869" y="5244129"/>
            <a:ext cx="2400088"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오일 쿨러</a:t>
            </a:r>
          </a:p>
          <a:p>
            <a:pPr algn="ctr" eaLnBrk="0">
              <a:lnSpc>
                <a:spcPct val="110000"/>
              </a:lnSpc>
              <a:spcAft>
                <a:spcPts val="100"/>
              </a:spcAft>
            </a:pPr>
            <a:r>
              <a:rPr sz="1100" b="0">
                <a:solidFill>
                  <a:srgbClr val="556175"/>
                </a:solidFill>
                <a:latin typeface="맑은 고딕"/>
                <a:ea typeface="맑은 고딕"/>
                <a:cs typeface="맑은 고딕"/>
              </a:rPr>
              <a:t>작동유의 열을 공기로 내보낸다</a:t>
            </a:r>
          </a:p>
        </p:txBody>
      </p:sp>
      <p:sp>
        <p:nvSpPr>
          <p:cNvPr id="14" name="TextBox 13"/>
          <p:cNvSpPr txBox="1"/>
          <p:nvPr/>
        </p:nvSpPr>
        <p:spPr>
          <a:xfrm>
            <a:off x="9979627" y="3944081"/>
            <a:ext cx="1418234" cy="678053"/>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쿨러 팬</a:t>
            </a:r>
          </a:p>
          <a:p>
            <a:pPr algn="ctr" eaLnBrk="0">
              <a:lnSpc>
                <a:spcPct val="110000"/>
              </a:lnSpc>
              <a:spcAft>
                <a:spcPts val="100"/>
              </a:spcAft>
            </a:pPr>
            <a:r>
              <a:rPr sz="1100" b="0">
                <a:solidFill>
                  <a:srgbClr val="556175"/>
                </a:solidFill>
                <a:latin typeface="맑은 고딕"/>
                <a:ea typeface="맑은 고딕"/>
                <a:cs typeface="맑은 고딕"/>
              </a:rPr>
              <a:t>쿨러에 바람을</a:t>
            </a:r>
          </a:p>
          <a:p>
            <a:pPr algn="ctr" eaLnBrk="0">
              <a:lnSpc>
                <a:spcPct val="110000"/>
              </a:lnSpc>
              <a:spcAft>
                <a:spcPts val="100"/>
              </a:spcAft>
            </a:pPr>
            <a:r>
              <a:rPr sz="1100" b="0">
                <a:solidFill>
                  <a:srgbClr val="556175"/>
                </a:solidFill>
                <a:latin typeface="맑은 고딕"/>
                <a:ea typeface="맑은 고딕"/>
                <a:cs typeface="맑은 고딕"/>
              </a:rPr>
              <a:t>보낸다</a:t>
            </a:r>
          </a:p>
        </p:txBody>
      </p:sp>
      <p:sp>
        <p:nvSpPr>
          <p:cNvPr id="15" name="TextBox 14"/>
          <p:cNvSpPr txBox="1"/>
          <p:nvPr/>
        </p:nvSpPr>
        <p:spPr>
          <a:xfrm>
            <a:off x="10165089" y="5315041"/>
            <a:ext cx="1309139"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VS1</a:t>
            </a:r>
          </a:p>
          <a:p>
            <a:pPr algn="ctr" eaLnBrk="0">
              <a:lnSpc>
                <a:spcPct val="110000"/>
              </a:lnSpc>
              <a:spcAft>
                <a:spcPts val="100"/>
              </a:spcAft>
            </a:pPr>
            <a:r>
              <a:rPr sz="1100" b="0">
                <a:solidFill>
                  <a:srgbClr val="556175"/>
                </a:solidFill>
                <a:latin typeface="맑은 고딕"/>
                <a:ea typeface="맑은 고딕"/>
                <a:cs typeface="맑은 고딕"/>
              </a:rPr>
              <a:t>팬 진동 (mm/s)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Layer 1 · 설비 옆의 제어기: PLC와 인터록</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서버 판단을 기다리는 사이 설비가 손상될 수 있어, 위험할 때는 PLC가 </a:t>
            </a:r>
            <a:r>
              <a:rPr sz="1600" b="1">
                <a:solidFill>
                  <a:srgbClr val="1A6FC4"/>
                </a:solidFill>
                <a:latin typeface="맑은 고딕"/>
                <a:ea typeface="맑은 고딕"/>
                <a:cs typeface="맑은 고딕"/>
              </a:rPr>
              <a:t>인터록</a:t>
            </a:r>
            <a:r>
              <a:rPr sz="1600" b="0">
                <a:solidFill>
                  <a:srgbClr val="556175"/>
                </a:solidFill>
                <a:latin typeface="맑은 고딕"/>
                <a:ea typeface="맑은 고딕"/>
                <a:cs typeface="맑은 고딕"/>
              </a:rPr>
              <a:t>으로 즉시 세운다.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14</a:t>
            </a:r>
          </a:p>
        </p:txBody>
      </p:sp>
      <p:sp>
        <p:nvSpPr>
          <p:cNvPr id="6" name="Rounded Rectangle 5"/>
          <p:cNvSpPr/>
          <p:nvPr/>
        </p:nvSpPr>
        <p:spPr>
          <a:xfrm>
            <a:off x="548640" y="1961388"/>
            <a:ext cx="11094415" cy="1316736"/>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19339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PLC</a:t>
            </a:r>
          </a:p>
          <a:p>
            <a:pPr algn="l" eaLnBrk="0">
              <a:lnSpc>
                <a:spcPct val="110000"/>
              </a:lnSpc>
              <a:spcAft>
                <a:spcPts val="200"/>
              </a:spcAft>
            </a:pPr>
            <a:r>
              <a:rPr sz="1150" b="0">
                <a:solidFill>
                  <a:srgbClr val="556175"/>
                </a:solidFill>
                <a:latin typeface="맑은 고딕"/>
                <a:ea typeface="맑은 고딕"/>
                <a:cs typeface="맑은 고딕"/>
              </a:rPr>
              <a:t>산업용 제어기</a:t>
            </a:r>
          </a:p>
        </p:txBody>
      </p:sp>
      <p:sp>
        <p:nvSpPr>
          <p:cNvPr id="8" name="TextBox 7"/>
          <p:cNvSpPr txBox="1"/>
          <p:nvPr/>
        </p:nvSpPr>
        <p:spPr>
          <a:xfrm>
            <a:off x="4023359" y="1933956"/>
            <a:ext cx="7528255" cy="1371600"/>
          </a:xfrm>
          <a:prstGeom prst="rect">
            <a:avLst/>
          </a:prstGeom>
          <a:noFill/>
        </p:spPr>
        <p:txBody>
          <a:bodyPr wrap="square" anchor="ctr"/>
          <a:lstStyle/>
          <a:p>
            <a:pPr algn="l" eaLnBrk="0">
              <a:lnSpc>
                <a:spcPct val="110000"/>
              </a:lnSpc>
              <a:spcAft>
                <a:spcPts val="300"/>
              </a:spcAft>
            </a:pPr>
            <a:r>
              <a:rPr sz="1300" b="0">
                <a:solidFill>
                  <a:srgbClr val="1F2A3A"/>
                </a:solidFill>
                <a:latin typeface="맑은 고딕"/>
                <a:ea typeface="맑은 고딕"/>
                <a:cs typeface="맑은 고딕"/>
              </a:rPr>
              <a:t>현장에 설치하는 산업용 제어기이다. 입력 읽기 → 프로그램 실행 → 출력 쓰기를 짧은 스캔 주기(Scan Cycle)로 되풀이한다.</a:t>
            </a:r>
          </a:p>
          <a:p>
            <a:pPr algn="l" eaLnBrk="0">
              <a:lnSpc>
                <a:spcPct val="110000"/>
              </a:lnSpc>
              <a:spcAft>
                <a:spcPts val="300"/>
              </a:spcAft>
            </a:pPr>
            <a:r>
              <a:rPr sz="1300" b="0">
                <a:solidFill>
                  <a:srgbClr val="1F2A3A"/>
                </a:solidFill>
                <a:latin typeface="맑은 고딕"/>
                <a:ea typeface="맑은 고딕"/>
                <a:cs typeface="맑은 고딕"/>
              </a:rPr>
              <a:t>HYD-01의 PLC는 유온 TS1을 읽고, 팬 속도와 펌프 부하의 설정값(SP)을 받아 설비에 반영한다.</a:t>
            </a:r>
          </a:p>
        </p:txBody>
      </p:sp>
      <p:sp>
        <p:nvSpPr>
          <p:cNvPr id="9" name="Rectangle 8"/>
          <p:cNvSpPr/>
          <p:nvPr/>
        </p:nvSpPr>
        <p:spPr>
          <a:xfrm>
            <a:off x="548640" y="3296412"/>
            <a:ext cx="11094415" cy="13716"/>
          </a:xfrm>
          <a:prstGeom prst="rect">
            <a:avLst/>
          </a:prstGeom>
          <a:solidFill>
            <a:srgbClr val="D3D9E1"/>
          </a:solidFill>
          <a:ln>
            <a:noFill/>
          </a:ln>
        </p:spPr>
        <p:txBody>
          <a:bodyPr rtlCol="0" anchor="ctr"/>
          <a:lstStyle/>
          <a:p>
            <a:pPr algn="ctr"/>
          </a:p>
        </p:txBody>
      </p:sp>
      <p:sp>
        <p:nvSpPr>
          <p:cNvPr id="10" name="TextBox 9"/>
          <p:cNvSpPr txBox="1"/>
          <p:nvPr/>
        </p:nvSpPr>
        <p:spPr>
          <a:xfrm>
            <a:off x="640080" y="33055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인터록</a:t>
            </a:r>
          </a:p>
          <a:p>
            <a:pPr algn="l" eaLnBrk="0">
              <a:lnSpc>
                <a:spcPct val="110000"/>
              </a:lnSpc>
              <a:spcAft>
                <a:spcPts val="200"/>
              </a:spcAft>
            </a:pPr>
            <a:r>
              <a:rPr sz="1150" b="0">
                <a:solidFill>
                  <a:srgbClr val="556175"/>
                </a:solidFill>
                <a:latin typeface="맑은 고딕"/>
                <a:ea typeface="맑은 고딕"/>
                <a:cs typeface="맑은 고딕"/>
              </a:rPr>
              <a:t>Interlock</a:t>
            </a:r>
          </a:p>
        </p:txBody>
      </p:sp>
      <p:sp>
        <p:nvSpPr>
          <p:cNvPr id="11" name="TextBox 10"/>
          <p:cNvSpPr txBox="1"/>
          <p:nvPr/>
        </p:nvSpPr>
        <p:spPr>
          <a:xfrm>
            <a:off x="4023359" y="3305556"/>
            <a:ext cx="7528255" cy="1371600"/>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위험 조건에 이르면 다른 명령보다 우선해 설비를 안전한 상태로 전환하는 보호 동작이다.</a:t>
            </a:r>
          </a:p>
          <a:p>
            <a:pPr algn="l" eaLnBrk="0">
              <a:lnSpc>
                <a:spcPct val="110000"/>
              </a:lnSpc>
              <a:spcAft>
                <a:spcPts val="300"/>
              </a:spcAft>
            </a:pPr>
            <a:r>
              <a:rPr sz="1400" b="0">
                <a:solidFill>
                  <a:srgbClr val="1F2A3A"/>
                </a:solidFill>
                <a:latin typeface="맑은 고딕"/>
                <a:ea typeface="맑은 고딕"/>
                <a:cs typeface="맑은 고딕"/>
              </a:rPr>
              <a:t>예: 유온 TS1이 65 ℃를 넘으면 PLC가 설비를 트립(Trip, 보호 정지)시킨다.</a:t>
            </a:r>
          </a:p>
        </p:txBody>
      </p:sp>
      <p:sp>
        <p:nvSpPr>
          <p:cNvPr id="12" name="Rectangle 11"/>
          <p:cNvSpPr/>
          <p:nvPr/>
        </p:nvSpPr>
        <p:spPr>
          <a:xfrm>
            <a:off x="548640" y="46680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46771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현장 제어</a:t>
            </a:r>
          </a:p>
          <a:p>
            <a:pPr algn="l" eaLnBrk="0">
              <a:lnSpc>
                <a:spcPct val="110000"/>
              </a:lnSpc>
              <a:spcAft>
                <a:spcPts val="200"/>
              </a:spcAft>
            </a:pPr>
            <a:r>
              <a:rPr sz="1150" b="0">
                <a:solidFill>
                  <a:srgbClr val="556175"/>
                </a:solidFill>
                <a:latin typeface="맑은 고딕"/>
                <a:ea typeface="맑은 고딕"/>
                <a:cs typeface="맑은 고딕"/>
              </a:rPr>
              <a:t>실시간성</a:t>
            </a:r>
          </a:p>
        </p:txBody>
      </p:sp>
      <p:sp>
        <p:nvSpPr>
          <p:cNvPr id="14" name="TextBox 13"/>
          <p:cNvSpPr txBox="1"/>
          <p:nvPr/>
        </p:nvSpPr>
        <p:spPr>
          <a:xfrm>
            <a:off x="4023359" y="4677156"/>
            <a:ext cx="7528255" cy="1371600"/>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PLC는 1초에도 수십 번씩 계측값을 읽고 판단한다.</a:t>
            </a:r>
          </a:p>
          <a:p>
            <a:pPr algn="l" eaLnBrk="0">
              <a:lnSpc>
                <a:spcPct val="110000"/>
              </a:lnSpc>
              <a:spcAft>
                <a:spcPts val="300"/>
              </a:spcAft>
            </a:pPr>
            <a:r>
              <a:rPr sz="1400" b="0">
                <a:solidFill>
                  <a:srgbClr val="1F2A3A"/>
                </a:solidFill>
                <a:latin typeface="맑은 고딕"/>
                <a:ea typeface="맑은 고딕"/>
                <a:cs typeface="맑은 고딕"/>
              </a:rPr>
              <a:t>서버를 거치면 통신이 지연되거나 끊길 수 있다.</a:t>
            </a:r>
          </a:p>
          <a:p>
            <a:pPr algn="l" eaLnBrk="0">
              <a:lnSpc>
                <a:spcPct val="110000"/>
              </a:lnSpc>
              <a:spcAft>
                <a:spcPts val="300"/>
              </a:spcAft>
            </a:pPr>
            <a:r>
              <a:rPr sz="1400" b="0">
                <a:solidFill>
                  <a:srgbClr val="1F2A3A"/>
                </a:solidFill>
                <a:latin typeface="맑은 고딕"/>
                <a:ea typeface="맑은 고딕"/>
                <a:cs typeface="맑은 고딕"/>
              </a:rPr>
              <a:t>설비를 지키는 판단은 통신과 서버를 거치지 않고 현장에서 끝낸다.</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HYD-01의 인터록 세 가지</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유온·토출 압력·팬 진동 중 하나라도 위험 조건에 이르면, HYD-01의 PLC가 설비를 보호 정지시킨다.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15</a:t>
            </a:r>
          </a:p>
        </p:txBody>
      </p:sp>
      <p:sp>
        <p:nvSpPr>
          <p:cNvPr id="6" name="Rounded Rectangle 5"/>
          <p:cNvSpPr/>
          <p:nvPr/>
        </p:nvSpPr>
        <p:spPr>
          <a:xfrm>
            <a:off x="548640" y="2293873"/>
            <a:ext cx="3515258" cy="3394964"/>
          </a:xfrm>
          <a:prstGeom prst="roundRect">
            <a:avLst>
              <a:gd name="adj" fmla="val 4000"/>
            </a:avLst>
          </a:prstGeom>
          <a:solidFill>
            <a:srgbClr val="FFFFFF"/>
          </a:solidFill>
          <a:ln w="28575">
            <a:solidFill>
              <a:srgbClr val="5CB8F2"/>
            </a:solidFill>
          </a:ln>
        </p:spPr>
        <p:txBody>
          <a:bodyPr rtlCol="0" anchor="ctr"/>
          <a:lstStyle/>
          <a:p>
            <a:pPr algn="ctr"/>
          </a:p>
        </p:txBody>
      </p:sp>
      <p:sp>
        <p:nvSpPr>
          <p:cNvPr id="7" name="Oval 6"/>
          <p:cNvSpPr/>
          <p:nvPr/>
        </p:nvSpPr>
        <p:spPr>
          <a:xfrm>
            <a:off x="777240" y="2495042"/>
            <a:ext cx="731520" cy="731520"/>
          </a:xfrm>
          <a:prstGeom prst="ellipse">
            <a:avLst/>
          </a:prstGeom>
          <a:solidFill>
            <a:srgbClr val="5CB8F2"/>
          </a:solidFill>
          <a:ln>
            <a:noFill/>
          </a:ln>
        </p:spPr>
        <p:txBody>
          <a:bodyPr rtlCol="0" anchor="ctr"/>
          <a:lstStyle/>
          <a:p>
            <a:pPr algn="ctr"/>
          </a:p>
        </p:txBody>
      </p:sp>
      <p:pic>
        <p:nvPicPr>
          <p:cNvPr id="8" name="아이콘:temperature" descr="temperature_13294B_1.6.png"/>
          <p:cNvPicPr>
            <a:picLocks noChangeAspect="1"/>
          </p:cNvPicPr>
          <p:nvPr/>
        </p:nvPicPr>
        <p:blipFill>
          <a:blip r:embed="rId3"/>
          <a:stretch>
            <a:fillRect/>
          </a:stretch>
        </p:blipFill>
        <p:spPr>
          <a:xfrm>
            <a:off x="930859" y="2648661"/>
            <a:ext cx="424281" cy="424281"/>
          </a:xfrm>
          <a:prstGeom prst="rect">
            <a:avLst/>
          </a:prstGeom>
        </p:spPr>
      </p:pic>
      <p:sp>
        <p:nvSpPr>
          <p:cNvPr id="9" name="TextBox 8"/>
          <p:cNvSpPr txBox="1"/>
          <p:nvPr/>
        </p:nvSpPr>
        <p:spPr>
          <a:xfrm>
            <a:off x="713232" y="3318001"/>
            <a:ext cx="3186074" cy="1867916"/>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유온 TS1</a:t>
            </a:r>
          </a:p>
          <a:p>
            <a:pPr algn="l" eaLnBrk="0" marL="205740" indent="-205740">
              <a:lnSpc>
                <a:spcPct val="110000"/>
              </a:lnSpc>
              <a:spcAft>
                <a:spcPts val="400"/>
              </a:spcAft>
            </a:pPr>
            <a:r>
              <a:rPr sz="1800" b="0">
                <a:solidFill>
                  <a:srgbClr val="1F2A3A"/>
                </a:solidFill>
                <a:latin typeface="맑은 고딕"/>
                <a:ea typeface="맑은 고딕"/>
                <a:cs typeface="맑은 고딕"/>
              </a:rPr>
              <a:t>• 65 ℃를 넘으면 트립된다</a:t>
            </a:r>
          </a:p>
          <a:p>
            <a:pPr algn="l" eaLnBrk="0" marL="205740" indent="-205740">
              <a:lnSpc>
                <a:spcPct val="110000"/>
              </a:lnSpc>
              <a:spcAft>
                <a:spcPts val="400"/>
              </a:spcAft>
            </a:pPr>
            <a:r>
              <a:rPr sz="1800" b="0">
                <a:solidFill>
                  <a:srgbClr val="1F2A3A"/>
                </a:solidFill>
                <a:latin typeface="맑은 고딕"/>
                <a:ea typeface="맑은 고딕"/>
                <a:cs typeface="맑은 고딕"/>
              </a:rPr>
              <a:t>• 작동유의 점도가 떨어져 마모가 빨라진다</a:t>
            </a:r>
          </a:p>
        </p:txBody>
      </p:sp>
      <p:sp>
        <p:nvSpPr>
          <p:cNvPr id="10" name="Rounded Rectangle 9"/>
          <p:cNvSpPr/>
          <p:nvPr/>
        </p:nvSpPr>
        <p:spPr>
          <a:xfrm>
            <a:off x="777240" y="5259070"/>
            <a:ext cx="822960" cy="292608"/>
          </a:xfrm>
          <a:prstGeom prst="roundRect">
            <a:avLst>
              <a:gd name="adj" fmla="val 50000"/>
            </a:avLst>
          </a:prstGeom>
          <a:solidFill>
            <a:srgbClr val="5CB8F2"/>
          </a:solidFill>
          <a:ln>
            <a:noFill/>
          </a:ln>
        </p:spPr>
        <p:txBody>
          <a:bodyPr rtlCol="0" anchor="ctr"/>
          <a:lstStyle/>
          <a:p>
            <a:pPr algn="ctr"/>
          </a:p>
        </p:txBody>
      </p:sp>
      <p:sp>
        <p:nvSpPr>
          <p:cNvPr id="11" name="TextBox 10"/>
          <p:cNvSpPr txBox="1"/>
          <p:nvPr/>
        </p:nvSpPr>
        <p:spPr>
          <a:xfrm>
            <a:off x="777240" y="5259070"/>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과열</a:t>
            </a:r>
          </a:p>
        </p:txBody>
      </p:sp>
      <p:sp>
        <p:nvSpPr>
          <p:cNvPr id="12" name="Rounded Rectangle 11"/>
          <p:cNvSpPr/>
          <p:nvPr/>
        </p:nvSpPr>
        <p:spPr>
          <a:xfrm>
            <a:off x="4338218" y="2293873"/>
            <a:ext cx="3515258" cy="3394964"/>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495042"/>
            <a:ext cx="731520" cy="731520"/>
          </a:xfrm>
          <a:prstGeom prst="ellipse">
            <a:avLst/>
          </a:prstGeom>
          <a:solidFill>
            <a:srgbClr val="E7F3FD"/>
          </a:solidFill>
          <a:ln>
            <a:noFill/>
          </a:ln>
        </p:spPr>
        <p:txBody>
          <a:bodyPr rtlCol="0" anchor="ctr"/>
          <a:lstStyle/>
          <a:p>
            <a:pPr algn="ctr"/>
          </a:p>
        </p:txBody>
      </p:sp>
      <p:pic>
        <p:nvPicPr>
          <p:cNvPr id="14" name="아이콘:gauge" descr="gauge_13294B_1.6.png"/>
          <p:cNvPicPr>
            <a:picLocks noChangeAspect="1"/>
          </p:cNvPicPr>
          <p:nvPr/>
        </p:nvPicPr>
        <p:blipFill>
          <a:blip r:embed="rId4"/>
          <a:stretch>
            <a:fillRect/>
          </a:stretch>
        </p:blipFill>
        <p:spPr>
          <a:xfrm>
            <a:off x="4720437" y="2648661"/>
            <a:ext cx="424281" cy="424281"/>
          </a:xfrm>
          <a:prstGeom prst="rect">
            <a:avLst/>
          </a:prstGeom>
        </p:spPr>
      </p:pic>
      <p:sp>
        <p:nvSpPr>
          <p:cNvPr id="15" name="TextBox 14"/>
          <p:cNvSpPr txBox="1"/>
          <p:nvPr/>
        </p:nvSpPr>
        <p:spPr>
          <a:xfrm>
            <a:off x="4502810" y="3318001"/>
            <a:ext cx="3186074" cy="1867916"/>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토출 압력 PS1</a:t>
            </a:r>
          </a:p>
          <a:p>
            <a:pPr algn="l" eaLnBrk="0" marL="205740" indent="-205740">
              <a:lnSpc>
                <a:spcPct val="110000"/>
              </a:lnSpc>
              <a:spcAft>
                <a:spcPts val="400"/>
              </a:spcAft>
            </a:pPr>
            <a:r>
              <a:rPr sz="1800" b="0">
                <a:solidFill>
                  <a:srgbClr val="1F2A3A"/>
                </a:solidFill>
                <a:latin typeface="맑은 고딕"/>
                <a:ea typeface="맑은 고딕"/>
                <a:cs typeface="맑은 고딕"/>
              </a:rPr>
              <a:t>• 130 bar 아래로 내려가면 트립된다</a:t>
            </a:r>
          </a:p>
          <a:p>
            <a:pPr algn="l" eaLnBrk="0" marL="205740" indent="-205740">
              <a:lnSpc>
                <a:spcPct val="110000"/>
              </a:lnSpc>
              <a:spcAft>
                <a:spcPts val="400"/>
              </a:spcAft>
            </a:pPr>
            <a:r>
              <a:rPr sz="1800" b="0">
                <a:solidFill>
                  <a:srgbClr val="1F2A3A"/>
                </a:solidFill>
                <a:latin typeface="맑은 고딕"/>
                <a:ea typeface="맑은 고딕"/>
                <a:cs typeface="맑은 고딕"/>
              </a:rPr>
              <a:t>• 펌프 마모나 내부 누설을 뜻한다</a:t>
            </a:r>
          </a:p>
        </p:txBody>
      </p:sp>
      <p:sp>
        <p:nvSpPr>
          <p:cNvPr id="16" name="Rounded Rectangle 15"/>
          <p:cNvSpPr/>
          <p:nvPr/>
        </p:nvSpPr>
        <p:spPr>
          <a:xfrm>
            <a:off x="4566818" y="5259070"/>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259070"/>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저압</a:t>
            </a:r>
          </a:p>
        </p:txBody>
      </p:sp>
      <p:sp>
        <p:nvSpPr>
          <p:cNvPr id="18" name="Rounded Rectangle 17"/>
          <p:cNvSpPr/>
          <p:nvPr/>
        </p:nvSpPr>
        <p:spPr>
          <a:xfrm>
            <a:off x="8127796" y="2293873"/>
            <a:ext cx="3515258" cy="3394964"/>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8356396" y="2495042"/>
            <a:ext cx="731520" cy="731520"/>
          </a:xfrm>
          <a:prstGeom prst="ellipse">
            <a:avLst/>
          </a:prstGeom>
          <a:solidFill>
            <a:srgbClr val="E7F3FD"/>
          </a:solidFill>
          <a:ln>
            <a:noFill/>
          </a:ln>
        </p:spPr>
        <p:txBody>
          <a:bodyPr rtlCol="0" anchor="ctr"/>
          <a:lstStyle/>
          <a:p>
            <a:pPr algn="ctr"/>
          </a:p>
        </p:txBody>
      </p:sp>
      <p:pic>
        <p:nvPicPr>
          <p:cNvPr id="20" name="아이콘:activity" descr="activity_13294B_1.6.png"/>
          <p:cNvPicPr>
            <a:picLocks noChangeAspect="1"/>
          </p:cNvPicPr>
          <p:nvPr/>
        </p:nvPicPr>
        <p:blipFill>
          <a:blip r:embed="rId5"/>
          <a:stretch>
            <a:fillRect/>
          </a:stretch>
        </p:blipFill>
        <p:spPr>
          <a:xfrm>
            <a:off x="8510016" y="2648661"/>
            <a:ext cx="424281" cy="424281"/>
          </a:xfrm>
          <a:prstGeom prst="rect">
            <a:avLst/>
          </a:prstGeom>
        </p:spPr>
      </p:pic>
      <p:sp>
        <p:nvSpPr>
          <p:cNvPr id="21" name="TextBox 20"/>
          <p:cNvSpPr txBox="1"/>
          <p:nvPr/>
        </p:nvSpPr>
        <p:spPr>
          <a:xfrm>
            <a:off x="8292388" y="3318001"/>
            <a:ext cx="3186074" cy="1867916"/>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팬 진동 VS1</a:t>
            </a:r>
          </a:p>
          <a:p>
            <a:pPr algn="l" eaLnBrk="0" marL="205740" indent="-205740">
              <a:lnSpc>
                <a:spcPct val="110000"/>
              </a:lnSpc>
              <a:spcAft>
                <a:spcPts val="400"/>
              </a:spcAft>
            </a:pPr>
            <a:r>
              <a:rPr sz="1800" b="0">
                <a:solidFill>
                  <a:srgbClr val="1F2A3A"/>
                </a:solidFill>
                <a:latin typeface="맑은 고딕"/>
                <a:ea typeface="맑은 고딕"/>
                <a:cs typeface="맑은 고딕"/>
              </a:rPr>
              <a:t>• 2.0 mm/s 이상이면 트립된다</a:t>
            </a:r>
          </a:p>
          <a:p>
            <a:pPr algn="l" eaLnBrk="0" marL="205740" indent="-205740">
              <a:lnSpc>
                <a:spcPct val="110000"/>
              </a:lnSpc>
              <a:spcAft>
                <a:spcPts val="400"/>
              </a:spcAft>
            </a:pPr>
            <a:r>
              <a:rPr sz="1800" b="0">
                <a:solidFill>
                  <a:srgbClr val="1F2A3A"/>
                </a:solidFill>
                <a:latin typeface="맑은 고딕"/>
                <a:ea typeface="맑은 고딕"/>
                <a:cs typeface="맑은 고딕"/>
              </a:rPr>
              <a:t>• 그대로 돌리면 팬 베어링이 손상된다</a:t>
            </a:r>
          </a:p>
        </p:txBody>
      </p:sp>
      <p:sp>
        <p:nvSpPr>
          <p:cNvPr id="22" name="Rounded Rectangle 21"/>
          <p:cNvSpPr/>
          <p:nvPr/>
        </p:nvSpPr>
        <p:spPr>
          <a:xfrm>
            <a:off x="8356396" y="5259070"/>
            <a:ext cx="82296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8356396" y="5259070"/>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고진동</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현장 통신의 결정성과 지연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현장 통신은 제시간 도착이 중요하고, 전통 규약에 없는 보안 기능은 망 구조와 상위 계층이 맡는다.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16</a:t>
            </a:r>
          </a:p>
        </p:txBody>
      </p:sp>
      <p:sp>
        <p:nvSpPr>
          <p:cNvPr id="6" name="Rounded Rectangle 5"/>
          <p:cNvSpPr/>
          <p:nvPr/>
        </p:nvSpPr>
        <p:spPr>
          <a:xfrm>
            <a:off x="548640" y="2414015"/>
            <a:ext cx="5181447" cy="3154680"/>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615184"/>
            <a:ext cx="731520" cy="731520"/>
          </a:xfrm>
          <a:prstGeom prst="ellipse">
            <a:avLst/>
          </a:prstGeom>
          <a:solidFill>
            <a:srgbClr val="FFFFFF"/>
          </a:solidFill>
          <a:ln>
            <a:noFill/>
          </a:ln>
        </p:spPr>
        <p:txBody>
          <a:bodyPr rtlCol="0" anchor="ctr"/>
          <a:lstStyle/>
          <a:p>
            <a:pPr algn="ctr"/>
          </a:p>
        </p:txBody>
      </p:sp>
      <p:pic>
        <p:nvPicPr>
          <p:cNvPr id="8" name="아이콘:world" descr="world_13294B_1.6.png"/>
          <p:cNvPicPr>
            <a:picLocks noChangeAspect="1"/>
          </p:cNvPicPr>
          <p:nvPr/>
        </p:nvPicPr>
        <p:blipFill>
          <a:blip r:embed="rId3"/>
          <a:stretch>
            <a:fillRect/>
          </a:stretch>
        </p:blipFill>
        <p:spPr>
          <a:xfrm>
            <a:off x="976579" y="2768803"/>
            <a:ext cx="424281" cy="424281"/>
          </a:xfrm>
          <a:prstGeom prst="rect">
            <a:avLst/>
          </a:prstGeom>
        </p:spPr>
      </p:pic>
      <p:sp>
        <p:nvSpPr>
          <p:cNvPr id="9" name="TextBox 8"/>
          <p:cNvSpPr txBox="1"/>
          <p:nvPr/>
        </p:nvSpPr>
        <p:spPr>
          <a:xfrm>
            <a:off x="1691640" y="2615184"/>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사무 통신</a:t>
            </a:r>
          </a:p>
        </p:txBody>
      </p:sp>
      <p:sp>
        <p:nvSpPr>
          <p:cNvPr id="10" name="TextBox 9"/>
          <p:cNvSpPr txBox="1"/>
          <p:nvPr/>
        </p:nvSpPr>
        <p:spPr>
          <a:xfrm>
            <a:off x="822959" y="3465575"/>
            <a:ext cx="4632807" cy="1554480"/>
          </a:xfrm>
          <a:prstGeom prst="rect">
            <a:avLst/>
          </a:prstGeom>
          <a:noFill/>
        </p:spPr>
        <p:txBody>
          <a:bodyPr wrap="square" anchor="t"/>
          <a:lstStyle/>
          <a:p>
            <a:pPr algn="l" eaLnBrk="0" marL="171450" indent="-171450">
              <a:lnSpc>
                <a:spcPct val="110000"/>
              </a:lnSpc>
              <a:spcAft>
                <a:spcPts val="600"/>
              </a:spcAft>
            </a:pPr>
            <a:r>
              <a:rPr sz="1500" b="0">
                <a:solidFill>
                  <a:srgbClr val="1F2A3A"/>
                </a:solidFill>
                <a:latin typeface="맑은 고딕"/>
                <a:ea typeface="맑은 고딕"/>
                <a:cs typeface="맑은 고딕"/>
              </a:rPr>
              <a:t>• 평균 지연(Latency)과 처리량이 중요하다</a:t>
            </a:r>
          </a:p>
          <a:p>
            <a:pPr algn="l" eaLnBrk="0" marL="171450" indent="-171450">
              <a:lnSpc>
                <a:spcPct val="110000"/>
              </a:lnSpc>
              <a:spcAft>
                <a:spcPts val="600"/>
              </a:spcAft>
            </a:pPr>
            <a:r>
              <a:rPr sz="1500" b="0">
                <a:solidFill>
                  <a:srgbClr val="1F2A3A"/>
                </a:solidFill>
                <a:latin typeface="맑은 고딕"/>
                <a:ea typeface="맑은 고딕"/>
                <a:cs typeface="맑은 고딕"/>
              </a:rPr>
              <a:t>• 암호화와 인증으로 기밀성과 무결성을 지킨다</a:t>
            </a:r>
          </a:p>
          <a:p>
            <a:pPr algn="l" eaLnBrk="0" marL="171450" indent="-171450">
              <a:lnSpc>
                <a:spcPct val="110000"/>
              </a:lnSpc>
              <a:spcAft>
                <a:spcPts val="600"/>
              </a:spcAft>
            </a:pPr>
            <a:r>
              <a:rPr sz="1500" b="0">
                <a:solidFill>
                  <a:srgbClr val="1F2A3A"/>
                </a:solidFill>
                <a:latin typeface="맑은 고딕"/>
                <a:ea typeface="맑은 고딕"/>
                <a:cs typeface="맑은 고딕"/>
              </a:rPr>
              <a:t>• 지연의 변동을 어느 정도 허용한다</a:t>
            </a:r>
          </a:p>
        </p:txBody>
      </p:sp>
      <p:sp>
        <p:nvSpPr>
          <p:cNvPr id="11" name="Rounded Rectangle 10"/>
          <p:cNvSpPr/>
          <p:nvPr/>
        </p:nvSpPr>
        <p:spPr>
          <a:xfrm>
            <a:off x="868680" y="5111496"/>
            <a:ext cx="102108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111496"/>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평균 성능</a:t>
            </a:r>
          </a:p>
        </p:txBody>
      </p:sp>
      <p:sp>
        <p:nvSpPr>
          <p:cNvPr id="13" name="Rounded Rectangle 12"/>
          <p:cNvSpPr/>
          <p:nvPr/>
        </p:nvSpPr>
        <p:spPr>
          <a:xfrm>
            <a:off x="6461607" y="2414015"/>
            <a:ext cx="5181447" cy="3154680"/>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615184"/>
            <a:ext cx="731520" cy="731520"/>
          </a:xfrm>
          <a:prstGeom prst="ellipse">
            <a:avLst/>
          </a:prstGeom>
          <a:solidFill>
            <a:srgbClr val="5CB8F2"/>
          </a:solidFill>
          <a:ln>
            <a:noFill/>
          </a:ln>
        </p:spPr>
        <p:txBody>
          <a:bodyPr rtlCol="0" anchor="ctr"/>
          <a:lstStyle/>
          <a:p>
            <a:pPr algn="ctr"/>
          </a:p>
        </p:txBody>
      </p:sp>
      <p:pic>
        <p:nvPicPr>
          <p:cNvPr id="15" name="아이콘:engine" descr="engine_13294B_1.6.png"/>
          <p:cNvPicPr>
            <a:picLocks noChangeAspect="1"/>
          </p:cNvPicPr>
          <p:nvPr/>
        </p:nvPicPr>
        <p:blipFill>
          <a:blip r:embed="rId4"/>
          <a:stretch>
            <a:fillRect/>
          </a:stretch>
        </p:blipFill>
        <p:spPr>
          <a:xfrm>
            <a:off x="6889546" y="2768803"/>
            <a:ext cx="424281" cy="424281"/>
          </a:xfrm>
          <a:prstGeom prst="rect">
            <a:avLst/>
          </a:prstGeom>
        </p:spPr>
      </p:pic>
      <p:sp>
        <p:nvSpPr>
          <p:cNvPr id="16" name="TextBox 15"/>
          <p:cNvSpPr txBox="1"/>
          <p:nvPr/>
        </p:nvSpPr>
        <p:spPr>
          <a:xfrm>
            <a:off x="7604607" y="2615184"/>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현장 통신</a:t>
            </a:r>
          </a:p>
        </p:txBody>
      </p:sp>
      <p:sp>
        <p:nvSpPr>
          <p:cNvPr id="17" name="TextBox 16"/>
          <p:cNvSpPr txBox="1"/>
          <p:nvPr/>
        </p:nvSpPr>
        <p:spPr>
          <a:xfrm>
            <a:off x="6735927" y="3465575"/>
            <a:ext cx="4632807" cy="1554480"/>
          </a:xfrm>
          <a:prstGeom prst="rect">
            <a:avLst/>
          </a:prstGeom>
          <a:noFill/>
        </p:spPr>
        <p:txBody>
          <a:bodyPr wrap="square" anchor="t"/>
          <a:lstStyle/>
          <a:p>
            <a:pPr algn="l" eaLnBrk="0" marL="171450" indent="-171450">
              <a:lnSpc>
                <a:spcPct val="110000"/>
              </a:lnSpc>
              <a:spcAft>
                <a:spcPts val="600"/>
              </a:spcAft>
            </a:pPr>
            <a:r>
              <a:rPr sz="1500" b="0">
                <a:solidFill>
                  <a:srgbClr val="1F2A3A"/>
                </a:solidFill>
                <a:latin typeface="맑은 고딕"/>
                <a:ea typeface="맑은 고딕"/>
                <a:cs typeface="맑은 고딕"/>
              </a:rPr>
              <a:t>• 최악의 경우에도 정해진 시간 안에 도착해야 한다</a:t>
            </a:r>
          </a:p>
          <a:p>
            <a:pPr algn="l" eaLnBrk="0" marL="171450" indent="-171450">
              <a:lnSpc>
                <a:spcPct val="110000"/>
              </a:lnSpc>
              <a:spcAft>
                <a:spcPts val="600"/>
              </a:spcAft>
            </a:pPr>
            <a:r>
              <a:rPr sz="1500" b="0">
                <a:solidFill>
                  <a:srgbClr val="1F2A3A"/>
                </a:solidFill>
                <a:latin typeface="맑은 고딕"/>
                <a:ea typeface="맑은 고딕"/>
                <a:cs typeface="맑은 고딕"/>
              </a:rPr>
              <a:t>• 지연의 흔들림인 지터(Jitter)가 작아야 한다</a:t>
            </a:r>
          </a:p>
          <a:p>
            <a:pPr algn="l" eaLnBrk="0" marL="171450" indent="-171450">
              <a:lnSpc>
                <a:spcPct val="110000"/>
              </a:lnSpc>
              <a:spcAft>
                <a:spcPts val="600"/>
              </a:spcAft>
            </a:pPr>
            <a:r>
              <a:rPr sz="1500" b="0">
                <a:solidFill>
                  <a:srgbClr val="1F2A3A"/>
                </a:solidFill>
                <a:latin typeface="맑은 고딕"/>
                <a:ea typeface="맑은 고딕"/>
                <a:cs typeface="맑은 고딕"/>
              </a:rPr>
              <a:t>• 여기에 쓰이는 Modbus 같은 전통 규약에는 암호화와 인증이 없다</a:t>
            </a:r>
          </a:p>
        </p:txBody>
      </p:sp>
      <p:sp>
        <p:nvSpPr>
          <p:cNvPr id="18" name="Rounded Rectangle 17"/>
          <p:cNvSpPr/>
          <p:nvPr/>
        </p:nvSpPr>
        <p:spPr>
          <a:xfrm>
            <a:off x="6781647" y="5111496"/>
            <a:ext cx="1868424"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111496"/>
            <a:ext cx="1868424"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결정성(Determinism)</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Layer 2 · 엣지 게이트웨이: 원시 값에 맥락을 붙인다</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엣지 게이트웨이는 원시 값에 태그 이름과 시각을 붙여, 태그 값과 운전 상태 메시지로 올려 보낸다.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17</a:t>
            </a:r>
          </a:p>
        </p:txBody>
      </p:sp>
      <p:sp>
        <p:nvSpPr>
          <p:cNvPr id="6" name="Rounded Rectangle 5"/>
          <p:cNvSpPr/>
          <p:nvPr/>
        </p:nvSpPr>
        <p:spPr>
          <a:xfrm>
            <a:off x="548640" y="1627632"/>
            <a:ext cx="6766560" cy="4727448"/>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1764792"/>
            <a:ext cx="6400800" cy="4453128"/>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태그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값</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태그마다</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따로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올라온다</a:t>
            </a:r>
          </a:p>
          <a:p>
            <a:pPr algn="l" eaLnBrk="0">
              <a:lnSpc>
                <a:spcPct val="110000"/>
              </a:lnSpc>
              <a:spcAft>
                <a:spcPts val="200"/>
              </a:spcAft>
            </a:pPr>
            <a:r>
              <a:rPr sz="1300" b="0">
                <a:solidFill>
                  <a:srgbClr val="E8EEF6"/>
                </a:solidFill>
                <a:latin typeface="Consolas"/>
                <a:ea typeface="맑은 고딕"/>
                <a:cs typeface="맑은 고딕"/>
              </a:rPr>
              <a:t>TS1    48.0</a:t>
            </a:r>
          </a:p>
          <a:p>
            <a:pPr algn="l" eaLnBrk="0">
              <a:lnSpc>
                <a:spcPct val="110000"/>
              </a:lnSpc>
              <a:spcAft>
                <a:spcPts val="200"/>
              </a:spcAft>
            </a:pPr>
            <a:r>
              <a:rPr sz="1300" b="0">
                <a:solidFill>
                  <a:srgbClr val="E8EEF6"/>
                </a:solidFill>
                <a:latin typeface="Consolas"/>
                <a:ea typeface="맑은 고딕"/>
                <a:cs typeface="맑은 고딕"/>
              </a:rPr>
              <a:t>CE     84.0</a:t>
            </a:r>
          </a:p>
          <a:p>
            <a:pPr algn="l" eaLnBrk="0">
              <a:lnSpc>
                <a:spcPct val="110000"/>
              </a:lnSpc>
              <a:spcAft>
                <a:spcPts val="200"/>
              </a:spcAft>
            </a:pPr>
            <a:r>
              <a:rPr sz="1300" b="0">
                <a:solidFill>
                  <a:srgbClr val="E8EEF6"/>
                </a:solidFill>
                <a:latin typeface="Consolas"/>
                <a:ea typeface="맑은 고딕"/>
                <a:cs typeface="맑은 고딕"/>
              </a:rPr>
              <a:t>PS1    182.0</a:t>
            </a:r>
          </a:p>
          <a:p>
            <a:pPr algn="l" eaLnBrk="0">
              <a:lnSpc>
                <a:spcPct val="110000"/>
              </a:lnSpc>
              <a:spcAft>
                <a:spcPts val="200"/>
              </a:spcAft>
            </a:pPr>
            <a:r>
              <a:rPr sz="1300" b="0">
                <a:solidFill>
                  <a:srgbClr val="E8EEF6"/>
                </a:solidFill>
                <a:latin typeface="Consolas"/>
                <a:ea typeface="맑은 고딕"/>
                <a:cs typeface="맑은 고딕"/>
              </a:rPr>
              <a:t>VS1    0.6</a:t>
            </a:r>
          </a:p>
          <a:p>
            <a:pPr algn="l" eaLnBrk="0">
              <a:lnSpc>
                <a:spcPct val="110000"/>
              </a:lnSpc>
              <a:spcAft>
                <a:spcPts val="200"/>
              </a:spcAft>
            </a:pP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운전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상태</a:t>
            </a:r>
          </a:p>
          <a:p>
            <a:pPr algn="l" eaLnBrk="0">
              <a:lnSpc>
                <a:spcPct val="110000"/>
              </a:lnSpc>
              <a:spcAft>
                <a:spcPts val="200"/>
              </a:spcAft>
            </a:pPr>
            <a:r>
              <a:rPr sz="1300" b="0">
                <a:solidFill>
                  <a:srgbClr val="E8EEF6"/>
                </a:solidFill>
                <a:latin typeface="Consolas"/>
                <a:ea typeface="맑은 고딕"/>
                <a:cs typeface="맑은 고딕"/>
              </a:rPr>
              <a:t>mode       REMOTE_AUTO</a:t>
            </a:r>
          </a:p>
          <a:p>
            <a:pPr algn="l" eaLnBrk="0">
              <a:lnSpc>
                <a:spcPct val="110000"/>
              </a:lnSpc>
              <a:spcAft>
                <a:spcPts val="200"/>
              </a:spcAft>
            </a:pPr>
            <a:r>
              <a:rPr sz="1300" b="0">
                <a:solidFill>
                  <a:srgbClr val="E8EEF6"/>
                </a:solidFill>
                <a:latin typeface="Consolas"/>
                <a:ea typeface="맑은 고딕"/>
                <a:cs typeface="맑은 고딕"/>
              </a:rPr>
              <a:t>state      RUN</a:t>
            </a:r>
          </a:p>
          <a:p>
            <a:pPr algn="l" eaLnBrk="0">
              <a:lnSpc>
                <a:spcPct val="110000"/>
              </a:lnSpc>
              <a:spcAft>
                <a:spcPts val="200"/>
              </a:spcAft>
            </a:pPr>
            <a:r>
              <a:rPr sz="1300" b="0">
                <a:solidFill>
                  <a:srgbClr val="E8EEF6"/>
                </a:solidFill>
                <a:latin typeface="Consolas"/>
                <a:ea typeface="맑은 고딕"/>
                <a:cs typeface="맑은 고딕"/>
              </a:rPr>
              <a:t>fan_pct    60</a:t>
            </a:r>
          </a:p>
          <a:p>
            <a:pPr algn="l" eaLnBrk="0">
              <a:lnSpc>
                <a:spcPct val="110000"/>
              </a:lnSpc>
              <a:spcAft>
                <a:spcPts val="200"/>
              </a:spcAft>
            </a:pPr>
            <a:r>
              <a:rPr sz="1300" b="0">
                <a:solidFill>
                  <a:srgbClr val="E8EEF6"/>
                </a:solidFill>
                <a:latin typeface="Consolas"/>
                <a:ea typeface="맑은 고딕"/>
                <a:cs typeface="맑은 고딕"/>
              </a:rPr>
              <a:t>load_pct   90</a:t>
            </a:r>
          </a:p>
          <a:p>
            <a:pPr algn="l" eaLnBrk="0">
              <a:lnSpc>
                <a:spcPct val="110000"/>
              </a:lnSpc>
              <a:spcAft>
                <a:spcPts val="200"/>
              </a:spcAft>
            </a:pPr>
            <a:r>
              <a:rPr sz="1300" b="0">
                <a:solidFill>
                  <a:srgbClr val="E8EEF6"/>
                </a:solidFill>
                <a:latin typeface="Consolas"/>
                <a:ea typeface="맑은 고딕"/>
                <a:cs typeface="맑은 고딕"/>
              </a:rPr>
              <a:t>interlock  PASS</a:t>
            </a:r>
          </a:p>
        </p:txBody>
      </p:sp>
      <p:sp>
        <p:nvSpPr>
          <p:cNvPr id="8" name="TextBox 7"/>
          <p:cNvSpPr txBox="1"/>
          <p:nvPr/>
        </p:nvSpPr>
        <p:spPr>
          <a:xfrm>
            <a:off x="7635240" y="1627632"/>
            <a:ext cx="4007815" cy="118186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TS1 · CE</a:t>
            </a:r>
          </a:p>
          <a:p>
            <a:pPr algn="l" eaLnBrk="0">
              <a:lnSpc>
                <a:spcPct val="110000"/>
              </a:lnSpc>
              <a:spcAft>
                <a:spcPts val="400"/>
              </a:spcAft>
            </a:pPr>
            <a:r>
              <a:rPr sz="1400" b="0">
                <a:solidFill>
                  <a:srgbClr val="1F2A3A"/>
                </a:solidFill>
                <a:latin typeface="맑은 고딕"/>
                <a:ea typeface="맑은 고딕"/>
                <a:cs typeface="맑은 고딕"/>
              </a:rPr>
              <a:t>유온(쿨러 입구의 작동유 온도)은 정상 48 ℃, 냉각 효율(쿨러가 열을 내보내는 정도)은 정상 84 %이다.</a:t>
            </a:r>
          </a:p>
        </p:txBody>
      </p:sp>
      <p:sp>
        <p:nvSpPr>
          <p:cNvPr id="9" name="TextBox 8"/>
          <p:cNvSpPr txBox="1"/>
          <p:nvPr/>
        </p:nvSpPr>
        <p:spPr>
          <a:xfrm>
            <a:off x="7635240" y="2809494"/>
            <a:ext cx="4007815" cy="118186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mode · interlock</a:t>
            </a:r>
          </a:p>
          <a:p>
            <a:pPr algn="l" eaLnBrk="0">
              <a:lnSpc>
                <a:spcPct val="110000"/>
              </a:lnSpc>
              <a:spcAft>
                <a:spcPts val="400"/>
              </a:spcAft>
            </a:pPr>
            <a:r>
              <a:rPr sz="1400" b="0">
                <a:solidFill>
                  <a:srgbClr val="1F2A3A"/>
                </a:solidFill>
                <a:latin typeface="맑은 고딕"/>
                <a:ea typeface="맑은 고딕"/>
                <a:cs typeface="맑은 고딕"/>
              </a:rPr>
              <a:t>운전 모드와 인터록의 상태이다. 원격 자동(REMOTE_AUTO)으로 돌고 있고 인터록에 걸리지 않아 PASS이다.</a:t>
            </a:r>
          </a:p>
        </p:txBody>
      </p:sp>
      <p:sp>
        <p:nvSpPr>
          <p:cNvPr id="10" name="TextBox 9"/>
          <p:cNvSpPr txBox="1"/>
          <p:nvPr/>
        </p:nvSpPr>
        <p:spPr>
          <a:xfrm>
            <a:off x="7635240" y="3991356"/>
            <a:ext cx="4007815" cy="118186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그 밖의 항목</a:t>
            </a:r>
          </a:p>
          <a:p>
            <a:pPr algn="l" eaLnBrk="0">
              <a:lnSpc>
                <a:spcPct val="110000"/>
              </a:lnSpc>
              <a:spcAft>
                <a:spcPts val="400"/>
              </a:spcAft>
            </a:pPr>
            <a:r>
              <a:rPr sz="1400" b="0">
                <a:solidFill>
                  <a:srgbClr val="1F2A3A"/>
                </a:solidFill>
                <a:latin typeface="맑은 고딕"/>
                <a:ea typeface="맑은 고딕"/>
                <a:cs typeface="맑은 고딕"/>
              </a:rPr>
              <a:t>토출 압력 PS1과 팬 진동 VS1, 운전 중인지와 팬 속도 · 부하의 비율이 함께 올라온다.</a:t>
            </a:r>
          </a:p>
        </p:txBody>
      </p:sp>
      <p:sp>
        <p:nvSpPr>
          <p:cNvPr id="11" name="TextBox 10"/>
          <p:cNvSpPr txBox="1"/>
          <p:nvPr/>
        </p:nvSpPr>
        <p:spPr>
          <a:xfrm>
            <a:off x="7635240" y="5173218"/>
            <a:ext cx="4007815" cy="118186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엣지 게이트웨이</a:t>
            </a:r>
          </a:p>
          <a:p>
            <a:pPr algn="l" eaLnBrk="0">
              <a:lnSpc>
                <a:spcPct val="110000"/>
              </a:lnSpc>
              <a:spcAft>
                <a:spcPts val="400"/>
              </a:spcAft>
            </a:pPr>
            <a:r>
              <a:rPr sz="1400" b="0">
                <a:solidFill>
                  <a:srgbClr val="1F2A3A"/>
                </a:solidFill>
                <a:latin typeface="맑은 고딕"/>
                <a:ea typeface="맑은 고딕"/>
                <a:cs typeface="맑은 고딕"/>
              </a:rPr>
              <a:t>원시 값을 이름과 시각을 갖춘 메시지로 바꾸는 프로토콜 변환의 자리이다. 이 역할에는 EdgeX Foundry 같은 것이 있다.</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점대점 연결의 한계: 강한 결합과 중개</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점대점 연결은 송신 측이 수신 측마다 직접 연결하므로, 수신 측이 늘면 설비 쪽도 고쳐야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18</a:t>
            </a:r>
          </a:p>
        </p:txBody>
      </p:sp>
      <p:sp>
        <p:nvSpPr>
          <p:cNvPr id="6" name="Rounded Rectangle 5"/>
          <p:cNvSpPr/>
          <p:nvPr/>
        </p:nvSpPr>
        <p:spPr>
          <a:xfrm>
            <a:off x="548640" y="2556700"/>
            <a:ext cx="5181447" cy="2869311"/>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757868"/>
            <a:ext cx="731520" cy="731520"/>
          </a:xfrm>
          <a:prstGeom prst="ellipse">
            <a:avLst/>
          </a:prstGeom>
          <a:solidFill>
            <a:srgbClr val="FFFFFF"/>
          </a:solidFill>
          <a:ln>
            <a:noFill/>
          </a:ln>
        </p:spPr>
        <p:txBody>
          <a:bodyPr rtlCol="0" anchor="ctr"/>
          <a:lstStyle/>
          <a:p>
            <a:pPr algn="ctr"/>
          </a:p>
        </p:txBody>
      </p:sp>
      <p:pic>
        <p:nvPicPr>
          <p:cNvPr id="8" name="아이콘:plug-connected" descr="plug-connected_13294B_1.6.png"/>
          <p:cNvPicPr>
            <a:picLocks noChangeAspect="1"/>
          </p:cNvPicPr>
          <p:nvPr/>
        </p:nvPicPr>
        <p:blipFill>
          <a:blip r:embed="rId3"/>
          <a:stretch>
            <a:fillRect/>
          </a:stretch>
        </p:blipFill>
        <p:spPr>
          <a:xfrm>
            <a:off x="976579" y="2911487"/>
            <a:ext cx="424281" cy="424281"/>
          </a:xfrm>
          <a:prstGeom prst="rect">
            <a:avLst/>
          </a:prstGeom>
        </p:spPr>
      </p:pic>
      <p:sp>
        <p:nvSpPr>
          <p:cNvPr id="9" name="TextBox 8"/>
          <p:cNvSpPr txBox="1"/>
          <p:nvPr/>
        </p:nvSpPr>
        <p:spPr>
          <a:xfrm>
            <a:off x="1691640" y="2757868"/>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점대점 연결</a:t>
            </a:r>
          </a:p>
        </p:txBody>
      </p:sp>
      <p:sp>
        <p:nvSpPr>
          <p:cNvPr id="10" name="TextBox 9"/>
          <p:cNvSpPr txBox="1"/>
          <p:nvPr/>
        </p:nvSpPr>
        <p:spPr>
          <a:xfrm>
            <a:off x="822959" y="3608260"/>
            <a:ext cx="4632807" cy="1269111"/>
          </a:xfrm>
          <a:prstGeom prst="rect">
            <a:avLst/>
          </a:prstGeom>
          <a:noFill/>
        </p:spPr>
        <p:txBody>
          <a:bodyPr wrap="square" anchor="t"/>
          <a:lstStyle/>
          <a:p>
            <a:pPr algn="l" eaLnBrk="0" marL="177165" indent="-177165">
              <a:lnSpc>
                <a:spcPct val="110000"/>
              </a:lnSpc>
              <a:spcAft>
                <a:spcPts val="600"/>
              </a:spcAft>
            </a:pPr>
            <a:r>
              <a:rPr sz="1550" b="0">
                <a:solidFill>
                  <a:srgbClr val="1F2A3A"/>
                </a:solidFill>
                <a:latin typeface="맑은 고딕"/>
                <a:ea typeface="맑은 고딕"/>
                <a:cs typeface="맑은 고딕"/>
              </a:rPr>
              <a:t>• 송신 측이 수신 측의 주소를 모두 안다</a:t>
            </a:r>
          </a:p>
          <a:p>
            <a:pPr algn="l" eaLnBrk="0" marL="177165" indent="-177165">
              <a:lnSpc>
                <a:spcPct val="110000"/>
              </a:lnSpc>
              <a:spcAft>
                <a:spcPts val="600"/>
              </a:spcAft>
            </a:pPr>
            <a:r>
              <a:rPr sz="1550" b="0">
                <a:solidFill>
                  <a:srgbClr val="1F2A3A"/>
                </a:solidFill>
                <a:latin typeface="맑은 고딕"/>
                <a:ea typeface="맑은 고딕"/>
                <a:cs typeface="맑은 고딕"/>
              </a:rPr>
              <a:t>• 수신 측이 하나 늘면 설비 쪽 프로그램을 고친다</a:t>
            </a:r>
          </a:p>
        </p:txBody>
      </p:sp>
      <p:sp>
        <p:nvSpPr>
          <p:cNvPr id="11" name="Rounded Rectangle 10"/>
          <p:cNvSpPr/>
          <p:nvPr/>
        </p:nvSpPr>
        <p:spPr>
          <a:xfrm>
            <a:off x="868680" y="4968811"/>
            <a:ext cx="102108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4968811"/>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강한 결합</a:t>
            </a:r>
          </a:p>
        </p:txBody>
      </p:sp>
      <p:sp>
        <p:nvSpPr>
          <p:cNvPr id="13" name="Rounded Rectangle 12"/>
          <p:cNvSpPr/>
          <p:nvPr/>
        </p:nvSpPr>
        <p:spPr>
          <a:xfrm>
            <a:off x="6461607" y="2556700"/>
            <a:ext cx="5181447" cy="2869311"/>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757868"/>
            <a:ext cx="731520" cy="731520"/>
          </a:xfrm>
          <a:prstGeom prst="ellipse">
            <a:avLst/>
          </a:prstGeom>
          <a:solidFill>
            <a:srgbClr val="5CB8F2"/>
          </a:solidFill>
          <a:ln>
            <a:noFill/>
          </a:ln>
        </p:spPr>
        <p:txBody>
          <a:bodyPr rtlCol="0" anchor="ctr"/>
          <a:lstStyle/>
          <a:p>
            <a:pPr algn="ctr"/>
          </a:p>
        </p:txBody>
      </p:sp>
      <p:pic>
        <p:nvPicPr>
          <p:cNvPr id="15" name="아이콘:broadcast" descr="broadcast_13294B_1.6.png"/>
          <p:cNvPicPr>
            <a:picLocks noChangeAspect="1"/>
          </p:cNvPicPr>
          <p:nvPr/>
        </p:nvPicPr>
        <p:blipFill>
          <a:blip r:embed="rId4"/>
          <a:stretch>
            <a:fillRect/>
          </a:stretch>
        </p:blipFill>
        <p:spPr>
          <a:xfrm>
            <a:off x="6889546" y="2911487"/>
            <a:ext cx="424281" cy="424281"/>
          </a:xfrm>
          <a:prstGeom prst="rect">
            <a:avLst/>
          </a:prstGeom>
        </p:spPr>
      </p:pic>
      <p:sp>
        <p:nvSpPr>
          <p:cNvPr id="16" name="TextBox 15"/>
          <p:cNvSpPr txBox="1"/>
          <p:nvPr/>
        </p:nvSpPr>
        <p:spPr>
          <a:xfrm>
            <a:off x="7604607" y="2757868"/>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메시지 브로커</a:t>
            </a:r>
          </a:p>
        </p:txBody>
      </p:sp>
      <p:sp>
        <p:nvSpPr>
          <p:cNvPr id="17" name="TextBox 16"/>
          <p:cNvSpPr txBox="1"/>
          <p:nvPr/>
        </p:nvSpPr>
        <p:spPr>
          <a:xfrm>
            <a:off x="6735927" y="3608260"/>
            <a:ext cx="4632807" cy="1269111"/>
          </a:xfrm>
          <a:prstGeom prst="rect">
            <a:avLst/>
          </a:prstGeom>
          <a:noFill/>
        </p:spPr>
        <p:txBody>
          <a:bodyPr wrap="square" anchor="t"/>
          <a:lstStyle/>
          <a:p>
            <a:pPr algn="l" eaLnBrk="0" marL="177165" indent="-177165">
              <a:lnSpc>
                <a:spcPct val="110000"/>
              </a:lnSpc>
              <a:spcAft>
                <a:spcPts val="600"/>
              </a:spcAft>
            </a:pPr>
            <a:r>
              <a:rPr sz="1550" b="0">
                <a:solidFill>
                  <a:srgbClr val="1F2A3A"/>
                </a:solidFill>
                <a:latin typeface="맑은 고딕"/>
                <a:ea typeface="맑은 고딕"/>
                <a:cs typeface="맑은 고딕"/>
              </a:rPr>
              <a:t>• 송신 측은 브로커에만 보낸다</a:t>
            </a:r>
          </a:p>
          <a:p>
            <a:pPr algn="l" eaLnBrk="0" marL="177165" indent="-177165">
              <a:lnSpc>
                <a:spcPct val="110000"/>
              </a:lnSpc>
              <a:spcAft>
                <a:spcPts val="600"/>
              </a:spcAft>
            </a:pPr>
            <a:r>
              <a:rPr sz="1550" b="0">
                <a:solidFill>
                  <a:srgbClr val="1F2A3A"/>
                </a:solidFill>
                <a:latin typeface="맑은 고딕"/>
                <a:ea typeface="맑은 고딕"/>
                <a:cs typeface="맑은 고딕"/>
              </a:rPr>
              <a:t>• 수신 측은 받을 주제를 브로커에 등록한다</a:t>
            </a:r>
          </a:p>
          <a:p>
            <a:pPr algn="l" eaLnBrk="0" marL="177165" indent="-177165">
              <a:lnSpc>
                <a:spcPct val="110000"/>
              </a:lnSpc>
              <a:spcAft>
                <a:spcPts val="600"/>
              </a:spcAft>
            </a:pPr>
            <a:r>
              <a:rPr sz="1550" b="0">
                <a:solidFill>
                  <a:srgbClr val="1F2A3A"/>
                </a:solidFill>
                <a:latin typeface="맑은 고딕"/>
                <a:ea typeface="맑은 고딕"/>
                <a:cs typeface="맑은 고딕"/>
              </a:rPr>
              <a:t>• 수신 측이 늘어도 설비 쪽은 그대로이다</a:t>
            </a:r>
          </a:p>
        </p:txBody>
      </p:sp>
      <p:sp>
        <p:nvSpPr>
          <p:cNvPr id="18" name="Rounded Rectangle 17"/>
          <p:cNvSpPr/>
          <p:nvPr/>
        </p:nvSpPr>
        <p:spPr>
          <a:xfrm>
            <a:off x="6781647" y="4968811"/>
            <a:ext cx="11734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4968811"/>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느슨한 결합</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MQTT와 브로커: 발행과 구독</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MQTT는 발행자와 구독자 사이의 </a:t>
            </a:r>
            <a:r>
              <a:rPr sz="1600" b="1">
                <a:solidFill>
                  <a:srgbClr val="1A6FC4"/>
                </a:solidFill>
                <a:latin typeface="맑은 고딕"/>
                <a:ea typeface="맑은 고딕"/>
                <a:cs typeface="맑은 고딕"/>
              </a:rPr>
              <a:t>브로커</a:t>
            </a:r>
            <a:r>
              <a:rPr sz="1600" b="0">
                <a:solidFill>
                  <a:srgbClr val="556175"/>
                </a:solidFill>
                <a:latin typeface="맑은 고딕"/>
                <a:ea typeface="맑은 고딕"/>
                <a:cs typeface="맑은 고딕"/>
              </a:rPr>
              <a:t>가 토픽에 따라 메시지를 전달하는 발행 · 구독 규약이다.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19</a:t>
            </a:r>
          </a:p>
        </p:txBody>
      </p:sp>
      <p:pic>
        <p:nvPicPr>
          <p:cNvPr id="6" name="삽화:리니지_1_MQTT.svg" descr="illust_5583530705850979951_1791978726.png"/>
          <p:cNvPicPr>
            <a:picLocks noChangeAspect="1"/>
          </p:cNvPicPr>
          <p:nvPr/>
        </p:nvPicPr>
        <p:blipFill>
          <a:blip r:embed="rId3"/>
          <a:stretch>
            <a:fillRect/>
          </a:stretch>
        </p:blipFill>
        <p:spPr>
          <a:xfrm>
            <a:off x="895655" y="1627632"/>
            <a:ext cx="10400385" cy="4727448"/>
          </a:xfrm>
          <a:prstGeom prst="rect">
            <a:avLst/>
          </a:prstGeom>
        </p:spPr>
      </p:pic>
      <p:sp>
        <p:nvSpPr>
          <p:cNvPr id="7" name="TextBox 6"/>
          <p:cNvSpPr txBox="1"/>
          <p:nvPr/>
        </p:nvSpPr>
        <p:spPr>
          <a:xfrm>
            <a:off x="1155664" y="4156816"/>
            <a:ext cx="1560057"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HYD-01</a:t>
            </a:r>
          </a:p>
          <a:p>
            <a:pPr algn="ctr" eaLnBrk="0">
              <a:lnSpc>
                <a:spcPct val="110000"/>
              </a:lnSpc>
              <a:spcAft>
                <a:spcPts val="100"/>
              </a:spcAft>
            </a:pPr>
            <a:r>
              <a:rPr sz="1100" b="0">
                <a:solidFill>
                  <a:srgbClr val="556175"/>
                </a:solidFill>
                <a:latin typeface="맑은 고딕"/>
                <a:ea typeface="맑은 고딕"/>
                <a:cs typeface="맑은 고딕"/>
              </a:rPr>
              <a:t>유온 TS1</a:t>
            </a:r>
          </a:p>
        </p:txBody>
      </p:sp>
      <p:sp>
        <p:nvSpPr>
          <p:cNvPr id="8" name="TextBox 7"/>
          <p:cNvSpPr txBox="1"/>
          <p:nvPr/>
        </p:nvSpPr>
        <p:spPr>
          <a:xfrm>
            <a:off x="3214940" y="4156816"/>
            <a:ext cx="1976073"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발행자(Publisher)</a:t>
            </a:r>
          </a:p>
          <a:p>
            <a:pPr algn="ctr" eaLnBrk="0">
              <a:lnSpc>
                <a:spcPct val="110000"/>
              </a:lnSpc>
              <a:spcAft>
                <a:spcPts val="100"/>
              </a:spcAft>
            </a:pPr>
            <a:r>
              <a:rPr sz="1100" b="0">
                <a:solidFill>
                  <a:srgbClr val="556175"/>
                </a:solidFill>
                <a:latin typeface="맑은 고딕"/>
                <a:ea typeface="맑은 고딕"/>
                <a:cs typeface="맑은 고딕"/>
              </a:rPr>
              <a:t>엣지 게이트웨이</a:t>
            </a:r>
          </a:p>
        </p:txBody>
      </p:sp>
      <p:sp>
        <p:nvSpPr>
          <p:cNvPr id="9" name="TextBox 8"/>
          <p:cNvSpPr txBox="1"/>
          <p:nvPr/>
        </p:nvSpPr>
        <p:spPr>
          <a:xfrm>
            <a:off x="5024607" y="2289474"/>
            <a:ext cx="1768065"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토픽(Topic)</a:t>
            </a:r>
          </a:p>
          <a:p>
            <a:pPr algn="ctr" eaLnBrk="0">
              <a:lnSpc>
                <a:spcPct val="110000"/>
              </a:lnSpc>
              <a:spcAft>
                <a:spcPts val="100"/>
              </a:spcAft>
            </a:pPr>
            <a:r>
              <a:rPr sz="1100" b="0">
                <a:solidFill>
                  <a:srgbClr val="556175"/>
                </a:solidFill>
                <a:latin typeface="맑은 고딕"/>
                <a:ea typeface="맑은 고딕"/>
                <a:cs typeface="맑은 고딕"/>
              </a:rPr>
              <a:t>plant/hyd01/tag/TS1</a:t>
            </a:r>
          </a:p>
        </p:txBody>
      </p:sp>
      <p:sp>
        <p:nvSpPr>
          <p:cNvPr id="10" name="TextBox 9"/>
          <p:cNvSpPr txBox="1"/>
          <p:nvPr/>
        </p:nvSpPr>
        <p:spPr>
          <a:xfrm>
            <a:off x="6771872" y="1958553"/>
            <a:ext cx="1664061" cy="337185"/>
          </a:xfrm>
          <a:prstGeom prst="rect">
            <a:avLst/>
          </a:prstGeom>
          <a:noFill/>
        </p:spPr>
        <p:txBody>
          <a:bodyPr wrap="square" anchor="t"/>
          <a:lstStyle/>
          <a:p>
            <a:pPr algn="ctr" eaLnBrk="0">
              <a:lnSpc>
                <a:spcPct val="110000"/>
              </a:lnSpc>
              <a:spcAft>
                <a:spcPts val="100"/>
              </a:spcAft>
            </a:pPr>
            <a:r>
              <a:rPr sz="1350" b="1">
                <a:solidFill>
                  <a:srgbClr val="1A6FC4"/>
                </a:solidFill>
                <a:latin typeface="맑은 고딕"/>
                <a:ea typeface="맑은 고딕"/>
                <a:cs typeface="맑은 고딕"/>
              </a:rPr>
              <a:t>브로커(Broker)</a:t>
            </a:r>
          </a:p>
        </p:txBody>
      </p:sp>
      <p:sp>
        <p:nvSpPr>
          <p:cNvPr id="11" name="TextBox 10"/>
          <p:cNvSpPr txBox="1"/>
          <p:nvPr/>
        </p:nvSpPr>
        <p:spPr>
          <a:xfrm>
            <a:off x="6615866" y="5598688"/>
            <a:ext cx="1976073"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구독자(Subscriber)</a:t>
            </a:r>
          </a:p>
          <a:p>
            <a:pPr algn="ctr" eaLnBrk="0">
              <a:lnSpc>
                <a:spcPct val="110000"/>
              </a:lnSpc>
              <a:spcAft>
                <a:spcPts val="100"/>
              </a:spcAft>
            </a:pPr>
            <a:r>
              <a:rPr sz="1100" b="0">
                <a:solidFill>
                  <a:srgbClr val="556175"/>
                </a:solidFill>
                <a:latin typeface="맑은 고딕"/>
                <a:ea typeface="맑은 고딕"/>
                <a:cs typeface="맑은 고딕"/>
              </a:rPr>
              <a:t>운전 화면</a:t>
            </a:r>
          </a:p>
        </p:txBody>
      </p:sp>
      <p:sp>
        <p:nvSpPr>
          <p:cNvPr id="12" name="TextBox 11"/>
          <p:cNvSpPr txBox="1"/>
          <p:nvPr/>
        </p:nvSpPr>
        <p:spPr>
          <a:xfrm>
            <a:off x="9174361" y="4156816"/>
            <a:ext cx="1976073"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구독자(Subscriber)</a:t>
            </a:r>
          </a:p>
          <a:p>
            <a:pPr algn="ctr" eaLnBrk="0">
              <a:lnSpc>
                <a:spcPct val="110000"/>
              </a:lnSpc>
              <a:spcAft>
                <a:spcPts val="100"/>
              </a:spcAft>
            </a:pPr>
            <a:r>
              <a:rPr sz="1100" b="0">
                <a:solidFill>
                  <a:srgbClr val="556175"/>
                </a:solidFill>
                <a:latin typeface="맑은 고딕"/>
                <a:ea typeface="맑은 고딕"/>
                <a:cs typeface="맑은 고딕"/>
              </a:rPr>
              <a:t>수집 서비스</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토픽의 구조: 빗금으로 나눈 계층형 주소</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토픽은 빗금으로 계층을 나눈 문자열이므로, 설비나 태그가 바뀌면 해당 자리만 달라진다.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20</a:t>
            </a:r>
          </a:p>
        </p:txBody>
      </p:sp>
      <p:sp>
        <p:nvSpPr>
          <p:cNvPr id="6" name="Rounded Rectangle 5"/>
          <p:cNvSpPr/>
          <p:nvPr/>
        </p:nvSpPr>
        <p:spPr>
          <a:xfrm>
            <a:off x="548640" y="2545207"/>
            <a:ext cx="6766560" cy="2892297"/>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682367"/>
            <a:ext cx="6400800" cy="2617978"/>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plant / hyd01 / tag / TS1</a:t>
            </a:r>
          </a:p>
          <a:p>
            <a:pPr algn="l" eaLnBrk="0">
              <a:lnSpc>
                <a:spcPct val="110000"/>
              </a:lnSpc>
              <a:spcAft>
                <a:spcPts val="200"/>
              </a:spcAft>
            </a:pPr>
          </a:p>
          <a:p>
            <a:pPr algn="l" eaLnBrk="0">
              <a:lnSpc>
                <a:spcPct val="110000"/>
              </a:lnSpc>
              <a:spcAft>
                <a:spcPts val="200"/>
              </a:spcAft>
            </a:pPr>
            <a:r>
              <a:rPr sz="1300" b="0">
                <a:solidFill>
                  <a:srgbClr val="E8EEF6"/>
                </a:solidFill>
                <a:latin typeface="Consolas"/>
                <a:ea typeface="맑은 고딕"/>
                <a:cs typeface="맑은 고딕"/>
              </a:rPr>
              <a:t>plant/hyd01/tag/TS1     HYD-01</a:t>
            </a:r>
            <a:r>
              <a:rPr sz="1300" b="0">
                <a:solidFill>
                  <a:srgbClr val="E8EEF6"/>
                </a:solidFill>
                <a:latin typeface="맑은 고딕"/>
                <a:ea typeface="맑은 고딕"/>
                <a:cs typeface="맑은 고딕"/>
              </a:rPr>
              <a:t>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유온</a:t>
            </a:r>
          </a:p>
          <a:p>
            <a:pPr algn="l" eaLnBrk="0">
              <a:lnSpc>
                <a:spcPct val="110000"/>
              </a:lnSpc>
              <a:spcAft>
                <a:spcPts val="200"/>
              </a:spcAft>
            </a:pPr>
            <a:r>
              <a:rPr sz="1300" b="0">
                <a:solidFill>
                  <a:srgbClr val="E8EEF6"/>
                </a:solidFill>
                <a:latin typeface="Consolas"/>
                <a:ea typeface="맑은 고딕"/>
                <a:cs typeface="맑은 고딕"/>
              </a:rPr>
              <a:t>plant/hyd01/tag/CE      HYD-01</a:t>
            </a:r>
            <a:r>
              <a:rPr sz="1300" b="0">
                <a:solidFill>
                  <a:srgbClr val="E8EEF6"/>
                </a:solidFill>
                <a:latin typeface="맑은 고딕"/>
                <a:ea typeface="맑은 고딕"/>
                <a:cs typeface="맑은 고딕"/>
              </a:rPr>
              <a:t>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냉각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효율</a:t>
            </a:r>
          </a:p>
          <a:p>
            <a:pPr algn="l" eaLnBrk="0">
              <a:lnSpc>
                <a:spcPct val="110000"/>
              </a:lnSpc>
              <a:spcAft>
                <a:spcPts val="200"/>
              </a:spcAft>
            </a:pPr>
            <a:r>
              <a:rPr sz="1300" b="0">
                <a:solidFill>
                  <a:srgbClr val="E8EEF6"/>
                </a:solidFill>
                <a:latin typeface="Consolas"/>
                <a:ea typeface="맑은 고딕"/>
                <a:cs typeface="맑은 고딕"/>
              </a:rPr>
              <a:t>plant/hyd02/tag/TS1     HYD-02</a:t>
            </a:r>
            <a:r>
              <a:rPr sz="1300" b="0">
                <a:solidFill>
                  <a:srgbClr val="E8EEF6"/>
                </a:solidFill>
                <a:latin typeface="맑은 고딕"/>
                <a:ea typeface="맑은 고딕"/>
                <a:cs typeface="맑은 고딕"/>
              </a:rPr>
              <a:t>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유온</a:t>
            </a:r>
          </a:p>
          <a:p>
            <a:pPr algn="l" eaLnBrk="0">
              <a:lnSpc>
                <a:spcPct val="110000"/>
              </a:lnSpc>
              <a:spcAft>
                <a:spcPts val="200"/>
              </a:spcAft>
            </a:pPr>
            <a:r>
              <a:rPr sz="1300" b="0">
                <a:solidFill>
                  <a:srgbClr val="E8EEF6"/>
                </a:solidFill>
                <a:latin typeface="Consolas"/>
                <a:ea typeface="맑은 고딕"/>
                <a:cs typeface="맑은 고딕"/>
              </a:rPr>
              <a:t>plant/hyd01/status      HYD-01</a:t>
            </a:r>
            <a:r>
              <a:rPr sz="1300" b="0">
                <a:solidFill>
                  <a:srgbClr val="E8EEF6"/>
                </a:solidFill>
                <a:latin typeface="맑은 고딕"/>
                <a:ea typeface="맑은 고딕"/>
                <a:cs typeface="맑은 고딕"/>
              </a:rPr>
              <a:t>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운전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상태</a:t>
            </a:r>
          </a:p>
        </p:txBody>
      </p:sp>
      <p:sp>
        <p:nvSpPr>
          <p:cNvPr id="8" name="TextBox 7"/>
          <p:cNvSpPr txBox="1"/>
          <p:nvPr/>
        </p:nvSpPr>
        <p:spPr>
          <a:xfrm>
            <a:off x="7635240" y="2545207"/>
            <a:ext cx="4007815" cy="964099"/>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hyd01</a:t>
            </a:r>
          </a:p>
          <a:p>
            <a:pPr algn="l" eaLnBrk="0">
              <a:lnSpc>
                <a:spcPct val="110000"/>
              </a:lnSpc>
              <a:spcAft>
                <a:spcPts val="400"/>
              </a:spcAft>
            </a:pPr>
            <a:r>
              <a:rPr sz="1400" b="0">
                <a:solidFill>
                  <a:srgbClr val="1F2A3A"/>
                </a:solidFill>
                <a:latin typeface="맑은 고딕"/>
                <a:ea typeface="맑은 고딕"/>
                <a:cs typeface="맑은 고딕"/>
              </a:rPr>
              <a:t>설비 자리이다. HYD-01, HYD-02, HYD-03 세 대가 hyd01, hyd02, hyd03으로 들어간다.</a:t>
            </a:r>
          </a:p>
        </p:txBody>
      </p:sp>
      <p:sp>
        <p:nvSpPr>
          <p:cNvPr id="9" name="TextBox 8"/>
          <p:cNvSpPr txBox="1"/>
          <p:nvPr/>
        </p:nvSpPr>
        <p:spPr>
          <a:xfrm>
            <a:off x="7635240" y="3509306"/>
            <a:ext cx="4007815" cy="964099"/>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tag · TS1</a:t>
            </a:r>
          </a:p>
          <a:p>
            <a:pPr algn="l" eaLnBrk="0">
              <a:lnSpc>
                <a:spcPct val="110000"/>
              </a:lnSpc>
              <a:spcAft>
                <a:spcPts val="400"/>
              </a:spcAft>
            </a:pPr>
            <a:r>
              <a:rPr sz="1400" b="0">
                <a:solidFill>
                  <a:srgbClr val="1F2A3A"/>
                </a:solidFill>
                <a:latin typeface="맑은 고딕"/>
                <a:ea typeface="맑은 고딕"/>
                <a:cs typeface="맑은 고딕"/>
              </a:rPr>
              <a:t>태그 값이라는 표시와 태그 이름이다.</a:t>
            </a:r>
          </a:p>
        </p:txBody>
      </p:sp>
      <p:sp>
        <p:nvSpPr>
          <p:cNvPr id="10" name="TextBox 9"/>
          <p:cNvSpPr txBox="1"/>
          <p:nvPr/>
        </p:nvSpPr>
        <p:spPr>
          <a:xfrm>
            <a:off x="7635240" y="4473405"/>
            <a:ext cx="4007815" cy="964099"/>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status</a:t>
            </a:r>
          </a:p>
          <a:p>
            <a:pPr algn="l" eaLnBrk="0">
              <a:lnSpc>
                <a:spcPct val="110000"/>
              </a:lnSpc>
              <a:spcAft>
                <a:spcPts val="400"/>
              </a:spcAft>
            </a:pPr>
            <a:r>
              <a:rPr sz="1400" b="0">
                <a:solidFill>
                  <a:srgbClr val="1F2A3A"/>
                </a:solidFill>
                <a:latin typeface="맑은 고딕"/>
                <a:ea typeface="맑은 고딕"/>
                <a:cs typeface="맑은 고딕"/>
              </a:rPr>
              <a:t>앞에서 본 운전 상태가 올라오는 토픽이다.</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OT와 IT를 직접 잇지 않는 이유</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외부와 연결된 IT의 침해가 설비 사고로 번지지 않도록, OT와 IT의 망을 나누어 직접 연결을 막는다.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21</a:t>
            </a:r>
          </a:p>
        </p:txBody>
      </p:sp>
      <p:sp>
        <p:nvSpPr>
          <p:cNvPr id="6" name="Rounded Rectangle 5"/>
          <p:cNvSpPr/>
          <p:nvPr/>
        </p:nvSpPr>
        <p:spPr>
          <a:xfrm>
            <a:off x="548640" y="2143505"/>
            <a:ext cx="5181447" cy="3695700"/>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344674"/>
            <a:ext cx="731520" cy="731520"/>
          </a:xfrm>
          <a:prstGeom prst="ellipse">
            <a:avLst/>
          </a:prstGeom>
          <a:solidFill>
            <a:srgbClr val="FFFFFF"/>
          </a:solidFill>
          <a:ln>
            <a:noFill/>
          </a:ln>
        </p:spPr>
        <p:txBody>
          <a:bodyPr rtlCol="0" anchor="ctr"/>
          <a:lstStyle/>
          <a:p>
            <a:pPr algn="ctr"/>
          </a:p>
        </p:txBody>
      </p:sp>
      <p:pic>
        <p:nvPicPr>
          <p:cNvPr id="8" name="아이콘:engine" descr="engine_13294B_1.6.png"/>
          <p:cNvPicPr>
            <a:picLocks noChangeAspect="1"/>
          </p:cNvPicPr>
          <p:nvPr/>
        </p:nvPicPr>
        <p:blipFill>
          <a:blip r:embed="rId3"/>
          <a:stretch>
            <a:fillRect/>
          </a:stretch>
        </p:blipFill>
        <p:spPr>
          <a:xfrm>
            <a:off x="976579" y="2498293"/>
            <a:ext cx="424281" cy="424281"/>
          </a:xfrm>
          <a:prstGeom prst="rect">
            <a:avLst/>
          </a:prstGeom>
        </p:spPr>
      </p:pic>
      <p:sp>
        <p:nvSpPr>
          <p:cNvPr id="9" name="TextBox 8"/>
          <p:cNvSpPr txBox="1"/>
          <p:nvPr/>
        </p:nvSpPr>
        <p:spPr>
          <a:xfrm>
            <a:off x="1691640" y="2344674"/>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OT</a:t>
            </a:r>
          </a:p>
        </p:txBody>
      </p:sp>
      <p:sp>
        <p:nvSpPr>
          <p:cNvPr id="10" name="TextBox 9"/>
          <p:cNvSpPr txBox="1"/>
          <p:nvPr/>
        </p:nvSpPr>
        <p:spPr>
          <a:xfrm>
            <a:off x="822959" y="3195065"/>
            <a:ext cx="4632807" cy="2095500"/>
          </a:xfrm>
          <a:prstGeom prst="rect">
            <a:avLst/>
          </a:prstGeom>
          <a:noFill/>
        </p:spPr>
        <p:txBody>
          <a:bodyPr wrap="square" anchor="t"/>
          <a:lstStyle/>
          <a:p>
            <a:pPr algn="l" eaLnBrk="0" marL="205740" indent="-205740">
              <a:lnSpc>
                <a:spcPct val="110000"/>
              </a:lnSpc>
              <a:spcAft>
                <a:spcPts val="600"/>
              </a:spcAft>
            </a:pPr>
            <a:r>
              <a:rPr sz="1800" b="0">
                <a:solidFill>
                  <a:srgbClr val="1F2A3A"/>
                </a:solidFill>
                <a:latin typeface="맑은 고딕"/>
                <a:ea typeface="맑은 고딕"/>
                <a:cs typeface="맑은 고딕"/>
              </a:rPr>
              <a:t>• Operational Technology</a:t>
            </a:r>
          </a:p>
          <a:p>
            <a:pPr algn="l" eaLnBrk="0" marL="205740" indent="-205740">
              <a:lnSpc>
                <a:spcPct val="110000"/>
              </a:lnSpc>
              <a:spcAft>
                <a:spcPts val="600"/>
              </a:spcAft>
            </a:pPr>
            <a:r>
              <a:rPr sz="1800" b="0">
                <a:solidFill>
                  <a:srgbClr val="1F2A3A"/>
                </a:solidFill>
                <a:latin typeface="맑은 고딕"/>
                <a:ea typeface="맑은 고딕"/>
                <a:cs typeface="맑은 고딕"/>
              </a:rPr>
              <a:t>• 설비를 직접 감시 · 제어한다</a:t>
            </a:r>
          </a:p>
          <a:p>
            <a:pPr algn="l" eaLnBrk="0" marL="205740" indent="-205740">
              <a:lnSpc>
                <a:spcPct val="110000"/>
              </a:lnSpc>
              <a:spcAft>
                <a:spcPts val="600"/>
              </a:spcAft>
            </a:pPr>
            <a:r>
              <a:rPr sz="1800" b="0">
                <a:solidFill>
                  <a:srgbClr val="1F2A3A"/>
                </a:solidFill>
                <a:latin typeface="맑은 고딕"/>
                <a:ea typeface="맑은 고딕"/>
                <a:cs typeface="맑은 고딕"/>
              </a:rPr>
              <a:t>• 가용성과 안전이 최우선이다</a:t>
            </a:r>
          </a:p>
          <a:p>
            <a:pPr algn="l" eaLnBrk="0" marL="205740" indent="-205740">
              <a:lnSpc>
                <a:spcPct val="110000"/>
              </a:lnSpc>
              <a:spcAft>
                <a:spcPts val="600"/>
              </a:spcAft>
            </a:pPr>
            <a:r>
              <a:rPr sz="1800" b="0">
                <a:solidFill>
                  <a:srgbClr val="1F2A3A"/>
                </a:solidFill>
                <a:latin typeface="맑은 고딕"/>
                <a:ea typeface="맑은 고딕"/>
                <a:cs typeface="맑은 고딕"/>
              </a:rPr>
              <a:t>• 잘못된 명령은 곧 설비 사고로 이어진다</a:t>
            </a:r>
          </a:p>
        </p:txBody>
      </p:sp>
      <p:sp>
        <p:nvSpPr>
          <p:cNvPr id="11" name="Rounded Rectangle 10"/>
          <p:cNvSpPr/>
          <p:nvPr/>
        </p:nvSpPr>
        <p:spPr>
          <a:xfrm>
            <a:off x="868680" y="5382006"/>
            <a:ext cx="137160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38200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가용성 · 안전</a:t>
            </a:r>
          </a:p>
        </p:txBody>
      </p:sp>
      <p:sp>
        <p:nvSpPr>
          <p:cNvPr id="13" name="Rounded Rectangle 12"/>
          <p:cNvSpPr/>
          <p:nvPr/>
        </p:nvSpPr>
        <p:spPr>
          <a:xfrm>
            <a:off x="6461607" y="2143505"/>
            <a:ext cx="5181447" cy="3695700"/>
          </a:xfrm>
          <a:prstGeom prst="roundRect">
            <a:avLst>
              <a:gd name="adj" fmla="val 4000"/>
            </a:avLst>
          </a:prstGeom>
          <a:solidFill>
            <a:srgbClr val="F3F6F9"/>
          </a:solidFill>
          <a:ln>
            <a:noFill/>
          </a:ln>
        </p:spPr>
        <p:txBody>
          <a:bodyPr rtlCol="0" anchor="ctr"/>
          <a:lstStyle/>
          <a:p>
            <a:pPr algn="ctr"/>
          </a:p>
        </p:txBody>
      </p:sp>
      <p:sp>
        <p:nvSpPr>
          <p:cNvPr id="14" name="Oval 13"/>
          <p:cNvSpPr/>
          <p:nvPr/>
        </p:nvSpPr>
        <p:spPr>
          <a:xfrm>
            <a:off x="6735927" y="2344674"/>
            <a:ext cx="731520" cy="731520"/>
          </a:xfrm>
          <a:prstGeom prst="ellipse">
            <a:avLst/>
          </a:prstGeom>
          <a:solidFill>
            <a:srgbClr val="FFFFFF"/>
          </a:solidFill>
          <a:ln>
            <a:noFill/>
          </a:ln>
        </p:spPr>
        <p:txBody>
          <a:bodyPr rtlCol="0" anchor="ctr"/>
          <a:lstStyle/>
          <a:p>
            <a:pPr algn="ctr"/>
          </a:p>
        </p:txBody>
      </p:sp>
      <p:pic>
        <p:nvPicPr>
          <p:cNvPr id="15" name="아이콘:world" descr="world_13294B_1.6.png"/>
          <p:cNvPicPr>
            <a:picLocks noChangeAspect="1"/>
          </p:cNvPicPr>
          <p:nvPr/>
        </p:nvPicPr>
        <p:blipFill>
          <a:blip r:embed="rId4"/>
          <a:stretch>
            <a:fillRect/>
          </a:stretch>
        </p:blipFill>
        <p:spPr>
          <a:xfrm>
            <a:off x="6889546" y="2498293"/>
            <a:ext cx="424281" cy="424281"/>
          </a:xfrm>
          <a:prstGeom prst="rect">
            <a:avLst/>
          </a:prstGeom>
        </p:spPr>
      </p:pic>
      <p:sp>
        <p:nvSpPr>
          <p:cNvPr id="16" name="TextBox 15"/>
          <p:cNvSpPr txBox="1"/>
          <p:nvPr/>
        </p:nvSpPr>
        <p:spPr>
          <a:xfrm>
            <a:off x="7604607" y="2344674"/>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IT</a:t>
            </a:r>
          </a:p>
        </p:txBody>
      </p:sp>
      <p:sp>
        <p:nvSpPr>
          <p:cNvPr id="17" name="TextBox 16"/>
          <p:cNvSpPr txBox="1"/>
          <p:nvPr/>
        </p:nvSpPr>
        <p:spPr>
          <a:xfrm>
            <a:off x="6735927" y="3195065"/>
            <a:ext cx="4632807" cy="2095500"/>
          </a:xfrm>
          <a:prstGeom prst="rect">
            <a:avLst/>
          </a:prstGeom>
          <a:noFill/>
        </p:spPr>
        <p:txBody>
          <a:bodyPr wrap="square" anchor="t"/>
          <a:lstStyle/>
          <a:p>
            <a:pPr algn="l" eaLnBrk="0" marL="205740" indent="-205740">
              <a:lnSpc>
                <a:spcPct val="110000"/>
              </a:lnSpc>
              <a:spcAft>
                <a:spcPts val="600"/>
              </a:spcAft>
            </a:pPr>
            <a:r>
              <a:rPr sz="1800" b="0">
                <a:solidFill>
                  <a:srgbClr val="1F2A3A"/>
                </a:solidFill>
                <a:latin typeface="맑은 고딕"/>
                <a:ea typeface="맑은 고딕"/>
                <a:cs typeface="맑은 고딕"/>
              </a:rPr>
              <a:t>• Information Technology</a:t>
            </a:r>
          </a:p>
          <a:p>
            <a:pPr algn="l" eaLnBrk="0" marL="205740" indent="-205740">
              <a:lnSpc>
                <a:spcPct val="110000"/>
              </a:lnSpc>
              <a:spcAft>
                <a:spcPts val="600"/>
              </a:spcAft>
            </a:pPr>
            <a:r>
              <a:rPr sz="1800" b="0">
                <a:solidFill>
                  <a:srgbClr val="1F2A3A"/>
                </a:solidFill>
                <a:latin typeface="맑은 고딕"/>
                <a:ea typeface="맑은 고딕"/>
                <a:cs typeface="맑은 고딕"/>
              </a:rPr>
              <a:t>• 업무 데이터를 다룬다</a:t>
            </a:r>
          </a:p>
          <a:p>
            <a:pPr algn="l" eaLnBrk="0" marL="205740" indent="-205740">
              <a:lnSpc>
                <a:spcPct val="110000"/>
              </a:lnSpc>
              <a:spcAft>
                <a:spcPts val="600"/>
              </a:spcAft>
            </a:pPr>
            <a:r>
              <a:rPr sz="1800" b="0">
                <a:solidFill>
                  <a:srgbClr val="1F2A3A"/>
                </a:solidFill>
                <a:latin typeface="맑은 고딕"/>
                <a:ea typeface="맑은 고딕"/>
                <a:cs typeface="맑은 고딕"/>
              </a:rPr>
              <a:t>• 사무망 · 인터넷과 연결되어 침해에 노출된다</a:t>
            </a:r>
          </a:p>
          <a:p>
            <a:pPr algn="l" eaLnBrk="0" marL="205740" indent="-205740">
              <a:lnSpc>
                <a:spcPct val="110000"/>
              </a:lnSpc>
              <a:spcAft>
                <a:spcPts val="600"/>
              </a:spcAft>
            </a:pPr>
            <a:r>
              <a:rPr sz="1800" b="0">
                <a:solidFill>
                  <a:srgbClr val="1F2A3A"/>
                </a:solidFill>
                <a:latin typeface="맑은 고딕"/>
                <a:ea typeface="맑은 고딕"/>
                <a:cs typeface="맑은 고딕"/>
              </a:rPr>
              <a:t>• 기밀성과 무결성이 최우선이다</a:t>
            </a:r>
          </a:p>
        </p:txBody>
      </p:sp>
      <p:sp>
        <p:nvSpPr>
          <p:cNvPr id="18" name="Rounded Rectangle 17"/>
          <p:cNvSpPr/>
          <p:nvPr/>
        </p:nvSpPr>
        <p:spPr>
          <a:xfrm>
            <a:off x="6781647" y="5382006"/>
            <a:ext cx="1523999" cy="292608"/>
          </a:xfrm>
          <a:prstGeom prst="roundRect">
            <a:avLst>
              <a:gd name="adj" fmla="val 50000"/>
            </a:avLst>
          </a:prstGeom>
          <a:solidFill>
            <a:srgbClr val="D3D9E1"/>
          </a:solidFill>
          <a:ln>
            <a:noFill/>
          </a:ln>
        </p:spPr>
        <p:txBody>
          <a:bodyPr rtlCol="0" anchor="ctr"/>
          <a:lstStyle/>
          <a:p>
            <a:pPr algn="ctr"/>
          </a:p>
        </p:txBody>
      </p:sp>
      <p:sp>
        <p:nvSpPr>
          <p:cNvPr id="19" name="TextBox 18"/>
          <p:cNvSpPr txBox="1"/>
          <p:nvPr/>
        </p:nvSpPr>
        <p:spPr>
          <a:xfrm>
            <a:off x="6781647" y="5382006"/>
            <a:ext cx="152399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기밀성 · 무결성</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완충 구역 DMZ와 한 방향 수집</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OT와 IT 사이의 완충 구역 </a:t>
            </a:r>
            <a:r>
              <a:rPr sz="1600" b="1">
                <a:solidFill>
                  <a:srgbClr val="1A6FC4"/>
                </a:solidFill>
                <a:latin typeface="맑은 고딕"/>
                <a:ea typeface="맑은 고딕"/>
                <a:cs typeface="맑은 고딕"/>
              </a:rPr>
              <a:t>DMZ</a:t>
            </a:r>
            <a:r>
              <a:rPr sz="1600" b="0">
                <a:solidFill>
                  <a:srgbClr val="556175"/>
                </a:solidFill>
                <a:latin typeface="맑은 고딕"/>
                <a:ea typeface="맑은 고딕"/>
                <a:cs typeface="맑은 고딕"/>
              </a:rPr>
              <a:t>에서, 수집 서비스는 OT 데이터를 IT로만 복제한다.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22</a:t>
            </a:r>
          </a:p>
        </p:txBody>
      </p:sp>
      <p:pic>
        <p:nvPicPr>
          <p:cNvPr id="6" name="삽화:리니지_2_DMZ.svg" descr="illust_3483439472721433341_179195996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652009" y="1755273"/>
            <a:ext cx="2290993" cy="778764"/>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OT</a:t>
            </a:r>
          </a:p>
          <a:p>
            <a:pPr algn="ctr" eaLnBrk="0">
              <a:lnSpc>
                <a:spcPct val="110000"/>
              </a:lnSpc>
              <a:spcAft>
                <a:spcPts val="100"/>
              </a:spcAft>
            </a:pPr>
            <a:r>
              <a:rPr sz="1250" b="0">
                <a:solidFill>
                  <a:srgbClr val="556175"/>
                </a:solidFill>
                <a:latin typeface="맑은 고딕"/>
                <a:ea typeface="맑은 고딕"/>
                <a:cs typeface="맑은 고딕"/>
              </a:rPr>
              <a:t>설비를 감시 · 제어하는 영역</a:t>
            </a:r>
          </a:p>
        </p:txBody>
      </p:sp>
      <p:sp>
        <p:nvSpPr>
          <p:cNvPr id="8" name="TextBox 7"/>
          <p:cNvSpPr txBox="1"/>
          <p:nvPr/>
        </p:nvSpPr>
        <p:spPr>
          <a:xfrm>
            <a:off x="5315818" y="1755273"/>
            <a:ext cx="1690971" cy="778764"/>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DMZ</a:t>
            </a:r>
          </a:p>
          <a:p>
            <a:pPr algn="ctr" eaLnBrk="0">
              <a:lnSpc>
                <a:spcPct val="110000"/>
              </a:lnSpc>
              <a:spcAft>
                <a:spcPts val="100"/>
              </a:spcAft>
            </a:pPr>
            <a:r>
              <a:rPr sz="1250" b="0">
                <a:solidFill>
                  <a:srgbClr val="556175"/>
                </a:solidFill>
                <a:latin typeface="맑은 고딕"/>
                <a:ea typeface="맑은 고딕"/>
                <a:cs typeface="맑은 고딕"/>
              </a:rPr>
              <a:t>OT와 IT 사이의 구역</a:t>
            </a:r>
          </a:p>
        </p:txBody>
      </p:sp>
      <p:sp>
        <p:nvSpPr>
          <p:cNvPr id="9" name="TextBox 8"/>
          <p:cNvSpPr txBox="1"/>
          <p:nvPr/>
        </p:nvSpPr>
        <p:spPr>
          <a:xfrm>
            <a:off x="9434153" y="1755273"/>
            <a:ext cx="1963709" cy="778764"/>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IT</a:t>
            </a:r>
          </a:p>
          <a:p>
            <a:pPr algn="ctr" eaLnBrk="0">
              <a:lnSpc>
                <a:spcPct val="110000"/>
              </a:lnSpc>
              <a:spcAft>
                <a:spcPts val="100"/>
              </a:spcAft>
            </a:pPr>
            <a:r>
              <a:rPr sz="1200" b="0">
                <a:solidFill>
                  <a:srgbClr val="556175"/>
                </a:solidFill>
                <a:latin typeface="맑은 고딕"/>
                <a:ea typeface="맑은 고딕"/>
                <a:cs typeface="맑은 고딕"/>
              </a:rPr>
              <a:t>기록 · 분석 · 판단 영역</a:t>
            </a:r>
          </a:p>
        </p:txBody>
      </p:sp>
      <p:sp>
        <p:nvSpPr>
          <p:cNvPr id="10" name="TextBox 9"/>
          <p:cNvSpPr txBox="1"/>
          <p:nvPr/>
        </p:nvSpPr>
        <p:spPr>
          <a:xfrm>
            <a:off x="3826672" y="2454935"/>
            <a:ext cx="109094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브로커</a:t>
            </a:r>
          </a:p>
        </p:txBody>
      </p:sp>
      <p:sp>
        <p:nvSpPr>
          <p:cNvPr id="11" name="TextBox 10"/>
          <p:cNvSpPr txBox="1"/>
          <p:nvPr/>
        </p:nvSpPr>
        <p:spPr>
          <a:xfrm>
            <a:off x="5315818" y="3991356"/>
            <a:ext cx="1690971" cy="1383029"/>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수집 서비스</a:t>
            </a:r>
          </a:p>
          <a:p>
            <a:pPr algn="ctr" eaLnBrk="0">
              <a:lnSpc>
                <a:spcPct val="110000"/>
              </a:lnSpc>
              <a:spcAft>
                <a:spcPts val="100"/>
              </a:spcAft>
            </a:pPr>
            <a:r>
              <a:rPr sz="1300" b="0">
                <a:solidFill>
                  <a:srgbClr val="556175"/>
                </a:solidFill>
                <a:latin typeface="맑은 고딕"/>
                <a:ea typeface="맑은 고딕"/>
                <a:cs typeface="맑은 고딕"/>
              </a:rPr>
              <a:t>브로커를 구독해</a:t>
            </a:r>
          </a:p>
          <a:p>
            <a:pPr algn="ctr" eaLnBrk="0">
              <a:lnSpc>
                <a:spcPct val="110000"/>
              </a:lnSpc>
              <a:spcAft>
                <a:spcPts val="100"/>
              </a:spcAft>
            </a:pPr>
            <a:r>
              <a:rPr sz="1300" b="0">
                <a:solidFill>
                  <a:srgbClr val="556175"/>
                </a:solidFill>
                <a:latin typeface="맑은 고딕"/>
                <a:ea typeface="맑은 고딕"/>
                <a:cs typeface="맑은 고딕"/>
              </a:rPr>
              <a:t>이벤트 로그로</a:t>
            </a:r>
          </a:p>
          <a:p>
            <a:pPr algn="ctr" eaLnBrk="0">
              <a:lnSpc>
                <a:spcPct val="110000"/>
              </a:lnSpc>
              <a:spcAft>
                <a:spcPts val="100"/>
              </a:spcAft>
            </a:pPr>
            <a:r>
              <a:rPr sz="1300" b="0">
                <a:solidFill>
                  <a:srgbClr val="556175"/>
                </a:solidFill>
                <a:latin typeface="맑은 고딕"/>
                <a:ea typeface="맑은 고딕"/>
                <a:cs typeface="맑은 고딕"/>
              </a:rPr>
              <a:t>단방향 복제한다</a:t>
            </a:r>
          </a:p>
          <a:p>
            <a:pPr algn="ctr" eaLnBrk="0">
              <a:lnSpc>
                <a:spcPct val="110000"/>
              </a:lnSpc>
              <a:spcAft>
                <a:spcPts val="100"/>
              </a:spcAft>
            </a:pPr>
            <a:r>
              <a:rPr sz="1300" b="0">
                <a:solidFill>
                  <a:srgbClr val="556175"/>
                </a:solidFill>
                <a:latin typeface="맑은 고딕"/>
                <a:ea typeface="맑은 고딕"/>
                <a:cs typeface="맑은 고딕"/>
              </a:rPr>
              <a:t>OT로는 발행하지 않는다</a:t>
            </a:r>
          </a:p>
        </p:txBody>
      </p:sp>
      <p:sp>
        <p:nvSpPr>
          <p:cNvPr id="12" name="TextBox 11"/>
          <p:cNvSpPr txBox="1"/>
          <p:nvPr/>
        </p:nvSpPr>
        <p:spPr>
          <a:xfrm>
            <a:off x="7219525" y="2209108"/>
            <a:ext cx="1636424" cy="778764"/>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이벤트 로그</a:t>
            </a:r>
          </a:p>
          <a:p>
            <a:pPr algn="ctr" eaLnBrk="0">
              <a:lnSpc>
                <a:spcPct val="110000"/>
              </a:lnSpc>
              <a:spcAft>
                <a:spcPts val="100"/>
              </a:spcAft>
            </a:pPr>
            <a:r>
              <a:rPr sz="1300" b="0">
                <a:solidFill>
                  <a:srgbClr val="556175"/>
                </a:solidFill>
                <a:latin typeface="맑은 고딕"/>
                <a:ea typeface="맑은 고딕"/>
                <a:cs typeface="맑은 고딕"/>
              </a:rPr>
              <a:t>받은 순서대로</a:t>
            </a:r>
          </a:p>
          <a:p>
            <a:pPr algn="ctr" eaLnBrk="0">
              <a:lnSpc>
                <a:spcPct val="110000"/>
              </a:lnSpc>
              <a:spcAft>
                <a:spcPts val="100"/>
              </a:spcAft>
            </a:pPr>
            <a:r>
              <a:rPr sz="1300" b="0">
                <a:solidFill>
                  <a:srgbClr val="556175"/>
                </a:solidFill>
                <a:latin typeface="맑은 고딕"/>
                <a:ea typeface="맑은 고딕"/>
                <a:cs typeface="맑은 고딕"/>
              </a:rPr>
              <a:t>쌓아 두는 기록</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Layer 3 · 이벤트 로그: 추가 전용 기록과 재처리</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메시지를 레코드로 바꿔 이벤트 로그에 덧붙이면, 소비자는 각자 오프셋을 기준으로 읽고 다시 읽는다.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23</a:t>
            </a:r>
          </a:p>
        </p:txBody>
      </p:sp>
      <p:sp>
        <p:nvSpPr>
          <p:cNvPr id="6" name="Rounded Rectangle 5"/>
          <p:cNvSpPr/>
          <p:nvPr/>
        </p:nvSpPr>
        <p:spPr>
          <a:xfrm>
            <a:off x="548640" y="1627632"/>
            <a:ext cx="6766560" cy="4727448"/>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1764792"/>
            <a:ext cx="6400800" cy="4453128"/>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브로커가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전달한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메시지</a:t>
            </a:r>
          </a:p>
          <a:p>
            <a:pPr algn="l" eaLnBrk="0">
              <a:lnSpc>
                <a:spcPct val="110000"/>
              </a:lnSpc>
              <a:spcAft>
                <a:spcPts val="200"/>
              </a:spcAft>
            </a:pPr>
            <a:r>
              <a:rPr sz="1300" b="0">
                <a:solidFill>
                  <a:srgbClr val="E8EEF6"/>
                </a:solidFill>
                <a:latin typeface="Consolas"/>
                <a:ea typeface="맑은 고딕"/>
                <a:cs typeface="맑은 고딕"/>
              </a:rPr>
              <a:t>topic    plant/hyd01/tag/TS1</a:t>
            </a:r>
          </a:p>
          <a:p>
            <a:pPr algn="l" eaLnBrk="0">
              <a:lnSpc>
                <a:spcPct val="110000"/>
              </a:lnSpc>
              <a:spcAft>
                <a:spcPts val="200"/>
              </a:spcAft>
            </a:pPr>
            <a:r>
              <a:rPr sz="1300" b="0">
                <a:solidFill>
                  <a:srgbClr val="E8EEF6"/>
                </a:solidFill>
                <a:latin typeface="Consolas"/>
                <a:ea typeface="맑은 고딕"/>
                <a:cs typeface="맑은 고딕"/>
              </a:rPr>
              <a:t>payload  {"t": "2026-10-10T02:13:08.508Z",</a:t>
            </a:r>
          </a:p>
          <a:p>
            <a:pPr algn="l" eaLnBrk="0">
              <a:lnSpc>
                <a:spcPct val="110000"/>
              </a:lnSpc>
              <a:spcAft>
                <a:spcPts val="200"/>
              </a:spcAft>
            </a:pPr>
            <a:r>
              <a:rPr sz="1300" b="0">
                <a:solidFill>
                  <a:srgbClr val="E8EEF6"/>
                </a:solidFill>
                <a:latin typeface="Consolas"/>
                <a:ea typeface="맑은 고딕"/>
                <a:cs typeface="맑은 고딕"/>
              </a:rPr>
              <a:t>          "v": 55.71, "q": "good"}</a:t>
            </a:r>
          </a:p>
          <a:p>
            <a:pPr algn="l" eaLnBrk="0">
              <a:lnSpc>
                <a:spcPct val="110000"/>
              </a:lnSpc>
              <a:spcAft>
                <a:spcPts val="200"/>
              </a:spcAft>
            </a:pP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이벤트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로그에</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남은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레코드</a:t>
            </a:r>
          </a:p>
          <a:p>
            <a:pPr algn="l" eaLnBrk="0">
              <a:lnSpc>
                <a:spcPct val="110000"/>
              </a:lnSpc>
              <a:spcAft>
                <a:spcPts val="200"/>
              </a:spcAft>
            </a:pPr>
            <a:r>
              <a:rPr sz="1300" b="0">
                <a:solidFill>
                  <a:srgbClr val="E8EEF6"/>
                </a:solidFill>
                <a:latin typeface="Consolas"/>
                <a:ea typeface="맑은 고딕"/>
                <a:cs typeface="맑은 고딕"/>
              </a:rPr>
              <a:t>topic    plant.tag</a:t>
            </a:r>
          </a:p>
          <a:p>
            <a:pPr algn="l" eaLnBrk="0">
              <a:lnSpc>
                <a:spcPct val="110000"/>
              </a:lnSpc>
              <a:spcAft>
                <a:spcPts val="200"/>
              </a:spcAft>
            </a:pPr>
            <a:r>
              <a:rPr sz="1300" b="0">
                <a:solidFill>
                  <a:srgbClr val="E8EEF6"/>
                </a:solidFill>
                <a:latin typeface="Consolas"/>
                <a:ea typeface="맑은 고딕"/>
                <a:cs typeface="맑은 고딕"/>
              </a:rPr>
              <a:t>key      hyd01</a:t>
            </a:r>
          </a:p>
          <a:p>
            <a:pPr algn="l" eaLnBrk="0">
              <a:lnSpc>
                <a:spcPct val="110000"/>
              </a:lnSpc>
              <a:spcAft>
                <a:spcPts val="200"/>
              </a:spcAft>
            </a:pPr>
            <a:r>
              <a:rPr sz="1300" b="0">
                <a:solidFill>
                  <a:srgbClr val="E8EEF6"/>
                </a:solidFill>
                <a:latin typeface="Consolas"/>
                <a:ea typeface="맑은 고딕"/>
                <a:cs typeface="맑은 고딕"/>
              </a:rPr>
              <a:t>value    {"asset": "HYD-01", "name": "TS1",</a:t>
            </a:r>
          </a:p>
          <a:p>
            <a:pPr algn="l" eaLnBrk="0">
              <a:lnSpc>
                <a:spcPct val="110000"/>
              </a:lnSpc>
              <a:spcAft>
                <a:spcPts val="200"/>
              </a:spcAft>
            </a:pPr>
            <a:r>
              <a:rPr sz="1300" b="0">
                <a:solidFill>
                  <a:srgbClr val="E8EEF6"/>
                </a:solidFill>
                <a:latin typeface="Consolas"/>
                <a:ea typeface="맑은 고딕"/>
                <a:cs typeface="맑은 고딕"/>
              </a:rPr>
              <a:t>          "t": "2026-10-10T02:13:08.508Z",</a:t>
            </a:r>
          </a:p>
          <a:p>
            <a:pPr algn="l" eaLnBrk="0">
              <a:lnSpc>
                <a:spcPct val="110000"/>
              </a:lnSpc>
              <a:spcAft>
                <a:spcPts val="200"/>
              </a:spcAft>
            </a:pPr>
            <a:r>
              <a:rPr sz="1300" b="0">
                <a:solidFill>
                  <a:srgbClr val="E8EEF6"/>
                </a:solidFill>
                <a:latin typeface="Consolas"/>
                <a:ea typeface="맑은 고딕"/>
                <a:cs typeface="맑은 고딕"/>
              </a:rPr>
              <a:t>          "v": 55.71, "q": "good"}</a:t>
            </a:r>
          </a:p>
        </p:txBody>
      </p:sp>
      <p:sp>
        <p:nvSpPr>
          <p:cNvPr id="8" name="TextBox 7"/>
          <p:cNvSpPr txBox="1"/>
          <p:nvPr/>
        </p:nvSpPr>
        <p:spPr>
          <a:xfrm>
            <a:off x="7635240" y="1627632"/>
            <a:ext cx="4007815" cy="118186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추가 전용 로그(Append-only Log)</a:t>
            </a:r>
          </a:p>
          <a:p>
            <a:pPr algn="l" eaLnBrk="0">
              <a:lnSpc>
                <a:spcPct val="110000"/>
              </a:lnSpc>
              <a:spcAft>
                <a:spcPts val="400"/>
              </a:spcAft>
            </a:pPr>
            <a:r>
              <a:rPr sz="1400" b="0">
                <a:solidFill>
                  <a:srgbClr val="1F2A3A"/>
                </a:solidFill>
                <a:latin typeface="맑은 고딕"/>
                <a:ea typeface="맑은 고딕"/>
                <a:cs typeface="맑은 고딕"/>
              </a:rPr>
              <a:t>생산자(Producer)가 쓴 레코드를 받은 순서대로 뒤에 덧붙이기만 한다. 이 역할에는 Kafka 같은 것이 있다.</a:t>
            </a:r>
          </a:p>
        </p:txBody>
      </p:sp>
      <p:sp>
        <p:nvSpPr>
          <p:cNvPr id="9" name="TextBox 8"/>
          <p:cNvSpPr txBox="1"/>
          <p:nvPr/>
        </p:nvSpPr>
        <p:spPr>
          <a:xfrm>
            <a:off x="7635240" y="2809494"/>
            <a:ext cx="4007815" cy="118186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오프셋(Offset)</a:t>
            </a:r>
          </a:p>
          <a:p>
            <a:pPr algn="l" eaLnBrk="0">
              <a:lnSpc>
                <a:spcPct val="110000"/>
              </a:lnSpc>
              <a:spcAft>
                <a:spcPts val="400"/>
              </a:spcAft>
            </a:pPr>
            <a:r>
              <a:rPr sz="1400" b="0">
                <a:solidFill>
                  <a:srgbClr val="1F2A3A"/>
                </a:solidFill>
                <a:latin typeface="맑은 고딕"/>
                <a:ea typeface="맑은 고딕"/>
                <a:cs typeface="맑은 고딕"/>
              </a:rPr>
              <a:t>소비자(Consumer)마다 어디까지 읽었는지의 위치이다. 되돌리면 처음부터 다시 읽는다(재처리).</a:t>
            </a:r>
          </a:p>
        </p:txBody>
      </p:sp>
      <p:sp>
        <p:nvSpPr>
          <p:cNvPr id="10" name="TextBox 9"/>
          <p:cNvSpPr txBox="1"/>
          <p:nvPr/>
        </p:nvSpPr>
        <p:spPr>
          <a:xfrm>
            <a:off x="7635240" y="3991356"/>
            <a:ext cx="4007815" cy="118186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asset · name</a:t>
            </a:r>
          </a:p>
          <a:p>
            <a:pPr algn="l" eaLnBrk="0">
              <a:lnSpc>
                <a:spcPct val="110000"/>
              </a:lnSpc>
              <a:spcAft>
                <a:spcPts val="400"/>
              </a:spcAft>
            </a:pPr>
            <a:r>
              <a:rPr sz="1400" b="0">
                <a:solidFill>
                  <a:srgbClr val="1F2A3A"/>
                </a:solidFill>
                <a:latin typeface="맑은 고딕"/>
                <a:ea typeface="맑은 고딕"/>
                <a:cs typeface="맑은 고딕"/>
              </a:rPr>
              <a:t>토픽 경로에 있던 설비와 태그 이름이 페이로드(본문) 안으로 들어왔다.</a:t>
            </a:r>
          </a:p>
        </p:txBody>
      </p:sp>
      <p:sp>
        <p:nvSpPr>
          <p:cNvPr id="11" name="TextBox 10"/>
          <p:cNvSpPr txBox="1"/>
          <p:nvPr/>
        </p:nvSpPr>
        <p:spPr>
          <a:xfrm>
            <a:off x="7635240" y="5173218"/>
            <a:ext cx="4007815" cy="118186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key hyd01</a:t>
            </a:r>
          </a:p>
          <a:p>
            <a:pPr algn="l" eaLnBrk="0">
              <a:lnSpc>
                <a:spcPct val="110000"/>
              </a:lnSpc>
              <a:spcAft>
                <a:spcPts val="400"/>
              </a:spcAft>
            </a:pPr>
            <a:r>
              <a:rPr sz="1400" b="0">
                <a:solidFill>
                  <a:srgbClr val="1F2A3A"/>
                </a:solidFill>
                <a:latin typeface="맑은 고딕"/>
                <a:ea typeface="맑은 고딕"/>
                <a:cs typeface="맑은 고딕"/>
              </a:rPr>
              <a:t>같은 설비의 레코드를 한 줄로 모아 잰 순서대로 읽히게 한다.</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Layer 4 · 스트림 처리: 흐르는 데이터에서 알아챈다</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감지 서비스는 이상을 제때 알아차리도록, 이벤트 로그에 데이터가 기록되는 대로 읽어 조건과 비교한다.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24</a:t>
            </a:r>
          </a:p>
        </p:txBody>
      </p:sp>
      <p:sp>
        <p:nvSpPr>
          <p:cNvPr id="6" name="Rounded Rectangle 5"/>
          <p:cNvSpPr/>
          <p:nvPr/>
        </p:nvSpPr>
        <p:spPr>
          <a:xfrm>
            <a:off x="548640" y="2105406"/>
            <a:ext cx="5181447" cy="3771900"/>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306574"/>
            <a:ext cx="731520" cy="731520"/>
          </a:xfrm>
          <a:prstGeom prst="ellipse">
            <a:avLst/>
          </a:prstGeom>
          <a:solidFill>
            <a:srgbClr val="FFFFFF"/>
          </a:solidFill>
          <a:ln>
            <a:noFill/>
          </a:ln>
        </p:spPr>
        <p:txBody>
          <a:bodyPr rtlCol="0" anchor="ctr"/>
          <a:lstStyle/>
          <a:p>
            <a:pPr algn="ctr"/>
          </a:p>
        </p:txBody>
      </p:sp>
      <p:pic>
        <p:nvPicPr>
          <p:cNvPr id="8" name="아이콘:database" descr="database_13294B_1.6.png"/>
          <p:cNvPicPr>
            <a:picLocks noChangeAspect="1"/>
          </p:cNvPicPr>
          <p:nvPr/>
        </p:nvPicPr>
        <p:blipFill>
          <a:blip r:embed="rId3"/>
          <a:stretch>
            <a:fillRect/>
          </a:stretch>
        </p:blipFill>
        <p:spPr>
          <a:xfrm>
            <a:off x="976579" y="2460193"/>
            <a:ext cx="424281" cy="424281"/>
          </a:xfrm>
          <a:prstGeom prst="rect">
            <a:avLst/>
          </a:prstGeom>
        </p:spPr>
      </p:pic>
      <p:sp>
        <p:nvSpPr>
          <p:cNvPr id="9" name="TextBox 8"/>
          <p:cNvSpPr txBox="1"/>
          <p:nvPr/>
        </p:nvSpPr>
        <p:spPr>
          <a:xfrm>
            <a:off x="1691640" y="2306574"/>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배치 처리</a:t>
            </a:r>
          </a:p>
        </p:txBody>
      </p:sp>
      <p:sp>
        <p:nvSpPr>
          <p:cNvPr id="10" name="TextBox 9"/>
          <p:cNvSpPr txBox="1"/>
          <p:nvPr/>
        </p:nvSpPr>
        <p:spPr>
          <a:xfrm>
            <a:off x="822959" y="3156966"/>
            <a:ext cx="4632807" cy="2171700"/>
          </a:xfrm>
          <a:prstGeom prst="rect">
            <a:avLst/>
          </a:prstGeom>
          <a:noFill/>
        </p:spPr>
        <p:txBody>
          <a:bodyPr wrap="square" anchor="t"/>
          <a:lstStyle/>
          <a:p>
            <a:pPr algn="l" eaLnBrk="0" marL="171450" indent="-171450">
              <a:lnSpc>
                <a:spcPct val="110000"/>
              </a:lnSpc>
              <a:spcAft>
                <a:spcPts val="600"/>
              </a:spcAft>
            </a:pPr>
            <a:r>
              <a:rPr sz="1500" b="0">
                <a:solidFill>
                  <a:srgbClr val="1F2A3A"/>
                </a:solidFill>
                <a:latin typeface="맑은 고딕"/>
                <a:ea typeface="맑은 고딕"/>
                <a:cs typeface="맑은 고딕"/>
              </a:rPr>
              <a:t>• 데이터를 저장소에 쌓은 뒤 주기적으로 질의한다</a:t>
            </a:r>
          </a:p>
          <a:p>
            <a:pPr algn="l" eaLnBrk="0" marL="171450" indent="-171450">
              <a:lnSpc>
                <a:spcPct val="110000"/>
              </a:lnSpc>
              <a:spcAft>
                <a:spcPts val="600"/>
              </a:spcAft>
            </a:pPr>
            <a:r>
              <a:rPr sz="1500" b="0">
                <a:solidFill>
                  <a:srgbClr val="1F2A3A"/>
                </a:solidFill>
                <a:latin typeface="맑은 고딕"/>
                <a:ea typeface="맑은 고딕"/>
                <a:cs typeface="맑은 고딕"/>
              </a:rPr>
              <a:t>• 이상이 생긴 시점과 알아차리는 시점 사이에 지연이 생긴다</a:t>
            </a:r>
          </a:p>
        </p:txBody>
      </p:sp>
      <p:sp>
        <p:nvSpPr>
          <p:cNvPr id="11" name="Rounded Rectangle 10"/>
          <p:cNvSpPr/>
          <p:nvPr/>
        </p:nvSpPr>
        <p:spPr>
          <a:xfrm>
            <a:off x="868680" y="5420106"/>
            <a:ext cx="117348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420106"/>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나중에 조회</a:t>
            </a:r>
          </a:p>
        </p:txBody>
      </p:sp>
      <p:sp>
        <p:nvSpPr>
          <p:cNvPr id="13" name="Rounded Rectangle 12"/>
          <p:cNvSpPr/>
          <p:nvPr/>
        </p:nvSpPr>
        <p:spPr>
          <a:xfrm>
            <a:off x="6461607" y="2105406"/>
            <a:ext cx="5181447" cy="3771900"/>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306574"/>
            <a:ext cx="731520" cy="731520"/>
          </a:xfrm>
          <a:prstGeom prst="ellipse">
            <a:avLst/>
          </a:prstGeom>
          <a:solidFill>
            <a:srgbClr val="5CB8F2"/>
          </a:solidFill>
          <a:ln>
            <a:noFill/>
          </a:ln>
        </p:spPr>
        <p:txBody>
          <a:bodyPr rtlCol="0" anchor="ctr"/>
          <a:lstStyle/>
          <a:p>
            <a:pPr algn="ctr"/>
          </a:p>
        </p:txBody>
      </p:sp>
      <p:pic>
        <p:nvPicPr>
          <p:cNvPr id="15" name="아이콘:radar" descr="radar_13294B_1.6.png"/>
          <p:cNvPicPr>
            <a:picLocks noChangeAspect="1"/>
          </p:cNvPicPr>
          <p:nvPr/>
        </p:nvPicPr>
        <p:blipFill>
          <a:blip r:embed="rId4"/>
          <a:stretch>
            <a:fillRect/>
          </a:stretch>
        </p:blipFill>
        <p:spPr>
          <a:xfrm>
            <a:off x="6889546" y="2460193"/>
            <a:ext cx="424281" cy="424281"/>
          </a:xfrm>
          <a:prstGeom prst="rect">
            <a:avLst/>
          </a:prstGeom>
        </p:spPr>
      </p:pic>
      <p:sp>
        <p:nvSpPr>
          <p:cNvPr id="16" name="TextBox 15"/>
          <p:cNvSpPr txBox="1"/>
          <p:nvPr/>
        </p:nvSpPr>
        <p:spPr>
          <a:xfrm>
            <a:off x="7604607" y="2306574"/>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스트림 처리</a:t>
            </a:r>
          </a:p>
        </p:txBody>
      </p:sp>
      <p:sp>
        <p:nvSpPr>
          <p:cNvPr id="17" name="TextBox 16"/>
          <p:cNvSpPr txBox="1"/>
          <p:nvPr/>
        </p:nvSpPr>
        <p:spPr>
          <a:xfrm>
            <a:off x="6735927" y="3156966"/>
            <a:ext cx="4632807" cy="2171700"/>
          </a:xfrm>
          <a:prstGeom prst="rect">
            <a:avLst/>
          </a:prstGeom>
          <a:noFill/>
        </p:spPr>
        <p:txBody>
          <a:bodyPr wrap="square" anchor="t"/>
          <a:lstStyle/>
          <a:p>
            <a:pPr algn="l" eaLnBrk="0" marL="171450" indent="-171450">
              <a:lnSpc>
                <a:spcPct val="110000"/>
              </a:lnSpc>
              <a:spcAft>
                <a:spcPts val="600"/>
              </a:spcAft>
            </a:pPr>
            <a:r>
              <a:rPr sz="1500" b="0">
                <a:solidFill>
                  <a:srgbClr val="1F2A3A"/>
                </a:solidFill>
                <a:latin typeface="맑은 고딕"/>
                <a:ea typeface="맑은 고딕"/>
                <a:cs typeface="맑은 고딕"/>
              </a:rPr>
              <a:t>• 데이터가 기록되는 대로 하나씩 받아 조건과 비교한다</a:t>
            </a:r>
          </a:p>
          <a:p>
            <a:pPr algn="l" eaLnBrk="0" marL="171450" indent="-171450">
              <a:lnSpc>
                <a:spcPct val="110000"/>
              </a:lnSpc>
              <a:spcAft>
                <a:spcPts val="600"/>
              </a:spcAft>
            </a:pPr>
            <a:r>
              <a:rPr sz="1500" b="0">
                <a:solidFill>
                  <a:srgbClr val="1F2A3A"/>
                </a:solidFill>
                <a:latin typeface="맑은 고딕"/>
                <a:ea typeface="맑은 고딕"/>
                <a:cs typeface="맑은 고딕"/>
              </a:rPr>
              <a:t>• 끊임없이 도착하는 데이터를 그 자리에서 처리하는 방식이 스트림 처리(Stream Processing)이다</a:t>
            </a:r>
          </a:p>
          <a:p>
            <a:pPr algn="l" eaLnBrk="0" marL="171450" indent="-171450">
              <a:lnSpc>
                <a:spcPct val="110000"/>
              </a:lnSpc>
              <a:spcAft>
                <a:spcPts val="600"/>
              </a:spcAft>
            </a:pPr>
            <a:r>
              <a:rPr sz="1500" b="0">
                <a:solidFill>
                  <a:srgbClr val="1F2A3A"/>
                </a:solidFill>
                <a:latin typeface="맑은 고딕"/>
                <a:ea typeface="맑은 고딕"/>
                <a:cs typeface="맑은 고딕"/>
              </a:rPr>
              <a:t>• 이 역할에는 Flink 같은 스트림 처리 엔진이 있다</a:t>
            </a:r>
          </a:p>
        </p:txBody>
      </p:sp>
      <p:sp>
        <p:nvSpPr>
          <p:cNvPr id="18" name="Rounded Rectangle 17"/>
          <p:cNvSpPr/>
          <p:nvPr/>
        </p:nvSpPr>
        <p:spPr>
          <a:xfrm>
            <a:off x="6781647" y="5420106"/>
            <a:ext cx="1523999"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420106"/>
            <a:ext cx="152399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그 자리에서 판정</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복합 이벤트 처리: 경보 조건과 유지 시간</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유온 하나로 경보를 내지 않고, 유온·냉각 효율·상승 추세의 조건이 유지 시간 동안 이어지는지 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25</a:t>
            </a:r>
          </a:p>
        </p:txBody>
      </p:sp>
      <p:pic>
        <p:nvPicPr>
          <p:cNvPr id="6" name="Picture 5" descr="그래프_경보순간_TS1.png"/>
          <p:cNvPicPr>
            <a:picLocks noChangeAspect="1"/>
          </p:cNvPicPr>
          <p:nvPr/>
        </p:nvPicPr>
        <p:blipFill>
          <a:blip r:embed="rId3"/>
          <a:stretch>
            <a:fillRect/>
          </a:stretch>
        </p:blipFill>
        <p:spPr>
          <a:xfrm>
            <a:off x="548640" y="1682496"/>
            <a:ext cx="7223760" cy="4572000"/>
          </a:xfrm>
          <a:prstGeom prst="rect">
            <a:avLst/>
          </a:prstGeom>
          <a:ln w="12700">
            <a:solidFill>
              <a:srgbClr val="D3D9E1"/>
            </a:solidFill>
          </a:ln>
        </p:spPr>
      </p:pic>
      <p:sp>
        <p:nvSpPr>
          <p:cNvPr id="7" name="Oval 6"/>
          <p:cNvSpPr/>
          <p:nvPr/>
        </p:nvSpPr>
        <p:spPr>
          <a:xfrm>
            <a:off x="8138160" y="1682496"/>
            <a:ext cx="347472" cy="347472"/>
          </a:xfrm>
          <a:prstGeom prst="ellipse">
            <a:avLst/>
          </a:prstGeom>
          <a:solidFill>
            <a:srgbClr val="5CB8F2"/>
          </a:solidFill>
          <a:ln>
            <a:noFill/>
          </a:ln>
        </p:spPr>
        <p:txBody>
          <a:bodyPr rtlCol="0" anchor="ctr"/>
          <a:lstStyle/>
          <a:p>
            <a:pPr algn="ctr"/>
          </a:p>
        </p:txBody>
      </p:sp>
      <p:sp>
        <p:nvSpPr>
          <p:cNvPr id="8" name="TextBox 7"/>
          <p:cNvSpPr txBox="1"/>
          <p:nvPr/>
        </p:nvSpPr>
        <p:spPr>
          <a:xfrm>
            <a:off x="8138160" y="1682496"/>
            <a:ext cx="347472" cy="347472"/>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1</a:t>
            </a:r>
          </a:p>
        </p:txBody>
      </p:sp>
      <p:sp>
        <p:nvSpPr>
          <p:cNvPr id="9" name="TextBox 8"/>
          <p:cNvSpPr txBox="1"/>
          <p:nvPr/>
        </p:nvSpPr>
        <p:spPr>
          <a:xfrm>
            <a:off x="8549640" y="1627632"/>
            <a:ext cx="3093415" cy="1170432"/>
          </a:xfrm>
          <a:prstGeom prst="rect">
            <a:avLst/>
          </a:prstGeom>
          <a:noFill/>
        </p:spPr>
        <p:txBody>
          <a:bodyPr wrap="square" anchor="t"/>
          <a:lstStyle/>
          <a:p>
            <a:pPr algn="l" eaLnBrk="0">
              <a:lnSpc>
                <a:spcPct val="110000"/>
              </a:lnSpc>
              <a:spcAft>
                <a:spcPts val="400"/>
              </a:spcAft>
            </a:pPr>
            <a:r>
              <a:rPr sz="1700" b="1">
                <a:solidFill>
                  <a:srgbClr val="13294B"/>
                </a:solidFill>
                <a:latin typeface="맑은 고딕"/>
                <a:ea typeface="맑은 고딕"/>
                <a:cs typeface="맑은 고딕"/>
              </a:rPr>
              <a:t>경보: 세 조건 모두 충족</a:t>
            </a:r>
          </a:p>
          <a:p>
            <a:pPr algn="l" eaLnBrk="0">
              <a:lnSpc>
                <a:spcPct val="110000"/>
              </a:lnSpc>
              <a:spcAft>
                <a:spcPts val="400"/>
              </a:spcAft>
            </a:pPr>
            <a:r>
              <a:rPr sz="1400" b="0">
                <a:solidFill>
                  <a:srgbClr val="1F2A3A"/>
                </a:solidFill>
                <a:latin typeface="맑은 고딕"/>
                <a:ea typeface="맑은 고딕"/>
                <a:cs typeface="맑은 고딕"/>
              </a:rPr>
              <a:t>유온 TS1 &gt; 55 ℃</a:t>
            </a:r>
          </a:p>
          <a:p>
            <a:pPr algn="l" eaLnBrk="0">
              <a:lnSpc>
                <a:spcPct val="110000"/>
              </a:lnSpc>
              <a:spcAft>
                <a:spcPts val="400"/>
              </a:spcAft>
            </a:pPr>
            <a:r>
              <a:rPr sz="1400" b="0">
                <a:solidFill>
                  <a:srgbClr val="1F2A3A"/>
                </a:solidFill>
                <a:latin typeface="맑은 고딕"/>
                <a:ea typeface="맑은 고딕"/>
                <a:cs typeface="맑은 고딕"/>
              </a:rPr>
              <a:t>냉각 효율 CE &lt; 70 %</a:t>
            </a:r>
          </a:p>
          <a:p>
            <a:pPr algn="l" eaLnBrk="0">
              <a:lnSpc>
                <a:spcPct val="110000"/>
              </a:lnSpc>
              <a:spcAft>
                <a:spcPts val="400"/>
              </a:spcAft>
            </a:pPr>
            <a:r>
              <a:rPr sz="1400" b="0">
                <a:solidFill>
                  <a:srgbClr val="1F2A3A"/>
                </a:solidFill>
                <a:latin typeface="맑은 고딕"/>
                <a:ea typeface="맑은 고딕"/>
                <a:cs typeface="맑은 고딕"/>
              </a:rPr>
              <a:t>유온 기울기 &gt; 0 (상승 중)</a:t>
            </a:r>
          </a:p>
        </p:txBody>
      </p:sp>
      <p:sp>
        <p:nvSpPr>
          <p:cNvPr id="10" name="Oval 9"/>
          <p:cNvSpPr/>
          <p:nvPr/>
        </p:nvSpPr>
        <p:spPr>
          <a:xfrm>
            <a:off x="8138160" y="2852928"/>
            <a:ext cx="347472" cy="347472"/>
          </a:xfrm>
          <a:prstGeom prst="ellipse">
            <a:avLst/>
          </a:prstGeom>
          <a:solidFill>
            <a:srgbClr val="13294B"/>
          </a:solidFill>
          <a:ln>
            <a:noFill/>
          </a:ln>
        </p:spPr>
        <p:txBody>
          <a:bodyPr rtlCol="0" anchor="ctr"/>
          <a:lstStyle/>
          <a:p>
            <a:pPr algn="ctr"/>
          </a:p>
        </p:txBody>
      </p:sp>
      <p:sp>
        <p:nvSpPr>
          <p:cNvPr id="11" name="TextBox 10"/>
          <p:cNvSpPr txBox="1"/>
          <p:nvPr/>
        </p:nvSpPr>
        <p:spPr>
          <a:xfrm>
            <a:off x="8138160" y="2852928"/>
            <a:ext cx="347472" cy="347472"/>
          </a:xfrm>
          <a:prstGeom prst="rect">
            <a:avLst/>
          </a:prstGeom>
          <a:noFill/>
        </p:spPr>
        <p:txBody>
          <a:bodyPr wrap="square" anchor="ctr"/>
          <a:lstStyle/>
          <a:p>
            <a:pPr algn="ctr" eaLnBrk="0">
              <a:lnSpc>
                <a:spcPct val="110000"/>
              </a:lnSpc>
            </a:pPr>
            <a:r>
              <a:rPr sz="1200" b="1">
                <a:solidFill>
                  <a:srgbClr val="FFFFFF"/>
                </a:solidFill>
                <a:latin typeface="맑은 고딕"/>
                <a:ea typeface="맑은 고딕"/>
                <a:cs typeface="맑은 고딕"/>
              </a:rPr>
              <a:t>2</a:t>
            </a:r>
          </a:p>
        </p:txBody>
      </p:sp>
      <p:sp>
        <p:nvSpPr>
          <p:cNvPr id="12" name="TextBox 11"/>
          <p:cNvSpPr txBox="1"/>
          <p:nvPr/>
        </p:nvSpPr>
        <p:spPr>
          <a:xfrm>
            <a:off x="8549640" y="2798064"/>
            <a:ext cx="3093415" cy="1170432"/>
          </a:xfrm>
          <a:prstGeom prst="rect">
            <a:avLst/>
          </a:prstGeom>
          <a:noFill/>
        </p:spPr>
        <p:txBody>
          <a:bodyPr wrap="square" anchor="t"/>
          <a:lstStyle/>
          <a:p>
            <a:pPr algn="l" eaLnBrk="0">
              <a:lnSpc>
                <a:spcPct val="110000"/>
              </a:lnSpc>
              <a:spcAft>
                <a:spcPts val="400"/>
              </a:spcAft>
            </a:pPr>
            <a:r>
              <a:rPr sz="1700" b="1">
                <a:solidFill>
                  <a:srgbClr val="13294B"/>
                </a:solidFill>
                <a:latin typeface="맑은 고딕"/>
                <a:ea typeface="맑은 고딕"/>
                <a:cs typeface="맑은 고딕"/>
              </a:rPr>
              <a:t>기준을 넘음 11:13:04</a:t>
            </a:r>
          </a:p>
          <a:p>
            <a:pPr algn="l" eaLnBrk="0">
              <a:lnSpc>
                <a:spcPct val="110000"/>
              </a:lnSpc>
              <a:spcAft>
                <a:spcPts val="400"/>
              </a:spcAft>
            </a:pPr>
            <a:r>
              <a:rPr sz="1400" b="0">
                <a:solidFill>
                  <a:srgbClr val="1F2A3A"/>
                </a:solidFill>
                <a:latin typeface="맑은 고딕"/>
                <a:ea typeface="맑은 고딕"/>
                <a:cs typeface="맑은 고딕"/>
              </a:rPr>
              <a:t>유온이 55 ℃를 넘었다. 아직 경보는 없다.</a:t>
            </a:r>
          </a:p>
        </p:txBody>
      </p:sp>
      <p:sp>
        <p:nvSpPr>
          <p:cNvPr id="13" name="Oval 12"/>
          <p:cNvSpPr/>
          <p:nvPr/>
        </p:nvSpPr>
        <p:spPr>
          <a:xfrm>
            <a:off x="8138160" y="4023359"/>
            <a:ext cx="347472" cy="347472"/>
          </a:xfrm>
          <a:prstGeom prst="ellipse">
            <a:avLst/>
          </a:prstGeom>
          <a:solidFill>
            <a:srgbClr val="5CB8F2"/>
          </a:solidFill>
          <a:ln>
            <a:noFill/>
          </a:ln>
        </p:spPr>
        <p:txBody>
          <a:bodyPr rtlCol="0" anchor="ctr"/>
          <a:lstStyle/>
          <a:p>
            <a:pPr algn="ctr"/>
          </a:p>
        </p:txBody>
      </p:sp>
      <p:sp>
        <p:nvSpPr>
          <p:cNvPr id="14" name="TextBox 13"/>
          <p:cNvSpPr txBox="1"/>
          <p:nvPr/>
        </p:nvSpPr>
        <p:spPr>
          <a:xfrm>
            <a:off x="8138160" y="4023359"/>
            <a:ext cx="347472" cy="347472"/>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3</a:t>
            </a:r>
          </a:p>
        </p:txBody>
      </p:sp>
      <p:sp>
        <p:nvSpPr>
          <p:cNvPr id="15" name="TextBox 14"/>
          <p:cNvSpPr txBox="1"/>
          <p:nvPr/>
        </p:nvSpPr>
        <p:spPr>
          <a:xfrm>
            <a:off x="8549640" y="3968496"/>
            <a:ext cx="3093415" cy="1170432"/>
          </a:xfrm>
          <a:prstGeom prst="rect">
            <a:avLst/>
          </a:prstGeom>
          <a:noFill/>
        </p:spPr>
        <p:txBody>
          <a:bodyPr wrap="square" anchor="t"/>
          <a:lstStyle/>
          <a:p>
            <a:pPr algn="l" eaLnBrk="0">
              <a:lnSpc>
                <a:spcPct val="110000"/>
              </a:lnSpc>
              <a:spcAft>
                <a:spcPts val="400"/>
              </a:spcAft>
            </a:pPr>
            <a:r>
              <a:rPr sz="1700" b="1">
                <a:solidFill>
                  <a:srgbClr val="13294B"/>
                </a:solidFill>
                <a:latin typeface="맑은 고딕"/>
                <a:ea typeface="맑은 고딕"/>
                <a:cs typeface="맑은 고딕"/>
              </a:rPr>
              <a:t>경보 발생 11:13:08</a:t>
            </a:r>
          </a:p>
          <a:p>
            <a:pPr algn="l" eaLnBrk="0">
              <a:lnSpc>
                <a:spcPct val="110000"/>
              </a:lnSpc>
              <a:spcAft>
                <a:spcPts val="400"/>
              </a:spcAft>
            </a:pPr>
            <a:r>
              <a:rPr sz="1400" b="0">
                <a:solidFill>
                  <a:srgbClr val="1F2A3A"/>
                </a:solidFill>
                <a:latin typeface="맑은 고딕"/>
                <a:ea typeface="맑은 고딕"/>
                <a:cs typeface="맑은 고딕"/>
              </a:rPr>
              <a:t>기준을 넘은 첫 관측에서 4.0초 뒤에 경보가 울렸다. 이때 유온은 55.71 ℃였다.</a:t>
            </a:r>
          </a:p>
        </p:txBody>
      </p:sp>
      <p:sp>
        <p:nvSpPr>
          <p:cNvPr id="16" name="Oval 15"/>
          <p:cNvSpPr/>
          <p:nvPr/>
        </p:nvSpPr>
        <p:spPr>
          <a:xfrm>
            <a:off x="8138160" y="5193792"/>
            <a:ext cx="347472" cy="347472"/>
          </a:xfrm>
          <a:prstGeom prst="ellipse">
            <a:avLst/>
          </a:prstGeom>
          <a:solidFill>
            <a:srgbClr val="13294B"/>
          </a:solidFill>
          <a:ln>
            <a:noFill/>
          </a:ln>
        </p:spPr>
        <p:txBody>
          <a:bodyPr rtlCol="0" anchor="ctr"/>
          <a:lstStyle/>
          <a:p>
            <a:pPr algn="ctr"/>
          </a:p>
        </p:txBody>
      </p:sp>
      <p:sp>
        <p:nvSpPr>
          <p:cNvPr id="17" name="TextBox 16"/>
          <p:cNvSpPr txBox="1"/>
          <p:nvPr/>
        </p:nvSpPr>
        <p:spPr>
          <a:xfrm>
            <a:off x="8138160" y="5193792"/>
            <a:ext cx="347472" cy="347472"/>
          </a:xfrm>
          <a:prstGeom prst="rect">
            <a:avLst/>
          </a:prstGeom>
          <a:noFill/>
        </p:spPr>
        <p:txBody>
          <a:bodyPr wrap="square" anchor="ctr"/>
          <a:lstStyle/>
          <a:p>
            <a:pPr algn="ctr" eaLnBrk="0">
              <a:lnSpc>
                <a:spcPct val="110000"/>
              </a:lnSpc>
            </a:pPr>
            <a:r>
              <a:rPr sz="1200" b="1">
                <a:solidFill>
                  <a:srgbClr val="FFFFFF"/>
                </a:solidFill>
                <a:latin typeface="맑은 고딕"/>
                <a:ea typeface="맑은 고딕"/>
                <a:cs typeface="맑은 고딕"/>
              </a:rPr>
              <a:t>4</a:t>
            </a:r>
          </a:p>
        </p:txBody>
      </p:sp>
      <p:sp>
        <p:nvSpPr>
          <p:cNvPr id="18" name="TextBox 17"/>
          <p:cNvSpPr txBox="1"/>
          <p:nvPr/>
        </p:nvSpPr>
        <p:spPr>
          <a:xfrm>
            <a:off x="8549640" y="5138928"/>
            <a:ext cx="3093415" cy="1170432"/>
          </a:xfrm>
          <a:prstGeom prst="rect">
            <a:avLst/>
          </a:prstGeom>
          <a:noFill/>
        </p:spPr>
        <p:txBody>
          <a:bodyPr wrap="square" anchor="t"/>
          <a:lstStyle/>
          <a:p>
            <a:pPr algn="l" eaLnBrk="0">
              <a:lnSpc>
                <a:spcPct val="110000"/>
              </a:lnSpc>
              <a:spcAft>
                <a:spcPts val="400"/>
              </a:spcAft>
            </a:pPr>
            <a:r>
              <a:rPr sz="1700" b="1">
                <a:solidFill>
                  <a:srgbClr val="13294B"/>
                </a:solidFill>
                <a:latin typeface="맑은 고딕"/>
                <a:ea typeface="맑은 고딕"/>
                <a:cs typeface="맑은 고딕"/>
              </a:rPr>
              <a:t>유지 시간(Hold Time)</a:t>
            </a:r>
          </a:p>
          <a:p>
            <a:pPr algn="l" eaLnBrk="0">
              <a:lnSpc>
                <a:spcPct val="110000"/>
              </a:lnSpc>
              <a:spcAft>
                <a:spcPts val="400"/>
              </a:spcAft>
            </a:pPr>
            <a:r>
              <a:rPr sz="1400" b="0">
                <a:solidFill>
                  <a:srgbClr val="1F2A3A"/>
                </a:solidFill>
                <a:latin typeface="맑은 고딕"/>
                <a:ea typeface="맑은 고딕"/>
                <a:cs typeface="맑은 고딕"/>
              </a:rPr>
              <a:t>조건이 정해진 시간 동안 이어져야 경보가 성립한다. 잠깐 튄 값에는 울리지 않는다.</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이상 이벤트: 경보 한 건의 실제 모습</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이상 이벤트는 일어난 일을 남긴 기록이며, 경보에는 식별자와 발생 당시의 근거 값이 함께 실린다.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26</a:t>
            </a:r>
          </a:p>
        </p:txBody>
      </p:sp>
      <p:sp>
        <p:nvSpPr>
          <p:cNvPr id="6" name="Rounded Rectangle 5"/>
          <p:cNvSpPr/>
          <p:nvPr/>
        </p:nvSpPr>
        <p:spPr>
          <a:xfrm>
            <a:off x="548640" y="1882394"/>
            <a:ext cx="6766560" cy="4217924"/>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019554"/>
            <a:ext cx="6400800" cy="3943604"/>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alertId    ALT-hyd01-0014-e0a1</a:t>
            </a:r>
          </a:p>
          <a:p>
            <a:pPr algn="l" eaLnBrk="0">
              <a:lnSpc>
                <a:spcPct val="110000"/>
              </a:lnSpc>
              <a:spcAft>
                <a:spcPts val="200"/>
              </a:spcAft>
            </a:pPr>
            <a:r>
              <a:rPr sz="1300" b="0">
                <a:solidFill>
                  <a:srgbClr val="E8EEF6"/>
                </a:solidFill>
                <a:latin typeface="Consolas"/>
                <a:ea typeface="맑은 고딕"/>
                <a:cs typeface="맑은 고딕"/>
              </a:rPr>
              <a:t>asset      HYD-01</a:t>
            </a:r>
          </a:p>
          <a:p>
            <a:pPr algn="l" eaLnBrk="0">
              <a:lnSpc>
                <a:spcPct val="110000"/>
              </a:lnSpc>
              <a:spcAft>
                <a:spcPts val="200"/>
              </a:spcAft>
            </a:pPr>
            <a:r>
              <a:rPr sz="1300" b="0">
                <a:solidFill>
                  <a:srgbClr val="E8EEF6"/>
                </a:solidFill>
                <a:latin typeface="Consolas"/>
                <a:ea typeface="맑은 고딕"/>
                <a:cs typeface="맑은 고딕"/>
              </a:rPr>
              <a:t>pattern    COOLER_DEGRADATION</a:t>
            </a:r>
          </a:p>
          <a:p>
            <a:pPr algn="l" eaLnBrk="0">
              <a:lnSpc>
                <a:spcPct val="110000"/>
              </a:lnSpc>
              <a:spcAft>
                <a:spcPts val="200"/>
              </a:spcAft>
            </a:pPr>
            <a:r>
              <a:rPr sz="1300" b="0">
                <a:solidFill>
                  <a:srgbClr val="E8EEF6"/>
                </a:solidFill>
                <a:latin typeface="Consolas"/>
                <a:ea typeface="맑은 고딕"/>
                <a:cs typeface="맑은 고딕"/>
              </a:rPr>
              <a:t>severity   HIGH</a:t>
            </a:r>
          </a:p>
          <a:p>
            <a:pPr algn="l" eaLnBrk="0">
              <a:lnSpc>
                <a:spcPct val="110000"/>
              </a:lnSpc>
              <a:spcAft>
                <a:spcPts val="200"/>
              </a:spcAft>
            </a:pPr>
            <a:r>
              <a:rPr sz="1300" b="0">
                <a:solidFill>
                  <a:srgbClr val="E8EEF6"/>
                </a:solidFill>
                <a:latin typeface="Consolas"/>
                <a:ea typeface="맑은 고딕"/>
                <a:cs typeface="맑은 고딕"/>
              </a:rPr>
              <a:t>state      RAISE</a:t>
            </a:r>
          </a:p>
          <a:p>
            <a:pPr algn="l" eaLnBrk="0">
              <a:lnSpc>
                <a:spcPct val="110000"/>
              </a:lnSpc>
              <a:spcAft>
                <a:spcPts val="200"/>
              </a:spcAft>
            </a:pPr>
            <a:r>
              <a:rPr sz="1300" b="0">
                <a:solidFill>
                  <a:srgbClr val="E8EEF6"/>
                </a:solidFill>
                <a:latin typeface="Consolas"/>
                <a:ea typeface="맑은 고딕"/>
                <a:cs typeface="맑은 고딕"/>
              </a:rPr>
              <a:t>t          2026-10-10 11:13:08</a:t>
            </a:r>
          </a:p>
          <a:p>
            <a:pPr algn="l" eaLnBrk="0">
              <a:lnSpc>
                <a:spcPct val="110000"/>
              </a:lnSpc>
              <a:spcAft>
                <a:spcPts val="200"/>
              </a:spcAft>
            </a:pPr>
          </a:p>
          <a:p>
            <a:pPr algn="l" eaLnBrk="0">
              <a:lnSpc>
                <a:spcPct val="110000"/>
              </a:lnSpc>
              <a:spcAft>
                <a:spcPts val="200"/>
              </a:spcAft>
            </a:pPr>
            <a:r>
              <a:rPr sz="1300" b="0">
                <a:solidFill>
                  <a:srgbClr val="E8EEF6"/>
                </a:solidFill>
                <a:latin typeface="Consolas"/>
                <a:ea typeface="맑은 고딕"/>
                <a:cs typeface="맑은 고딕"/>
              </a:rPr>
              <a:t>values     TS1 55.71, CE 46.2</a:t>
            </a:r>
          </a:p>
        </p:txBody>
      </p:sp>
      <p:sp>
        <p:nvSpPr>
          <p:cNvPr id="8" name="TextBox 7"/>
          <p:cNvSpPr txBox="1"/>
          <p:nvPr/>
        </p:nvSpPr>
        <p:spPr>
          <a:xfrm>
            <a:off x="7635240" y="1882394"/>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alertId</a:t>
            </a:r>
          </a:p>
          <a:p>
            <a:pPr algn="l" eaLnBrk="0">
              <a:lnSpc>
                <a:spcPct val="110000"/>
              </a:lnSpc>
              <a:spcAft>
                <a:spcPts val="400"/>
              </a:spcAft>
            </a:pPr>
            <a:r>
              <a:rPr sz="1400" b="0">
                <a:solidFill>
                  <a:srgbClr val="1F2A3A"/>
                </a:solidFill>
                <a:latin typeface="맑은 고딕"/>
                <a:ea typeface="맑은 고딕"/>
                <a:cs typeface="맑은 고딕"/>
              </a:rPr>
              <a:t>이 경보 한 건을 가리키는 식별자이다.</a:t>
            </a:r>
          </a:p>
        </p:txBody>
      </p:sp>
      <p:sp>
        <p:nvSpPr>
          <p:cNvPr id="9" name="TextBox 8"/>
          <p:cNvSpPr txBox="1"/>
          <p:nvPr/>
        </p:nvSpPr>
        <p:spPr>
          <a:xfrm>
            <a:off x="7635240" y="2936875"/>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pattern</a:t>
            </a:r>
          </a:p>
          <a:p>
            <a:pPr algn="l" eaLnBrk="0">
              <a:lnSpc>
                <a:spcPct val="110000"/>
              </a:lnSpc>
              <a:spcAft>
                <a:spcPts val="400"/>
              </a:spcAft>
            </a:pPr>
            <a:r>
              <a:rPr sz="1400" b="0">
                <a:solidFill>
                  <a:srgbClr val="1F2A3A"/>
                </a:solidFill>
                <a:latin typeface="맑은 고딕"/>
                <a:ea typeface="맑은 고딕"/>
                <a:cs typeface="맑은 고딕"/>
              </a:rPr>
              <a:t>어떤 조건이 성립했는지를 나타낸다. 쿨러 성능 저하이다.</a:t>
            </a:r>
          </a:p>
        </p:txBody>
      </p:sp>
      <p:sp>
        <p:nvSpPr>
          <p:cNvPr id="10" name="TextBox 9"/>
          <p:cNvSpPr txBox="1"/>
          <p:nvPr/>
        </p:nvSpPr>
        <p:spPr>
          <a:xfrm>
            <a:off x="7635240" y="3991356"/>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values</a:t>
            </a:r>
          </a:p>
          <a:p>
            <a:pPr algn="l" eaLnBrk="0">
              <a:lnSpc>
                <a:spcPct val="110000"/>
              </a:lnSpc>
              <a:spcAft>
                <a:spcPts val="400"/>
              </a:spcAft>
            </a:pPr>
            <a:r>
              <a:rPr sz="1400" b="0">
                <a:solidFill>
                  <a:srgbClr val="1F2A3A"/>
                </a:solidFill>
                <a:latin typeface="맑은 고딕"/>
                <a:ea typeface="맑은 고딕"/>
                <a:cs typeface="맑은 고딕"/>
              </a:rPr>
              <a:t>판정 당시의 근거 값(evidence)이다. 계측값은 계속 바뀌므로 근거를 경보에 붙여 둔다.</a:t>
            </a:r>
          </a:p>
        </p:txBody>
      </p:sp>
      <p:sp>
        <p:nvSpPr>
          <p:cNvPr id="11" name="TextBox 10"/>
          <p:cNvSpPr txBox="1"/>
          <p:nvPr/>
        </p:nvSpPr>
        <p:spPr>
          <a:xfrm>
            <a:off x="7635240" y="5045837"/>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그 밖의 칸</a:t>
            </a:r>
          </a:p>
          <a:p>
            <a:pPr algn="l" eaLnBrk="0">
              <a:lnSpc>
                <a:spcPct val="110000"/>
              </a:lnSpc>
              <a:spcAft>
                <a:spcPts val="400"/>
              </a:spcAft>
            </a:pPr>
            <a:r>
              <a:rPr sz="1400" b="0">
                <a:solidFill>
                  <a:srgbClr val="1F2A3A"/>
                </a:solidFill>
                <a:latin typeface="맑은 고딕"/>
                <a:ea typeface="맑은 고딕"/>
                <a:cs typeface="맑은 고딕"/>
              </a:rPr>
              <a:t>설비, 심각도(severity), 경보 상태(RAISE)와 발생 시각이 함께 적힌다.</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Layer 5 · 시계열 저장소: 시각으로 찾는다</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시계열 저장소는 과거 값을 시각으로 찾도록, 계측값마다 시각·설비·태그 이름·값을 한 행에 저장한다.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27</a:t>
            </a:r>
          </a:p>
        </p:txBody>
      </p:sp>
      <p:sp>
        <p:nvSpPr>
          <p:cNvPr id="6" name="Rounded Rectangle 5"/>
          <p:cNvSpPr/>
          <p:nvPr/>
        </p:nvSpPr>
        <p:spPr>
          <a:xfrm>
            <a:off x="548640" y="2002917"/>
            <a:ext cx="6766560" cy="3976878"/>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140077"/>
            <a:ext cx="6400800" cy="3702558"/>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표</a:t>
            </a:r>
            <a:r>
              <a:rPr sz="1300" b="0">
                <a:solidFill>
                  <a:srgbClr val="E8EEF6"/>
                </a:solidFill>
                <a:latin typeface="Consolas"/>
                <a:ea typeface="맑은 고딕"/>
                <a:cs typeface="맑은 고딕"/>
              </a:rPr>
              <a:t> tag_1s</a:t>
            </a:r>
          </a:p>
          <a:p>
            <a:pPr algn="l" eaLnBrk="0">
              <a:lnSpc>
                <a:spcPct val="110000"/>
              </a:lnSpc>
              <a:spcAft>
                <a:spcPts val="200"/>
              </a:spcAft>
            </a:pPr>
            <a:r>
              <a:rPr sz="1300" b="0">
                <a:solidFill>
                  <a:srgbClr val="E8EEF6"/>
                </a:solidFill>
                <a:latin typeface="Consolas"/>
                <a:ea typeface="맑은 고딕"/>
                <a:cs typeface="맑은 고딕"/>
              </a:rPr>
              <a:t>time       asset    name   value</a:t>
            </a:r>
          </a:p>
          <a:p>
            <a:pPr algn="l" eaLnBrk="0">
              <a:lnSpc>
                <a:spcPct val="110000"/>
              </a:lnSpc>
              <a:spcAft>
                <a:spcPts val="200"/>
              </a:spcAft>
            </a:pPr>
            <a:r>
              <a:rPr sz="1300" b="0">
                <a:solidFill>
                  <a:srgbClr val="E8EEF6"/>
                </a:solidFill>
                <a:latin typeface="Consolas"/>
                <a:ea typeface="맑은 고딕"/>
                <a:cs typeface="맑은 고딕"/>
              </a:rPr>
              <a:t>11:13:07   HYD-01   TS1    55.56</a:t>
            </a:r>
          </a:p>
          <a:p>
            <a:pPr algn="l" eaLnBrk="0">
              <a:lnSpc>
                <a:spcPct val="110000"/>
              </a:lnSpc>
              <a:spcAft>
                <a:spcPts val="200"/>
              </a:spcAft>
            </a:pPr>
            <a:r>
              <a:rPr sz="1300" b="0">
                <a:solidFill>
                  <a:srgbClr val="E8EEF6"/>
                </a:solidFill>
                <a:latin typeface="Consolas"/>
                <a:ea typeface="맑은 고딕"/>
                <a:cs typeface="맑은 고딕"/>
              </a:rPr>
              <a:t>11:13:07   HYD-01   CE     46.2</a:t>
            </a:r>
          </a:p>
          <a:p>
            <a:pPr algn="l" eaLnBrk="0">
              <a:lnSpc>
                <a:spcPct val="110000"/>
              </a:lnSpc>
              <a:spcAft>
                <a:spcPts val="200"/>
              </a:spcAft>
            </a:pPr>
            <a:r>
              <a:rPr sz="1300" b="0">
                <a:solidFill>
                  <a:srgbClr val="E8EEF6"/>
                </a:solidFill>
                <a:latin typeface="Consolas"/>
                <a:ea typeface="맑은 고딕"/>
                <a:cs typeface="맑은 고딕"/>
              </a:rPr>
              <a:t>11:13:08   HYD-01   TS1    55.71</a:t>
            </a:r>
          </a:p>
          <a:p>
            <a:pPr algn="l" eaLnBrk="0">
              <a:lnSpc>
                <a:spcPct val="110000"/>
              </a:lnSpc>
              <a:spcAft>
                <a:spcPts val="200"/>
              </a:spcAft>
            </a:pPr>
            <a:r>
              <a:rPr sz="1300" b="0">
                <a:solidFill>
                  <a:srgbClr val="E8EEF6"/>
                </a:solidFill>
                <a:latin typeface="Consolas"/>
                <a:ea typeface="맑은 고딕"/>
                <a:cs typeface="맑은 고딕"/>
              </a:rPr>
              <a:t>11:13:08   HYD-01   CE     46.2</a:t>
            </a:r>
          </a:p>
          <a:p>
            <a:pPr algn="l" eaLnBrk="0">
              <a:lnSpc>
                <a:spcPct val="110000"/>
              </a:lnSpc>
              <a:spcAft>
                <a:spcPts val="200"/>
              </a:spcAft>
            </a:pPr>
            <a:r>
              <a:rPr sz="1300" b="0">
                <a:solidFill>
                  <a:srgbClr val="E8EEF6"/>
                </a:solidFill>
                <a:latin typeface="Consolas"/>
                <a:ea typeface="맑은 고딕"/>
                <a:cs typeface="맑은 고딕"/>
              </a:rPr>
              <a:t>11:13:09   HYD-01   TS1    55.86</a:t>
            </a:r>
          </a:p>
        </p:txBody>
      </p:sp>
      <p:sp>
        <p:nvSpPr>
          <p:cNvPr id="8" name="TextBox 7"/>
          <p:cNvSpPr txBox="1"/>
          <p:nvPr/>
        </p:nvSpPr>
        <p:spPr>
          <a:xfrm>
            <a:off x="7635240" y="2002917"/>
            <a:ext cx="4007815" cy="1325626"/>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한 행</a:t>
            </a:r>
          </a:p>
          <a:p>
            <a:pPr algn="l" eaLnBrk="0">
              <a:lnSpc>
                <a:spcPct val="110000"/>
              </a:lnSpc>
              <a:spcAft>
                <a:spcPts val="400"/>
              </a:spcAft>
            </a:pPr>
            <a:r>
              <a:rPr sz="1400" b="0">
                <a:solidFill>
                  <a:srgbClr val="1F2A3A"/>
                </a:solidFill>
                <a:latin typeface="맑은 고딕"/>
                <a:ea typeface="맑은 고딕"/>
                <a:cs typeface="맑은 고딕"/>
              </a:rPr>
              <a:t>계측값 하나가 (시각, 설비, 태그, 값) 한 행이다. 태그가 늘어도 열이 아니라 행만 늘어난다.</a:t>
            </a:r>
          </a:p>
        </p:txBody>
      </p:sp>
      <p:sp>
        <p:nvSpPr>
          <p:cNvPr id="9" name="TextBox 8"/>
          <p:cNvSpPr txBox="1"/>
          <p:nvPr/>
        </p:nvSpPr>
        <p:spPr>
          <a:xfrm>
            <a:off x="7635240" y="3328543"/>
            <a:ext cx="4007815" cy="1325626"/>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55.71</a:t>
            </a:r>
          </a:p>
          <a:p>
            <a:pPr algn="l" eaLnBrk="0">
              <a:lnSpc>
                <a:spcPct val="110000"/>
              </a:lnSpc>
              <a:spcAft>
                <a:spcPts val="400"/>
              </a:spcAft>
            </a:pPr>
            <a:r>
              <a:rPr sz="1350" b="0">
                <a:solidFill>
                  <a:srgbClr val="1F2A3A"/>
                </a:solidFill>
                <a:latin typeface="맑은 고딕"/>
                <a:ea typeface="맑은 고딕"/>
                <a:cs typeface="맑은 고딕"/>
              </a:rPr>
              <a:t>11:13:08의 유온이다. 경보가 난 순간의 값이다.</a:t>
            </a:r>
          </a:p>
        </p:txBody>
      </p:sp>
      <p:sp>
        <p:nvSpPr>
          <p:cNvPr id="10" name="TextBox 9"/>
          <p:cNvSpPr txBox="1"/>
          <p:nvPr/>
        </p:nvSpPr>
        <p:spPr>
          <a:xfrm>
            <a:off x="7635240" y="4654169"/>
            <a:ext cx="4007815" cy="1325626"/>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시계열 저장소</a:t>
            </a:r>
          </a:p>
          <a:p>
            <a:pPr algn="l" eaLnBrk="0">
              <a:lnSpc>
                <a:spcPct val="110000"/>
              </a:lnSpc>
              <a:spcAft>
                <a:spcPts val="400"/>
              </a:spcAft>
            </a:pPr>
            <a:r>
              <a:rPr sz="1400" b="0">
                <a:solidFill>
                  <a:srgbClr val="1F2A3A"/>
                </a:solidFill>
                <a:latin typeface="맑은 고딕"/>
                <a:ea typeface="맑은 고딕"/>
                <a:cs typeface="맑은 고딕"/>
              </a:rPr>
              <a:t>시각을 기준으로 데이터를 쌓고 시간 범위로 조회하는 시계열 데이터베이스(TSDB, Time Series Database)이다. 이 역할에는 TimescaleDB 같은 것이 있다.</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Layer 6 · 운전 화면과 분석 화면</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운전 화면은 IT 서버가 멈춰도 OT에서 동작하고, 분석 화면은 IT에서 이력을 읽기 전용으로 보여 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28</a:t>
            </a:r>
          </a:p>
        </p:txBody>
      </p:sp>
      <p:sp>
        <p:nvSpPr>
          <p:cNvPr id="6" name="Rounded Rectangle 5"/>
          <p:cNvSpPr/>
          <p:nvPr/>
        </p:nvSpPr>
        <p:spPr>
          <a:xfrm>
            <a:off x="548640" y="1978215"/>
            <a:ext cx="5181447" cy="4026281"/>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179383"/>
            <a:ext cx="731520" cy="731520"/>
          </a:xfrm>
          <a:prstGeom prst="ellipse">
            <a:avLst/>
          </a:prstGeom>
          <a:solidFill>
            <a:srgbClr val="FFFFFF"/>
          </a:solidFill>
          <a:ln>
            <a:noFill/>
          </a:ln>
        </p:spPr>
        <p:txBody>
          <a:bodyPr rtlCol="0" anchor="ctr"/>
          <a:lstStyle/>
          <a:p>
            <a:pPr algn="ctr"/>
          </a:p>
        </p:txBody>
      </p:sp>
      <p:pic>
        <p:nvPicPr>
          <p:cNvPr id="8" name="아이콘:adjustments-horizontal" descr="adjustments-horizontal_13294B_1.6.png"/>
          <p:cNvPicPr>
            <a:picLocks noChangeAspect="1"/>
          </p:cNvPicPr>
          <p:nvPr/>
        </p:nvPicPr>
        <p:blipFill>
          <a:blip r:embed="rId3"/>
          <a:stretch>
            <a:fillRect/>
          </a:stretch>
        </p:blipFill>
        <p:spPr>
          <a:xfrm>
            <a:off x="976579" y="2333002"/>
            <a:ext cx="424281" cy="424281"/>
          </a:xfrm>
          <a:prstGeom prst="rect">
            <a:avLst/>
          </a:prstGeom>
        </p:spPr>
      </p:pic>
      <p:sp>
        <p:nvSpPr>
          <p:cNvPr id="9" name="TextBox 8"/>
          <p:cNvSpPr txBox="1"/>
          <p:nvPr/>
        </p:nvSpPr>
        <p:spPr>
          <a:xfrm>
            <a:off x="1691640" y="2179383"/>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운전 화면</a:t>
            </a:r>
          </a:p>
        </p:txBody>
      </p:sp>
      <p:sp>
        <p:nvSpPr>
          <p:cNvPr id="10" name="TextBox 9"/>
          <p:cNvSpPr txBox="1"/>
          <p:nvPr/>
        </p:nvSpPr>
        <p:spPr>
          <a:xfrm>
            <a:off x="822959" y="3029775"/>
            <a:ext cx="4632807" cy="2426081"/>
          </a:xfrm>
          <a:prstGeom prst="rect">
            <a:avLst/>
          </a:prstGeom>
          <a:noFill/>
        </p:spPr>
        <p:txBody>
          <a:bodyPr wrap="square" anchor="t"/>
          <a:lstStyle/>
          <a:p>
            <a:pPr algn="l" eaLnBrk="0" marL="165735" indent="-165735">
              <a:lnSpc>
                <a:spcPct val="110000"/>
              </a:lnSpc>
              <a:spcAft>
                <a:spcPts val="600"/>
              </a:spcAft>
            </a:pPr>
            <a:r>
              <a:rPr sz="1450" b="0">
                <a:solidFill>
                  <a:srgbClr val="1F2A3A"/>
                </a:solidFill>
                <a:latin typeface="맑은 고딕"/>
                <a:ea typeface="맑은 고딕"/>
                <a:cs typeface="맑은 고딕"/>
              </a:rPr>
              <a:t>• SCADA에서 사람이 보고 조작하는 HMI(Human-Machine Interface)에 해당한다</a:t>
            </a:r>
          </a:p>
          <a:p>
            <a:pPr algn="l" eaLnBrk="0" marL="165735" indent="-165735">
              <a:lnSpc>
                <a:spcPct val="110000"/>
              </a:lnSpc>
              <a:spcAft>
                <a:spcPts val="600"/>
              </a:spcAft>
            </a:pPr>
            <a:r>
              <a:rPr sz="1450" b="0">
                <a:solidFill>
                  <a:srgbClr val="1F2A3A"/>
                </a:solidFill>
                <a:latin typeface="맑은 고딕"/>
                <a:ea typeface="맑은 고딕"/>
                <a:cs typeface="맑은 고딕"/>
              </a:rPr>
              <a:t>• OT에서 브로커를 직접 구독해 실시간 값과 알람을 보여 준다</a:t>
            </a:r>
          </a:p>
          <a:p>
            <a:pPr algn="l" eaLnBrk="0" marL="165735" indent="-165735">
              <a:lnSpc>
                <a:spcPct val="110000"/>
              </a:lnSpc>
              <a:spcAft>
                <a:spcPts val="600"/>
              </a:spcAft>
            </a:pPr>
            <a:r>
              <a:rPr sz="1450" b="0">
                <a:solidFill>
                  <a:srgbClr val="1F2A3A"/>
                </a:solidFill>
                <a:latin typeface="맑은 고딕"/>
                <a:ea typeface="맑은 고딕"/>
                <a:cs typeface="맑은 고딕"/>
              </a:rPr>
              <a:t>• 운전원이 팬 속도와 펌프 부하의 설정값을 바꾼다</a:t>
            </a:r>
          </a:p>
          <a:p>
            <a:pPr algn="l" eaLnBrk="0" marL="165735" indent="-165735">
              <a:lnSpc>
                <a:spcPct val="110000"/>
              </a:lnSpc>
              <a:spcAft>
                <a:spcPts val="600"/>
              </a:spcAft>
            </a:pPr>
            <a:r>
              <a:rPr sz="1450" b="0">
                <a:solidFill>
                  <a:srgbClr val="1F2A3A"/>
                </a:solidFill>
                <a:latin typeface="맑은 고딕"/>
                <a:ea typeface="맑은 고딕"/>
                <a:cs typeface="맑은 고딕"/>
              </a:rPr>
              <a:t>• IT 쪽 서버가 멈춰도 계속 동작한다</a:t>
            </a:r>
          </a:p>
          <a:p>
            <a:pPr algn="l" eaLnBrk="0" marL="165735" indent="-165735">
              <a:lnSpc>
                <a:spcPct val="110000"/>
              </a:lnSpc>
              <a:spcAft>
                <a:spcPts val="600"/>
              </a:spcAft>
            </a:pPr>
            <a:r>
              <a:rPr sz="1450" b="0">
                <a:solidFill>
                  <a:srgbClr val="1F2A3A"/>
                </a:solidFill>
                <a:latin typeface="맑은 고딕"/>
                <a:ea typeface="맑은 고딕"/>
                <a:cs typeface="맑은 고딕"/>
              </a:rPr>
              <a:t>• 예: FUXA</a:t>
            </a:r>
          </a:p>
        </p:txBody>
      </p:sp>
      <p:sp>
        <p:nvSpPr>
          <p:cNvPr id="11" name="Rounded Rectangle 10"/>
          <p:cNvSpPr/>
          <p:nvPr/>
        </p:nvSpPr>
        <p:spPr>
          <a:xfrm>
            <a:off x="868680" y="5547296"/>
            <a:ext cx="2072639"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547296"/>
            <a:ext cx="207263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운전 · 실시간 값과 조작</a:t>
            </a:r>
          </a:p>
        </p:txBody>
      </p:sp>
      <p:sp>
        <p:nvSpPr>
          <p:cNvPr id="13" name="Rounded Rectangle 12"/>
          <p:cNvSpPr/>
          <p:nvPr/>
        </p:nvSpPr>
        <p:spPr>
          <a:xfrm>
            <a:off x="6461607" y="1978215"/>
            <a:ext cx="5181447" cy="4026281"/>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179383"/>
            <a:ext cx="731520" cy="731520"/>
          </a:xfrm>
          <a:prstGeom prst="ellipse">
            <a:avLst/>
          </a:prstGeom>
          <a:solidFill>
            <a:srgbClr val="5CB8F2"/>
          </a:solidFill>
          <a:ln>
            <a:noFill/>
          </a:ln>
        </p:spPr>
        <p:txBody>
          <a:bodyPr rtlCol="0" anchor="ctr"/>
          <a:lstStyle/>
          <a:p>
            <a:pPr algn="ctr"/>
          </a:p>
        </p:txBody>
      </p:sp>
      <p:pic>
        <p:nvPicPr>
          <p:cNvPr id="15" name="아이콘:chart-line" descr="chart-line_13294B_1.6.png"/>
          <p:cNvPicPr>
            <a:picLocks noChangeAspect="1"/>
          </p:cNvPicPr>
          <p:nvPr/>
        </p:nvPicPr>
        <p:blipFill>
          <a:blip r:embed="rId4"/>
          <a:stretch>
            <a:fillRect/>
          </a:stretch>
        </p:blipFill>
        <p:spPr>
          <a:xfrm>
            <a:off x="6889546" y="2333002"/>
            <a:ext cx="424281" cy="424281"/>
          </a:xfrm>
          <a:prstGeom prst="rect">
            <a:avLst/>
          </a:prstGeom>
        </p:spPr>
      </p:pic>
      <p:sp>
        <p:nvSpPr>
          <p:cNvPr id="16" name="TextBox 15"/>
          <p:cNvSpPr txBox="1"/>
          <p:nvPr/>
        </p:nvSpPr>
        <p:spPr>
          <a:xfrm>
            <a:off x="7604607" y="2179383"/>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분석 화면</a:t>
            </a:r>
          </a:p>
        </p:txBody>
      </p:sp>
      <p:sp>
        <p:nvSpPr>
          <p:cNvPr id="17" name="TextBox 16"/>
          <p:cNvSpPr txBox="1"/>
          <p:nvPr/>
        </p:nvSpPr>
        <p:spPr>
          <a:xfrm>
            <a:off x="6735927" y="3029775"/>
            <a:ext cx="4632807" cy="2426081"/>
          </a:xfrm>
          <a:prstGeom prst="rect">
            <a:avLst/>
          </a:prstGeom>
          <a:noFill/>
        </p:spPr>
        <p:txBody>
          <a:bodyPr wrap="square" anchor="t"/>
          <a:lstStyle/>
          <a:p>
            <a:pPr algn="l" eaLnBrk="0" marL="165735" indent="-165735">
              <a:lnSpc>
                <a:spcPct val="110000"/>
              </a:lnSpc>
              <a:spcAft>
                <a:spcPts val="600"/>
              </a:spcAft>
            </a:pPr>
            <a:r>
              <a:rPr sz="1450" b="0">
                <a:solidFill>
                  <a:srgbClr val="1F2A3A"/>
                </a:solidFill>
                <a:latin typeface="맑은 고딕"/>
                <a:ea typeface="맑은 고딕"/>
                <a:cs typeface="맑은 고딕"/>
              </a:rPr>
              <a:t>• 이력 데이터를 그래프로 보여 주는 대시보드이다</a:t>
            </a:r>
          </a:p>
          <a:p>
            <a:pPr algn="l" eaLnBrk="0" marL="165735" indent="-165735">
              <a:lnSpc>
                <a:spcPct val="110000"/>
              </a:lnSpc>
              <a:spcAft>
                <a:spcPts val="600"/>
              </a:spcAft>
            </a:pPr>
            <a:r>
              <a:rPr sz="1450" b="0">
                <a:solidFill>
                  <a:srgbClr val="1F2A3A"/>
                </a:solidFill>
                <a:latin typeface="맑은 고딕"/>
                <a:ea typeface="맑은 고딕"/>
                <a:cs typeface="맑은 고딕"/>
              </a:rPr>
              <a:t>• IT에서 시계열 저장소를 조회해 이력과 추세를 보여 준다</a:t>
            </a:r>
          </a:p>
          <a:p>
            <a:pPr algn="l" eaLnBrk="0" marL="165735" indent="-165735">
              <a:lnSpc>
                <a:spcPct val="110000"/>
              </a:lnSpc>
              <a:spcAft>
                <a:spcPts val="600"/>
              </a:spcAft>
            </a:pPr>
            <a:r>
              <a:rPr sz="1450" b="0">
                <a:solidFill>
                  <a:srgbClr val="1F2A3A"/>
                </a:solidFill>
                <a:latin typeface="맑은 고딕"/>
                <a:ea typeface="맑은 고딕"/>
                <a:cs typeface="맑은 고딕"/>
              </a:rPr>
              <a:t>• 읽기 전용이며 설비를 조작하지 않는다</a:t>
            </a:r>
          </a:p>
          <a:p>
            <a:pPr algn="l" eaLnBrk="0" marL="165735" indent="-165735">
              <a:lnSpc>
                <a:spcPct val="110000"/>
              </a:lnSpc>
              <a:spcAft>
                <a:spcPts val="600"/>
              </a:spcAft>
            </a:pPr>
            <a:r>
              <a:rPr sz="1450" b="0">
                <a:solidFill>
                  <a:srgbClr val="1F2A3A"/>
                </a:solidFill>
                <a:latin typeface="맑은 고딕"/>
                <a:ea typeface="맑은 고딕"/>
                <a:cs typeface="맑은 고딕"/>
              </a:rPr>
              <a:t>• 추세선 위에 경보와 조치 시점을 주석으로 표시한다</a:t>
            </a:r>
          </a:p>
          <a:p>
            <a:pPr algn="l" eaLnBrk="0" marL="165735" indent="-165735">
              <a:lnSpc>
                <a:spcPct val="110000"/>
              </a:lnSpc>
              <a:spcAft>
                <a:spcPts val="600"/>
              </a:spcAft>
            </a:pPr>
            <a:r>
              <a:rPr sz="1450" b="0">
                <a:solidFill>
                  <a:srgbClr val="1F2A3A"/>
                </a:solidFill>
                <a:latin typeface="맑은 고딕"/>
                <a:ea typeface="맑은 고딕"/>
                <a:cs typeface="맑은 고딕"/>
              </a:rPr>
              <a:t>• 예: Grafana</a:t>
            </a:r>
          </a:p>
        </p:txBody>
      </p:sp>
      <p:sp>
        <p:nvSpPr>
          <p:cNvPr id="18" name="Rounded Rectangle 17"/>
          <p:cNvSpPr/>
          <p:nvPr/>
        </p:nvSpPr>
        <p:spPr>
          <a:xfrm>
            <a:off x="6781647" y="5547296"/>
            <a:ext cx="172212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547296"/>
            <a:ext cx="172212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분석 · 이력과 추세</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같은 유온에 반응하는 세 기준: 55, 60, 65 ℃</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경보는 사람이 리셋해야 풀리는 유온 65 ℃ 초과 인터록보다 먼저 울려, 조치할 시간을 벌어 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29</a:t>
            </a:r>
          </a:p>
        </p:txBody>
      </p:sp>
      <p:sp>
        <p:nvSpPr>
          <p:cNvPr id="6" name="Rounded Rectangle 5"/>
          <p:cNvSpPr/>
          <p:nvPr/>
        </p:nvSpPr>
        <p:spPr>
          <a:xfrm>
            <a:off x="548640" y="2260028"/>
            <a:ext cx="3442106" cy="3462655"/>
          </a:xfrm>
          <a:prstGeom prst="roundRect">
            <a:avLst>
              <a:gd name="adj" fmla="val 5000"/>
            </a:avLst>
          </a:prstGeom>
          <a:solidFill>
            <a:srgbClr val="E7F3FD"/>
          </a:solidFill>
          <a:ln w="25400">
            <a:solidFill>
              <a:srgbClr val="5CB8F2"/>
            </a:solidFill>
          </a:ln>
        </p:spPr>
        <p:txBody>
          <a:bodyPr rtlCol="0" anchor="ctr"/>
          <a:lstStyle/>
          <a:p>
            <a:pPr algn="ctr"/>
          </a:p>
        </p:txBody>
      </p:sp>
      <p:sp>
        <p:nvSpPr>
          <p:cNvPr id="7" name="Oval 6"/>
          <p:cNvSpPr/>
          <p:nvPr/>
        </p:nvSpPr>
        <p:spPr>
          <a:xfrm>
            <a:off x="1903933" y="2442908"/>
            <a:ext cx="731520" cy="731520"/>
          </a:xfrm>
          <a:prstGeom prst="ellipse">
            <a:avLst/>
          </a:prstGeom>
          <a:solidFill>
            <a:srgbClr val="5CB8F2"/>
          </a:solidFill>
          <a:ln>
            <a:noFill/>
          </a:ln>
        </p:spPr>
        <p:txBody>
          <a:bodyPr rtlCol="0" anchor="ctr"/>
          <a:lstStyle/>
          <a:p>
            <a:pPr algn="ctr"/>
          </a:p>
        </p:txBody>
      </p:sp>
      <p:pic>
        <p:nvPicPr>
          <p:cNvPr id="8" name="아이콘:radar" descr="radar_13294B_1.6.png"/>
          <p:cNvPicPr>
            <a:picLocks noChangeAspect="1"/>
          </p:cNvPicPr>
          <p:nvPr/>
        </p:nvPicPr>
        <p:blipFill>
          <a:blip r:embed="rId3"/>
          <a:stretch>
            <a:fillRect/>
          </a:stretch>
        </p:blipFill>
        <p:spPr>
          <a:xfrm>
            <a:off x="2057552" y="2596527"/>
            <a:ext cx="424281" cy="424281"/>
          </a:xfrm>
          <a:prstGeom prst="rect">
            <a:avLst/>
          </a:prstGeom>
        </p:spPr>
      </p:pic>
      <p:sp>
        <p:nvSpPr>
          <p:cNvPr id="9" name="TextBox 8"/>
          <p:cNvSpPr txBox="1"/>
          <p:nvPr/>
        </p:nvSpPr>
        <p:spPr>
          <a:xfrm>
            <a:off x="621792" y="3247580"/>
            <a:ext cx="3295802" cy="2401951"/>
          </a:xfrm>
          <a:prstGeom prst="rect">
            <a:avLst/>
          </a:prstGeom>
          <a:noFill/>
        </p:spPr>
        <p:txBody>
          <a:bodyPr wrap="square" anchor="t"/>
          <a:lstStyle/>
          <a:p>
            <a:pPr algn="ctr" eaLnBrk="0">
              <a:lnSpc>
                <a:spcPct val="110000"/>
              </a:lnSpc>
              <a:spcAft>
                <a:spcPts val="400"/>
              </a:spcAft>
            </a:pPr>
            <a:r>
              <a:rPr sz="2000" b="1">
                <a:solidFill>
                  <a:srgbClr val="13294B"/>
                </a:solidFill>
                <a:latin typeface="맑은 고딕"/>
                <a:ea typeface="맑은 고딕"/>
                <a:cs typeface="맑은 고딕"/>
              </a:rPr>
              <a:t>55 ℃</a:t>
            </a:r>
          </a:p>
          <a:p>
            <a:pPr algn="ctr" eaLnBrk="0">
              <a:lnSpc>
                <a:spcPct val="110000"/>
              </a:lnSpc>
              <a:spcAft>
                <a:spcPts val="400"/>
              </a:spcAft>
            </a:pPr>
            <a:r>
              <a:rPr sz="1650" b="0">
                <a:solidFill>
                  <a:srgbClr val="1F2A3A"/>
                </a:solidFill>
                <a:latin typeface="맑은 고딕"/>
                <a:ea typeface="맑은 고딕"/>
                <a:cs typeface="맑은 고딕"/>
              </a:rPr>
              <a:t>감지 서비스의 경보</a:t>
            </a:r>
          </a:p>
          <a:p>
            <a:pPr algn="ctr" eaLnBrk="0">
              <a:lnSpc>
                <a:spcPct val="110000"/>
              </a:lnSpc>
              <a:spcAft>
                <a:spcPts val="400"/>
              </a:spcAft>
            </a:pPr>
            <a:r>
              <a:rPr sz="1650" b="0">
                <a:solidFill>
                  <a:srgbClr val="1F2A3A"/>
                </a:solidFill>
                <a:latin typeface="맑은 고딕"/>
                <a:ea typeface="맑은 고딕"/>
                <a:cs typeface="맑은 고딕"/>
              </a:rPr>
              <a:t>여러 값과 추세를 함께 보는 복합 조건</a:t>
            </a:r>
          </a:p>
          <a:p>
            <a:pPr algn="ctr" eaLnBrk="0">
              <a:lnSpc>
                <a:spcPct val="110000"/>
              </a:lnSpc>
              <a:spcAft>
                <a:spcPts val="400"/>
              </a:spcAft>
            </a:pPr>
            <a:r>
              <a:rPr sz="1650" b="0">
                <a:solidFill>
                  <a:srgbClr val="1F2A3A"/>
                </a:solidFill>
                <a:latin typeface="맑은 고딕"/>
                <a:ea typeface="맑은 고딕"/>
                <a:cs typeface="맑은 고딕"/>
              </a:rPr>
              <a:t>원인 진단과 조치의 흐름을 시작한다</a:t>
            </a:r>
          </a:p>
        </p:txBody>
      </p:sp>
      <p:sp>
        <p:nvSpPr>
          <p:cNvPr id="10" name="Right Arrow 9"/>
          <p:cNvSpPr/>
          <p:nvPr/>
        </p:nvSpPr>
        <p:spPr>
          <a:xfrm>
            <a:off x="4054754"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4374794" y="2260028"/>
            <a:ext cx="3442106" cy="3462655"/>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5730087" y="2442908"/>
            <a:ext cx="731520" cy="731520"/>
          </a:xfrm>
          <a:prstGeom prst="ellipse">
            <a:avLst/>
          </a:prstGeom>
          <a:solidFill>
            <a:srgbClr val="FFFFFF"/>
          </a:solidFill>
          <a:ln>
            <a:noFill/>
          </a:ln>
        </p:spPr>
        <p:txBody>
          <a:bodyPr rtlCol="0" anchor="ctr"/>
          <a:lstStyle/>
          <a:p>
            <a:pPr algn="ctr"/>
          </a:p>
        </p:txBody>
      </p:sp>
      <p:pic>
        <p:nvPicPr>
          <p:cNvPr id="13" name="아이콘:bell" descr="bell_13294B_1.6.png"/>
          <p:cNvPicPr>
            <a:picLocks noChangeAspect="1"/>
          </p:cNvPicPr>
          <p:nvPr/>
        </p:nvPicPr>
        <p:blipFill>
          <a:blip r:embed="rId4"/>
          <a:stretch>
            <a:fillRect/>
          </a:stretch>
        </p:blipFill>
        <p:spPr>
          <a:xfrm>
            <a:off x="5883706" y="2596527"/>
            <a:ext cx="424281" cy="424281"/>
          </a:xfrm>
          <a:prstGeom prst="rect">
            <a:avLst/>
          </a:prstGeom>
        </p:spPr>
      </p:pic>
      <p:sp>
        <p:nvSpPr>
          <p:cNvPr id="14" name="TextBox 13"/>
          <p:cNvSpPr txBox="1"/>
          <p:nvPr/>
        </p:nvSpPr>
        <p:spPr>
          <a:xfrm>
            <a:off x="4447946" y="3247580"/>
            <a:ext cx="3295802" cy="2401951"/>
          </a:xfrm>
          <a:prstGeom prst="rect">
            <a:avLst/>
          </a:prstGeom>
          <a:noFill/>
        </p:spPr>
        <p:txBody>
          <a:bodyPr wrap="square" anchor="t"/>
          <a:lstStyle/>
          <a:p>
            <a:pPr algn="ctr" eaLnBrk="0">
              <a:lnSpc>
                <a:spcPct val="110000"/>
              </a:lnSpc>
              <a:spcAft>
                <a:spcPts val="400"/>
              </a:spcAft>
            </a:pPr>
            <a:r>
              <a:rPr sz="2000" b="1">
                <a:solidFill>
                  <a:srgbClr val="13294B"/>
                </a:solidFill>
                <a:latin typeface="맑은 고딕"/>
                <a:ea typeface="맑은 고딕"/>
                <a:cs typeface="맑은 고딕"/>
              </a:rPr>
              <a:t>60 ℃</a:t>
            </a:r>
          </a:p>
          <a:p>
            <a:pPr algn="ctr" eaLnBrk="0">
              <a:lnSpc>
                <a:spcPct val="110000"/>
              </a:lnSpc>
              <a:spcAft>
                <a:spcPts val="400"/>
              </a:spcAft>
            </a:pPr>
            <a:r>
              <a:rPr sz="1650" b="0">
                <a:solidFill>
                  <a:srgbClr val="1F2A3A"/>
                </a:solidFill>
                <a:latin typeface="맑은 고딕"/>
                <a:ea typeface="맑은 고딕"/>
                <a:cs typeface="맑은 고딕"/>
              </a:rPr>
              <a:t>운전 화면의 알람</a:t>
            </a:r>
          </a:p>
          <a:p>
            <a:pPr algn="ctr" eaLnBrk="0">
              <a:lnSpc>
                <a:spcPct val="110000"/>
              </a:lnSpc>
              <a:spcAft>
                <a:spcPts val="400"/>
              </a:spcAft>
            </a:pPr>
            <a:r>
              <a:rPr sz="1650" b="0">
                <a:solidFill>
                  <a:srgbClr val="1F2A3A"/>
                </a:solidFill>
                <a:latin typeface="맑은 고딕"/>
                <a:ea typeface="맑은 고딕"/>
                <a:cs typeface="맑은 고딕"/>
              </a:rPr>
              <a:t>값 하나의 단일 임계치(Threshold)</a:t>
            </a:r>
          </a:p>
          <a:p>
            <a:pPr algn="ctr" eaLnBrk="0">
              <a:lnSpc>
                <a:spcPct val="110000"/>
              </a:lnSpc>
              <a:spcAft>
                <a:spcPts val="400"/>
              </a:spcAft>
            </a:pPr>
            <a:r>
              <a:rPr sz="1650" b="0">
                <a:solidFill>
                  <a:srgbClr val="1F2A3A"/>
                </a:solidFill>
                <a:latin typeface="맑은 고딕"/>
                <a:ea typeface="맑은 고딕"/>
                <a:cs typeface="맑은 고딕"/>
              </a:rPr>
              <a:t>운전원에게 현재 상태를 알린다</a:t>
            </a:r>
          </a:p>
        </p:txBody>
      </p:sp>
      <p:sp>
        <p:nvSpPr>
          <p:cNvPr id="15" name="Right Arrow 14"/>
          <p:cNvSpPr/>
          <p:nvPr/>
        </p:nvSpPr>
        <p:spPr>
          <a:xfrm>
            <a:off x="7880908"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8200948" y="2260028"/>
            <a:ext cx="3442106" cy="3462655"/>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9556242" y="2442908"/>
            <a:ext cx="731520" cy="731520"/>
          </a:xfrm>
          <a:prstGeom prst="ellipse">
            <a:avLst/>
          </a:prstGeom>
          <a:solidFill>
            <a:srgbClr val="FFFFFF"/>
          </a:solidFill>
          <a:ln>
            <a:noFill/>
          </a:ln>
        </p:spPr>
        <p:txBody>
          <a:bodyPr rtlCol="0" anchor="ctr"/>
          <a:lstStyle/>
          <a:p>
            <a:pPr algn="ctr"/>
          </a:p>
        </p:txBody>
      </p:sp>
      <p:pic>
        <p:nvPicPr>
          <p:cNvPr id="18" name="아이콘:shield-check" descr="shield-check_13294B_1.6.png"/>
          <p:cNvPicPr>
            <a:picLocks noChangeAspect="1"/>
          </p:cNvPicPr>
          <p:nvPr/>
        </p:nvPicPr>
        <p:blipFill>
          <a:blip r:embed="rId5"/>
          <a:stretch>
            <a:fillRect/>
          </a:stretch>
        </p:blipFill>
        <p:spPr>
          <a:xfrm>
            <a:off x="9709861" y="2596527"/>
            <a:ext cx="424281" cy="424281"/>
          </a:xfrm>
          <a:prstGeom prst="rect">
            <a:avLst/>
          </a:prstGeom>
        </p:spPr>
      </p:pic>
      <p:sp>
        <p:nvSpPr>
          <p:cNvPr id="19" name="TextBox 18"/>
          <p:cNvSpPr txBox="1"/>
          <p:nvPr/>
        </p:nvSpPr>
        <p:spPr>
          <a:xfrm>
            <a:off x="8274100" y="3247580"/>
            <a:ext cx="3295802" cy="2401951"/>
          </a:xfrm>
          <a:prstGeom prst="rect">
            <a:avLst/>
          </a:prstGeom>
          <a:noFill/>
        </p:spPr>
        <p:txBody>
          <a:bodyPr wrap="square" anchor="t"/>
          <a:lstStyle/>
          <a:p>
            <a:pPr algn="ctr" eaLnBrk="0">
              <a:lnSpc>
                <a:spcPct val="110000"/>
              </a:lnSpc>
              <a:spcAft>
                <a:spcPts val="400"/>
              </a:spcAft>
            </a:pPr>
            <a:r>
              <a:rPr sz="2000" b="1">
                <a:solidFill>
                  <a:srgbClr val="13294B"/>
                </a:solidFill>
                <a:latin typeface="맑은 고딕"/>
                <a:ea typeface="맑은 고딕"/>
                <a:cs typeface="맑은 고딕"/>
              </a:rPr>
              <a:t>65 ℃</a:t>
            </a:r>
          </a:p>
          <a:p>
            <a:pPr algn="ctr" eaLnBrk="0">
              <a:lnSpc>
                <a:spcPct val="110000"/>
              </a:lnSpc>
              <a:spcAft>
                <a:spcPts val="400"/>
              </a:spcAft>
            </a:pPr>
            <a:r>
              <a:rPr sz="1650" b="0">
                <a:solidFill>
                  <a:srgbClr val="1F2A3A"/>
                </a:solidFill>
                <a:latin typeface="맑은 고딕"/>
                <a:ea typeface="맑은 고딕"/>
                <a:cs typeface="맑은 고딕"/>
              </a:rPr>
              <a:t>PLC의 인터록</a:t>
            </a:r>
          </a:p>
          <a:p>
            <a:pPr algn="ctr" eaLnBrk="0">
              <a:lnSpc>
                <a:spcPct val="110000"/>
              </a:lnSpc>
              <a:spcAft>
                <a:spcPts val="400"/>
              </a:spcAft>
            </a:pPr>
            <a:r>
              <a:rPr sz="1650" b="0">
                <a:solidFill>
                  <a:srgbClr val="1F2A3A"/>
                </a:solidFill>
                <a:latin typeface="맑은 고딕"/>
                <a:ea typeface="맑은 고딕"/>
                <a:cs typeface="맑은 고딕"/>
              </a:rPr>
              <a:t>설비를 트립시킨다</a:t>
            </a:r>
          </a:p>
          <a:p>
            <a:pPr algn="ctr" eaLnBrk="0">
              <a:lnSpc>
                <a:spcPct val="110000"/>
              </a:lnSpc>
              <a:spcAft>
                <a:spcPts val="400"/>
              </a:spcAft>
            </a:pPr>
            <a:r>
              <a:rPr sz="1650" b="0">
                <a:solidFill>
                  <a:srgbClr val="1F2A3A"/>
                </a:solidFill>
                <a:latin typeface="맑은 고딕"/>
                <a:ea typeface="맑은 고딕"/>
                <a:cs typeface="맑은 고딕"/>
              </a:rPr>
              <a:t>자동 복귀하지 않으며, 유온이 55 ℃ 아래로</a:t>
            </a:r>
          </a:p>
          <a:p>
            <a:pPr algn="ctr" eaLnBrk="0">
              <a:lnSpc>
                <a:spcPct val="110000"/>
              </a:lnSpc>
              <a:spcAft>
                <a:spcPts val="400"/>
              </a:spcAft>
            </a:pPr>
            <a:r>
              <a:rPr sz="1650" b="0">
                <a:solidFill>
                  <a:srgbClr val="1F2A3A"/>
                </a:solidFill>
                <a:latin typeface="맑은 고딕"/>
                <a:ea typeface="맑은 고딕"/>
                <a:cs typeface="맑은 고딕"/>
              </a:rPr>
              <a:t>내려온 뒤 사람이 리셋한다</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Layer 7~9 · 추천, 승인, 실행의 책임 경계</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Layer 7~9가 경보 뒤의 판단과 조치를 맡으며, 에이전트의 추천은 담당자 승인 뒤에만 명령이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30</a:t>
            </a:r>
          </a:p>
        </p:txBody>
      </p:sp>
      <p:pic>
        <p:nvPicPr>
          <p:cNvPr id="6" name="삽화:계층_L7-9.svg" descr="illust_3134862410601792738_179195996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9799621" y="1641814"/>
            <a:ext cx="600022"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OT</a:t>
            </a:r>
          </a:p>
        </p:txBody>
      </p:sp>
      <p:sp>
        <p:nvSpPr>
          <p:cNvPr id="8" name="TextBox 7"/>
          <p:cNvSpPr txBox="1"/>
          <p:nvPr/>
        </p:nvSpPr>
        <p:spPr>
          <a:xfrm>
            <a:off x="10317822" y="1641814"/>
            <a:ext cx="65456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DMZ</a:t>
            </a:r>
          </a:p>
        </p:txBody>
      </p:sp>
      <p:sp>
        <p:nvSpPr>
          <p:cNvPr id="9" name="TextBox 8"/>
          <p:cNvSpPr txBox="1"/>
          <p:nvPr/>
        </p:nvSpPr>
        <p:spPr>
          <a:xfrm>
            <a:off x="10890570" y="1641814"/>
            <a:ext cx="600022"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IT</a:t>
            </a:r>
          </a:p>
        </p:txBody>
      </p:sp>
      <p:sp>
        <p:nvSpPr>
          <p:cNvPr id="10" name="TextBox 9"/>
          <p:cNvSpPr txBox="1"/>
          <p:nvPr/>
        </p:nvSpPr>
        <p:spPr>
          <a:xfrm>
            <a:off x="2277524" y="2218563"/>
            <a:ext cx="7200266" cy="577342"/>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Layer 9 · 프로세스 · 승인 · 앱</a:t>
            </a:r>
          </a:p>
          <a:p>
            <a:pPr algn="ctr" eaLnBrk="0">
              <a:lnSpc>
                <a:spcPct val="110000"/>
              </a:lnSpc>
              <a:spcAft>
                <a:spcPts val="100"/>
              </a:spcAft>
            </a:pPr>
            <a:r>
              <a:rPr sz="1300" b="0">
                <a:solidFill>
                  <a:srgbClr val="556175"/>
                </a:solidFill>
                <a:latin typeface="맑은 고딕"/>
                <a:ea typeface="맑은 고딕"/>
                <a:cs typeface="맑은 고딕"/>
              </a:rPr>
              <a:t>담당자의 승인 · 거절(HITL: Human-in-the-Loop), 프로세스 엔진의 실행</a:t>
            </a:r>
          </a:p>
        </p:txBody>
      </p:sp>
      <p:sp>
        <p:nvSpPr>
          <p:cNvPr id="11" name="TextBox 10"/>
          <p:cNvSpPr txBox="1"/>
          <p:nvPr/>
        </p:nvSpPr>
        <p:spPr>
          <a:xfrm>
            <a:off x="2277524" y="3660434"/>
            <a:ext cx="7200266" cy="577342"/>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Layer 8 · AI 에이전트</a:t>
            </a:r>
          </a:p>
          <a:p>
            <a:pPr algn="ctr" eaLnBrk="0">
              <a:lnSpc>
                <a:spcPct val="110000"/>
              </a:lnSpc>
              <a:spcAft>
                <a:spcPts val="100"/>
              </a:spcAft>
            </a:pPr>
            <a:r>
              <a:rPr sz="1300" b="0">
                <a:solidFill>
                  <a:srgbClr val="556175"/>
                </a:solidFill>
                <a:latin typeface="맑은 고딕"/>
                <a:ea typeface="맑은 고딕"/>
                <a:cs typeface="맑은 고딕"/>
              </a:rPr>
              <a:t>원인 진단과 조치 추천, 설비 명령 권한 없음</a:t>
            </a:r>
          </a:p>
        </p:txBody>
      </p:sp>
      <p:sp>
        <p:nvSpPr>
          <p:cNvPr id="12" name="TextBox 11"/>
          <p:cNvSpPr txBox="1"/>
          <p:nvPr/>
        </p:nvSpPr>
        <p:spPr>
          <a:xfrm>
            <a:off x="2277524" y="5102306"/>
            <a:ext cx="7200266" cy="577342"/>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Layer 7 · 온톨로지 · 원인분석</a:t>
            </a:r>
          </a:p>
          <a:p>
            <a:pPr algn="ctr" eaLnBrk="0">
              <a:lnSpc>
                <a:spcPct val="110000"/>
              </a:lnSpc>
              <a:spcAft>
                <a:spcPts val="100"/>
              </a:spcAft>
            </a:pPr>
            <a:r>
              <a:rPr sz="1300" b="0">
                <a:solidFill>
                  <a:srgbClr val="556175"/>
                </a:solidFill>
                <a:latin typeface="맑은 고딕"/>
                <a:ea typeface="맑은 고딕"/>
                <a:cs typeface="맑은 고딕"/>
              </a:rPr>
              <a:t>증상 · 원인 · 조치의 관계, 그래프 DB</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승인된 명령의 하행 경로와 두 단계 검사</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명령 관문과 PLC의 검사를 모두 거치는 </a:t>
            </a:r>
            <a:r>
              <a:rPr sz="1600" b="1">
                <a:solidFill>
                  <a:srgbClr val="1A6FC4"/>
                </a:solidFill>
                <a:latin typeface="맑은 고딕"/>
                <a:ea typeface="맑은 고딕"/>
                <a:cs typeface="맑은 고딕"/>
              </a:rPr>
              <a:t>심층 방어</a:t>
            </a:r>
            <a:r>
              <a:rPr sz="1600" b="0">
                <a:solidFill>
                  <a:srgbClr val="556175"/>
                </a:solidFill>
                <a:latin typeface="맑은 고딕"/>
                <a:ea typeface="맑은 고딕"/>
                <a:cs typeface="맑은 고딕"/>
              </a:rPr>
              <a:t>(Defense in Depth)로 설정값을 지킨다.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31</a:t>
            </a:r>
          </a:p>
        </p:txBody>
      </p:sp>
      <p:sp>
        <p:nvSpPr>
          <p:cNvPr id="6" name="Rounded Rectangle 5"/>
          <p:cNvSpPr/>
          <p:nvPr/>
        </p:nvSpPr>
        <p:spPr>
          <a:xfrm>
            <a:off x="612647" y="1827263"/>
            <a:ext cx="4309750" cy="4328184"/>
          </a:xfrm>
          <a:prstGeom prst="roundRect">
            <a:avLst>
              <a:gd name="adj" fmla="val 4000"/>
            </a:avLst>
          </a:prstGeom>
          <a:solidFill>
            <a:srgbClr val="F3F6F9"/>
          </a:solidFill>
          <a:ln>
            <a:noFill/>
          </a:ln>
        </p:spPr>
        <p:txBody>
          <a:bodyPr rtlCol="0" anchor="ctr"/>
          <a:lstStyle/>
          <a:p>
            <a:pPr algn="ctr"/>
          </a:p>
        </p:txBody>
      </p:sp>
      <p:sp>
        <p:nvSpPr>
          <p:cNvPr id="7" name="TextBox 6"/>
          <p:cNvSpPr txBox="1"/>
          <p:nvPr/>
        </p:nvSpPr>
        <p:spPr>
          <a:xfrm>
            <a:off x="612647" y="1882127"/>
            <a:ext cx="4309750" cy="365760"/>
          </a:xfrm>
          <a:prstGeom prst="rect">
            <a:avLst/>
          </a:prstGeom>
          <a:noFill/>
        </p:spPr>
        <p:txBody>
          <a:bodyPr wrap="square" anchor="ctr"/>
          <a:lstStyle/>
          <a:p>
            <a:pPr algn="ctr" eaLnBrk="0">
              <a:lnSpc>
                <a:spcPct val="110000"/>
              </a:lnSpc>
            </a:pPr>
            <a:r>
              <a:rPr sz="1400" b="1">
                <a:solidFill>
                  <a:srgbClr val="1A6FC4"/>
                </a:solidFill>
                <a:latin typeface="맑은 고딕"/>
                <a:ea typeface="맑은 고딕"/>
                <a:cs typeface="맑은 고딕"/>
              </a:rPr>
              <a:t>IT</a:t>
            </a:r>
          </a:p>
        </p:txBody>
      </p:sp>
      <p:sp>
        <p:nvSpPr>
          <p:cNvPr id="8" name="Rounded Rectangle 7"/>
          <p:cNvSpPr/>
          <p:nvPr/>
        </p:nvSpPr>
        <p:spPr>
          <a:xfrm>
            <a:off x="5050414" y="1827263"/>
            <a:ext cx="2090867" cy="4328184"/>
          </a:xfrm>
          <a:prstGeom prst="roundRect">
            <a:avLst>
              <a:gd name="adj" fmla="val 4000"/>
            </a:avLst>
          </a:prstGeom>
          <a:solidFill>
            <a:srgbClr val="F3F6F9"/>
          </a:solidFill>
          <a:ln>
            <a:noFill/>
          </a:ln>
        </p:spPr>
        <p:txBody>
          <a:bodyPr rtlCol="0" anchor="ctr"/>
          <a:lstStyle/>
          <a:p>
            <a:pPr algn="ctr"/>
          </a:p>
        </p:txBody>
      </p:sp>
      <p:sp>
        <p:nvSpPr>
          <p:cNvPr id="9" name="TextBox 8"/>
          <p:cNvSpPr txBox="1"/>
          <p:nvPr/>
        </p:nvSpPr>
        <p:spPr>
          <a:xfrm>
            <a:off x="5050414" y="1882127"/>
            <a:ext cx="2090867" cy="365760"/>
          </a:xfrm>
          <a:prstGeom prst="rect">
            <a:avLst/>
          </a:prstGeom>
          <a:noFill/>
        </p:spPr>
        <p:txBody>
          <a:bodyPr wrap="square" anchor="ctr"/>
          <a:lstStyle/>
          <a:p>
            <a:pPr algn="ctr" eaLnBrk="0">
              <a:lnSpc>
                <a:spcPct val="110000"/>
              </a:lnSpc>
            </a:pPr>
            <a:r>
              <a:rPr sz="1400" b="1">
                <a:solidFill>
                  <a:srgbClr val="1A6FC4"/>
                </a:solidFill>
                <a:latin typeface="맑은 고딕"/>
                <a:ea typeface="맑은 고딕"/>
                <a:cs typeface="맑은 고딕"/>
              </a:rPr>
              <a:t>DMZ</a:t>
            </a:r>
          </a:p>
        </p:txBody>
      </p:sp>
      <p:sp>
        <p:nvSpPr>
          <p:cNvPr id="10" name="Rounded Rectangle 9"/>
          <p:cNvSpPr/>
          <p:nvPr/>
        </p:nvSpPr>
        <p:spPr>
          <a:xfrm>
            <a:off x="7269297" y="1827263"/>
            <a:ext cx="4309750" cy="4328184"/>
          </a:xfrm>
          <a:prstGeom prst="roundRect">
            <a:avLst>
              <a:gd name="adj" fmla="val 4000"/>
            </a:avLst>
          </a:prstGeom>
          <a:solidFill>
            <a:srgbClr val="F3F6F9"/>
          </a:solidFill>
          <a:ln>
            <a:noFill/>
          </a:ln>
        </p:spPr>
        <p:txBody>
          <a:bodyPr rtlCol="0" anchor="ctr"/>
          <a:lstStyle/>
          <a:p>
            <a:pPr algn="ctr"/>
          </a:p>
        </p:txBody>
      </p:sp>
      <p:sp>
        <p:nvSpPr>
          <p:cNvPr id="11" name="TextBox 10"/>
          <p:cNvSpPr txBox="1"/>
          <p:nvPr/>
        </p:nvSpPr>
        <p:spPr>
          <a:xfrm>
            <a:off x="7269297" y="1882127"/>
            <a:ext cx="4309750" cy="365760"/>
          </a:xfrm>
          <a:prstGeom prst="rect">
            <a:avLst/>
          </a:prstGeom>
          <a:noFill/>
        </p:spPr>
        <p:txBody>
          <a:bodyPr wrap="square" anchor="ctr"/>
          <a:lstStyle/>
          <a:p>
            <a:pPr algn="ctr" eaLnBrk="0">
              <a:lnSpc>
                <a:spcPct val="110000"/>
              </a:lnSpc>
            </a:pPr>
            <a:r>
              <a:rPr sz="1400" b="1">
                <a:solidFill>
                  <a:srgbClr val="1A6FC4"/>
                </a:solidFill>
                <a:latin typeface="맑은 고딕"/>
                <a:ea typeface="맑은 고딕"/>
                <a:cs typeface="맑은 고딕"/>
              </a:rPr>
              <a:t>OT</a:t>
            </a:r>
          </a:p>
        </p:txBody>
      </p:sp>
      <p:sp>
        <p:nvSpPr>
          <p:cNvPr id="12" name="Rectangle 11"/>
          <p:cNvSpPr/>
          <p:nvPr/>
        </p:nvSpPr>
        <p:spPr>
          <a:xfrm>
            <a:off x="1658081" y="3245421"/>
            <a:ext cx="8875532" cy="146304"/>
          </a:xfrm>
          <a:prstGeom prst="rect">
            <a:avLst/>
          </a:prstGeom>
          <a:solidFill>
            <a:srgbClr val="5CB8F2"/>
          </a:solidFill>
          <a:ln>
            <a:noFill/>
          </a:ln>
        </p:spPr>
        <p:txBody>
          <a:bodyPr rtlCol="0" anchor="ctr"/>
          <a:lstStyle/>
          <a:p>
            <a:pPr algn="ctr"/>
          </a:p>
        </p:txBody>
      </p:sp>
      <p:sp>
        <p:nvSpPr>
          <p:cNvPr id="13" name="Chevron 12"/>
          <p:cNvSpPr/>
          <p:nvPr/>
        </p:nvSpPr>
        <p:spPr>
          <a:xfrm>
            <a:off x="2648651" y="3135693"/>
            <a:ext cx="237744" cy="365760"/>
          </a:xfrm>
          <a:prstGeom prst="chevron">
            <a:avLst/>
          </a:prstGeom>
          <a:solidFill>
            <a:srgbClr val="13294B"/>
          </a:solidFill>
          <a:ln>
            <a:noFill/>
          </a:ln>
        </p:spPr>
        <p:txBody>
          <a:bodyPr rtlCol="0" anchor="ctr"/>
          <a:lstStyle/>
          <a:p>
            <a:pPr algn="ctr"/>
          </a:p>
        </p:txBody>
      </p:sp>
      <p:sp>
        <p:nvSpPr>
          <p:cNvPr id="14" name="TextBox 13"/>
          <p:cNvSpPr txBox="1"/>
          <p:nvPr/>
        </p:nvSpPr>
        <p:spPr>
          <a:xfrm>
            <a:off x="2143551" y="2788221"/>
            <a:ext cx="1247943" cy="310896"/>
          </a:xfrm>
          <a:prstGeom prst="rect">
            <a:avLst/>
          </a:prstGeom>
          <a:noFill/>
        </p:spPr>
        <p:txBody>
          <a:bodyPr wrap="square" anchor="ctr"/>
          <a:lstStyle/>
          <a:p>
            <a:pPr algn="ctr" eaLnBrk="0">
              <a:lnSpc>
                <a:spcPct val="110000"/>
              </a:lnSpc>
            </a:pPr>
            <a:r>
              <a:rPr sz="1150" b="1">
                <a:solidFill>
                  <a:srgbClr val="1A6FC4"/>
                </a:solidFill>
                <a:latin typeface="맑은 고딕"/>
                <a:ea typeface="맑은 고딕"/>
                <a:cs typeface="맑은 고딕"/>
              </a:rPr>
              <a:t>기록</a:t>
            </a:r>
          </a:p>
        </p:txBody>
      </p:sp>
      <p:sp>
        <p:nvSpPr>
          <p:cNvPr id="15" name="Oval 14"/>
          <p:cNvSpPr/>
          <p:nvPr/>
        </p:nvSpPr>
        <p:spPr>
          <a:xfrm>
            <a:off x="1081171" y="2741663"/>
            <a:ext cx="1153819" cy="1153819"/>
          </a:xfrm>
          <a:prstGeom prst="ellipse">
            <a:avLst/>
          </a:prstGeom>
          <a:solidFill>
            <a:srgbClr val="FFFFFF"/>
          </a:solidFill>
          <a:ln w="28575">
            <a:solidFill>
              <a:srgbClr val="13294B"/>
            </a:solidFill>
          </a:ln>
        </p:spPr>
        <p:txBody>
          <a:bodyPr rtlCol="0" anchor="ctr"/>
          <a:lstStyle/>
          <a:p>
            <a:pPr algn="ctr"/>
          </a:p>
        </p:txBody>
      </p:sp>
      <p:pic>
        <p:nvPicPr>
          <p:cNvPr id="16" name="아이콘:settings-automation" descr="settings-automation_13294B_1.6.png"/>
          <p:cNvPicPr>
            <a:picLocks noChangeAspect="1"/>
          </p:cNvPicPr>
          <p:nvPr/>
        </p:nvPicPr>
        <p:blipFill>
          <a:blip r:embed="rId3"/>
          <a:stretch>
            <a:fillRect/>
          </a:stretch>
        </p:blipFill>
        <p:spPr>
          <a:xfrm>
            <a:off x="1358088" y="3018580"/>
            <a:ext cx="599985" cy="599985"/>
          </a:xfrm>
          <a:prstGeom prst="rect">
            <a:avLst/>
          </a:prstGeom>
        </p:spPr>
      </p:pic>
      <p:sp>
        <p:nvSpPr>
          <p:cNvPr id="17" name="TextBox 16"/>
          <p:cNvSpPr txBox="1"/>
          <p:nvPr/>
        </p:nvSpPr>
        <p:spPr>
          <a:xfrm>
            <a:off x="640079" y="4032643"/>
            <a:ext cx="2036003" cy="1939925"/>
          </a:xfrm>
          <a:prstGeom prst="rect">
            <a:avLst/>
          </a:prstGeom>
          <a:noFill/>
        </p:spPr>
        <p:txBody>
          <a:bodyPr wrap="square" anchor="t"/>
          <a:lstStyle/>
          <a:p>
            <a:pPr algn="ctr" eaLnBrk="0">
              <a:lnSpc>
                <a:spcPct val="110000"/>
              </a:lnSpc>
              <a:spcAft>
                <a:spcPts val="400"/>
              </a:spcAft>
            </a:pPr>
            <a:r>
              <a:rPr sz="1650" b="1">
                <a:solidFill>
                  <a:srgbClr val="13294B"/>
                </a:solidFill>
                <a:latin typeface="맑은 고딕"/>
                <a:ea typeface="맑은 고딕"/>
                <a:cs typeface="맑은 고딕"/>
              </a:rPr>
              <a:t>프로세스 엔진</a:t>
            </a:r>
          </a:p>
          <a:p>
            <a:pPr algn="ctr" eaLnBrk="0">
              <a:lnSpc>
                <a:spcPct val="110000"/>
              </a:lnSpc>
              <a:spcAft>
                <a:spcPts val="400"/>
              </a:spcAft>
            </a:pPr>
            <a:r>
              <a:rPr sz="1300" b="0">
                <a:solidFill>
                  <a:srgbClr val="1F2A3A"/>
                </a:solidFill>
                <a:latin typeface="맑은 고딕"/>
                <a:ea typeface="맑은 고딕"/>
                <a:cs typeface="맑은 고딕"/>
              </a:rPr>
              <a:t>승인된 조치를</a:t>
            </a:r>
          </a:p>
          <a:p>
            <a:pPr algn="ctr" eaLnBrk="0">
              <a:lnSpc>
                <a:spcPct val="110000"/>
              </a:lnSpc>
              <a:spcAft>
                <a:spcPts val="400"/>
              </a:spcAft>
            </a:pPr>
            <a:r>
              <a:rPr sz="1300" b="0">
                <a:solidFill>
                  <a:srgbClr val="1F2A3A"/>
                </a:solidFill>
                <a:latin typeface="맑은 고딕"/>
                <a:ea typeface="맑은 고딕"/>
                <a:cs typeface="맑은 고딕"/>
              </a:rPr>
              <a:t>명령으로 만든다</a:t>
            </a:r>
          </a:p>
        </p:txBody>
      </p:sp>
      <p:sp>
        <p:nvSpPr>
          <p:cNvPr id="18" name="Chevron 17"/>
          <p:cNvSpPr/>
          <p:nvPr/>
        </p:nvSpPr>
        <p:spPr>
          <a:xfrm>
            <a:off x="4867534" y="3135693"/>
            <a:ext cx="237744" cy="365760"/>
          </a:xfrm>
          <a:prstGeom prst="chevron">
            <a:avLst/>
          </a:prstGeom>
          <a:solidFill>
            <a:srgbClr val="13294B"/>
          </a:solidFill>
          <a:ln>
            <a:noFill/>
          </a:ln>
        </p:spPr>
        <p:txBody>
          <a:bodyPr rtlCol="0" anchor="ctr"/>
          <a:lstStyle/>
          <a:p>
            <a:pPr algn="ctr"/>
          </a:p>
        </p:txBody>
      </p:sp>
      <p:sp>
        <p:nvSpPr>
          <p:cNvPr id="19" name="TextBox 18"/>
          <p:cNvSpPr txBox="1"/>
          <p:nvPr/>
        </p:nvSpPr>
        <p:spPr>
          <a:xfrm>
            <a:off x="4362434" y="2788221"/>
            <a:ext cx="1247943" cy="310896"/>
          </a:xfrm>
          <a:prstGeom prst="rect">
            <a:avLst/>
          </a:prstGeom>
          <a:noFill/>
        </p:spPr>
        <p:txBody>
          <a:bodyPr wrap="square" anchor="ctr"/>
          <a:lstStyle/>
          <a:p>
            <a:pPr algn="ctr" eaLnBrk="0">
              <a:lnSpc>
                <a:spcPct val="110000"/>
              </a:lnSpc>
            </a:pPr>
            <a:r>
              <a:rPr sz="1150" b="1">
                <a:solidFill>
                  <a:srgbClr val="1A6FC4"/>
                </a:solidFill>
                <a:latin typeface="맑은 고딕"/>
                <a:ea typeface="맑은 고딕"/>
                <a:cs typeface="맑은 고딕"/>
              </a:rPr>
              <a:t>읽기</a:t>
            </a:r>
          </a:p>
        </p:txBody>
      </p:sp>
      <p:sp>
        <p:nvSpPr>
          <p:cNvPr id="20" name="Oval 19"/>
          <p:cNvSpPr/>
          <p:nvPr/>
        </p:nvSpPr>
        <p:spPr>
          <a:xfrm>
            <a:off x="3300054" y="2741663"/>
            <a:ext cx="1153819" cy="1153819"/>
          </a:xfrm>
          <a:prstGeom prst="ellipse">
            <a:avLst/>
          </a:prstGeom>
          <a:solidFill>
            <a:srgbClr val="FFFFFF"/>
          </a:solidFill>
          <a:ln w="28575">
            <a:solidFill>
              <a:srgbClr val="13294B"/>
            </a:solidFill>
          </a:ln>
        </p:spPr>
        <p:txBody>
          <a:bodyPr rtlCol="0" anchor="ctr"/>
          <a:lstStyle/>
          <a:p>
            <a:pPr algn="ctr"/>
          </a:p>
        </p:txBody>
      </p:sp>
      <p:pic>
        <p:nvPicPr>
          <p:cNvPr id="21" name="아이콘:stack-2" descr="stack-2_13294B_1.6.png"/>
          <p:cNvPicPr>
            <a:picLocks noChangeAspect="1"/>
          </p:cNvPicPr>
          <p:nvPr/>
        </p:nvPicPr>
        <p:blipFill>
          <a:blip r:embed="rId4"/>
          <a:stretch>
            <a:fillRect/>
          </a:stretch>
        </p:blipFill>
        <p:spPr>
          <a:xfrm>
            <a:off x="3576971" y="3018580"/>
            <a:ext cx="599985" cy="599985"/>
          </a:xfrm>
          <a:prstGeom prst="rect">
            <a:avLst/>
          </a:prstGeom>
        </p:spPr>
      </p:pic>
      <p:sp>
        <p:nvSpPr>
          <p:cNvPr id="22" name="TextBox 21"/>
          <p:cNvSpPr txBox="1"/>
          <p:nvPr/>
        </p:nvSpPr>
        <p:spPr>
          <a:xfrm>
            <a:off x="2858963" y="4032643"/>
            <a:ext cx="2036003" cy="1939925"/>
          </a:xfrm>
          <a:prstGeom prst="rect">
            <a:avLst/>
          </a:prstGeom>
          <a:noFill/>
        </p:spPr>
        <p:txBody>
          <a:bodyPr wrap="square" anchor="t"/>
          <a:lstStyle/>
          <a:p>
            <a:pPr algn="ctr" eaLnBrk="0">
              <a:lnSpc>
                <a:spcPct val="110000"/>
              </a:lnSpc>
              <a:spcAft>
                <a:spcPts val="400"/>
              </a:spcAft>
            </a:pPr>
            <a:r>
              <a:rPr sz="1650" b="1">
                <a:solidFill>
                  <a:srgbClr val="13294B"/>
                </a:solidFill>
                <a:latin typeface="맑은 고딕"/>
                <a:ea typeface="맑은 고딕"/>
                <a:cs typeface="맑은 고딕"/>
              </a:rPr>
              <a:t>이벤트 로그</a:t>
            </a:r>
          </a:p>
          <a:p>
            <a:pPr algn="ctr" eaLnBrk="0">
              <a:lnSpc>
                <a:spcPct val="110000"/>
              </a:lnSpc>
              <a:spcAft>
                <a:spcPts val="400"/>
              </a:spcAft>
            </a:pPr>
            <a:r>
              <a:rPr sz="1300" b="0">
                <a:solidFill>
                  <a:srgbClr val="1F2A3A"/>
                </a:solidFill>
                <a:latin typeface="맑은 고딕"/>
                <a:ea typeface="맑은 고딕"/>
                <a:cs typeface="맑은 고딕"/>
              </a:rPr>
              <a:t>토픽 action.cmd에</a:t>
            </a:r>
          </a:p>
          <a:p>
            <a:pPr algn="ctr" eaLnBrk="0">
              <a:lnSpc>
                <a:spcPct val="110000"/>
              </a:lnSpc>
              <a:spcAft>
                <a:spcPts val="400"/>
              </a:spcAft>
            </a:pPr>
            <a:r>
              <a:rPr sz="1300" b="0">
                <a:solidFill>
                  <a:srgbClr val="1F2A3A"/>
                </a:solidFill>
                <a:latin typeface="맑은 고딕"/>
                <a:ea typeface="맑은 고딕"/>
                <a:cs typeface="맑은 고딕"/>
              </a:rPr>
              <a:t>명령이 기록된다</a:t>
            </a:r>
          </a:p>
        </p:txBody>
      </p:sp>
      <p:sp>
        <p:nvSpPr>
          <p:cNvPr id="23" name="Chevron 22"/>
          <p:cNvSpPr/>
          <p:nvPr/>
        </p:nvSpPr>
        <p:spPr>
          <a:xfrm>
            <a:off x="7086417" y="3135693"/>
            <a:ext cx="237744" cy="365760"/>
          </a:xfrm>
          <a:prstGeom prst="chevron">
            <a:avLst/>
          </a:prstGeom>
          <a:solidFill>
            <a:srgbClr val="13294B"/>
          </a:solidFill>
          <a:ln>
            <a:noFill/>
          </a:ln>
        </p:spPr>
        <p:txBody>
          <a:bodyPr rtlCol="0" anchor="ctr"/>
          <a:lstStyle/>
          <a:p>
            <a:pPr algn="ctr"/>
          </a:p>
        </p:txBody>
      </p:sp>
      <p:sp>
        <p:nvSpPr>
          <p:cNvPr id="24" name="TextBox 23"/>
          <p:cNvSpPr txBox="1"/>
          <p:nvPr/>
        </p:nvSpPr>
        <p:spPr>
          <a:xfrm>
            <a:off x="6581317" y="2788221"/>
            <a:ext cx="1247943" cy="310896"/>
          </a:xfrm>
          <a:prstGeom prst="rect">
            <a:avLst/>
          </a:prstGeom>
          <a:noFill/>
        </p:spPr>
        <p:txBody>
          <a:bodyPr wrap="square" anchor="ctr"/>
          <a:lstStyle/>
          <a:p>
            <a:pPr algn="ctr" eaLnBrk="0">
              <a:lnSpc>
                <a:spcPct val="110000"/>
              </a:lnSpc>
            </a:pPr>
            <a:r>
              <a:rPr sz="1150" b="1">
                <a:solidFill>
                  <a:srgbClr val="1A6FC4"/>
                </a:solidFill>
                <a:latin typeface="맑은 고딕"/>
                <a:ea typeface="맑은 고딕"/>
                <a:cs typeface="맑은 고딕"/>
              </a:rPr>
              <a:t>검사 통과</a:t>
            </a:r>
          </a:p>
        </p:txBody>
      </p:sp>
      <p:sp>
        <p:nvSpPr>
          <p:cNvPr id="25" name="Oval 24"/>
          <p:cNvSpPr/>
          <p:nvPr/>
        </p:nvSpPr>
        <p:spPr>
          <a:xfrm>
            <a:off x="5518938" y="2741663"/>
            <a:ext cx="1153819" cy="1153819"/>
          </a:xfrm>
          <a:prstGeom prst="ellipse">
            <a:avLst/>
          </a:prstGeom>
          <a:solidFill>
            <a:srgbClr val="5CB8F2"/>
          </a:solidFill>
          <a:ln w="28575">
            <a:solidFill>
              <a:srgbClr val="13294B"/>
            </a:solidFill>
          </a:ln>
        </p:spPr>
        <p:txBody>
          <a:bodyPr rtlCol="0" anchor="ctr"/>
          <a:lstStyle/>
          <a:p>
            <a:pPr algn="ctr"/>
          </a:p>
        </p:txBody>
      </p:sp>
      <p:pic>
        <p:nvPicPr>
          <p:cNvPr id="26" name="아이콘:shield-check" descr="shield-check_13294B_1.6.png"/>
          <p:cNvPicPr>
            <a:picLocks noChangeAspect="1"/>
          </p:cNvPicPr>
          <p:nvPr/>
        </p:nvPicPr>
        <p:blipFill>
          <a:blip r:embed="rId5"/>
          <a:stretch>
            <a:fillRect/>
          </a:stretch>
        </p:blipFill>
        <p:spPr>
          <a:xfrm>
            <a:off x="5795854" y="3018580"/>
            <a:ext cx="599985" cy="599985"/>
          </a:xfrm>
          <a:prstGeom prst="rect">
            <a:avLst/>
          </a:prstGeom>
        </p:spPr>
      </p:pic>
      <p:sp>
        <p:nvSpPr>
          <p:cNvPr id="27" name="TextBox 26"/>
          <p:cNvSpPr txBox="1"/>
          <p:nvPr/>
        </p:nvSpPr>
        <p:spPr>
          <a:xfrm>
            <a:off x="5077846" y="4032643"/>
            <a:ext cx="2036003" cy="1939925"/>
          </a:xfrm>
          <a:prstGeom prst="rect">
            <a:avLst/>
          </a:prstGeom>
          <a:noFill/>
        </p:spPr>
        <p:txBody>
          <a:bodyPr wrap="square" anchor="t"/>
          <a:lstStyle/>
          <a:p>
            <a:pPr algn="ctr" eaLnBrk="0">
              <a:lnSpc>
                <a:spcPct val="110000"/>
              </a:lnSpc>
              <a:spcAft>
                <a:spcPts val="400"/>
              </a:spcAft>
            </a:pPr>
            <a:r>
              <a:rPr sz="1650" b="1">
                <a:solidFill>
                  <a:srgbClr val="13294B"/>
                </a:solidFill>
                <a:latin typeface="맑은 고딕"/>
                <a:ea typeface="맑은 고딕"/>
                <a:cs typeface="맑은 고딕"/>
              </a:rPr>
              <a:t>명령 관문</a:t>
            </a:r>
          </a:p>
          <a:p>
            <a:pPr algn="ctr" eaLnBrk="0">
              <a:lnSpc>
                <a:spcPct val="110000"/>
              </a:lnSpc>
              <a:spcAft>
                <a:spcPts val="400"/>
              </a:spcAft>
            </a:pPr>
            <a:r>
              <a:rPr sz="1300" b="0">
                <a:solidFill>
                  <a:srgbClr val="1F2A3A"/>
                </a:solidFill>
                <a:latin typeface="맑은 고딕"/>
                <a:ea typeface="맑은 고딕"/>
                <a:cs typeface="맑은 고딕"/>
              </a:rPr>
              <a:t>명령 게이트웨이(Command Gateway)</a:t>
            </a:r>
          </a:p>
          <a:p>
            <a:pPr algn="ctr" eaLnBrk="0">
              <a:lnSpc>
                <a:spcPct val="110000"/>
              </a:lnSpc>
              <a:spcAft>
                <a:spcPts val="400"/>
              </a:spcAft>
            </a:pPr>
            <a:r>
              <a:rPr sz="1300" b="0">
                <a:solidFill>
                  <a:srgbClr val="1F2A3A"/>
                </a:solidFill>
                <a:latin typeface="맑은 고딕"/>
                <a:ea typeface="맑은 고딕"/>
                <a:cs typeface="맑은 고딕"/>
              </a:rPr>
              <a:t>스키마 · 허용 목록(Whitelist) ·</a:t>
            </a:r>
          </a:p>
          <a:p>
            <a:pPr algn="ctr" eaLnBrk="0">
              <a:lnSpc>
                <a:spcPct val="110000"/>
              </a:lnSpc>
              <a:spcAft>
                <a:spcPts val="400"/>
              </a:spcAft>
            </a:pPr>
            <a:r>
              <a:rPr sz="1300" b="0">
                <a:solidFill>
                  <a:srgbClr val="1F2A3A"/>
                </a:solidFill>
                <a:latin typeface="맑은 고딕"/>
                <a:ea typeface="맑은 고딕"/>
                <a:cs typeface="맑은 고딕"/>
              </a:rPr>
              <a:t>만료 · 승인 기록 · 운전 모드</a:t>
            </a:r>
          </a:p>
        </p:txBody>
      </p:sp>
      <p:sp>
        <p:nvSpPr>
          <p:cNvPr id="28" name="Chevron 27"/>
          <p:cNvSpPr/>
          <p:nvPr/>
        </p:nvSpPr>
        <p:spPr>
          <a:xfrm>
            <a:off x="9305300" y="3135693"/>
            <a:ext cx="237744" cy="365760"/>
          </a:xfrm>
          <a:prstGeom prst="chevron">
            <a:avLst/>
          </a:prstGeom>
          <a:solidFill>
            <a:srgbClr val="13294B"/>
          </a:solidFill>
          <a:ln>
            <a:noFill/>
          </a:ln>
        </p:spPr>
        <p:txBody>
          <a:bodyPr rtlCol="0" anchor="ctr"/>
          <a:lstStyle/>
          <a:p>
            <a:pPr algn="ctr"/>
          </a:p>
        </p:txBody>
      </p:sp>
      <p:sp>
        <p:nvSpPr>
          <p:cNvPr id="29" name="TextBox 28"/>
          <p:cNvSpPr txBox="1"/>
          <p:nvPr/>
        </p:nvSpPr>
        <p:spPr>
          <a:xfrm>
            <a:off x="8800200" y="2788221"/>
            <a:ext cx="1247943" cy="310896"/>
          </a:xfrm>
          <a:prstGeom prst="rect">
            <a:avLst/>
          </a:prstGeom>
          <a:noFill/>
        </p:spPr>
        <p:txBody>
          <a:bodyPr wrap="square" anchor="ctr"/>
          <a:lstStyle/>
          <a:p>
            <a:pPr algn="ctr" eaLnBrk="0">
              <a:lnSpc>
                <a:spcPct val="110000"/>
              </a:lnSpc>
            </a:pPr>
            <a:r>
              <a:rPr sz="1150" b="1">
                <a:solidFill>
                  <a:srgbClr val="1A6FC4"/>
                </a:solidFill>
                <a:latin typeface="맑은 고딕"/>
                <a:ea typeface="맑은 고딕"/>
                <a:cs typeface="맑은 고딕"/>
              </a:rPr>
              <a:t>전달</a:t>
            </a:r>
          </a:p>
        </p:txBody>
      </p:sp>
      <p:sp>
        <p:nvSpPr>
          <p:cNvPr id="30" name="Oval 29"/>
          <p:cNvSpPr/>
          <p:nvPr/>
        </p:nvSpPr>
        <p:spPr>
          <a:xfrm>
            <a:off x="7737821" y="2741663"/>
            <a:ext cx="1153819" cy="1153819"/>
          </a:xfrm>
          <a:prstGeom prst="ellipse">
            <a:avLst/>
          </a:prstGeom>
          <a:solidFill>
            <a:srgbClr val="FFFFFF"/>
          </a:solidFill>
          <a:ln w="28575">
            <a:solidFill>
              <a:srgbClr val="13294B"/>
            </a:solidFill>
          </a:ln>
        </p:spPr>
        <p:txBody>
          <a:bodyPr rtlCol="0" anchor="ctr"/>
          <a:lstStyle/>
          <a:p>
            <a:pPr algn="ctr"/>
          </a:p>
        </p:txBody>
      </p:sp>
      <p:pic>
        <p:nvPicPr>
          <p:cNvPr id="31" name="아이콘:broadcast" descr="broadcast_13294B_1.6.png"/>
          <p:cNvPicPr>
            <a:picLocks noChangeAspect="1"/>
          </p:cNvPicPr>
          <p:nvPr/>
        </p:nvPicPr>
        <p:blipFill>
          <a:blip r:embed="rId6"/>
          <a:stretch>
            <a:fillRect/>
          </a:stretch>
        </p:blipFill>
        <p:spPr>
          <a:xfrm>
            <a:off x="8014737" y="3018580"/>
            <a:ext cx="599985" cy="599985"/>
          </a:xfrm>
          <a:prstGeom prst="rect">
            <a:avLst/>
          </a:prstGeom>
        </p:spPr>
      </p:pic>
      <p:sp>
        <p:nvSpPr>
          <p:cNvPr id="32" name="TextBox 31"/>
          <p:cNvSpPr txBox="1"/>
          <p:nvPr/>
        </p:nvSpPr>
        <p:spPr>
          <a:xfrm>
            <a:off x="7296729" y="4032643"/>
            <a:ext cx="2036003" cy="1939925"/>
          </a:xfrm>
          <a:prstGeom prst="rect">
            <a:avLst/>
          </a:prstGeom>
          <a:noFill/>
        </p:spPr>
        <p:txBody>
          <a:bodyPr wrap="square" anchor="t"/>
          <a:lstStyle/>
          <a:p>
            <a:pPr algn="ctr" eaLnBrk="0">
              <a:lnSpc>
                <a:spcPct val="110000"/>
              </a:lnSpc>
              <a:spcAft>
                <a:spcPts val="400"/>
              </a:spcAft>
            </a:pPr>
            <a:r>
              <a:rPr sz="1650" b="1">
                <a:solidFill>
                  <a:srgbClr val="13294B"/>
                </a:solidFill>
                <a:latin typeface="맑은 고딕"/>
                <a:ea typeface="맑은 고딕"/>
                <a:cs typeface="맑은 고딕"/>
              </a:rPr>
              <a:t>브로커</a:t>
            </a:r>
          </a:p>
          <a:p>
            <a:pPr algn="ctr" eaLnBrk="0">
              <a:lnSpc>
                <a:spcPct val="110000"/>
              </a:lnSpc>
              <a:spcAft>
                <a:spcPts val="400"/>
              </a:spcAft>
            </a:pPr>
            <a:r>
              <a:rPr sz="1300" b="0">
                <a:solidFill>
                  <a:srgbClr val="1F2A3A"/>
                </a:solidFill>
                <a:latin typeface="맑은 고딕"/>
                <a:ea typeface="맑은 고딕"/>
                <a:cs typeface="맑은 고딕"/>
              </a:rPr>
              <a:t>토픽</a:t>
            </a:r>
          </a:p>
          <a:p>
            <a:pPr algn="ctr" eaLnBrk="0">
              <a:lnSpc>
                <a:spcPct val="110000"/>
              </a:lnSpc>
              <a:spcAft>
                <a:spcPts val="400"/>
              </a:spcAft>
            </a:pPr>
            <a:r>
              <a:rPr sz="1300" b="0">
                <a:solidFill>
                  <a:srgbClr val="1F2A3A"/>
                </a:solidFill>
                <a:latin typeface="맑은 고딕"/>
                <a:ea typeface="맑은 고딕"/>
                <a:cs typeface="맑은 고딕"/>
              </a:rPr>
              <a:t>plant/hyd01/cmd/auto</a:t>
            </a:r>
          </a:p>
        </p:txBody>
      </p:sp>
      <p:sp>
        <p:nvSpPr>
          <p:cNvPr id="33" name="Oval 32"/>
          <p:cNvSpPr/>
          <p:nvPr/>
        </p:nvSpPr>
        <p:spPr>
          <a:xfrm>
            <a:off x="9956704" y="2741663"/>
            <a:ext cx="1153819" cy="1153819"/>
          </a:xfrm>
          <a:prstGeom prst="ellipse">
            <a:avLst/>
          </a:prstGeom>
          <a:solidFill>
            <a:srgbClr val="5CB8F2"/>
          </a:solidFill>
          <a:ln w="28575">
            <a:solidFill>
              <a:srgbClr val="13294B"/>
            </a:solidFill>
          </a:ln>
        </p:spPr>
        <p:txBody>
          <a:bodyPr rtlCol="0" anchor="ctr"/>
          <a:lstStyle/>
          <a:p>
            <a:pPr algn="ctr"/>
          </a:p>
        </p:txBody>
      </p:sp>
      <p:pic>
        <p:nvPicPr>
          <p:cNvPr id="34" name="아이콘:cpu" descr="cpu_13294B_1.6.png"/>
          <p:cNvPicPr>
            <a:picLocks noChangeAspect="1"/>
          </p:cNvPicPr>
          <p:nvPr/>
        </p:nvPicPr>
        <p:blipFill>
          <a:blip r:embed="rId7"/>
          <a:stretch>
            <a:fillRect/>
          </a:stretch>
        </p:blipFill>
        <p:spPr>
          <a:xfrm>
            <a:off x="10233620" y="3018580"/>
            <a:ext cx="599985" cy="599985"/>
          </a:xfrm>
          <a:prstGeom prst="rect">
            <a:avLst/>
          </a:prstGeom>
        </p:spPr>
      </p:pic>
      <p:sp>
        <p:nvSpPr>
          <p:cNvPr id="35" name="TextBox 34"/>
          <p:cNvSpPr txBox="1"/>
          <p:nvPr/>
        </p:nvSpPr>
        <p:spPr>
          <a:xfrm>
            <a:off x="9515612" y="4032643"/>
            <a:ext cx="2036003" cy="1939925"/>
          </a:xfrm>
          <a:prstGeom prst="rect">
            <a:avLst/>
          </a:prstGeom>
          <a:noFill/>
        </p:spPr>
        <p:txBody>
          <a:bodyPr wrap="square" anchor="t"/>
          <a:lstStyle/>
          <a:p>
            <a:pPr algn="ctr" eaLnBrk="0">
              <a:lnSpc>
                <a:spcPct val="110000"/>
              </a:lnSpc>
              <a:spcAft>
                <a:spcPts val="400"/>
              </a:spcAft>
            </a:pPr>
            <a:r>
              <a:rPr sz="1650" b="1">
                <a:solidFill>
                  <a:srgbClr val="13294B"/>
                </a:solidFill>
                <a:latin typeface="맑은 고딕"/>
                <a:ea typeface="맑은 고딕"/>
                <a:cs typeface="맑은 고딕"/>
              </a:rPr>
              <a:t>PLC</a:t>
            </a:r>
          </a:p>
          <a:p>
            <a:pPr algn="ctr" eaLnBrk="0">
              <a:lnSpc>
                <a:spcPct val="110000"/>
              </a:lnSpc>
              <a:spcAft>
                <a:spcPts val="400"/>
              </a:spcAft>
            </a:pPr>
            <a:r>
              <a:rPr sz="1300" b="0">
                <a:solidFill>
                  <a:srgbClr val="1F2A3A"/>
                </a:solidFill>
                <a:latin typeface="맑은 고딕"/>
                <a:ea typeface="맑은 고딕"/>
                <a:cs typeface="맑은 고딕"/>
              </a:rPr>
              <a:t>설정값의 범위와</a:t>
            </a:r>
          </a:p>
          <a:p>
            <a:pPr algn="ctr" eaLnBrk="0">
              <a:lnSpc>
                <a:spcPct val="110000"/>
              </a:lnSpc>
              <a:spcAft>
                <a:spcPts val="400"/>
              </a:spcAft>
            </a:pPr>
            <a:r>
              <a:rPr sz="1300" b="0">
                <a:solidFill>
                  <a:srgbClr val="1F2A3A"/>
                </a:solidFill>
                <a:latin typeface="맑은 고딕"/>
                <a:ea typeface="맑은 고딕"/>
                <a:cs typeface="맑은 고딕"/>
              </a:rPr>
              <a:t>인터록을 다시 검사한 뒤</a:t>
            </a:r>
          </a:p>
          <a:p>
            <a:pPr algn="ctr" eaLnBrk="0">
              <a:lnSpc>
                <a:spcPct val="110000"/>
              </a:lnSpc>
              <a:spcAft>
                <a:spcPts val="400"/>
              </a:spcAft>
            </a:pPr>
            <a:r>
              <a:rPr sz="1300" b="0">
                <a:solidFill>
                  <a:srgbClr val="1F2A3A"/>
                </a:solidFill>
                <a:latin typeface="맑은 고딕"/>
                <a:ea typeface="맑은 고딕"/>
                <a:cs typeface="맑은 고딕"/>
              </a:rPr>
              <a:t>설정값을 바꾼다</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명령 한 건과 실행 응답 ACK</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명령에는 할 일·승인자·유효 시각이 실리고, PLC는 처리 결과를 확인 응답 </a:t>
            </a:r>
            <a:r>
              <a:rPr sz="1600" b="1">
                <a:solidFill>
                  <a:srgbClr val="1A6FC4"/>
                </a:solidFill>
                <a:latin typeface="맑은 고딕"/>
                <a:ea typeface="맑은 고딕"/>
                <a:cs typeface="맑은 고딕"/>
              </a:rPr>
              <a:t>ACK</a:t>
            </a:r>
            <a:r>
              <a:rPr sz="1600" b="0">
                <a:solidFill>
                  <a:srgbClr val="556175"/>
                </a:solidFill>
                <a:latin typeface="맑은 고딕"/>
                <a:ea typeface="맑은 고딕"/>
                <a:cs typeface="맑은 고딕"/>
              </a:rPr>
              <a:t>로 돌려준다.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32</a:t>
            </a:r>
          </a:p>
        </p:txBody>
      </p:sp>
      <p:sp>
        <p:nvSpPr>
          <p:cNvPr id="6" name="Rounded Rectangle 5"/>
          <p:cNvSpPr/>
          <p:nvPr/>
        </p:nvSpPr>
        <p:spPr>
          <a:xfrm>
            <a:off x="548640" y="1773936"/>
            <a:ext cx="6766560" cy="4434840"/>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1911096"/>
            <a:ext cx="6400800" cy="4160520"/>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명령</a:t>
            </a:r>
          </a:p>
          <a:p>
            <a:pPr algn="l" eaLnBrk="0">
              <a:lnSpc>
                <a:spcPct val="110000"/>
              </a:lnSpc>
              <a:spcAft>
                <a:spcPts val="200"/>
              </a:spcAft>
            </a:pPr>
            <a:r>
              <a:rPr sz="1300" b="0">
                <a:solidFill>
                  <a:srgbClr val="E8EEF6"/>
                </a:solidFill>
                <a:latin typeface="Consolas"/>
                <a:ea typeface="맑은 고딕"/>
                <a:cs typeface="맑은 고딕"/>
              </a:rPr>
              <a:t>cmdId       CMD-1010-0001-b94a</a:t>
            </a:r>
          </a:p>
          <a:p>
            <a:pPr algn="l" eaLnBrk="0">
              <a:lnSpc>
                <a:spcPct val="110000"/>
              </a:lnSpc>
              <a:spcAft>
                <a:spcPts val="200"/>
              </a:spcAft>
            </a:pPr>
            <a:r>
              <a:rPr sz="1300" b="0">
                <a:solidFill>
                  <a:srgbClr val="E8EEF6"/>
                </a:solidFill>
                <a:latin typeface="Consolas"/>
                <a:ea typeface="맑은 고딕"/>
                <a:cs typeface="맑은 고딕"/>
              </a:rPr>
              <a:t>asset       HYD-01</a:t>
            </a:r>
          </a:p>
          <a:p>
            <a:pPr algn="l" eaLnBrk="0">
              <a:lnSpc>
                <a:spcPct val="110000"/>
              </a:lnSpc>
              <a:spcAft>
                <a:spcPts val="200"/>
              </a:spcAft>
            </a:pPr>
            <a:r>
              <a:rPr sz="1300" b="0">
                <a:solidFill>
                  <a:srgbClr val="E8EEF6"/>
                </a:solidFill>
                <a:latin typeface="Consolas"/>
                <a:ea typeface="맑은 고딕"/>
                <a:cs typeface="맑은 고딕"/>
              </a:rPr>
              <a:t>incident    INC-1010-01-d55a</a:t>
            </a:r>
          </a:p>
          <a:p>
            <a:pPr algn="l" eaLnBrk="0">
              <a:lnSpc>
                <a:spcPct val="110000"/>
              </a:lnSpc>
              <a:spcAft>
                <a:spcPts val="200"/>
              </a:spcAft>
            </a:pPr>
            <a:r>
              <a:rPr sz="1300" b="0">
                <a:solidFill>
                  <a:srgbClr val="E8EEF6"/>
                </a:solidFill>
                <a:latin typeface="Consolas"/>
                <a:ea typeface="맑은 고딕"/>
                <a:cs typeface="맑은 고딕"/>
              </a:rPr>
              <a:t>actions     FAN_SET  fan_pct 100</a:t>
            </a:r>
          </a:p>
          <a:p>
            <a:pPr algn="l" eaLnBrk="0">
              <a:lnSpc>
                <a:spcPct val="110000"/>
              </a:lnSpc>
              <a:spcAft>
                <a:spcPts val="200"/>
              </a:spcAft>
            </a:pPr>
            <a:r>
              <a:rPr sz="1300" b="0">
                <a:solidFill>
                  <a:srgbClr val="E8EEF6"/>
                </a:solidFill>
                <a:latin typeface="Consolas"/>
                <a:ea typeface="맑은 고딕"/>
                <a:cs typeface="맑은 고딕"/>
              </a:rPr>
              <a:t>approvedBy  user:kim-op</a:t>
            </a:r>
          </a:p>
          <a:p>
            <a:pPr algn="l" eaLnBrk="0">
              <a:lnSpc>
                <a:spcPct val="110000"/>
              </a:lnSpc>
              <a:spcAft>
                <a:spcPts val="200"/>
              </a:spcAft>
            </a:pPr>
            <a:r>
              <a:rPr sz="1300" b="0">
                <a:solidFill>
                  <a:srgbClr val="E8EEF6"/>
                </a:solidFill>
                <a:latin typeface="Consolas"/>
                <a:ea typeface="맑은 고딕"/>
                <a:cs typeface="맑은 고딕"/>
              </a:rPr>
              <a:t>issuedAt    11:14:57</a:t>
            </a:r>
          </a:p>
          <a:p>
            <a:pPr algn="l" eaLnBrk="0">
              <a:lnSpc>
                <a:spcPct val="110000"/>
              </a:lnSpc>
              <a:spcAft>
                <a:spcPts val="200"/>
              </a:spcAft>
            </a:pPr>
            <a:r>
              <a:rPr sz="1300" b="0">
                <a:solidFill>
                  <a:srgbClr val="E8EEF6"/>
                </a:solidFill>
                <a:latin typeface="Consolas"/>
                <a:ea typeface="맑은 고딕"/>
                <a:cs typeface="맑은 고딕"/>
              </a:rPr>
              <a:t>expiresAt   11:16:57</a:t>
            </a:r>
          </a:p>
          <a:p>
            <a:pPr algn="l" eaLnBrk="0">
              <a:lnSpc>
                <a:spcPct val="110000"/>
              </a:lnSpc>
              <a:spcAft>
                <a:spcPts val="200"/>
              </a:spcAft>
            </a:pPr>
          </a:p>
          <a:p>
            <a:pPr algn="l" eaLnBrk="0">
              <a:lnSpc>
                <a:spcPct val="110000"/>
              </a:lnSpc>
              <a:spcAft>
                <a:spcPts val="200"/>
              </a:spcAft>
            </a:pPr>
            <a:r>
              <a:rPr sz="1300" b="0">
                <a:solidFill>
                  <a:srgbClr val="E8EEF6"/>
                </a:solidFill>
                <a:latin typeface="Consolas"/>
                <a:ea typeface="맑은 고딕"/>
                <a:cs typeface="맑은 고딕"/>
              </a:rPr>
              <a:t># PLC</a:t>
            </a:r>
            <a:r>
              <a:rPr sz="1300" b="0">
                <a:solidFill>
                  <a:srgbClr val="E8EEF6"/>
                </a:solidFill>
                <a:latin typeface="맑은 고딕"/>
                <a:ea typeface="맑은 고딕"/>
                <a:cs typeface="맑은 고딕"/>
              </a:rPr>
              <a:t>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응답</a:t>
            </a:r>
            <a:r>
              <a:rPr sz="1300" b="0">
                <a:solidFill>
                  <a:srgbClr val="E8EEF6"/>
                </a:solidFill>
                <a:latin typeface="Consolas"/>
                <a:ea typeface="맑은 고딕"/>
                <a:cs typeface="맑은 고딕"/>
              </a:rPr>
              <a:t>(ACK)  11:14:58</a:t>
            </a:r>
          </a:p>
          <a:p>
            <a:pPr algn="l" eaLnBrk="0">
              <a:lnSpc>
                <a:spcPct val="110000"/>
              </a:lnSpc>
              <a:spcAft>
                <a:spcPts val="200"/>
              </a:spcAft>
            </a:pPr>
            <a:r>
              <a:rPr sz="1300" b="0">
                <a:solidFill>
                  <a:srgbClr val="E8EEF6"/>
                </a:solidFill>
                <a:latin typeface="Consolas"/>
                <a:ea typeface="맑은 고딕"/>
                <a:cs typeface="맑은 고딕"/>
              </a:rPr>
              <a:t>cmdId       CMD-1010-0001-b94a</a:t>
            </a:r>
          </a:p>
          <a:p>
            <a:pPr algn="l" eaLnBrk="0">
              <a:lnSpc>
                <a:spcPct val="110000"/>
              </a:lnSpc>
              <a:spcAft>
                <a:spcPts val="200"/>
              </a:spcAft>
            </a:pPr>
            <a:r>
              <a:rPr sz="1300" b="0">
                <a:solidFill>
                  <a:srgbClr val="E8EEF6"/>
                </a:solidFill>
                <a:latin typeface="Consolas"/>
                <a:ea typeface="맑은 고딕"/>
                <a:cs typeface="맑은 고딕"/>
              </a:rPr>
              <a:t>result      DONE</a:t>
            </a:r>
          </a:p>
          <a:p>
            <a:pPr algn="l" eaLnBrk="0">
              <a:lnSpc>
                <a:spcPct val="110000"/>
              </a:lnSpc>
              <a:spcAft>
                <a:spcPts val="200"/>
              </a:spcAft>
            </a:pPr>
            <a:r>
              <a:rPr sz="1300" b="0">
                <a:solidFill>
                  <a:srgbClr val="E8EEF6"/>
                </a:solidFill>
                <a:latin typeface="Consolas"/>
                <a:ea typeface="맑은 고딕"/>
                <a:cs typeface="맑은 고딕"/>
              </a:rPr>
              <a:t>interlock   PASS</a:t>
            </a:r>
          </a:p>
        </p:txBody>
      </p:sp>
      <p:sp>
        <p:nvSpPr>
          <p:cNvPr id="8" name="TextBox 7"/>
          <p:cNvSpPr txBox="1"/>
          <p:nvPr/>
        </p:nvSpPr>
        <p:spPr>
          <a:xfrm>
            <a:off x="7635240" y="177393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actions</a:t>
            </a:r>
          </a:p>
          <a:p>
            <a:pPr algn="l" eaLnBrk="0">
              <a:lnSpc>
                <a:spcPct val="110000"/>
              </a:lnSpc>
              <a:spcAft>
                <a:spcPts val="400"/>
              </a:spcAft>
            </a:pPr>
            <a:r>
              <a:rPr sz="1400" b="0">
                <a:solidFill>
                  <a:srgbClr val="1F2A3A"/>
                </a:solidFill>
                <a:latin typeface="맑은 고딕"/>
                <a:ea typeface="맑은 고딕"/>
                <a:cs typeface="맑은 고딕"/>
              </a:rPr>
              <a:t>할 일이다. 팬 속도를 100 %로 올린다.</a:t>
            </a:r>
          </a:p>
        </p:txBody>
      </p:sp>
      <p:sp>
        <p:nvSpPr>
          <p:cNvPr id="9" name="TextBox 8"/>
          <p:cNvSpPr txBox="1"/>
          <p:nvPr/>
        </p:nvSpPr>
        <p:spPr>
          <a:xfrm>
            <a:off x="7635240" y="288264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approvedBy</a:t>
            </a:r>
          </a:p>
          <a:p>
            <a:pPr algn="l" eaLnBrk="0">
              <a:lnSpc>
                <a:spcPct val="110000"/>
              </a:lnSpc>
              <a:spcAft>
                <a:spcPts val="400"/>
              </a:spcAft>
            </a:pPr>
            <a:r>
              <a:rPr sz="1400" b="0">
                <a:solidFill>
                  <a:srgbClr val="1F2A3A"/>
                </a:solidFill>
                <a:latin typeface="맑은 고딕"/>
                <a:ea typeface="맑은 고딕"/>
                <a:cs typeface="맑은 고딕"/>
              </a:rPr>
              <a:t>승인한 사람이다. 승인 없이는 명령이 만들어지지 않고, 누가 책임지는지가 남는다.</a:t>
            </a:r>
          </a:p>
        </p:txBody>
      </p:sp>
      <p:sp>
        <p:nvSpPr>
          <p:cNvPr id="10" name="TextBox 9"/>
          <p:cNvSpPr txBox="1"/>
          <p:nvPr/>
        </p:nvSpPr>
        <p:spPr>
          <a:xfrm>
            <a:off x="7635240" y="399135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expiresAt</a:t>
            </a:r>
          </a:p>
          <a:p>
            <a:pPr algn="l" eaLnBrk="0">
              <a:lnSpc>
                <a:spcPct val="110000"/>
              </a:lnSpc>
              <a:spcAft>
                <a:spcPts val="400"/>
              </a:spcAft>
            </a:pPr>
            <a:r>
              <a:rPr sz="1400" b="0">
                <a:solidFill>
                  <a:srgbClr val="1F2A3A"/>
                </a:solidFill>
                <a:latin typeface="맑은 고딕"/>
                <a:ea typeface="맑은 고딕"/>
                <a:cs typeface="맑은 고딕"/>
              </a:rPr>
              <a:t>만료 시각이다. 지난 명령은 버려져 달라진 상황에서 늦게 실행되지 않는다.</a:t>
            </a:r>
          </a:p>
        </p:txBody>
      </p:sp>
      <p:sp>
        <p:nvSpPr>
          <p:cNvPr id="11" name="TextBox 10"/>
          <p:cNvSpPr txBox="1"/>
          <p:nvPr/>
        </p:nvSpPr>
        <p:spPr>
          <a:xfrm>
            <a:off x="7635240" y="510006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ACK(Acknowledgement)</a:t>
            </a:r>
          </a:p>
          <a:p>
            <a:pPr algn="l" eaLnBrk="0">
              <a:lnSpc>
                <a:spcPct val="110000"/>
              </a:lnSpc>
              <a:spcAft>
                <a:spcPts val="400"/>
              </a:spcAft>
            </a:pPr>
            <a:r>
              <a:rPr sz="1400" b="0">
                <a:solidFill>
                  <a:srgbClr val="1F2A3A"/>
                </a:solidFill>
                <a:latin typeface="맑은 고딕"/>
                <a:ea typeface="맑은 고딕"/>
                <a:cs typeface="맑은 고딕"/>
              </a:rPr>
              <a:t>PLC가 명령을 받아 처리했다는 확인 응답이다. 실행 완료 DONE과 인터록 상태 PASS를 돌려준다.</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데이터 리니지: 원천 데이터에서 판단 결과까지</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데이터 리니지(Data Lineage)는 판단 결과에서 원천 계측값까지 되짚을 수 있게 남긴 내력이다.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33</a:t>
            </a:r>
          </a:p>
        </p:txBody>
      </p:sp>
      <p:sp>
        <p:nvSpPr>
          <p:cNvPr id="6" name="Rounded Rectangle 5"/>
          <p:cNvSpPr/>
          <p:nvPr/>
        </p:nvSpPr>
        <p:spPr>
          <a:xfrm>
            <a:off x="548640" y="1773936"/>
            <a:ext cx="6766560" cy="4434840"/>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1911096"/>
            <a:ext cx="6400800" cy="4160520"/>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원천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데이터</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유온</a:t>
            </a:r>
            <a:r>
              <a:rPr sz="1300" b="0">
                <a:solidFill>
                  <a:srgbClr val="E8EEF6"/>
                </a:solidFill>
                <a:latin typeface="Consolas"/>
                <a:ea typeface="맑은 고딕"/>
                <a:cs typeface="맑은 고딕"/>
              </a:rPr>
              <a:t> TS1 (</a:t>
            </a:r>
            <a:r>
              <a:rPr sz="1300" b="0">
                <a:solidFill>
                  <a:srgbClr val="E8EEF6"/>
                </a:solidFill>
                <a:latin typeface="맑은 고딕"/>
                <a:ea typeface="맑은 고딕"/>
                <a:cs typeface="맑은 고딕"/>
              </a:rPr>
              <a:t>표</a:t>
            </a:r>
            <a:r>
              <a:rPr sz="1300" b="0">
                <a:solidFill>
                  <a:srgbClr val="E8EEF6"/>
                </a:solidFill>
                <a:latin typeface="Consolas"/>
                <a:ea typeface="맑은 고딕"/>
                <a:cs typeface="맑은 고딕"/>
              </a:rPr>
              <a:t> tag_1s)</a:t>
            </a:r>
          </a:p>
          <a:p>
            <a:pPr algn="l" eaLnBrk="0">
              <a:lnSpc>
                <a:spcPct val="110000"/>
              </a:lnSpc>
              <a:spcAft>
                <a:spcPts val="200"/>
              </a:spcAft>
            </a:pPr>
            <a:r>
              <a:rPr sz="1300" b="0">
                <a:solidFill>
                  <a:srgbClr val="E8EEF6"/>
                </a:solidFill>
                <a:latin typeface="Consolas"/>
                <a:ea typeface="맑은 고딕"/>
                <a:cs typeface="맑은 고딕"/>
              </a:rPr>
              <a:t>11:13:06   55.41</a:t>
            </a:r>
          </a:p>
          <a:p>
            <a:pPr algn="l" eaLnBrk="0">
              <a:lnSpc>
                <a:spcPct val="110000"/>
              </a:lnSpc>
              <a:spcAft>
                <a:spcPts val="200"/>
              </a:spcAft>
            </a:pPr>
            <a:r>
              <a:rPr sz="1300" b="0">
                <a:solidFill>
                  <a:srgbClr val="E8EEF6"/>
                </a:solidFill>
                <a:latin typeface="Consolas"/>
                <a:ea typeface="맑은 고딕"/>
                <a:cs typeface="맑은 고딕"/>
              </a:rPr>
              <a:t>11:13:07   55.56</a:t>
            </a:r>
          </a:p>
          <a:p>
            <a:pPr algn="l" eaLnBrk="0">
              <a:lnSpc>
                <a:spcPct val="110000"/>
              </a:lnSpc>
              <a:spcAft>
                <a:spcPts val="200"/>
              </a:spcAft>
            </a:pPr>
            <a:r>
              <a:rPr sz="1300" b="0">
                <a:solidFill>
                  <a:srgbClr val="E8EEF6"/>
                </a:solidFill>
                <a:latin typeface="Consolas"/>
                <a:ea typeface="맑은 고딕"/>
                <a:cs typeface="맑은 고딕"/>
              </a:rPr>
              <a:t>11:13:08   55.71</a:t>
            </a:r>
          </a:p>
          <a:p>
            <a:pPr algn="l" eaLnBrk="0">
              <a:lnSpc>
                <a:spcPct val="110000"/>
              </a:lnSpc>
              <a:spcAft>
                <a:spcPts val="200"/>
              </a:spcAft>
            </a:pP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가공</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데이터</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유온의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기울기</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표</a:t>
            </a:r>
            <a:r>
              <a:rPr sz="1300" b="0">
                <a:solidFill>
                  <a:srgbClr val="E8EEF6"/>
                </a:solidFill>
                <a:latin typeface="Consolas"/>
                <a:ea typeface="맑은 고딕"/>
                <a:cs typeface="맑은 고딕"/>
              </a:rPr>
              <a:t> feat_1s)</a:t>
            </a:r>
          </a:p>
          <a:p>
            <a:pPr algn="l" eaLnBrk="0">
              <a:lnSpc>
                <a:spcPct val="110000"/>
              </a:lnSpc>
              <a:spcAft>
                <a:spcPts val="200"/>
              </a:spcAft>
            </a:pPr>
            <a:r>
              <a:rPr sz="1300" b="0">
                <a:solidFill>
                  <a:srgbClr val="E8EEF6"/>
                </a:solidFill>
                <a:latin typeface="Consolas"/>
                <a:ea typeface="맑은 고딕"/>
                <a:cs typeface="맑은 고딕"/>
              </a:rPr>
              <a:t>11:13:08   slope </a:t>
            </a:r>
            <a:r>
              <a:rPr sz="1300" b="0">
                <a:solidFill>
                  <a:srgbClr val="E8EEF6"/>
                </a:solidFill>
                <a:latin typeface="맑은 고딕"/>
                <a:ea typeface="맑은 고딕"/>
                <a:cs typeface="맑은 고딕"/>
              </a:rPr>
              <a:t>양수</a:t>
            </a: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오르는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중</a:t>
            </a:r>
            <a:r>
              <a:rPr sz="1300" b="0">
                <a:solidFill>
                  <a:srgbClr val="E8EEF6"/>
                </a:solidFill>
                <a:latin typeface="Consolas"/>
                <a:ea typeface="맑은 고딕"/>
                <a:cs typeface="맑은 고딕"/>
              </a:rPr>
              <a:t>)</a:t>
            </a:r>
          </a:p>
          <a:p>
            <a:pPr algn="l" eaLnBrk="0">
              <a:lnSpc>
                <a:spcPct val="110000"/>
              </a:lnSpc>
              <a:spcAft>
                <a:spcPts val="200"/>
              </a:spcAft>
            </a:pP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이상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이벤트</a:t>
            </a:r>
          </a:p>
          <a:p>
            <a:pPr algn="l" eaLnBrk="0">
              <a:lnSpc>
                <a:spcPct val="110000"/>
              </a:lnSpc>
              <a:spcAft>
                <a:spcPts val="200"/>
              </a:spcAft>
            </a:pPr>
            <a:r>
              <a:rPr sz="1300" b="0">
                <a:solidFill>
                  <a:srgbClr val="E8EEF6"/>
                </a:solidFill>
                <a:latin typeface="Consolas"/>
                <a:ea typeface="맑은 고딕"/>
                <a:cs typeface="맑은 고딕"/>
              </a:rPr>
              <a:t>ALT-hyd01-0014-e0a1   COOLER_DEGRADATION</a:t>
            </a:r>
          </a:p>
          <a:p>
            <a:pPr algn="l" eaLnBrk="0">
              <a:lnSpc>
                <a:spcPct val="110000"/>
              </a:lnSpc>
              <a:spcAft>
                <a:spcPts val="200"/>
              </a:spcAft>
            </a:pP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판단</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결과</a:t>
            </a:r>
          </a:p>
          <a:p>
            <a:pPr algn="l" eaLnBrk="0">
              <a:lnSpc>
                <a:spcPct val="110000"/>
              </a:lnSpc>
              <a:spcAft>
                <a:spcPts val="200"/>
              </a:spcAft>
            </a:pPr>
            <a:r>
              <a:rPr sz="1300" b="0">
                <a:solidFill>
                  <a:srgbClr val="E8EEF6"/>
                </a:solidFill>
                <a:latin typeface="Consolas"/>
                <a:ea typeface="맑은 고딕"/>
                <a:cs typeface="맑은 고딕"/>
              </a:rPr>
              <a:t>DEC-1010-002-408b    </a:t>
            </a:r>
            <a:r>
              <a:rPr sz="1300" b="0">
                <a:solidFill>
                  <a:srgbClr val="E8EEF6"/>
                </a:solidFill>
                <a:latin typeface="맑은 고딕"/>
                <a:ea typeface="맑은 고딕"/>
                <a:cs typeface="맑은 고딕"/>
              </a:rPr>
              <a:t>원인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진단</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조치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추천</a:t>
            </a:r>
          </a:p>
        </p:txBody>
      </p:sp>
      <p:sp>
        <p:nvSpPr>
          <p:cNvPr id="8" name="TextBox 7"/>
          <p:cNvSpPr txBox="1"/>
          <p:nvPr/>
        </p:nvSpPr>
        <p:spPr>
          <a:xfrm>
            <a:off x="7635240" y="177393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원천 데이터</a:t>
            </a:r>
          </a:p>
          <a:p>
            <a:pPr algn="l" eaLnBrk="0">
              <a:lnSpc>
                <a:spcPct val="110000"/>
              </a:lnSpc>
              <a:spcAft>
                <a:spcPts val="400"/>
              </a:spcAft>
            </a:pPr>
            <a:r>
              <a:rPr sz="1400" b="0">
                <a:solidFill>
                  <a:srgbClr val="1F2A3A"/>
                </a:solidFill>
                <a:latin typeface="맑은 고딕"/>
                <a:ea typeface="맑은 고딕"/>
                <a:cs typeface="맑은 고딕"/>
              </a:rPr>
              <a:t>센서와 PLC가 만들고 브로커가 전달한 계측값이다.</a:t>
            </a:r>
          </a:p>
        </p:txBody>
      </p:sp>
      <p:sp>
        <p:nvSpPr>
          <p:cNvPr id="9" name="TextBox 8"/>
          <p:cNvSpPr txBox="1"/>
          <p:nvPr/>
        </p:nvSpPr>
        <p:spPr>
          <a:xfrm>
            <a:off x="7635240" y="288264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가공 데이터</a:t>
            </a:r>
          </a:p>
          <a:p>
            <a:pPr algn="l" eaLnBrk="0">
              <a:lnSpc>
                <a:spcPct val="110000"/>
              </a:lnSpc>
              <a:spcAft>
                <a:spcPts val="400"/>
              </a:spcAft>
            </a:pPr>
            <a:r>
              <a:rPr sz="1400" b="0">
                <a:solidFill>
                  <a:srgbClr val="1F2A3A"/>
                </a:solidFill>
                <a:latin typeface="맑은 고딕"/>
                <a:ea typeface="맑은 고딕"/>
                <a:cs typeface="맑은 고딕"/>
              </a:rPr>
              <a:t>감지 서비스가 원천 데이터로 계산한 값이다. 기울기가 0보다 크면 유온이 오르는 중이다.</a:t>
            </a:r>
          </a:p>
        </p:txBody>
      </p:sp>
      <p:sp>
        <p:nvSpPr>
          <p:cNvPr id="10" name="TextBox 9"/>
          <p:cNvSpPr txBox="1"/>
          <p:nvPr/>
        </p:nvSpPr>
        <p:spPr>
          <a:xfrm>
            <a:off x="7635240" y="399135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이상 이벤트</a:t>
            </a:r>
          </a:p>
          <a:p>
            <a:pPr algn="l" eaLnBrk="0">
              <a:lnSpc>
                <a:spcPct val="110000"/>
              </a:lnSpc>
              <a:spcAft>
                <a:spcPts val="400"/>
              </a:spcAft>
            </a:pPr>
            <a:r>
              <a:rPr sz="1400" b="0">
                <a:solidFill>
                  <a:srgbClr val="1F2A3A"/>
                </a:solidFill>
                <a:latin typeface="맑은 고딕"/>
                <a:ea typeface="맑은 고딕"/>
                <a:cs typeface="맑은 고딕"/>
              </a:rPr>
              <a:t>조건이 성립했을 때 감지 서비스가 남긴 경보이다.</a:t>
            </a:r>
          </a:p>
        </p:txBody>
      </p:sp>
      <p:sp>
        <p:nvSpPr>
          <p:cNvPr id="11" name="TextBox 10"/>
          <p:cNvSpPr txBox="1"/>
          <p:nvPr/>
        </p:nvSpPr>
        <p:spPr>
          <a:xfrm>
            <a:off x="7635240" y="510006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판단 결과</a:t>
            </a:r>
          </a:p>
          <a:p>
            <a:pPr algn="l" eaLnBrk="0">
              <a:lnSpc>
                <a:spcPct val="110000"/>
              </a:lnSpc>
              <a:spcAft>
                <a:spcPts val="400"/>
              </a:spcAft>
            </a:pPr>
            <a:r>
              <a:rPr sz="1400" b="0">
                <a:solidFill>
                  <a:srgbClr val="1F2A3A"/>
                </a:solidFill>
                <a:latin typeface="맑은 고딕"/>
                <a:ea typeface="맑은 고딕"/>
                <a:cs typeface="맑은 고딕"/>
              </a:rPr>
              <a:t>에이전트의 진단 · 추천과 담당자의 승인 기록이다.</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판단 결과의 예: 식별자로 이어지는 기록</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경보부터 작업지시까지 단계별 식별자를 연결하면, 결과에서 최초 계측값까지 거슬러 추적할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34</a:t>
            </a:r>
          </a:p>
        </p:txBody>
      </p:sp>
      <p:sp>
        <p:nvSpPr>
          <p:cNvPr id="6" name="Rounded Rectangle 5"/>
          <p:cNvSpPr/>
          <p:nvPr/>
        </p:nvSpPr>
        <p:spPr>
          <a:xfrm>
            <a:off x="548640" y="2670619"/>
            <a:ext cx="1911644" cy="2641473"/>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138702" y="2853499"/>
            <a:ext cx="731520" cy="731520"/>
          </a:xfrm>
          <a:prstGeom prst="ellipse">
            <a:avLst/>
          </a:prstGeom>
          <a:solidFill>
            <a:srgbClr val="FFFFFF"/>
          </a:solidFill>
          <a:ln>
            <a:noFill/>
          </a:ln>
        </p:spPr>
        <p:txBody>
          <a:bodyPr rtlCol="0" anchor="ctr"/>
          <a:lstStyle/>
          <a:p>
            <a:pPr algn="ctr"/>
          </a:p>
        </p:txBody>
      </p:sp>
      <p:pic>
        <p:nvPicPr>
          <p:cNvPr id="8" name="아이콘:bell-ringing" descr="bell-ringing_13294B_1.6.png"/>
          <p:cNvPicPr>
            <a:picLocks noChangeAspect="1"/>
          </p:cNvPicPr>
          <p:nvPr/>
        </p:nvPicPr>
        <p:blipFill>
          <a:blip r:embed="rId3"/>
          <a:stretch>
            <a:fillRect/>
          </a:stretch>
        </p:blipFill>
        <p:spPr>
          <a:xfrm>
            <a:off x="1292321" y="3007118"/>
            <a:ext cx="424281" cy="424281"/>
          </a:xfrm>
          <a:prstGeom prst="rect">
            <a:avLst/>
          </a:prstGeom>
        </p:spPr>
      </p:pic>
      <p:sp>
        <p:nvSpPr>
          <p:cNvPr id="9" name="TextBox 8"/>
          <p:cNvSpPr txBox="1"/>
          <p:nvPr/>
        </p:nvSpPr>
        <p:spPr>
          <a:xfrm>
            <a:off x="621792" y="3658171"/>
            <a:ext cx="1765340" cy="1580768"/>
          </a:xfrm>
          <a:prstGeom prst="rect">
            <a:avLst/>
          </a:prstGeom>
          <a:noFill/>
        </p:spPr>
        <p:txBody>
          <a:bodyPr wrap="square" anchor="t"/>
          <a:lstStyle/>
          <a:p>
            <a:pPr algn="ctr" eaLnBrk="0">
              <a:lnSpc>
                <a:spcPct val="110000"/>
              </a:lnSpc>
              <a:spcAft>
                <a:spcPts val="400"/>
              </a:spcAft>
            </a:pPr>
            <a:r>
              <a:rPr sz="1850" b="1">
                <a:solidFill>
                  <a:srgbClr val="13294B"/>
                </a:solidFill>
                <a:latin typeface="맑은 고딕"/>
                <a:ea typeface="맑은 고딕"/>
                <a:cs typeface="맑은 고딕"/>
              </a:rPr>
              <a:t>경보</a:t>
            </a:r>
          </a:p>
          <a:p>
            <a:pPr algn="ctr" eaLnBrk="0">
              <a:lnSpc>
                <a:spcPct val="110000"/>
              </a:lnSpc>
              <a:spcAft>
                <a:spcPts val="400"/>
              </a:spcAft>
            </a:pPr>
            <a:r>
              <a:rPr sz="1550" b="0">
                <a:solidFill>
                  <a:srgbClr val="1F2A3A"/>
                </a:solidFill>
                <a:latin typeface="맑은 고딕"/>
                <a:ea typeface="맑은 고딕"/>
                <a:cs typeface="맑은 고딕"/>
              </a:rPr>
              <a:t>ALT-</a:t>
            </a:r>
          </a:p>
          <a:p>
            <a:pPr algn="ctr" eaLnBrk="0">
              <a:lnSpc>
                <a:spcPct val="110000"/>
              </a:lnSpc>
              <a:spcAft>
                <a:spcPts val="400"/>
              </a:spcAft>
            </a:pPr>
            <a:r>
              <a:rPr sz="1550" b="0">
                <a:solidFill>
                  <a:srgbClr val="1F2A3A"/>
                </a:solidFill>
                <a:latin typeface="맑은 고딕"/>
                <a:ea typeface="맑은 고딕"/>
                <a:cs typeface="맑은 고딕"/>
              </a:rPr>
              <a:t>hyd01-0014</a:t>
            </a:r>
          </a:p>
        </p:txBody>
      </p:sp>
      <p:sp>
        <p:nvSpPr>
          <p:cNvPr id="10" name="Right Arrow 9"/>
          <p:cNvSpPr/>
          <p:nvPr/>
        </p:nvSpPr>
        <p:spPr>
          <a:xfrm>
            <a:off x="2524292"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2844332" y="2670619"/>
            <a:ext cx="1911644" cy="2641473"/>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3434394" y="2853499"/>
            <a:ext cx="731520" cy="731520"/>
          </a:xfrm>
          <a:prstGeom prst="ellipse">
            <a:avLst/>
          </a:prstGeom>
          <a:solidFill>
            <a:srgbClr val="FFFFFF"/>
          </a:solidFill>
          <a:ln>
            <a:noFill/>
          </a:ln>
        </p:spPr>
        <p:txBody>
          <a:bodyPr rtlCol="0" anchor="ctr"/>
          <a:lstStyle/>
          <a:p>
            <a:pPr algn="ctr"/>
          </a:p>
        </p:txBody>
      </p:sp>
      <p:pic>
        <p:nvPicPr>
          <p:cNvPr id="13" name="아이콘:clipboard-check" descr="clipboard-check_13294B_1.6.png"/>
          <p:cNvPicPr>
            <a:picLocks noChangeAspect="1"/>
          </p:cNvPicPr>
          <p:nvPr/>
        </p:nvPicPr>
        <p:blipFill>
          <a:blip r:embed="rId4"/>
          <a:stretch>
            <a:fillRect/>
          </a:stretch>
        </p:blipFill>
        <p:spPr>
          <a:xfrm>
            <a:off x="3588014" y="3007118"/>
            <a:ext cx="424281" cy="424281"/>
          </a:xfrm>
          <a:prstGeom prst="rect">
            <a:avLst/>
          </a:prstGeom>
        </p:spPr>
      </p:pic>
      <p:sp>
        <p:nvSpPr>
          <p:cNvPr id="14" name="TextBox 13"/>
          <p:cNvSpPr txBox="1"/>
          <p:nvPr/>
        </p:nvSpPr>
        <p:spPr>
          <a:xfrm>
            <a:off x="2917484" y="3658171"/>
            <a:ext cx="1765340" cy="1580768"/>
          </a:xfrm>
          <a:prstGeom prst="rect">
            <a:avLst/>
          </a:prstGeom>
          <a:noFill/>
        </p:spPr>
        <p:txBody>
          <a:bodyPr wrap="square" anchor="t"/>
          <a:lstStyle/>
          <a:p>
            <a:pPr algn="ctr" eaLnBrk="0">
              <a:lnSpc>
                <a:spcPct val="110000"/>
              </a:lnSpc>
              <a:spcAft>
                <a:spcPts val="400"/>
              </a:spcAft>
            </a:pPr>
            <a:r>
              <a:rPr sz="1850" b="1">
                <a:solidFill>
                  <a:srgbClr val="13294B"/>
                </a:solidFill>
                <a:latin typeface="맑은 고딕"/>
                <a:ea typeface="맑은 고딕"/>
                <a:cs typeface="맑은 고딕"/>
              </a:rPr>
              <a:t>사건</a:t>
            </a:r>
          </a:p>
          <a:p>
            <a:pPr algn="ctr" eaLnBrk="0">
              <a:lnSpc>
                <a:spcPct val="110000"/>
              </a:lnSpc>
              <a:spcAft>
                <a:spcPts val="400"/>
              </a:spcAft>
            </a:pPr>
            <a:r>
              <a:rPr sz="1550" b="0">
                <a:solidFill>
                  <a:srgbClr val="1F2A3A"/>
                </a:solidFill>
                <a:latin typeface="맑은 고딕"/>
                <a:ea typeface="맑은 고딕"/>
                <a:cs typeface="맑은 고딕"/>
              </a:rPr>
              <a:t>INC-</a:t>
            </a:r>
          </a:p>
          <a:p>
            <a:pPr algn="ctr" eaLnBrk="0">
              <a:lnSpc>
                <a:spcPct val="110000"/>
              </a:lnSpc>
              <a:spcAft>
                <a:spcPts val="400"/>
              </a:spcAft>
            </a:pPr>
            <a:r>
              <a:rPr sz="1550" b="0">
                <a:solidFill>
                  <a:srgbClr val="1F2A3A"/>
                </a:solidFill>
                <a:latin typeface="맑은 고딕"/>
                <a:ea typeface="맑은 고딕"/>
                <a:cs typeface="맑은 고딕"/>
              </a:rPr>
              <a:t>1010-01</a:t>
            </a:r>
          </a:p>
        </p:txBody>
      </p:sp>
      <p:sp>
        <p:nvSpPr>
          <p:cNvPr id="15" name="Right Arrow 14"/>
          <p:cNvSpPr/>
          <p:nvPr/>
        </p:nvSpPr>
        <p:spPr>
          <a:xfrm>
            <a:off x="4819985"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5140025" y="2670619"/>
            <a:ext cx="1911644" cy="2641473"/>
          </a:xfrm>
          <a:prstGeom prst="roundRect">
            <a:avLst>
              <a:gd name="adj" fmla="val 5000"/>
            </a:avLst>
          </a:prstGeom>
          <a:solidFill>
            <a:srgbClr val="E7F3FD"/>
          </a:solidFill>
          <a:ln w="25400">
            <a:solidFill>
              <a:srgbClr val="5CB8F2"/>
            </a:solidFill>
          </a:ln>
        </p:spPr>
        <p:txBody>
          <a:bodyPr rtlCol="0" anchor="ctr"/>
          <a:lstStyle/>
          <a:p>
            <a:pPr algn="ctr"/>
          </a:p>
        </p:txBody>
      </p:sp>
      <p:sp>
        <p:nvSpPr>
          <p:cNvPr id="17" name="Oval 16"/>
          <p:cNvSpPr/>
          <p:nvPr/>
        </p:nvSpPr>
        <p:spPr>
          <a:xfrm>
            <a:off x="5730087" y="2853499"/>
            <a:ext cx="731520" cy="731520"/>
          </a:xfrm>
          <a:prstGeom prst="ellipse">
            <a:avLst/>
          </a:prstGeom>
          <a:solidFill>
            <a:srgbClr val="5CB8F2"/>
          </a:solidFill>
          <a:ln>
            <a:noFill/>
          </a:ln>
        </p:spPr>
        <p:txBody>
          <a:bodyPr rtlCol="0" anchor="ctr"/>
          <a:lstStyle/>
          <a:p>
            <a:pPr algn="ctr"/>
          </a:p>
        </p:txBody>
      </p:sp>
      <p:pic>
        <p:nvPicPr>
          <p:cNvPr id="18" name="아이콘:robot" descr="robot_13294B_1.6.png"/>
          <p:cNvPicPr>
            <a:picLocks noChangeAspect="1"/>
          </p:cNvPicPr>
          <p:nvPr/>
        </p:nvPicPr>
        <p:blipFill>
          <a:blip r:embed="rId5"/>
          <a:stretch>
            <a:fillRect/>
          </a:stretch>
        </p:blipFill>
        <p:spPr>
          <a:xfrm>
            <a:off x="5883706" y="3007118"/>
            <a:ext cx="424281" cy="424281"/>
          </a:xfrm>
          <a:prstGeom prst="rect">
            <a:avLst/>
          </a:prstGeom>
        </p:spPr>
      </p:pic>
      <p:sp>
        <p:nvSpPr>
          <p:cNvPr id="19" name="TextBox 18"/>
          <p:cNvSpPr txBox="1"/>
          <p:nvPr/>
        </p:nvSpPr>
        <p:spPr>
          <a:xfrm>
            <a:off x="5213177" y="3658171"/>
            <a:ext cx="1765340" cy="1580768"/>
          </a:xfrm>
          <a:prstGeom prst="rect">
            <a:avLst/>
          </a:prstGeom>
          <a:noFill/>
        </p:spPr>
        <p:txBody>
          <a:bodyPr wrap="square" anchor="t"/>
          <a:lstStyle/>
          <a:p>
            <a:pPr algn="ctr" eaLnBrk="0">
              <a:lnSpc>
                <a:spcPct val="110000"/>
              </a:lnSpc>
              <a:spcAft>
                <a:spcPts val="400"/>
              </a:spcAft>
            </a:pPr>
            <a:r>
              <a:rPr sz="1850" b="1">
                <a:solidFill>
                  <a:srgbClr val="13294B"/>
                </a:solidFill>
                <a:latin typeface="맑은 고딕"/>
                <a:ea typeface="맑은 고딕"/>
                <a:cs typeface="맑은 고딕"/>
              </a:rPr>
              <a:t>판단</a:t>
            </a:r>
          </a:p>
          <a:p>
            <a:pPr algn="ctr" eaLnBrk="0">
              <a:lnSpc>
                <a:spcPct val="110000"/>
              </a:lnSpc>
              <a:spcAft>
                <a:spcPts val="400"/>
              </a:spcAft>
            </a:pPr>
            <a:r>
              <a:rPr sz="1550" b="0">
                <a:solidFill>
                  <a:srgbClr val="1F2A3A"/>
                </a:solidFill>
                <a:latin typeface="맑은 고딕"/>
                <a:ea typeface="맑은 고딕"/>
                <a:cs typeface="맑은 고딕"/>
              </a:rPr>
              <a:t>DEC-</a:t>
            </a:r>
          </a:p>
          <a:p>
            <a:pPr algn="ctr" eaLnBrk="0">
              <a:lnSpc>
                <a:spcPct val="110000"/>
              </a:lnSpc>
              <a:spcAft>
                <a:spcPts val="400"/>
              </a:spcAft>
            </a:pPr>
            <a:r>
              <a:rPr sz="1550" b="0">
                <a:solidFill>
                  <a:srgbClr val="1F2A3A"/>
                </a:solidFill>
                <a:latin typeface="맑은 고딕"/>
                <a:ea typeface="맑은 고딕"/>
                <a:cs typeface="맑은 고딕"/>
              </a:rPr>
              <a:t>1010-002</a:t>
            </a:r>
          </a:p>
        </p:txBody>
      </p:sp>
      <p:sp>
        <p:nvSpPr>
          <p:cNvPr id="20" name="Right Arrow 19"/>
          <p:cNvSpPr/>
          <p:nvPr/>
        </p:nvSpPr>
        <p:spPr>
          <a:xfrm>
            <a:off x="711567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7435717" y="2670619"/>
            <a:ext cx="1911644" cy="2641473"/>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8025780" y="2853499"/>
            <a:ext cx="731520" cy="731520"/>
          </a:xfrm>
          <a:prstGeom prst="ellipse">
            <a:avLst/>
          </a:prstGeom>
          <a:solidFill>
            <a:srgbClr val="FFFFFF"/>
          </a:solidFill>
          <a:ln>
            <a:noFill/>
          </a:ln>
        </p:spPr>
        <p:txBody>
          <a:bodyPr rtlCol="0" anchor="ctr"/>
          <a:lstStyle/>
          <a:p>
            <a:pPr algn="ctr"/>
          </a:p>
        </p:txBody>
      </p:sp>
      <p:pic>
        <p:nvPicPr>
          <p:cNvPr id="23" name="아이콘:send" descr="send_13294B_1.6.png"/>
          <p:cNvPicPr>
            <a:picLocks noChangeAspect="1"/>
          </p:cNvPicPr>
          <p:nvPr/>
        </p:nvPicPr>
        <p:blipFill>
          <a:blip r:embed="rId6"/>
          <a:stretch>
            <a:fillRect/>
          </a:stretch>
        </p:blipFill>
        <p:spPr>
          <a:xfrm>
            <a:off x="8179399" y="3007118"/>
            <a:ext cx="424281" cy="424281"/>
          </a:xfrm>
          <a:prstGeom prst="rect">
            <a:avLst/>
          </a:prstGeom>
        </p:spPr>
      </p:pic>
      <p:sp>
        <p:nvSpPr>
          <p:cNvPr id="24" name="TextBox 23"/>
          <p:cNvSpPr txBox="1"/>
          <p:nvPr/>
        </p:nvSpPr>
        <p:spPr>
          <a:xfrm>
            <a:off x="7508869" y="3658171"/>
            <a:ext cx="1765340" cy="1580768"/>
          </a:xfrm>
          <a:prstGeom prst="rect">
            <a:avLst/>
          </a:prstGeom>
          <a:noFill/>
        </p:spPr>
        <p:txBody>
          <a:bodyPr wrap="square" anchor="t"/>
          <a:lstStyle/>
          <a:p>
            <a:pPr algn="ctr" eaLnBrk="0">
              <a:lnSpc>
                <a:spcPct val="110000"/>
              </a:lnSpc>
              <a:spcAft>
                <a:spcPts val="400"/>
              </a:spcAft>
            </a:pPr>
            <a:r>
              <a:rPr sz="1850" b="1">
                <a:solidFill>
                  <a:srgbClr val="13294B"/>
                </a:solidFill>
                <a:latin typeface="맑은 고딕"/>
                <a:ea typeface="맑은 고딕"/>
                <a:cs typeface="맑은 고딕"/>
              </a:rPr>
              <a:t>명령</a:t>
            </a:r>
          </a:p>
          <a:p>
            <a:pPr algn="ctr" eaLnBrk="0">
              <a:lnSpc>
                <a:spcPct val="110000"/>
              </a:lnSpc>
              <a:spcAft>
                <a:spcPts val="400"/>
              </a:spcAft>
            </a:pPr>
            <a:r>
              <a:rPr sz="1550" b="0">
                <a:solidFill>
                  <a:srgbClr val="1F2A3A"/>
                </a:solidFill>
                <a:latin typeface="맑은 고딕"/>
                <a:ea typeface="맑은 고딕"/>
                <a:cs typeface="맑은 고딕"/>
              </a:rPr>
              <a:t>CMD-</a:t>
            </a:r>
          </a:p>
          <a:p>
            <a:pPr algn="ctr" eaLnBrk="0">
              <a:lnSpc>
                <a:spcPct val="110000"/>
              </a:lnSpc>
              <a:spcAft>
                <a:spcPts val="400"/>
              </a:spcAft>
            </a:pPr>
            <a:r>
              <a:rPr sz="1550" b="0">
                <a:solidFill>
                  <a:srgbClr val="1F2A3A"/>
                </a:solidFill>
                <a:latin typeface="맑은 고딕"/>
                <a:ea typeface="맑은 고딕"/>
                <a:cs typeface="맑은 고딕"/>
              </a:rPr>
              <a:t>1010-0001</a:t>
            </a:r>
          </a:p>
        </p:txBody>
      </p:sp>
      <p:sp>
        <p:nvSpPr>
          <p:cNvPr id="25" name="Right Arrow 24"/>
          <p:cNvSpPr/>
          <p:nvPr/>
        </p:nvSpPr>
        <p:spPr>
          <a:xfrm>
            <a:off x="9411370" y="3854196"/>
            <a:ext cx="256031" cy="274320"/>
          </a:xfrm>
          <a:prstGeom prst="rightArrow">
            <a:avLst/>
          </a:prstGeom>
          <a:solidFill>
            <a:srgbClr val="13294B"/>
          </a:solidFill>
          <a:ln>
            <a:noFill/>
          </a:ln>
        </p:spPr>
        <p:txBody>
          <a:bodyPr rtlCol="0" anchor="ctr"/>
          <a:lstStyle/>
          <a:p>
            <a:pPr algn="ctr"/>
          </a:p>
        </p:txBody>
      </p:sp>
      <p:sp>
        <p:nvSpPr>
          <p:cNvPr id="26" name="Rounded Rectangle 25"/>
          <p:cNvSpPr/>
          <p:nvPr/>
        </p:nvSpPr>
        <p:spPr>
          <a:xfrm>
            <a:off x="9731410" y="2670619"/>
            <a:ext cx="1911644" cy="2641473"/>
          </a:xfrm>
          <a:prstGeom prst="roundRect">
            <a:avLst>
              <a:gd name="adj" fmla="val 5000"/>
            </a:avLst>
          </a:prstGeom>
          <a:solidFill>
            <a:srgbClr val="F3F6F9"/>
          </a:solidFill>
          <a:ln>
            <a:noFill/>
          </a:ln>
        </p:spPr>
        <p:txBody>
          <a:bodyPr rtlCol="0" anchor="ctr"/>
          <a:lstStyle/>
          <a:p>
            <a:pPr algn="ctr"/>
          </a:p>
        </p:txBody>
      </p:sp>
      <p:sp>
        <p:nvSpPr>
          <p:cNvPr id="27" name="Oval 26"/>
          <p:cNvSpPr/>
          <p:nvPr/>
        </p:nvSpPr>
        <p:spPr>
          <a:xfrm>
            <a:off x="10321472" y="2853499"/>
            <a:ext cx="731520" cy="731520"/>
          </a:xfrm>
          <a:prstGeom prst="ellipse">
            <a:avLst/>
          </a:prstGeom>
          <a:solidFill>
            <a:srgbClr val="FFFFFF"/>
          </a:solidFill>
          <a:ln>
            <a:noFill/>
          </a:ln>
        </p:spPr>
        <p:txBody>
          <a:bodyPr rtlCol="0" anchor="ctr"/>
          <a:lstStyle/>
          <a:p>
            <a:pPr algn="ctr"/>
          </a:p>
        </p:txBody>
      </p:sp>
      <p:pic>
        <p:nvPicPr>
          <p:cNvPr id="28" name="아이콘:tool" descr="tool_13294B_1.6.png"/>
          <p:cNvPicPr>
            <a:picLocks noChangeAspect="1"/>
          </p:cNvPicPr>
          <p:nvPr/>
        </p:nvPicPr>
        <p:blipFill>
          <a:blip r:embed="rId7"/>
          <a:stretch>
            <a:fillRect/>
          </a:stretch>
        </p:blipFill>
        <p:spPr>
          <a:xfrm>
            <a:off x="10475092" y="3007118"/>
            <a:ext cx="424281" cy="424281"/>
          </a:xfrm>
          <a:prstGeom prst="rect">
            <a:avLst/>
          </a:prstGeom>
        </p:spPr>
      </p:pic>
      <p:sp>
        <p:nvSpPr>
          <p:cNvPr id="29" name="TextBox 28"/>
          <p:cNvSpPr txBox="1"/>
          <p:nvPr/>
        </p:nvSpPr>
        <p:spPr>
          <a:xfrm>
            <a:off x="9804562" y="3658171"/>
            <a:ext cx="1765340" cy="1580768"/>
          </a:xfrm>
          <a:prstGeom prst="rect">
            <a:avLst/>
          </a:prstGeom>
          <a:noFill/>
        </p:spPr>
        <p:txBody>
          <a:bodyPr wrap="square" anchor="t"/>
          <a:lstStyle/>
          <a:p>
            <a:pPr algn="ctr" eaLnBrk="0">
              <a:lnSpc>
                <a:spcPct val="110000"/>
              </a:lnSpc>
              <a:spcAft>
                <a:spcPts val="400"/>
              </a:spcAft>
            </a:pPr>
            <a:r>
              <a:rPr sz="1850" b="1">
                <a:solidFill>
                  <a:srgbClr val="13294B"/>
                </a:solidFill>
                <a:latin typeface="맑은 고딕"/>
                <a:ea typeface="맑은 고딕"/>
                <a:cs typeface="맑은 고딕"/>
              </a:rPr>
              <a:t>작업지시</a:t>
            </a:r>
          </a:p>
          <a:p>
            <a:pPr algn="ctr" eaLnBrk="0">
              <a:lnSpc>
                <a:spcPct val="110000"/>
              </a:lnSpc>
              <a:spcAft>
                <a:spcPts val="400"/>
              </a:spcAft>
            </a:pPr>
            <a:r>
              <a:rPr sz="1550" b="0">
                <a:solidFill>
                  <a:srgbClr val="1F2A3A"/>
                </a:solidFill>
                <a:latin typeface="맑은 고딕"/>
                <a:ea typeface="맑은 고딕"/>
                <a:cs typeface="맑은 고딕"/>
              </a:rPr>
              <a:t>WO-</a:t>
            </a:r>
          </a:p>
          <a:p>
            <a:pPr algn="ctr" eaLnBrk="0">
              <a:lnSpc>
                <a:spcPct val="110000"/>
              </a:lnSpc>
              <a:spcAft>
                <a:spcPts val="400"/>
              </a:spcAft>
            </a:pPr>
            <a:r>
              <a:rPr sz="1550" b="0">
                <a:solidFill>
                  <a:srgbClr val="1F2A3A"/>
                </a:solidFill>
                <a:latin typeface="맑은 고딕"/>
                <a:ea typeface="맑은 고딕"/>
                <a:cs typeface="맑은 고딕"/>
              </a:rPr>
              <a:t>1010-C058</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지나온 길: 아홉 기능 계층과 세 보안 영역</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시스템을 하는 일로 나누면 아홉 기능 계층이고, 각 요소가 놓인 망으로 나누면 세 보안 영역이다.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35</a:t>
            </a:r>
          </a:p>
        </p:txBody>
      </p:sp>
      <p:pic>
        <p:nvPicPr>
          <p:cNvPr id="6" name="삽화:계층_0_전체.svg" descr="illust_7274070237222965524_179195996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750195" y="1641814"/>
            <a:ext cx="8945785"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OT: Operational Technology · DMZ: Demilitarized Zone · IT: Information Technology</a:t>
            </a:r>
          </a:p>
        </p:txBody>
      </p:sp>
      <p:sp>
        <p:nvSpPr>
          <p:cNvPr id="8" name="TextBox 7"/>
          <p:cNvSpPr txBox="1"/>
          <p:nvPr/>
        </p:nvSpPr>
        <p:spPr>
          <a:xfrm>
            <a:off x="9799621" y="1641814"/>
            <a:ext cx="600022"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OT</a:t>
            </a:r>
          </a:p>
        </p:txBody>
      </p:sp>
      <p:sp>
        <p:nvSpPr>
          <p:cNvPr id="9" name="TextBox 8"/>
          <p:cNvSpPr txBox="1"/>
          <p:nvPr/>
        </p:nvSpPr>
        <p:spPr>
          <a:xfrm>
            <a:off x="10317822" y="1641814"/>
            <a:ext cx="65456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DMZ</a:t>
            </a:r>
          </a:p>
        </p:txBody>
      </p:sp>
      <p:sp>
        <p:nvSpPr>
          <p:cNvPr id="10" name="TextBox 9"/>
          <p:cNvSpPr txBox="1"/>
          <p:nvPr/>
        </p:nvSpPr>
        <p:spPr>
          <a:xfrm>
            <a:off x="10890570" y="1641814"/>
            <a:ext cx="600022"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IT</a:t>
            </a:r>
          </a:p>
        </p:txBody>
      </p:sp>
      <p:sp>
        <p:nvSpPr>
          <p:cNvPr id="11" name="TextBox 10"/>
          <p:cNvSpPr txBox="1"/>
          <p:nvPr/>
        </p:nvSpPr>
        <p:spPr>
          <a:xfrm>
            <a:off x="1841144" y="2020010"/>
            <a:ext cx="7636646"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Layer 9 · 프로세스 · 승인 · 앱</a:t>
            </a:r>
          </a:p>
        </p:txBody>
      </p:sp>
      <p:sp>
        <p:nvSpPr>
          <p:cNvPr id="12" name="TextBox 11"/>
          <p:cNvSpPr txBox="1"/>
          <p:nvPr/>
        </p:nvSpPr>
        <p:spPr>
          <a:xfrm>
            <a:off x="1841144" y="2502209"/>
            <a:ext cx="7636646"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Layer 8 · AI 에이전트</a:t>
            </a:r>
          </a:p>
        </p:txBody>
      </p:sp>
      <p:sp>
        <p:nvSpPr>
          <p:cNvPr id="13" name="TextBox 12"/>
          <p:cNvSpPr txBox="1"/>
          <p:nvPr/>
        </p:nvSpPr>
        <p:spPr>
          <a:xfrm>
            <a:off x="1841144" y="2984409"/>
            <a:ext cx="7636646"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Layer 7 · 온톨로지 · 원인분석</a:t>
            </a:r>
          </a:p>
        </p:txBody>
      </p:sp>
      <p:sp>
        <p:nvSpPr>
          <p:cNvPr id="14" name="TextBox 13"/>
          <p:cNvSpPr txBox="1"/>
          <p:nvPr/>
        </p:nvSpPr>
        <p:spPr>
          <a:xfrm>
            <a:off x="1841144" y="3466609"/>
            <a:ext cx="7636646"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Layer 6 · 관제 · SCADA</a:t>
            </a:r>
          </a:p>
        </p:txBody>
      </p:sp>
      <p:sp>
        <p:nvSpPr>
          <p:cNvPr id="15" name="TextBox 14"/>
          <p:cNvSpPr txBox="1"/>
          <p:nvPr/>
        </p:nvSpPr>
        <p:spPr>
          <a:xfrm>
            <a:off x="1841144" y="3948808"/>
            <a:ext cx="7636646"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Layer 5 · 시계열 저장소</a:t>
            </a:r>
          </a:p>
        </p:txBody>
      </p:sp>
      <p:sp>
        <p:nvSpPr>
          <p:cNvPr id="16" name="TextBox 15"/>
          <p:cNvSpPr txBox="1"/>
          <p:nvPr/>
        </p:nvSpPr>
        <p:spPr>
          <a:xfrm>
            <a:off x="1841144" y="4431008"/>
            <a:ext cx="7636646"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Layer 4 · 스트림 처리</a:t>
            </a:r>
          </a:p>
        </p:txBody>
      </p:sp>
      <p:sp>
        <p:nvSpPr>
          <p:cNvPr id="17" name="TextBox 16"/>
          <p:cNvSpPr txBox="1"/>
          <p:nvPr/>
        </p:nvSpPr>
        <p:spPr>
          <a:xfrm>
            <a:off x="1841144" y="4913208"/>
            <a:ext cx="7636646"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Layer 3 · 이벤트 백본</a:t>
            </a:r>
          </a:p>
        </p:txBody>
      </p:sp>
      <p:sp>
        <p:nvSpPr>
          <p:cNvPr id="18" name="TextBox 17"/>
          <p:cNvSpPr txBox="1"/>
          <p:nvPr/>
        </p:nvSpPr>
        <p:spPr>
          <a:xfrm>
            <a:off x="1841144" y="5395408"/>
            <a:ext cx="7636646"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Layer 2 · IoT 미들웨어 · MQTT(Message Queuing Telemetry Transport)</a:t>
            </a:r>
          </a:p>
        </p:txBody>
      </p:sp>
      <p:sp>
        <p:nvSpPr>
          <p:cNvPr id="19" name="TextBox 18"/>
          <p:cNvSpPr txBox="1"/>
          <p:nvPr/>
        </p:nvSpPr>
        <p:spPr>
          <a:xfrm>
            <a:off x="1841144" y="5877607"/>
            <a:ext cx="7636646"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Layer 1 · 센서 네트워크 · 설비</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단원 정리: 데이터가 올라가는 길과 명령이 내려가는 길</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데이터가 올라가는 길과 승인된 자동 명령이 내려가는 길을 나누고 검사해, 설비를 위험에서 지킨다.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36</a:t>
            </a:r>
          </a:p>
        </p:txBody>
      </p:sp>
      <p:sp>
        <p:nvSpPr>
          <p:cNvPr id="6" name="Rounded Rectangle 5"/>
          <p:cNvSpPr/>
          <p:nvPr/>
        </p:nvSpPr>
        <p:spPr>
          <a:xfrm>
            <a:off x="548640" y="1627632"/>
            <a:ext cx="2936138" cy="4727448"/>
          </a:xfrm>
          <a:prstGeom prst="roundRect">
            <a:avLst>
              <a:gd name="adj" fmla="val 3000"/>
            </a:avLst>
          </a:prstGeom>
          <a:solidFill>
            <a:srgbClr val="F3F6F9"/>
          </a:solidFill>
          <a:ln>
            <a:noFill/>
          </a:ln>
        </p:spPr>
        <p:txBody>
          <a:bodyPr rtlCol="0" anchor="ctr"/>
          <a:lstStyle/>
          <a:p>
            <a:pPr algn="ctr"/>
          </a:p>
        </p:txBody>
      </p:sp>
      <p:sp>
        <p:nvSpPr>
          <p:cNvPr id="7" name="TextBox 6"/>
          <p:cNvSpPr txBox="1"/>
          <p:nvPr/>
        </p:nvSpPr>
        <p:spPr>
          <a:xfrm>
            <a:off x="548640" y="1673352"/>
            <a:ext cx="2936138" cy="365760"/>
          </a:xfrm>
          <a:prstGeom prst="rect">
            <a:avLst/>
          </a:prstGeom>
          <a:noFill/>
        </p:spPr>
        <p:txBody>
          <a:bodyPr wrap="square" anchor="ctr"/>
          <a:lstStyle/>
          <a:p>
            <a:pPr algn="ctr" eaLnBrk="0">
              <a:lnSpc>
                <a:spcPct val="110000"/>
              </a:lnSpc>
            </a:pPr>
            <a:r>
              <a:rPr sz="1400" b="1">
                <a:solidFill>
                  <a:srgbClr val="1A6FC4"/>
                </a:solidFill>
                <a:latin typeface="맑은 고딕"/>
                <a:ea typeface="맑은 고딕"/>
                <a:cs typeface="맑은 고딕"/>
              </a:rPr>
              <a:t>OT</a:t>
            </a:r>
          </a:p>
        </p:txBody>
      </p:sp>
      <p:sp>
        <p:nvSpPr>
          <p:cNvPr id="8" name="Rounded Rectangle 7"/>
          <p:cNvSpPr/>
          <p:nvPr/>
        </p:nvSpPr>
        <p:spPr>
          <a:xfrm>
            <a:off x="731520" y="2802636"/>
            <a:ext cx="2570378" cy="1188720"/>
          </a:xfrm>
          <a:prstGeom prst="roundRect">
            <a:avLst>
              <a:gd name="adj" fmla="val 8000"/>
            </a:avLst>
          </a:prstGeom>
          <a:solidFill>
            <a:srgbClr val="FFFFFF"/>
          </a:solidFill>
          <a:ln w="15875">
            <a:solidFill>
              <a:srgbClr val="D3D9E1"/>
            </a:solidFill>
          </a:ln>
        </p:spPr>
        <p:txBody>
          <a:bodyPr rtlCol="0" anchor="ctr"/>
          <a:lstStyle/>
          <a:p>
            <a:pPr algn="ctr"/>
          </a:p>
        </p:txBody>
      </p:sp>
      <p:sp>
        <p:nvSpPr>
          <p:cNvPr id="9" name="TextBox 8"/>
          <p:cNvSpPr txBox="1"/>
          <p:nvPr/>
        </p:nvSpPr>
        <p:spPr>
          <a:xfrm>
            <a:off x="777240" y="2802636"/>
            <a:ext cx="2478938" cy="1188720"/>
          </a:xfrm>
          <a:prstGeom prst="rect">
            <a:avLst/>
          </a:prstGeom>
          <a:noFill/>
        </p:spPr>
        <p:txBody>
          <a:bodyPr wrap="square" anchor="ctr"/>
          <a:lstStyle/>
          <a:p>
            <a:pPr algn="ctr" eaLnBrk="0">
              <a:lnSpc>
                <a:spcPct val="110000"/>
              </a:lnSpc>
              <a:spcAft>
                <a:spcPts val="100"/>
              </a:spcAft>
            </a:pPr>
            <a:r>
              <a:rPr sz="1450" b="1">
                <a:solidFill>
                  <a:srgbClr val="13294B"/>
                </a:solidFill>
                <a:latin typeface="맑은 고딕"/>
                <a:ea typeface="맑은 고딕"/>
                <a:cs typeface="맑은 고딕"/>
              </a:rPr>
              <a:t>브로커</a:t>
            </a:r>
          </a:p>
          <a:p>
            <a:pPr algn="ctr" eaLnBrk="0">
              <a:lnSpc>
                <a:spcPct val="110000"/>
              </a:lnSpc>
              <a:spcAft>
                <a:spcPts val="100"/>
              </a:spcAft>
            </a:pPr>
            <a:r>
              <a:rPr sz="1150" b="0">
                <a:solidFill>
                  <a:srgbClr val="556175"/>
                </a:solidFill>
                <a:latin typeface="맑은 고딕"/>
                <a:ea typeface="맑은 고딕"/>
                <a:cs typeface="맑은 고딕"/>
              </a:rPr>
              <a:t>데이터와 명령을 중개</a:t>
            </a:r>
          </a:p>
        </p:txBody>
      </p:sp>
      <p:sp>
        <p:nvSpPr>
          <p:cNvPr id="10" name="Rounded Rectangle 9"/>
          <p:cNvSpPr/>
          <p:nvPr/>
        </p:nvSpPr>
        <p:spPr>
          <a:xfrm>
            <a:off x="731520" y="4338828"/>
            <a:ext cx="2570378" cy="1188720"/>
          </a:xfrm>
          <a:prstGeom prst="roundRect">
            <a:avLst>
              <a:gd name="adj" fmla="val 8000"/>
            </a:avLst>
          </a:prstGeom>
          <a:solidFill>
            <a:srgbClr val="FFFFFF"/>
          </a:solidFill>
          <a:ln w="15875">
            <a:solidFill>
              <a:srgbClr val="D3D9E1"/>
            </a:solidFill>
          </a:ln>
        </p:spPr>
        <p:txBody>
          <a:bodyPr rtlCol="0" anchor="ctr"/>
          <a:lstStyle/>
          <a:p>
            <a:pPr algn="ctr"/>
          </a:p>
        </p:txBody>
      </p:sp>
      <p:sp>
        <p:nvSpPr>
          <p:cNvPr id="11" name="TextBox 10"/>
          <p:cNvSpPr txBox="1"/>
          <p:nvPr/>
        </p:nvSpPr>
        <p:spPr>
          <a:xfrm>
            <a:off x="777240" y="4338828"/>
            <a:ext cx="2478938" cy="1188720"/>
          </a:xfrm>
          <a:prstGeom prst="rect">
            <a:avLst/>
          </a:prstGeom>
          <a:noFill/>
        </p:spPr>
        <p:txBody>
          <a:bodyPr wrap="square" anchor="ctr"/>
          <a:lstStyle/>
          <a:p>
            <a:pPr algn="ctr" eaLnBrk="0">
              <a:lnSpc>
                <a:spcPct val="110000"/>
              </a:lnSpc>
              <a:spcAft>
                <a:spcPts val="100"/>
              </a:spcAft>
            </a:pPr>
            <a:r>
              <a:rPr sz="1450" b="1">
                <a:solidFill>
                  <a:srgbClr val="13294B"/>
                </a:solidFill>
                <a:latin typeface="맑은 고딕"/>
                <a:ea typeface="맑은 고딕"/>
                <a:cs typeface="맑은 고딕"/>
              </a:rPr>
              <a:t>PLC</a:t>
            </a:r>
          </a:p>
          <a:p>
            <a:pPr algn="ctr" eaLnBrk="0">
              <a:lnSpc>
                <a:spcPct val="110000"/>
              </a:lnSpc>
              <a:spcAft>
                <a:spcPts val="100"/>
              </a:spcAft>
            </a:pPr>
            <a:r>
              <a:rPr sz="1150" b="0">
                <a:solidFill>
                  <a:srgbClr val="556175"/>
                </a:solidFill>
                <a:latin typeface="맑은 고딕"/>
                <a:ea typeface="맑은 고딕"/>
                <a:cs typeface="맑은 고딕"/>
              </a:rPr>
              <a:t>계측값을 읽고 설비를 보호</a:t>
            </a:r>
          </a:p>
        </p:txBody>
      </p:sp>
      <p:sp>
        <p:nvSpPr>
          <p:cNvPr id="12" name="Rounded Rectangle 11"/>
          <p:cNvSpPr/>
          <p:nvPr/>
        </p:nvSpPr>
        <p:spPr>
          <a:xfrm>
            <a:off x="4627778" y="1627632"/>
            <a:ext cx="2936138" cy="4727448"/>
          </a:xfrm>
          <a:prstGeom prst="roundRect">
            <a:avLst>
              <a:gd name="adj" fmla="val 3000"/>
            </a:avLst>
          </a:prstGeom>
          <a:solidFill>
            <a:srgbClr val="F3F6F9"/>
          </a:solidFill>
          <a:ln>
            <a:noFill/>
          </a:ln>
        </p:spPr>
        <p:txBody>
          <a:bodyPr rtlCol="0" anchor="ctr"/>
          <a:lstStyle/>
          <a:p>
            <a:pPr algn="ctr"/>
          </a:p>
        </p:txBody>
      </p:sp>
      <p:sp>
        <p:nvSpPr>
          <p:cNvPr id="13" name="TextBox 12"/>
          <p:cNvSpPr txBox="1"/>
          <p:nvPr/>
        </p:nvSpPr>
        <p:spPr>
          <a:xfrm>
            <a:off x="4627778" y="1673352"/>
            <a:ext cx="2936138" cy="365760"/>
          </a:xfrm>
          <a:prstGeom prst="rect">
            <a:avLst/>
          </a:prstGeom>
          <a:noFill/>
        </p:spPr>
        <p:txBody>
          <a:bodyPr wrap="square" anchor="ctr"/>
          <a:lstStyle/>
          <a:p>
            <a:pPr algn="ctr" eaLnBrk="0">
              <a:lnSpc>
                <a:spcPct val="110000"/>
              </a:lnSpc>
            </a:pPr>
            <a:r>
              <a:rPr sz="1400" b="1">
                <a:solidFill>
                  <a:srgbClr val="1A6FC4"/>
                </a:solidFill>
                <a:latin typeface="맑은 고딕"/>
                <a:ea typeface="맑은 고딕"/>
                <a:cs typeface="맑은 고딕"/>
              </a:rPr>
              <a:t>DMZ</a:t>
            </a:r>
          </a:p>
        </p:txBody>
      </p:sp>
      <p:sp>
        <p:nvSpPr>
          <p:cNvPr id="14" name="Rounded Rectangle 13"/>
          <p:cNvSpPr/>
          <p:nvPr/>
        </p:nvSpPr>
        <p:spPr>
          <a:xfrm>
            <a:off x="4810658" y="2802636"/>
            <a:ext cx="2570378" cy="1188720"/>
          </a:xfrm>
          <a:prstGeom prst="roundRect">
            <a:avLst>
              <a:gd name="adj" fmla="val 8000"/>
            </a:avLst>
          </a:prstGeom>
          <a:solidFill>
            <a:srgbClr val="FFFFFF"/>
          </a:solidFill>
          <a:ln w="15875">
            <a:solidFill>
              <a:srgbClr val="D3D9E1"/>
            </a:solidFill>
          </a:ln>
        </p:spPr>
        <p:txBody>
          <a:bodyPr rtlCol="0" anchor="ctr"/>
          <a:lstStyle/>
          <a:p>
            <a:pPr algn="ctr"/>
          </a:p>
        </p:txBody>
      </p:sp>
      <p:sp>
        <p:nvSpPr>
          <p:cNvPr id="15" name="TextBox 14"/>
          <p:cNvSpPr txBox="1"/>
          <p:nvPr/>
        </p:nvSpPr>
        <p:spPr>
          <a:xfrm>
            <a:off x="4856378" y="2802636"/>
            <a:ext cx="2478938" cy="1188720"/>
          </a:xfrm>
          <a:prstGeom prst="rect">
            <a:avLst/>
          </a:prstGeom>
          <a:noFill/>
        </p:spPr>
        <p:txBody>
          <a:bodyPr wrap="square" anchor="ctr"/>
          <a:lstStyle/>
          <a:p>
            <a:pPr algn="ctr" eaLnBrk="0">
              <a:lnSpc>
                <a:spcPct val="110000"/>
              </a:lnSpc>
              <a:spcAft>
                <a:spcPts val="100"/>
              </a:spcAft>
            </a:pPr>
            <a:r>
              <a:rPr sz="1450" b="1">
                <a:solidFill>
                  <a:srgbClr val="13294B"/>
                </a:solidFill>
                <a:latin typeface="맑은 고딕"/>
                <a:ea typeface="맑은 고딕"/>
                <a:cs typeface="맑은 고딕"/>
              </a:rPr>
              <a:t>수집 서비스</a:t>
            </a:r>
          </a:p>
          <a:p>
            <a:pPr algn="ctr" eaLnBrk="0">
              <a:lnSpc>
                <a:spcPct val="110000"/>
              </a:lnSpc>
              <a:spcAft>
                <a:spcPts val="100"/>
              </a:spcAft>
            </a:pPr>
            <a:r>
              <a:rPr sz="1150" b="0">
                <a:solidFill>
                  <a:srgbClr val="556175"/>
                </a:solidFill>
                <a:latin typeface="맑은 고딕"/>
                <a:ea typeface="맑은 고딕"/>
                <a:cs typeface="맑은 고딕"/>
              </a:rPr>
              <a:t>데이터를 올린다</a:t>
            </a:r>
          </a:p>
        </p:txBody>
      </p:sp>
      <p:sp>
        <p:nvSpPr>
          <p:cNvPr id="16" name="Rounded Rectangle 15"/>
          <p:cNvSpPr/>
          <p:nvPr/>
        </p:nvSpPr>
        <p:spPr>
          <a:xfrm>
            <a:off x="4810658" y="4338828"/>
            <a:ext cx="2570378" cy="1188720"/>
          </a:xfrm>
          <a:prstGeom prst="roundRect">
            <a:avLst>
              <a:gd name="adj" fmla="val 8000"/>
            </a:avLst>
          </a:prstGeom>
          <a:solidFill>
            <a:srgbClr val="FFFFFF"/>
          </a:solidFill>
          <a:ln w="15875">
            <a:solidFill>
              <a:srgbClr val="D3D9E1"/>
            </a:solidFill>
          </a:ln>
        </p:spPr>
        <p:txBody>
          <a:bodyPr rtlCol="0" anchor="ctr"/>
          <a:lstStyle/>
          <a:p>
            <a:pPr algn="ctr"/>
          </a:p>
        </p:txBody>
      </p:sp>
      <p:sp>
        <p:nvSpPr>
          <p:cNvPr id="17" name="TextBox 16"/>
          <p:cNvSpPr txBox="1"/>
          <p:nvPr/>
        </p:nvSpPr>
        <p:spPr>
          <a:xfrm>
            <a:off x="4856378" y="4338828"/>
            <a:ext cx="2478938" cy="1188720"/>
          </a:xfrm>
          <a:prstGeom prst="rect">
            <a:avLst/>
          </a:prstGeom>
          <a:noFill/>
        </p:spPr>
        <p:txBody>
          <a:bodyPr wrap="square" anchor="ctr"/>
          <a:lstStyle/>
          <a:p>
            <a:pPr algn="ctr" eaLnBrk="0">
              <a:lnSpc>
                <a:spcPct val="110000"/>
              </a:lnSpc>
              <a:spcAft>
                <a:spcPts val="100"/>
              </a:spcAft>
            </a:pPr>
            <a:r>
              <a:rPr sz="1450" b="1">
                <a:solidFill>
                  <a:srgbClr val="13294B"/>
                </a:solidFill>
                <a:latin typeface="맑은 고딕"/>
                <a:ea typeface="맑은 고딕"/>
                <a:cs typeface="맑은 고딕"/>
              </a:rPr>
              <a:t>명령 관문</a:t>
            </a:r>
          </a:p>
          <a:p>
            <a:pPr algn="ctr" eaLnBrk="0">
              <a:lnSpc>
                <a:spcPct val="110000"/>
              </a:lnSpc>
              <a:spcAft>
                <a:spcPts val="100"/>
              </a:spcAft>
            </a:pPr>
            <a:r>
              <a:rPr sz="1150" b="0">
                <a:solidFill>
                  <a:srgbClr val="556175"/>
                </a:solidFill>
                <a:latin typeface="맑은 고딕"/>
                <a:ea typeface="맑은 고딕"/>
                <a:cs typeface="맑은 고딕"/>
              </a:rPr>
              <a:t>명령을 검사한다</a:t>
            </a:r>
          </a:p>
        </p:txBody>
      </p:sp>
      <p:sp>
        <p:nvSpPr>
          <p:cNvPr id="18" name="Rounded Rectangle 17"/>
          <p:cNvSpPr/>
          <p:nvPr/>
        </p:nvSpPr>
        <p:spPr>
          <a:xfrm>
            <a:off x="8706916" y="1627632"/>
            <a:ext cx="2936138" cy="4727448"/>
          </a:xfrm>
          <a:prstGeom prst="roundRect">
            <a:avLst>
              <a:gd name="adj" fmla="val 3000"/>
            </a:avLst>
          </a:prstGeom>
          <a:solidFill>
            <a:srgbClr val="F3F6F9"/>
          </a:solidFill>
          <a:ln>
            <a:noFill/>
          </a:ln>
        </p:spPr>
        <p:txBody>
          <a:bodyPr rtlCol="0" anchor="ctr"/>
          <a:lstStyle/>
          <a:p>
            <a:pPr algn="ctr"/>
          </a:p>
        </p:txBody>
      </p:sp>
      <p:sp>
        <p:nvSpPr>
          <p:cNvPr id="19" name="TextBox 18"/>
          <p:cNvSpPr txBox="1"/>
          <p:nvPr/>
        </p:nvSpPr>
        <p:spPr>
          <a:xfrm>
            <a:off x="8706916" y="1673352"/>
            <a:ext cx="2936138" cy="365760"/>
          </a:xfrm>
          <a:prstGeom prst="rect">
            <a:avLst/>
          </a:prstGeom>
          <a:noFill/>
        </p:spPr>
        <p:txBody>
          <a:bodyPr wrap="square" anchor="ctr"/>
          <a:lstStyle/>
          <a:p>
            <a:pPr algn="ctr" eaLnBrk="0">
              <a:lnSpc>
                <a:spcPct val="110000"/>
              </a:lnSpc>
            </a:pPr>
            <a:r>
              <a:rPr sz="1400" b="1">
                <a:solidFill>
                  <a:srgbClr val="1A6FC4"/>
                </a:solidFill>
                <a:latin typeface="맑은 고딕"/>
                <a:ea typeface="맑은 고딕"/>
                <a:cs typeface="맑은 고딕"/>
              </a:rPr>
              <a:t>IT</a:t>
            </a:r>
          </a:p>
        </p:txBody>
      </p:sp>
      <p:sp>
        <p:nvSpPr>
          <p:cNvPr id="20" name="Rounded Rectangle 19"/>
          <p:cNvSpPr/>
          <p:nvPr/>
        </p:nvSpPr>
        <p:spPr>
          <a:xfrm>
            <a:off x="8889796" y="2802636"/>
            <a:ext cx="2570378" cy="1188720"/>
          </a:xfrm>
          <a:prstGeom prst="roundRect">
            <a:avLst>
              <a:gd name="adj" fmla="val 8000"/>
            </a:avLst>
          </a:prstGeom>
          <a:solidFill>
            <a:srgbClr val="E7F3FD"/>
          </a:solidFill>
          <a:ln w="25400">
            <a:solidFill>
              <a:srgbClr val="5CB8F2"/>
            </a:solidFill>
          </a:ln>
        </p:spPr>
        <p:txBody>
          <a:bodyPr rtlCol="0" anchor="ctr"/>
          <a:lstStyle/>
          <a:p>
            <a:pPr algn="ctr"/>
          </a:p>
        </p:txBody>
      </p:sp>
      <p:sp>
        <p:nvSpPr>
          <p:cNvPr id="21" name="TextBox 20"/>
          <p:cNvSpPr txBox="1"/>
          <p:nvPr/>
        </p:nvSpPr>
        <p:spPr>
          <a:xfrm>
            <a:off x="8935516" y="2802636"/>
            <a:ext cx="2478938" cy="1188720"/>
          </a:xfrm>
          <a:prstGeom prst="rect">
            <a:avLst/>
          </a:prstGeom>
          <a:noFill/>
        </p:spPr>
        <p:txBody>
          <a:bodyPr wrap="square" anchor="ctr"/>
          <a:lstStyle/>
          <a:p>
            <a:pPr algn="ctr" eaLnBrk="0">
              <a:lnSpc>
                <a:spcPct val="110000"/>
              </a:lnSpc>
              <a:spcAft>
                <a:spcPts val="100"/>
              </a:spcAft>
            </a:pPr>
            <a:r>
              <a:rPr sz="1450" b="1">
                <a:solidFill>
                  <a:srgbClr val="13294B"/>
                </a:solidFill>
                <a:latin typeface="맑은 고딕"/>
                <a:ea typeface="맑은 고딕"/>
                <a:cs typeface="맑은 고딕"/>
              </a:rPr>
              <a:t>이벤트 로그</a:t>
            </a:r>
          </a:p>
          <a:p>
            <a:pPr algn="ctr" eaLnBrk="0">
              <a:lnSpc>
                <a:spcPct val="110000"/>
              </a:lnSpc>
              <a:spcAft>
                <a:spcPts val="100"/>
              </a:spcAft>
            </a:pPr>
            <a:r>
              <a:rPr sz="1150" b="0">
                <a:solidFill>
                  <a:srgbClr val="556175"/>
                </a:solidFill>
                <a:latin typeface="맑은 고딕"/>
                <a:ea typeface="맑은 고딕"/>
                <a:cs typeface="맑은 고딕"/>
              </a:rPr>
              <a:t>순서대로 보관 · 감지 서비스가 읽어 이상 감지</a:t>
            </a:r>
          </a:p>
        </p:txBody>
      </p:sp>
      <p:sp>
        <p:nvSpPr>
          <p:cNvPr id="22" name="Rounded Rectangle 21"/>
          <p:cNvSpPr/>
          <p:nvPr/>
        </p:nvSpPr>
        <p:spPr>
          <a:xfrm>
            <a:off x="8889796" y="4338828"/>
            <a:ext cx="2570378" cy="1188720"/>
          </a:xfrm>
          <a:prstGeom prst="roundRect">
            <a:avLst>
              <a:gd name="adj" fmla="val 8000"/>
            </a:avLst>
          </a:prstGeom>
          <a:solidFill>
            <a:srgbClr val="FFFFFF"/>
          </a:solidFill>
          <a:ln w="15875">
            <a:solidFill>
              <a:srgbClr val="D3D9E1"/>
            </a:solidFill>
          </a:ln>
        </p:spPr>
        <p:txBody>
          <a:bodyPr rtlCol="0" anchor="ctr"/>
          <a:lstStyle/>
          <a:p>
            <a:pPr algn="ctr"/>
          </a:p>
        </p:txBody>
      </p:sp>
      <p:sp>
        <p:nvSpPr>
          <p:cNvPr id="23" name="TextBox 22"/>
          <p:cNvSpPr txBox="1"/>
          <p:nvPr/>
        </p:nvSpPr>
        <p:spPr>
          <a:xfrm>
            <a:off x="8935516" y="4338828"/>
            <a:ext cx="2478938" cy="1188720"/>
          </a:xfrm>
          <a:prstGeom prst="rect">
            <a:avLst/>
          </a:prstGeom>
          <a:noFill/>
        </p:spPr>
        <p:txBody>
          <a:bodyPr wrap="square" anchor="ctr"/>
          <a:lstStyle/>
          <a:p>
            <a:pPr algn="ctr" eaLnBrk="0">
              <a:lnSpc>
                <a:spcPct val="110000"/>
              </a:lnSpc>
              <a:spcAft>
                <a:spcPts val="100"/>
              </a:spcAft>
            </a:pPr>
            <a:r>
              <a:rPr sz="1450" b="1">
                <a:solidFill>
                  <a:srgbClr val="13294B"/>
                </a:solidFill>
                <a:latin typeface="맑은 고딕"/>
                <a:ea typeface="맑은 고딕"/>
                <a:cs typeface="맑은 고딕"/>
              </a:rPr>
              <a:t>프로세스 엔진</a:t>
            </a:r>
          </a:p>
          <a:p>
            <a:pPr algn="ctr" eaLnBrk="0">
              <a:lnSpc>
                <a:spcPct val="110000"/>
              </a:lnSpc>
              <a:spcAft>
                <a:spcPts val="100"/>
              </a:spcAft>
            </a:pPr>
            <a:r>
              <a:rPr sz="1150" b="0">
                <a:solidFill>
                  <a:srgbClr val="556175"/>
                </a:solidFill>
                <a:latin typeface="맑은 고딕"/>
                <a:ea typeface="맑은 고딕"/>
                <a:cs typeface="맑은 고딕"/>
              </a:rPr>
              <a:t>승인된 조치를 명령으로</a:t>
            </a:r>
          </a:p>
        </p:txBody>
      </p:sp>
      <p:cxnSp>
        <p:nvCxnSpPr>
          <p:cNvPr id="24" name="Connector 23"/>
          <p:cNvCxnSpPr/>
          <p:nvPr/>
        </p:nvCxnSpPr>
        <p:spPr>
          <a:xfrm flipV="1">
            <a:off x="1650949" y="3991356"/>
            <a:ext cx="0" cy="347472"/>
          </a:xfrm>
          <a:prstGeom prst="line">
            <a:avLst/>
          </a:prstGeom>
          <a:ln w="19050">
            <a:solidFill>
              <a:srgbClr val="13294B"/>
            </a:solidFill>
            <a:tailEnd type="triangle" w="med" len="med"/>
          </a:ln>
        </p:spPr>
      </p:cxnSp>
      <p:sp>
        <p:nvSpPr>
          <p:cNvPr id="25" name="TextBox 24"/>
          <p:cNvSpPr txBox="1"/>
          <p:nvPr/>
        </p:nvSpPr>
        <p:spPr>
          <a:xfrm>
            <a:off x="945718" y="4027932"/>
            <a:ext cx="668655" cy="274320"/>
          </a:xfrm>
          <a:prstGeom prst="rect">
            <a:avLst/>
          </a:prstGeom>
          <a:noFill/>
        </p:spPr>
        <p:txBody>
          <a:bodyPr wrap="square" anchor="ctr"/>
          <a:lstStyle/>
          <a:p>
            <a:pPr algn="ctr" eaLnBrk="0">
              <a:lnSpc>
                <a:spcPct val="110000"/>
              </a:lnSpc>
            </a:pPr>
            <a:r>
              <a:rPr sz="1050" b="1">
                <a:solidFill>
                  <a:srgbClr val="13294B"/>
                </a:solidFill>
                <a:latin typeface="맑은 고딕"/>
                <a:ea typeface="맑은 고딕"/>
                <a:cs typeface="맑은 고딕"/>
              </a:rPr>
              <a:t>태그 값</a:t>
            </a:r>
          </a:p>
        </p:txBody>
      </p:sp>
      <p:cxnSp>
        <p:nvCxnSpPr>
          <p:cNvPr id="26" name="Connector 25"/>
          <p:cNvCxnSpPr/>
          <p:nvPr/>
        </p:nvCxnSpPr>
        <p:spPr>
          <a:xfrm>
            <a:off x="3301898" y="3250692"/>
            <a:ext cx="1508760" cy="0"/>
          </a:xfrm>
          <a:prstGeom prst="line">
            <a:avLst/>
          </a:prstGeom>
          <a:ln w="19050">
            <a:solidFill>
              <a:srgbClr val="13294B"/>
            </a:solidFill>
            <a:tailEnd type="triangle" w="med" len="med"/>
          </a:ln>
        </p:spPr>
      </p:cxnSp>
      <p:sp>
        <p:nvSpPr>
          <p:cNvPr id="27" name="TextBox 26"/>
          <p:cNvSpPr txBox="1"/>
          <p:nvPr/>
        </p:nvSpPr>
        <p:spPr>
          <a:xfrm>
            <a:off x="3164738" y="2958084"/>
            <a:ext cx="1783079" cy="274320"/>
          </a:xfrm>
          <a:prstGeom prst="rect">
            <a:avLst/>
          </a:prstGeom>
          <a:noFill/>
        </p:spPr>
        <p:txBody>
          <a:bodyPr wrap="square" anchor="ctr"/>
          <a:lstStyle/>
          <a:p>
            <a:pPr algn="ctr" eaLnBrk="0">
              <a:lnSpc>
                <a:spcPct val="110000"/>
              </a:lnSpc>
            </a:pPr>
            <a:r>
              <a:rPr sz="1050" b="1">
                <a:solidFill>
                  <a:srgbClr val="13294B"/>
                </a:solidFill>
                <a:latin typeface="맑은 고딕"/>
                <a:ea typeface="맑은 고딕"/>
                <a:cs typeface="맑은 고딕"/>
              </a:rPr>
              <a:t>구독</a:t>
            </a:r>
          </a:p>
        </p:txBody>
      </p:sp>
      <p:cxnSp>
        <p:nvCxnSpPr>
          <p:cNvPr id="28" name="Connector 27"/>
          <p:cNvCxnSpPr/>
          <p:nvPr/>
        </p:nvCxnSpPr>
        <p:spPr>
          <a:xfrm>
            <a:off x="7381036" y="3250692"/>
            <a:ext cx="1508760" cy="0"/>
          </a:xfrm>
          <a:prstGeom prst="line">
            <a:avLst/>
          </a:prstGeom>
          <a:ln w="19050">
            <a:solidFill>
              <a:srgbClr val="13294B"/>
            </a:solidFill>
            <a:tailEnd type="triangle" w="med" len="med"/>
          </a:ln>
        </p:spPr>
      </p:cxnSp>
      <p:sp>
        <p:nvSpPr>
          <p:cNvPr id="29" name="TextBox 28"/>
          <p:cNvSpPr txBox="1"/>
          <p:nvPr/>
        </p:nvSpPr>
        <p:spPr>
          <a:xfrm>
            <a:off x="7243876" y="2958084"/>
            <a:ext cx="1783079" cy="274320"/>
          </a:xfrm>
          <a:prstGeom prst="rect">
            <a:avLst/>
          </a:prstGeom>
          <a:noFill/>
        </p:spPr>
        <p:txBody>
          <a:bodyPr wrap="square" anchor="ctr"/>
          <a:lstStyle/>
          <a:p>
            <a:pPr algn="ctr" eaLnBrk="0">
              <a:lnSpc>
                <a:spcPct val="110000"/>
              </a:lnSpc>
            </a:pPr>
            <a:r>
              <a:rPr sz="1050" b="1">
                <a:solidFill>
                  <a:srgbClr val="13294B"/>
                </a:solidFill>
                <a:latin typeface="맑은 고딕"/>
                <a:ea typeface="맑은 고딕"/>
                <a:cs typeface="맑은 고딕"/>
              </a:rPr>
              <a:t>레코드</a:t>
            </a:r>
          </a:p>
        </p:txBody>
      </p:sp>
      <p:cxnSp>
        <p:nvCxnSpPr>
          <p:cNvPr id="30" name="Connector 29"/>
          <p:cNvCxnSpPr/>
          <p:nvPr/>
        </p:nvCxnSpPr>
        <p:spPr>
          <a:xfrm flipH="1">
            <a:off x="7381036" y="5079492"/>
            <a:ext cx="1508760" cy="0"/>
          </a:xfrm>
          <a:prstGeom prst="line">
            <a:avLst/>
          </a:prstGeom>
          <a:ln w="28575">
            <a:solidFill>
              <a:srgbClr val="1A6FC4"/>
            </a:solidFill>
            <a:prstDash val="dash"/>
            <a:tailEnd type="triangle" w="med" len="med"/>
          </a:ln>
        </p:spPr>
      </p:cxnSp>
      <p:sp>
        <p:nvSpPr>
          <p:cNvPr id="31" name="TextBox 30"/>
          <p:cNvSpPr txBox="1"/>
          <p:nvPr/>
        </p:nvSpPr>
        <p:spPr>
          <a:xfrm>
            <a:off x="7243876" y="5097780"/>
            <a:ext cx="1783079" cy="274320"/>
          </a:xfrm>
          <a:prstGeom prst="rect">
            <a:avLst/>
          </a:prstGeom>
          <a:noFill/>
        </p:spPr>
        <p:txBody>
          <a:bodyPr wrap="square" anchor="ctr"/>
          <a:lstStyle/>
          <a:p>
            <a:pPr algn="ctr" eaLnBrk="0">
              <a:lnSpc>
                <a:spcPct val="110000"/>
              </a:lnSpc>
            </a:pPr>
            <a:r>
              <a:rPr sz="1050" b="1">
                <a:solidFill>
                  <a:srgbClr val="1A6FC4"/>
                </a:solidFill>
                <a:latin typeface="맑은 고딕"/>
                <a:ea typeface="맑은 고딕"/>
                <a:cs typeface="맑은 고딕"/>
              </a:rPr>
              <a:t>명령</a:t>
            </a:r>
          </a:p>
        </p:txBody>
      </p:sp>
      <p:cxnSp>
        <p:nvCxnSpPr>
          <p:cNvPr id="32" name="Connector 31"/>
          <p:cNvCxnSpPr/>
          <p:nvPr/>
        </p:nvCxnSpPr>
        <p:spPr>
          <a:xfrm flipH="1">
            <a:off x="3301898" y="5079492"/>
            <a:ext cx="1508760" cy="0"/>
          </a:xfrm>
          <a:prstGeom prst="line">
            <a:avLst/>
          </a:prstGeom>
          <a:ln w="28575">
            <a:solidFill>
              <a:srgbClr val="1A6FC4"/>
            </a:solidFill>
            <a:prstDash val="dash"/>
            <a:tailEnd type="triangle" w="med" len="med"/>
          </a:ln>
        </p:spPr>
      </p:cxnSp>
      <p:sp>
        <p:nvSpPr>
          <p:cNvPr id="33" name="TextBox 32"/>
          <p:cNvSpPr txBox="1"/>
          <p:nvPr/>
        </p:nvSpPr>
        <p:spPr>
          <a:xfrm>
            <a:off x="3164738" y="5097780"/>
            <a:ext cx="1783079" cy="274320"/>
          </a:xfrm>
          <a:prstGeom prst="rect">
            <a:avLst/>
          </a:prstGeom>
          <a:noFill/>
        </p:spPr>
        <p:txBody>
          <a:bodyPr wrap="square" anchor="ctr"/>
          <a:lstStyle/>
          <a:p>
            <a:pPr algn="ctr" eaLnBrk="0">
              <a:lnSpc>
                <a:spcPct val="110000"/>
              </a:lnSpc>
            </a:pPr>
            <a:r>
              <a:rPr sz="1050" b="1">
                <a:solidFill>
                  <a:srgbClr val="1A6FC4"/>
                </a:solidFill>
                <a:latin typeface="맑은 고딕"/>
                <a:ea typeface="맑은 고딕"/>
                <a:cs typeface="맑은 고딕"/>
              </a:rPr>
              <a:t>검사 통과</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실습: 실행 환경 구성과 서비스 동작 확인</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준비된 환경에서 HYD 서비스를 실행하고 포털이 열리는지 확인한다</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실습에서 쓰는 도구와 확인하는 상태</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Docker Compose로 HYD 서비스를 실행하고 포털에 접속할 수 있으면, 이 실습을 마친 것이다.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38</a:t>
            </a:r>
          </a:p>
        </p:txBody>
      </p:sp>
      <p:sp>
        <p:nvSpPr>
          <p:cNvPr id="6" name="Rounded Rectangle 5"/>
          <p:cNvSpPr/>
          <p:nvPr/>
        </p:nvSpPr>
        <p:spPr>
          <a:xfrm>
            <a:off x="548640" y="2154427"/>
            <a:ext cx="2567863" cy="367385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355596"/>
            <a:ext cx="731520" cy="731520"/>
          </a:xfrm>
          <a:prstGeom prst="ellipse">
            <a:avLst/>
          </a:prstGeom>
          <a:solidFill>
            <a:srgbClr val="E7F3FD"/>
          </a:solidFill>
          <a:ln>
            <a:noFill/>
          </a:ln>
        </p:spPr>
        <p:txBody>
          <a:bodyPr rtlCol="0" anchor="ctr"/>
          <a:lstStyle/>
          <a:p>
            <a:pPr algn="ctr"/>
          </a:p>
        </p:txBody>
      </p:sp>
      <p:pic>
        <p:nvPicPr>
          <p:cNvPr id="8" name="아이콘:brand-vscode" descr="brand-vscode_13294B_1.6.png"/>
          <p:cNvPicPr>
            <a:picLocks noChangeAspect="1"/>
          </p:cNvPicPr>
          <p:nvPr/>
        </p:nvPicPr>
        <p:blipFill>
          <a:blip r:embed="rId3"/>
          <a:stretch>
            <a:fillRect/>
          </a:stretch>
        </p:blipFill>
        <p:spPr>
          <a:xfrm>
            <a:off x="930859" y="2509215"/>
            <a:ext cx="424281" cy="424281"/>
          </a:xfrm>
          <a:prstGeom prst="rect">
            <a:avLst/>
          </a:prstGeom>
        </p:spPr>
      </p:pic>
      <p:sp>
        <p:nvSpPr>
          <p:cNvPr id="9" name="TextBox 8"/>
          <p:cNvSpPr txBox="1"/>
          <p:nvPr/>
        </p:nvSpPr>
        <p:spPr>
          <a:xfrm>
            <a:off x="713232" y="3178556"/>
            <a:ext cx="2238679" cy="2146808"/>
          </a:xfrm>
          <a:prstGeom prst="rect">
            <a:avLst/>
          </a:prstGeom>
          <a:noFill/>
        </p:spPr>
        <p:txBody>
          <a:bodyPr wrap="square" anchor="t"/>
          <a:lstStyle/>
          <a:p>
            <a:pPr algn="l" eaLnBrk="0">
              <a:lnSpc>
                <a:spcPct val="110000"/>
              </a:lnSpc>
              <a:spcAft>
                <a:spcPts val="400"/>
              </a:spcAft>
            </a:pPr>
            <a:r>
              <a:rPr sz="1750" b="1">
                <a:solidFill>
                  <a:srgbClr val="13294B"/>
                </a:solidFill>
                <a:latin typeface="맑은 고딕"/>
                <a:ea typeface="맑은 고딕"/>
                <a:cs typeface="맑은 고딕"/>
              </a:rPr>
              <a:t>VS Code</a:t>
            </a:r>
          </a:p>
          <a:p>
            <a:pPr algn="l" eaLnBrk="0" marL="154305" indent="-154305">
              <a:lnSpc>
                <a:spcPct val="110000"/>
              </a:lnSpc>
              <a:spcAft>
                <a:spcPts val="400"/>
              </a:spcAft>
            </a:pPr>
            <a:r>
              <a:rPr sz="1350" b="0">
                <a:solidFill>
                  <a:srgbClr val="1F2A3A"/>
                </a:solidFill>
                <a:latin typeface="맑은 고딕"/>
                <a:ea typeface="맑은 고딕"/>
                <a:cs typeface="맑은 고딕"/>
              </a:rPr>
              <a:t>• 파일 편집과 터미널 작업을 하는 도구이다</a:t>
            </a:r>
          </a:p>
          <a:p>
            <a:pPr algn="l" eaLnBrk="0" marL="154305" indent="-154305">
              <a:lnSpc>
                <a:spcPct val="110000"/>
              </a:lnSpc>
              <a:spcAft>
                <a:spcPts val="400"/>
              </a:spcAft>
            </a:pPr>
            <a:r>
              <a:rPr sz="1350" b="0">
                <a:solidFill>
                  <a:srgbClr val="1F2A3A"/>
                </a:solidFill>
                <a:latin typeface="맑은 고딕"/>
                <a:ea typeface="맑은 고딕"/>
                <a:cs typeface="맑은 고딕"/>
              </a:rPr>
              <a:t>• 이후 랩의 작업 공간으로 쓴다</a:t>
            </a:r>
          </a:p>
        </p:txBody>
      </p:sp>
      <p:sp>
        <p:nvSpPr>
          <p:cNvPr id="10" name="Rounded Rectangle 9"/>
          <p:cNvSpPr/>
          <p:nvPr/>
        </p:nvSpPr>
        <p:spPr>
          <a:xfrm>
            <a:off x="777240" y="5398516"/>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398516"/>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개발</a:t>
            </a:r>
          </a:p>
        </p:txBody>
      </p:sp>
      <p:sp>
        <p:nvSpPr>
          <p:cNvPr id="12" name="Rounded Rectangle 11"/>
          <p:cNvSpPr/>
          <p:nvPr/>
        </p:nvSpPr>
        <p:spPr>
          <a:xfrm>
            <a:off x="3390823" y="2154427"/>
            <a:ext cx="2567863" cy="367385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355596"/>
            <a:ext cx="731520" cy="731520"/>
          </a:xfrm>
          <a:prstGeom prst="ellipse">
            <a:avLst/>
          </a:prstGeom>
          <a:solidFill>
            <a:srgbClr val="E7F3FD"/>
          </a:solidFill>
          <a:ln>
            <a:noFill/>
          </a:ln>
        </p:spPr>
        <p:txBody>
          <a:bodyPr rtlCol="0" anchor="ctr"/>
          <a:lstStyle/>
          <a:p>
            <a:pPr algn="ctr"/>
          </a:p>
        </p:txBody>
      </p:sp>
      <p:pic>
        <p:nvPicPr>
          <p:cNvPr id="14" name="아이콘:brand-github-copilot" descr="brand-github-copilot_13294B_1.6.png"/>
          <p:cNvPicPr>
            <a:picLocks noChangeAspect="1"/>
          </p:cNvPicPr>
          <p:nvPr/>
        </p:nvPicPr>
        <p:blipFill>
          <a:blip r:embed="rId4"/>
          <a:stretch>
            <a:fillRect/>
          </a:stretch>
        </p:blipFill>
        <p:spPr>
          <a:xfrm>
            <a:off x="3773043" y="2509215"/>
            <a:ext cx="424281" cy="424281"/>
          </a:xfrm>
          <a:prstGeom prst="rect">
            <a:avLst/>
          </a:prstGeom>
        </p:spPr>
      </p:pic>
      <p:sp>
        <p:nvSpPr>
          <p:cNvPr id="15" name="TextBox 14"/>
          <p:cNvSpPr txBox="1"/>
          <p:nvPr/>
        </p:nvSpPr>
        <p:spPr>
          <a:xfrm>
            <a:off x="3555415" y="3178556"/>
            <a:ext cx="2238679" cy="2146808"/>
          </a:xfrm>
          <a:prstGeom prst="rect">
            <a:avLst/>
          </a:prstGeom>
          <a:noFill/>
        </p:spPr>
        <p:txBody>
          <a:bodyPr wrap="square" anchor="t"/>
          <a:lstStyle/>
          <a:p>
            <a:pPr algn="l" eaLnBrk="0">
              <a:lnSpc>
                <a:spcPct val="110000"/>
              </a:lnSpc>
              <a:spcAft>
                <a:spcPts val="400"/>
              </a:spcAft>
            </a:pPr>
            <a:r>
              <a:rPr sz="1750" b="1">
                <a:solidFill>
                  <a:srgbClr val="13294B"/>
                </a:solidFill>
                <a:latin typeface="맑은 고딕"/>
                <a:ea typeface="맑은 고딕"/>
                <a:cs typeface="맑은 고딕"/>
              </a:rPr>
              <a:t>GitHub Copilot</a:t>
            </a:r>
          </a:p>
          <a:p>
            <a:pPr algn="l" eaLnBrk="0" marL="154305" indent="-154305">
              <a:lnSpc>
                <a:spcPct val="110000"/>
              </a:lnSpc>
              <a:spcAft>
                <a:spcPts val="400"/>
              </a:spcAft>
            </a:pPr>
            <a:r>
              <a:rPr sz="1350" b="0">
                <a:solidFill>
                  <a:srgbClr val="1F2A3A"/>
                </a:solidFill>
                <a:latin typeface="맑은 고딕"/>
                <a:ea typeface="맑은 고딕"/>
                <a:cs typeface="맑은 고딕"/>
              </a:rPr>
              <a:t>• VS Code의 채팅 창에서 말로 요청하면 파일을 읽고 고치는 코딩 에이전트이다</a:t>
            </a:r>
          </a:p>
          <a:p>
            <a:pPr algn="l" eaLnBrk="0" marL="154305" indent="-154305">
              <a:lnSpc>
                <a:spcPct val="110000"/>
              </a:lnSpc>
              <a:spcAft>
                <a:spcPts val="400"/>
              </a:spcAft>
            </a:pPr>
            <a:r>
              <a:rPr sz="1350" b="0">
                <a:solidFill>
                  <a:srgbClr val="1F2A3A"/>
                </a:solidFill>
                <a:latin typeface="맑은 고딕"/>
                <a:ea typeface="맑은 고딕"/>
                <a:cs typeface="맑은 고딕"/>
              </a:rPr>
              <a:t>• 말로 요청하고 AI가 쓴 코드를 실행하며 고쳐 가는 방식을 바이브 코딩(Vibe Coding)이라고 한다</a:t>
            </a:r>
          </a:p>
        </p:txBody>
      </p:sp>
      <p:sp>
        <p:nvSpPr>
          <p:cNvPr id="16" name="Rounded Rectangle 15"/>
          <p:cNvSpPr/>
          <p:nvPr/>
        </p:nvSpPr>
        <p:spPr>
          <a:xfrm>
            <a:off x="3619423" y="5398516"/>
            <a:ext cx="905256"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398516"/>
            <a:ext cx="905256"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AI 코딩</a:t>
            </a:r>
          </a:p>
        </p:txBody>
      </p:sp>
      <p:sp>
        <p:nvSpPr>
          <p:cNvPr id="18" name="Rounded Rectangle 17"/>
          <p:cNvSpPr/>
          <p:nvPr/>
        </p:nvSpPr>
        <p:spPr>
          <a:xfrm>
            <a:off x="6233007" y="2154427"/>
            <a:ext cx="2567863" cy="367385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355596"/>
            <a:ext cx="731520" cy="731520"/>
          </a:xfrm>
          <a:prstGeom prst="ellipse">
            <a:avLst/>
          </a:prstGeom>
          <a:solidFill>
            <a:srgbClr val="E7F3FD"/>
          </a:solidFill>
          <a:ln>
            <a:noFill/>
          </a:ln>
        </p:spPr>
        <p:txBody>
          <a:bodyPr rtlCol="0" anchor="ctr"/>
          <a:lstStyle/>
          <a:p>
            <a:pPr algn="ctr"/>
          </a:p>
        </p:txBody>
      </p:sp>
      <p:pic>
        <p:nvPicPr>
          <p:cNvPr id="20" name="아이콘:brand-python" descr="brand-python_13294B_1.6.png"/>
          <p:cNvPicPr>
            <a:picLocks noChangeAspect="1"/>
          </p:cNvPicPr>
          <p:nvPr/>
        </p:nvPicPr>
        <p:blipFill>
          <a:blip r:embed="rId5"/>
          <a:stretch>
            <a:fillRect/>
          </a:stretch>
        </p:blipFill>
        <p:spPr>
          <a:xfrm>
            <a:off x="6615226" y="2509215"/>
            <a:ext cx="424281" cy="424281"/>
          </a:xfrm>
          <a:prstGeom prst="rect">
            <a:avLst/>
          </a:prstGeom>
        </p:spPr>
      </p:pic>
      <p:sp>
        <p:nvSpPr>
          <p:cNvPr id="21" name="TextBox 20"/>
          <p:cNvSpPr txBox="1"/>
          <p:nvPr/>
        </p:nvSpPr>
        <p:spPr>
          <a:xfrm>
            <a:off x="6397599" y="3178556"/>
            <a:ext cx="2238679" cy="2146808"/>
          </a:xfrm>
          <a:prstGeom prst="rect">
            <a:avLst/>
          </a:prstGeom>
          <a:noFill/>
        </p:spPr>
        <p:txBody>
          <a:bodyPr wrap="square" anchor="t"/>
          <a:lstStyle/>
          <a:p>
            <a:pPr algn="l" eaLnBrk="0">
              <a:lnSpc>
                <a:spcPct val="110000"/>
              </a:lnSpc>
              <a:spcAft>
                <a:spcPts val="400"/>
              </a:spcAft>
            </a:pPr>
            <a:r>
              <a:rPr sz="1750" b="1">
                <a:solidFill>
                  <a:srgbClr val="13294B"/>
                </a:solidFill>
                <a:latin typeface="맑은 고딕"/>
                <a:ea typeface="맑은 고딕"/>
                <a:cs typeface="맑은 고딕"/>
              </a:rPr>
              <a:t>Python</a:t>
            </a:r>
          </a:p>
          <a:p>
            <a:pPr algn="l" eaLnBrk="0">
              <a:lnSpc>
                <a:spcPct val="110000"/>
              </a:lnSpc>
              <a:spcAft>
                <a:spcPts val="400"/>
              </a:spcAft>
            </a:pPr>
            <a:r>
              <a:rPr sz="1350" b="0">
                <a:solidFill>
                  <a:srgbClr val="1F2A3A"/>
                </a:solidFill>
                <a:latin typeface="맑은 고딕"/>
                <a:ea typeface="맑은 고딕"/>
                <a:cs typeface="맑은 고딕"/>
              </a:rPr>
              <a:t>HYD 서비스와 랩 코드를 작성하는 프로그래밍 언어이다</a:t>
            </a:r>
          </a:p>
        </p:txBody>
      </p:sp>
      <p:sp>
        <p:nvSpPr>
          <p:cNvPr id="22" name="Rounded Rectangle 21"/>
          <p:cNvSpPr/>
          <p:nvPr/>
        </p:nvSpPr>
        <p:spPr>
          <a:xfrm>
            <a:off x="6461607" y="5398516"/>
            <a:ext cx="82296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398516"/>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언어</a:t>
            </a:r>
          </a:p>
        </p:txBody>
      </p:sp>
      <p:sp>
        <p:nvSpPr>
          <p:cNvPr id="24" name="Rounded Rectangle 23"/>
          <p:cNvSpPr/>
          <p:nvPr/>
        </p:nvSpPr>
        <p:spPr>
          <a:xfrm>
            <a:off x="9075191" y="2154427"/>
            <a:ext cx="2567863" cy="3673856"/>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355596"/>
            <a:ext cx="731520" cy="731520"/>
          </a:xfrm>
          <a:prstGeom prst="ellipse">
            <a:avLst/>
          </a:prstGeom>
          <a:solidFill>
            <a:srgbClr val="5CB8F2"/>
          </a:solidFill>
          <a:ln>
            <a:noFill/>
          </a:ln>
        </p:spPr>
        <p:txBody>
          <a:bodyPr rtlCol="0" anchor="ctr"/>
          <a:lstStyle/>
          <a:p>
            <a:pPr algn="ctr"/>
          </a:p>
        </p:txBody>
      </p:sp>
      <p:pic>
        <p:nvPicPr>
          <p:cNvPr id="26" name="아이콘:brand-docker" descr="brand-docker_13294B_1.6.png"/>
          <p:cNvPicPr>
            <a:picLocks noChangeAspect="1"/>
          </p:cNvPicPr>
          <p:nvPr/>
        </p:nvPicPr>
        <p:blipFill>
          <a:blip r:embed="rId6"/>
          <a:stretch>
            <a:fillRect/>
          </a:stretch>
        </p:blipFill>
        <p:spPr>
          <a:xfrm>
            <a:off x="9457410" y="2509215"/>
            <a:ext cx="424281" cy="424281"/>
          </a:xfrm>
          <a:prstGeom prst="rect">
            <a:avLst/>
          </a:prstGeom>
        </p:spPr>
      </p:pic>
      <p:sp>
        <p:nvSpPr>
          <p:cNvPr id="27" name="TextBox 26"/>
          <p:cNvSpPr txBox="1"/>
          <p:nvPr/>
        </p:nvSpPr>
        <p:spPr>
          <a:xfrm>
            <a:off x="9239783" y="3178556"/>
            <a:ext cx="2238679" cy="2146808"/>
          </a:xfrm>
          <a:prstGeom prst="rect">
            <a:avLst/>
          </a:prstGeom>
          <a:noFill/>
        </p:spPr>
        <p:txBody>
          <a:bodyPr wrap="square" anchor="t"/>
          <a:lstStyle/>
          <a:p>
            <a:pPr algn="l" eaLnBrk="0">
              <a:lnSpc>
                <a:spcPct val="110000"/>
              </a:lnSpc>
              <a:spcAft>
                <a:spcPts val="400"/>
              </a:spcAft>
            </a:pPr>
            <a:r>
              <a:rPr sz="1750" b="1">
                <a:solidFill>
                  <a:srgbClr val="13294B"/>
                </a:solidFill>
                <a:latin typeface="맑은 고딕"/>
                <a:ea typeface="맑은 고딕"/>
                <a:cs typeface="맑은 고딕"/>
              </a:rPr>
              <a:t>Docker</a:t>
            </a:r>
          </a:p>
          <a:p>
            <a:pPr algn="l" eaLnBrk="0" marL="154305" indent="-154305">
              <a:lnSpc>
                <a:spcPct val="110000"/>
              </a:lnSpc>
              <a:spcAft>
                <a:spcPts val="400"/>
              </a:spcAft>
            </a:pPr>
            <a:r>
              <a:rPr sz="1350" b="0">
                <a:solidFill>
                  <a:srgbClr val="1F2A3A"/>
                </a:solidFill>
                <a:latin typeface="맑은 고딕"/>
                <a:ea typeface="맑은 고딕"/>
                <a:cs typeface="맑은 고딕"/>
              </a:rPr>
              <a:t>• Docker Desktop은 컨테이너를 실행하는 프로그램이다</a:t>
            </a:r>
          </a:p>
          <a:p>
            <a:pPr algn="l" eaLnBrk="0" marL="154305" indent="-154305">
              <a:lnSpc>
                <a:spcPct val="110000"/>
              </a:lnSpc>
              <a:spcAft>
                <a:spcPts val="400"/>
              </a:spcAft>
            </a:pPr>
            <a:r>
              <a:rPr sz="1350" b="0">
                <a:solidFill>
                  <a:srgbClr val="1F2A3A"/>
                </a:solidFill>
                <a:latin typeface="맑은 고딕"/>
                <a:ea typeface="맑은 고딕"/>
                <a:cs typeface="맑은 고딕"/>
              </a:rPr>
              <a:t>• Docker Compose는 한 파일에 정의된 여러 서비스를 함께 실행한다</a:t>
            </a:r>
          </a:p>
        </p:txBody>
      </p:sp>
      <p:sp>
        <p:nvSpPr>
          <p:cNvPr id="28" name="Rounded Rectangle 27"/>
          <p:cNvSpPr/>
          <p:nvPr/>
        </p:nvSpPr>
        <p:spPr>
          <a:xfrm>
            <a:off x="9303791" y="5398516"/>
            <a:ext cx="117348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398516"/>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서비스 실행</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실습: 설비 이상에서 조치까지 전체 과정 시연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쿨러 열화 한 건이 경보에서 최종 결과까지 이어지는 과정을 확인한다</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시연에서 확인하는 흐름: 경보에서 최종 결과까지</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쿨러 열화 한 건이 경보·원인 분석·추천·승인·조치·재관측을 거쳐 마무리되는 전 과정을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40</a:t>
            </a:r>
          </a:p>
        </p:txBody>
      </p:sp>
      <p:sp>
        <p:nvSpPr>
          <p:cNvPr id="6" name="Rounded Rectangle 5"/>
          <p:cNvSpPr/>
          <p:nvPr/>
        </p:nvSpPr>
        <p:spPr>
          <a:xfrm>
            <a:off x="548640" y="2167064"/>
            <a:ext cx="1911644" cy="3648583"/>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138702" y="2349944"/>
            <a:ext cx="731520" cy="731520"/>
          </a:xfrm>
          <a:prstGeom prst="ellipse">
            <a:avLst/>
          </a:prstGeom>
          <a:solidFill>
            <a:srgbClr val="FFFFFF"/>
          </a:solidFill>
          <a:ln>
            <a:noFill/>
          </a:ln>
        </p:spPr>
        <p:txBody>
          <a:bodyPr rtlCol="0" anchor="ctr"/>
          <a:lstStyle/>
          <a:p>
            <a:pPr algn="ctr"/>
          </a:p>
        </p:txBody>
      </p:sp>
      <p:pic>
        <p:nvPicPr>
          <p:cNvPr id="8" name="아이콘:bell-ringing" descr="bell-ringing_13294B_1.6.png"/>
          <p:cNvPicPr>
            <a:picLocks noChangeAspect="1"/>
          </p:cNvPicPr>
          <p:nvPr/>
        </p:nvPicPr>
        <p:blipFill>
          <a:blip r:embed="rId3"/>
          <a:stretch>
            <a:fillRect/>
          </a:stretch>
        </p:blipFill>
        <p:spPr>
          <a:xfrm>
            <a:off x="1292321" y="2503563"/>
            <a:ext cx="424281" cy="424281"/>
          </a:xfrm>
          <a:prstGeom prst="rect">
            <a:avLst/>
          </a:prstGeom>
        </p:spPr>
      </p:pic>
      <p:sp>
        <p:nvSpPr>
          <p:cNvPr id="9" name="TextBox 8"/>
          <p:cNvSpPr txBox="1"/>
          <p:nvPr/>
        </p:nvSpPr>
        <p:spPr>
          <a:xfrm>
            <a:off x="621792" y="3154616"/>
            <a:ext cx="1765340" cy="2587878"/>
          </a:xfrm>
          <a:prstGeom prst="rect">
            <a:avLst/>
          </a:prstGeom>
          <a:noFill/>
        </p:spPr>
        <p:txBody>
          <a:bodyPr wrap="square" anchor="t"/>
          <a:lstStyle/>
          <a:p>
            <a:pPr algn="ctr" eaLnBrk="0">
              <a:lnSpc>
                <a:spcPct val="110000"/>
              </a:lnSpc>
              <a:spcAft>
                <a:spcPts val="400"/>
              </a:spcAft>
            </a:pPr>
            <a:r>
              <a:rPr sz="1850" b="1">
                <a:solidFill>
                  <a:srgbClr val="13294B"/>
                </a:solidFill>
                <a:latin typeface="맑은 고딕"/>
                <a:ea typeface="맑은 고딕"/>
                <a:cs typeface="맑은 고딕"/>
              </a:rPr>
              <a:t>경보</a:t>
            </a:r>
          </a:p>
          <a:p>
            <a:pPr algn="ctr" eaLnBrk="0">
              <a:lnSpc>
                <a:spcPct val="110000"/>
              </a:lnSpc>
              <a:spcAft>
                <a:spcPts val="400"/>
              </a:spcAft>
            </a:pPr>
            <a:r>
              <a:rPr sz="1550" b="0">
                <a:solidFill>
                  <a:srgbClr val="1F2A3A"/>
                </a:solidFill>
                <a:latin typeface="맑은 고딕"/>
                <a:ea typeface="맑은 고딕"/>
                <a:cs typeface="맑은 고딕"/>
              </a:rPr>
              <a:t>유온과 냉각 효율이</a:t>
            </a:r>
          </a:p>
          <a:p>
            <a:pPr algn="ctr" eaLnBrk="0">
              <a:lnSpc>
                <a:spcPct val="110000"/>
              </a:lnSpc>
              <a:spcAft>
                <a:spcPts val="400"/>
              </a:spcAft>
            </a:pPr>
            <a:r>
              <a:rPr sz="1550" b="0">
                <a:solidFill>
                  <a:srgbClr val="1F2A3A"/>
                </a:solidFill>
                <a:latin typeface="맑은 고딕"/>
                <a:ea typeface="맑은 고딕"/>
                <a:cs typeface="맑은 고딕"/>
              </a:rPr>
              <a:t>조건을 벗어나</a:t>
            </a:r>
          </a:p>
          <a:p>
            <a:pPr algn="ctr" eaLnBrk="0">
              <a:lnSpc>
                <a:spcPct val="110000"/>
              </a:lnSpc>
              <a:spcAft>
                <a:spcPts val="400"/>
              </a:spcAft>
            </a:pPr>
            <a:r>
              <a:rPr sz="1550" b="0">
                <a:solidFill>
                  <a:srgbClr val="1F2A3A"/>
                </a:solidFill>
                <a:latin typeface="맑은 고딕"/>
                <a:ea typeface="맑은 고딕"/>
                <a:cs typeface="맑은 고딕"/>
              </a:rPr>
              <a:t>경보가 난다</a:t>
            </a:r>
          </a:p>
        </p:txBody>
      </p:sp>
      <p:sp>
        <p:nvSpPr>
          <p:cNvPr id="10" name="Right Arrow 9"/>
          <p:cNvSpPr/>
          <p:nvPr/>
        </p:nvSpPr>
        <p:spPr>
          <a:xfrm>
            <a:off x="2524292"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2844332" y="2167064"/>
            <a:ext cx="1911644" cy="3648583"/>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3434394" y="2349944"/>
            <a:ext cx="731520" cy="731520"/>
          </a:xfrm>
          <a:prstGeom prst="ellipse">
            <a:avLst/>
          </a:prstGeom>
          <a:solidFill>
            <a:srgbClr val="FFFFFF"/>
          </a:solidFill>
          <a:ln>
            <a:noFill/>
          </a:ln>
        </p:spPr>
        <p:txBody>
          <a:bodyPr rtlCol="0" anchor="ctr"/>
          <a:lstStyle/>
          <a:p>
            <a:pPr algn="ctr"/>
          </a:p>
        </p:txBody>
      </p:sp>
      <p:pic>
        <p:nvPicPr>
          <p:cNvPr id="13" name="아이콘:robot" descr="robot_13294B_1.6.png"/>
          <p:cNvPicPr>
            <a:picLocks noChangeAspect="1"/>
          </p:cNvPicPr>
          <p:nvPr/>
        </p:nvPicPr>
        <p:blipFill>
          <a:blip r:embed="rId4"/>
          <a:stretch>
            <a:fillRect/>
          </a:stretch>
        </p:blipFill>
        <p:spPr>
          <a:xfrm>
            <a:off x="3588014" y="2503563"/>
            <a:ext cx="424281" cy="424281"/>
          </a:xfrm>
          <a:prstGeom prst="rect">
            <a:avLst/>
          </a:prstGeom>
        </p:spPr>
      </p:pic>
      <p:sp>
        <p:nvSpPr>
          <p:cNvPr id="14" name="TextBox 13"/>
          <p:cNvSpPr txBox="1"/>
          <p:nvPr/>
        </p:nvSpPr>
        <p:spPr>
          <a:xfrm>
            <a:off x="2917484" y="3154616"/>
            <a:ext cx="1765340" cy="2587878"/>
          </a:xfrm>
          <a:prstGeom prst="rect">
            <a:avLst/>
          </a:prstGeom>
          <a:noFill/>
        </p:spPr>
        <p:txBody>
          <a:bodyPr wrap="square" anchor="t"/>
          <a:lstStyle/>
          <a:p>
            <a:pPr algn="ctr" eaLnBrk="0">
              <a:lnSpc>
                <a:spcPct val="110000"/>
              </a:lnSpc>
              <a:spcAft>
                <a:spcPts val="400"/>
              </a:spcAft>
            </a:pPr>
            <a:r>
              <a:rPr sz="1850" b="1">
                <a:solidFill>
                  <a:srgbClr val="13294B"/>
                </a:solidFill>
                <a:latin typeface="맑은 고딕"/>
                <a:ea typeface="맑은 고딕"/>
                <a:cs typeface="맑은 고딕"/>
              </a:rPr>
              <a:t>원인 분석과 추천</a:t>
            </a:r>
          </a:p>
          <a:p>
            <a:pPr algn="ctr" eaLnBrk="0">
              <a:lnSpc>
                <a:spcPct val="110000"/>
              </a:lnSpc>
              <a:spcAft>
                <a:spcPts val="400"/>
              </a:spcAft>
            </a:pPr>
            <a:r>
              <a:rPr sz="1550" b="0">
                <a:solidFill>
                  <a:srgbClr val="1F2A3A"/>
                </a:solidFill>
                <a:latin typeface="맑은 고딕"/>
                <a:ea typeface="맑은 고딕"/>
                <a:cs typeface="맑은 고딕"/>
              </a:rPr>
              <a:t>에이전트가</a:t>
            </a:r>
          </a:p>
          <a:p>
            <a:pPr algn="ctr" eaLnBrk="0">
              <a:lnSpc>
                <a:spcPct val="110000"/>
              </a:lnSpc>
              <a:spcAft>
                <a:spcPts val="400"/>
              </a:spcAft>
            </a:pPr>
            <a:r>
              <a:rPr sz="1550" b="0">
                <a:solidFill>
                  <a:srgbClr val="1F2A3A"/>
                </a:solidFill>
                <a:latin typeface="맑은 고딕"/>
                <a:ea typeface="맑은 고딕"/>
                <a:cs typeface="맑은 고딕"/>
              </a:rPr>
              <a:t>지식과 값을 조회해</a:t>
            </a:r>
          </a:p>
          <a:p>
            <a:pPr algn="ctr" eaLnBrk="0">
              <a:lnSpc>
                <a:spcPct val="110000"/>
              </a:lnSpc>
              <a:spcAft>
                <a:spcPts val="400"/>
              </a:spcAft>
            </a:pPr>
            <a:r>
              <a:rPr sz="1550" b="0">
                <a:solidFill>
                  <a:srgbClr val="1F2A3A"/>
                </a:solidFill>
                <a:latin typeface="맑은 고딕"/>
                <a:ea typeface="맑은 고딕"/>
                <a:cs typeface="맑은 고딕"/>
              </a:rPr>
              <a:t>원인을 가리고</a:t>
            </a:r>
          </a:p>
          <a:p>
            <a:pPr algn="ctr" eaLnBrk="0">
              <a:lnSpc>
                <a:spcPct val="110000"/>
              </a:lnSpc>
              <a:spcAft>
                <a:spcPts val="400"/>
              </a:spcAft>
            </a:pPr>
            <a:r>
              <a:rPr sz="1550" b="0">
                <a:solidFill>
                  <a:srgbClr val="1F2A3A"/>
                </a:solidFill>
                <a:latin typeface="맑은 고딕"/>
                <a:ea typeface="맑은 고딕"/>
                <a:cs typeface="맑은 고딕"/>
              </a:rPr>
              <a:t>조치안을 낸다</a:t>
            </a:r>
          </a:p>
        </p:txBody>
      </p:sp>
      <p:sp>
        <p:nvSpPr>
          <p:cNvPr id="15" name="Right Arrow 14"/>
          <p:cNvSpPr/>
          <p:nvPr/>
        </p:nvSpPr>
        <p:spPr>
          <a:xfrm>
            <a:off x="4819985"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5140025" y="2167064"/>
            <a:ext cx="1911644" cy="3648583"/>
          </a:xfrm>
          <a:prstGeom prst="roundRect">
            <a:avLst>
              <a:gd name="adj" fmla="val 5000"/>
            </a:avLst>
          </a:prstGeom>
          <a:solidFill>
            <a:srgbClr val="E7F3FD"/>
          </a:solidFill>
          <a:ln w="25400">
            <a:solidFill>
              <a:srgbClr val="5CB8F2"/>
            </a:solidFill>
          </a:ln>
        </p:spPr>
        <p:txBody>
          <a:bodyPr rtlCol="0" anchor="ctr"/>
          <a:lstStyle/>
          <a:p>
            <a:pPr algn="ctr"/>
          </a:p>
        </p:txBody>
      </p:sp>
      <p:sp>
        <p:nvSpPr>
          <p:cNvPr id="17" name="Oval 16"/>
          <p:cNvSpPr/>
          <p:nvPr/>
        </p:nvSpPr>
        <p:spPr>
          <a:xfrm>
            <a:off x="5730087" y="2349944"/>
            <a:ext cx="731520" cy="731520"/>
          </a:xfrm>
          <a:prstGeom prst="ellipse">
            <a:avLst/>
          </a:prstGeom>
          <a:solidFill>
            <a:srgbClr val="5CB8F2"/>
          </a:solidFill>
          <a:ln>
            <a:noFill/>
          </a:ln>
        </p:spPr>
        <p:txBody>
          <a:bodyPr rtlCol="0" anchor="ctr"/>
          <a:lstStyle/>
          <a:p>
            <a:pPr algn="ctr"/>
          </a:p>
        </p:txBody>
      </p:sp>
      <p:pic>
        <p:nvPicPr>
          <p:cNvPr id="18" name="아이콘:user-check" descr="user-check_13294B_1.6.png"/>
          <p:cNvPicPr>
            <a:picLocks noChangeAspect="1"/>
          </p:cNvPicPr>
          <p:nvPr/>
        </p:nvPicPr>
        <p:blipFill>
          <a:blip r:embed="rId5"/>
          <a:stretch>
            <a:fillRect/>
          </a:stretch>
        </p:blipFill>
        <p:spPr>
          <a:xfrm>
            <a:off x="5883706" y="2503563"/>
            <a:ext cx="424281" cy="424281"/>
          </a:xfrm>
          <a:prstGeom prst="rect">
            <a:avLst/>
          </a:prstGeom>
        </p:spPr>
      </p:pic>
      <p:sp>
        <p:nvSpPr>
          <p:cNvPr id="19" name="TextBox 18"/>
          <p:cNvSpPr txBox="1"/>
          <p:nvPr/>
        </p:nvSpPr>
        <p:spPr>
          <a:xfrm>
            <a:off x="5213177" y="3154616"/>
            <a:ext cx="1765340" cy="2587878"/>
          </a:xfrm>
          <a:prstGeom prst="rect">
            <a:avLst/>
          </a:prstGeom>
          <a:noFill/>
        </p:spPr>
        <p:txBody>
          <a:bodyPr wrap="square" anchor="t"/>
          <a:lstStyle/>
          <a:p>
            <a:pPr algn="ctr" eaLnBrk="0">
              <a:lnSpc>
                <a:spcPct val="110000"/>
              </a:lnSpc>
              <a:spcAft>
                <a:spcPts val="400"/>
              </a:spcAft>
            </a:pPr>
            <a:r>
              <a:rPr sz="1850" b="1">
                <a:solidFill>
                  <a:srgbClr val="13294B"/>
                </a:solidFill>
                <a:latin typeface="맑은 고딕"/>
                <a:ea typeface="맑은 고딕"/>
                <a:cs typeface="맑은 고딕"/>
              </a:rPr>
              <a:t>승인 또는 거절</a:t>
            </a:r>
          </a:p>
          <a:p>
            <a:pPr algn="ctr" eaLnBrk="0">
              <a:lnSpc>
                <a:spcPct val="110000"/>
              </a:lnSpc>
              <a:spcAft>
                <a:spcPts val="400"/>
              </a:spcAft>
            </a:pPr>
            <a:r>
              <a:rPr sz="1550" b="0">
                <a:solidFill>
                  <a:srgbClr val="1F2A3A"/>
                </a:solidFill>
                <a:latin typeface="맑은 고딕"/>
                <a:ea typeface="맑은 고딕"/>
                <a:cs typeface="맑은 고딕"/>
              </a:rPr>
              <a:t>HITL</a:t>
            </a:r>
          </a:p>
          <a:p>
            <a:pPr algn="ctr" eaLnBrk="0">
              <a:lnSpc>
                <a:spcPct val="110000"/>
              </a:lnSpc>
              <a:spcAft>
                <a:spcPts val="400"/>
              </a:spcAft>
            </a:pPr>
            <a:r>
              <a:rPr sz="1550" b="0">
                <a:solidFill>
                  <a:srgbClr val="1F2A3A"/>
                </a:solidFill>
                <a:latin typeface="맑은 고딕"/>
                <a:ea typeface="맑은 고딕"/>
                <a:cs typeface="맑은 고딕"/>
              </a:rPr>
              <a:t>담당자가 판단한다</a:t>
            </a:r>
          </a:p>
          <a:p>
            <a:pPr algn="ctr" eaLnBrk="0">
              <a:lnSpc>
                <a:spcPct val="110000"/>
              </a:lnSpc>
              <a:spcAft>
                <a:spcPts val="400"/>
              </a:spcAft>
            </a:pPr>
            <a:r>
              <a:rPr sz="1550" b="0">
                <a:solidFill>
                  <a:srgbClr val="1F2A3A"/>
                </a:solidFill>
                <a:latin typeface="맑은 고딕"/>
                <a:ea typeface="맑은 고딕"/>
                <a:cs typeface="맑은 고딕"/>
              </a:rPr>
              <a:t>승인 전에는</a:t>
            </a:r>
          </a:p>
          <a:p>
            <a:pPr algn="ctr" eaLnBrk="0">
              <a:lnSpc>
                <a:spcPct val="110000"/>
              </a:lnSpc>
              <a:spcAft>
                <a:spcPts val="400"/>
              </a:spcAft>
            </a:pPr>
            <a:r>
              <a:rPr sz="1550" b="0">
                <a:solidFill>
                  <a:srgbClr val="1F2A3A"/>
                </a:solidFill>
                <a:latin typeface="맑은 고딕"/>
                <a:ea typeface="맑은 고딕"/>
                <a:cs typeface="맑은 고딕"/>
              </a:rPr>
              <a:t>설비 명령이 없다</a:t>
            </a:r>
          </a:p>
        </p:txBody>
      </p:sp>
      <p:sp>
        <p:nvSpPr>
          <p:cNvPr id="20" name="Right Arrow 19"/>
          <p:cNvSpPr/>
          <p:nvPr/>
        </p:nvSpPr>
        <p:spPr>
          <a:xfrm>
            <a:off x="711567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7435717" y="2167064"/>
            <a:ext cx="1911644" cy="3648583"/>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8025780" y="2349944"/>
            <a:ext cx="731520" cy="731520"/>
          </a:xfrm>
          <a:prstGeom prst="ellipse">
            <a:avLst/>
          </a:prstGeom>
          <a:solidFill>
            <a:srgbClr val="FFFFFF"/>
          </a:solidFill>
          <a:ln>
            <a:noFill/>
          </a:ln>
        </p:spPr>
        <p:txBody>
          <a:bodyPr rtlCol="0" anchor="ctr"/>
          <a:lstStyle/>
          <a:p>
            <a:pPr algn="ctr"/>
          </a:p>
        </p:txBody>
      </p:sp>
      <p:pic>
        <p:nvPicPr>
          <p:cNvPr id="23" name="아이콘:settings-automation" descr="settings-automation_13294B_1.6.png"/>
          <p:cNvPicPr>
            <a:picLocks noChangeAspect="1"/>
          </p:cNvPicPr>
          <p:nvPr/>
        </p:nvPicPr>
        <p:blipFill>
          <a:blip r:embed="rId6"/>
          <a:stretch>
            <a:fillRect/>
          </a:stretch>
        </p:blipFill>
        <p:spPr>
          <a:xfrm>
            <a:off x="8179399" y="2503563"/>
            <a:ext cx="424281" cy="424281"/>
          </a:xfrm>
          <a:prstGeom prst="rect">
            <a:avLst/>
          </a:prstGeom>
        </p:spPr>
      </p:pic>
      <p:sp>
        <p:nvSpPr>
          <p:cNvPr id="24" name="TextBox 23"/>
          <p:cNvSpPr txBox="1"/>
          <p:nvPr/>
        </p:nvSpPr>
        <p:spPr>
          <a:xfrm>
            <a:off x="7508869" y="3154616"/>
            <a:ext cx="1765340" cy="2587878"/>
          </a:xfrm>
          <a:prstGeom prst="rect">
            <a:avLst/>
          </a:prstGeom>
          <a:noFill/>
        </p:spPr>
        <p:txBody>
          <a:bodyPr wrap="square" anchor="t"/>
          <a:lstStyle/>
          <a:p>
            <a:pPr algn="ctr" eaLnBrk="0">
              <a:lnSpc>
                <a:spcPct val="110000"/>
              </a:lnSpc>
              <a:spcAft>
                <a:spcPts val="400"/>
              </a:spcAft>
            </a:pPr>
            <a:r>
              <a:rPr sz="1850" b="1">
                <a:solidFill>
                  <a:srgbClr val="13294B"/>
                </a:solidFill>
                <a:latin typeface="맑은 고딕"/>
                <a:ea typeface="맑은 고딕"/>
                <a:cs typeface="맑은 고딕"/>
              </a:rPr>
              <a:t>조치</a:t>
            </a:r>
          </a:p>
          <a:p>
            <a:pPr algn="ctr" eaLnBrk="0">
              <a:lnSpc>
                <a:spcPct val="110000"/>
              </a:lnSpc>
              <a:spcAft>
                <a:spcPts val="400"/>
              </a:spcAft>
            </a:pPr>
            <a:r>
              <a:rPr sz="1550" b="0">
                <a:solidFill>
                  <a:srgbClr val="1F2A3A"/>
                </a:solidFill>
                <a:latin typeface="맑은 고딕"/>
                <a:ea typeface="맑은 고딕"/>
                <a:cs typeface="맑은 고딕"/>
              </a:rPr>
              <a:t>승인된 조치만</a:t>
            </a:r>
          </a:p>
          <a:p>
            <a:pPr algn="ctr" eaLnBrk="0">
              <a:lnSpc>
                <a:spcPct val="110000"/>
              </a:lnSpc>
              <a:spcAft>
                <a:spcPts val="400"/>
              </a:spcAft>
            </a:pPr>
            <a:r>
              <a:rPr sz="1550" b="0">
                <a:solidFill>
                  <a:srgbClr val="1F2A3A"/>
                </a:solidFill>
                <a:latin typeface="맑은 고딕"/>
                <a:ea typeface="맑은 고딕"/>
                <a:cs typeface="맑은 고딕"/>
              </a:rPr>
              <a:t>명령이 되어</a:t>
            </a:r>
          </a:p>
          <a:p>
            <a:pPr algn="ctr" eaLnBrk="0">
              <a:lnSpc>
                <a:spcPct val="110000"/>
              </a:lnSpc>
              <a:spcAft>
                <a:spcPts val="400"/>
              </a:spcAft>
            </a:pPr>
            <a:r>
              <a:rPr sz="1550" b="0">
                <a:solidFill>
                  <a:srgbClr val="1F2A3A"/>
                </a:solidFill>
                <a:latin typeface="맑은 고딕"/>
                <a:ea typeface="맑은 고딕"/>
                <a:cs typeface="맑은 고딕"/>
              </a:rPr>
              <a:t>설비로 내려간다</a:t>
            </a:r>
          </a:p>
        </p:txBody>
      </p:sp>
      <p:sp>
        <p:nvSpPr>
          <p:cNvPr id="25" name="Right Arrow 24"/>
          <p:cNvSpPr/>
          <p:nvPr/>
        </p:nvSpPr>
        <p:spPr>
          <a:xfrm>
            <a:off x="9411370" y="3854196"/>
            <a:ext cx="256031" cy="274320"/>
          </a:xfrm>
          <a:prstGeom prst="rightArrow">
            <a:avLst/>
          </a:prstGeom>
          <a:solidFill>
            <a:srgbClr val="13294B"/>
          </a:solidFill>
          <a:ln>
            <a:noFill/>
          </a:ln>
        </p:spPr>
        <p:txBody>
          <a:bodyPr rtlCol="0" anchor="ctr"/>
          <a:lstStyle/>
          <a:p>
            <a:pPr algn="ctr"/>
          </a:p>
        </p:txBody>
      </p:sp>
      <p:sp>
        <p:nvSpPr>
          <p:cNvPr id="26" name="Rounded Rectangle 25"/>
          <p:cNvSpPr/>
          <p:nvPr/>
        </p:nvSpPr>
        <p:spPr>
          <a:xfrm>
            <a:off x="9731410" y="2167064"/>
            <a:ext cx="1911644" cy="3648583"/>
          </a:xfrm>
          <a:prstGeom prst="roundRect">
            <a:avLst>
              <a:gd name="adj" fmla="val 5000"/>
            </a:avLst>
          </a:prstGeom>
          <a:solidFill>
            <a:srgbClr val="F3F6F9"/>
          </a:solidFill>
          <a:ln>
            <a:noFill/>
          </a:ln>
        </p:spPr>
        <p:txBody>
          <a:bodyPr rtlCol="0" anchor="ctr"/>
          <a:lstStyle/>
          <a:p>
            <a:pPr algn="ctr"/>
          </a:p>
        </p:txBody>
      </p:sp>
      <p:sp>
        <p:nvSpPr>
          <p:cNvPr id="27" name="Oval 26"/>
          <p:cNvSpPr/>
          <p:nvPr/>
        </p:nvSpPr>
        <p:spPr>
          <a:xfrm>
            <a:off x="10321472" y="2349944"/>
            <a:ext cx="731520" cy="731520"/>
          </a:xfrm>
          <a:prstGeom prst="ellipse">
            <a:avLst/>
          </a:prstGeom>
          <a:solidFill>
            <a:srgbClr val="FFFFFF"/>
          </a:solidFill>
          <a:ln>
            <a:noFill/>
          </a:ln>
        </p:spPr>
        <p:txBody>
          <a:bodyPr rtlCol="0" anchor="ctr"/>
          <a:lstStyle/>
          <a:p>
            <a:pPr algn="ctr"/>
          </a:p>
        </p:txBody>
      </p:sp>
      <p:pic>
        <p:nvPicPr>
          <p:cNvPr id="28" name="아이콘:zoom-check" descr="zoom-check_13294B_1.6.png"/>
          <p:cNvPicPr>
            <a:picLocks noChangeAspect="1"/>
          </p:cNvPicPr>
          <p:nvPr/>
        </p:nvPicPr>
        <p:blipFill>
          <a:blip r:embed="rId7"/>
          <a:stretch>
            <a:fillRect/>
          </a:stretch>
        </p:blipFill>
        <p:spPr>
          <a:xfrm>
            <a:off x="10475092" y="2503563"/>
            <a:ext cx="424281" cy="424281"/>
          </a:xfrm>
          <a:prstGeom prst="rect">
            <a:avLst/>
          </a:prstGeom>
        </p:spPr>
      </p:pic>
      <p:sp>
        <p:nvSpPr>
          <p:cNvPr id="29" name="TextBox 28"/>
          <p:cNvSpPr txBox="1"/>
          <p:nvPr/>
        </p:nvSpPr>
        <p:spPr>
          <a:xfrm>
            <a:off x="9804562" y="3154616"/>
            <a:ext cx="1765340" cy="2587878"/>
          </a:xfrm>
          <a:prstGeom prst="rect">
            <a:avLst/>
          </a:prstGeom>
          <a:noFill/>
        </p:spPr>
        <p:txBody>
          <a:bodyPr wrap="square" anchor="t"/>
          <a:lstStyle/>
          <a:p>
            <a:pPr algn="ctr" eaLnBrk="0">
              <a:lnSpc>
                <a:spcPct val="110000"/>
              </a:lnSpc>
              <a:spcAft>
                <a:spcPts val="400"/>
              </a:spcAft>
            </a:pPr>
            <a:r>
              <a:rPr sz="1850" b="1">
                <a:solidFill>
                  <a:srgbClr val="13294B"/>
                </a:solidFill>
                <a:latin typeface="맑은 고딕"/>
                <a:ea typeface="맑은 고딕"/>
                <a:cs typeface="맑은 고딕"/>
              </a:rPr>
              <a:t>재관측과 결과</a:t>
            </a:r>
          </a:p>
          <a:p>
            <a:pPr algn="ctr" eaLnBrk="0">
              <a:lnSpc>
                <a:spcPct val="110000"/>
              </a:lnSpc>
              <a:spcAft>
                <a:spcPts val="400"/>
              </a:spcAft>
            </a:pPr>
            <a:r>
              <a:rPr sz="1550" b="0">
                <a:solidFill>
                  <a:srgbClr val="1F2A3A"/>
                </a:solidFill>
                <a:latin typeface="맑은 고딕"/>
                <a:ea typeface="맑은 고딕"/>
                <a:cs typeface="맑은 고딕"/>
              </a:rPr>
              <a:t>유온을 다시 읽어</a:t>
            </a:r>
          </a:p>
          <a:p>
            <a:pPr algn="ctr" eaLnBrk="0">
              <a:lnSpc>
                <a:spcPct val="110000"/>
              </a:lnSpc>
              <a:spcAft>
                <a:spcPts val="400"/>
              </a:spcAft>
            </a:pPr>
            <a:r>
              <a:rPr sz="1550" b="0">
                <a:solidFill>
                  <a:srgbClr val="1F2A3A"/>
                </a:solidFill>
                <a:latin typeface="맑은 고딕"/>
                <a:ea typeface="맑은 고딕"/>
                <a:cs typeface="맑은 고딕"/>
              </a:rPr>
              <a:t>회복을 확인하고</a:t>
            </a:r>
          </a:p>
          <a:p>
            <a:pPr algn="ctr" eaLnBrk="0">
              <a:lnSpc>
                <a:spcPct val="110000"/>
              </a:lnSpc>
              <a:spcAft>
                <a:spcPts val="400"/>
              </a:spcAft>
            </a:pPr>
            <a:r>
              <a:rPr sz="1550" b="0">
                <a:solidFill>
                  <a:srgbClr val="1F2A3A"/>
                </a:solidFill>
                <a:latin typeface="맑은 고딕"/>
                <a:ea typeface="맑은 고딕"/>
                <a:cs typeface="맑은 고딕"/>
              </a:rPr>
              <a:t>결과를 보고한다</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03</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수치만으로 조치를 정할 수 없는 이유</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같은 경보라도 원인에 따라 조치가 달라지는 까닭</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경보 발생에서 조치 승인까지의 108초</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경보는 조건을 벗어났다는 사실만 알리므로, 조치를 정하려면 </a:t>
            </a:r>
            <a:r>
              <a:rPr sz="1600" b="1">
                <a:solidFill>
                  <a:srgbClr val="1A6FC4"/>
                </a:solidFill>
                <a:latin typeface="맑은 고딕"/>
                <a:ea typeface="맑은 고딕"/>
                <a:cs typeface="맑은 고딕"/>
              </a:rPr>
              <a:t>원인</a:t>
            </a:r>
            <a:r>
              <a:rPr sz="1600" b="0">
                <a:solidFill>
                  <a:srgbClr val="556175"/>
                </a:solidFill>
                <a:latin typeface="맑은 고딕"/>
                <a:ea typeface="맑은 고딕"/>
                <a:cs typeface="맑은 고딕"/>
              </a:rPr>
              <a:t>을 먼저 가려야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42</a:t>
            </a:r>
          </a:p>
        </p:txBody>
      </p:sp>
      <p:pic>
        <p:nvPicPr>
          <p:cNvPr id="6" name="Picture 5" descr="그래프_쿨러열화_TS1_CE.png"/>
          <p:cNvPicPr>
            <a:picLocks noChangeAspect="1"/>
          </p:cNvPicPr>
          <p:nvPr/>
        </p:nvPicPr>
        <p:blipFill>
          <a:blip r:embed="rId3"/>
          <a:stretch>
            <a:fillRect/>
          </a:stretch>
        </p:blipFill>
        <p:spPr>
          <a:xfrm>
            <a:off x="548640" y="1682496"/>
            <a:ext cx="7223760" cy="4572000"/>
          </a:xfrm>
          <a:prstGeom prst="rect">
            <a:avLst/>
          </a:prstGeom>
          <a:ln w="12700">
            <a:solidFill>
              <a:srgbClr val="D3D9E1"/>
            </a:solidFill>
          </a:ln>
        </p:spPr>
      </p:pic>
      <p:sp>
        <p:nvSpPr>
          <p:cNvPr id="7" name="Oval 6"/>
          <p:cNvSpPr/>
          <p:nvPr/>
        </p:nvSpPr>
        <p:spPr>
          <a:xfrm>
            <a:off x="8138160" y="1682496"/>
            <a:ext cx="347472" cy="347472"/>
          </a:xfrm>
          <a:prstGeom prst="ellipse">
            <a:avLst/>
          </a:prstGeom>
          <a:solidFill>
            <a:srgbClr val="5CB8F2"/>
          </a:solidFill>
          <a:ln>
            <a:noFill/>
          </a:ln>
        </p:spPr>
        <p:txBody>
          <a:bodyPr rtlCol="0" anchor="ctr"/>
          <a:lstStyle/>
          <a:p>
            <a:pPr algn="ctr"/>
          </a:p>
        </p:txBody>
      </p:sp>
      <p:sp>
        <p:nvSpPr>
          <p:cNvPr id="8" name="TextBox 7"/>
          <p:cNvSpPr txBox="1"/>
          <p:nvPr/>
        </p:nvSpPr>
        <p:spPr>
          <a:xfrm>
            <a:off x="8138160" y="1682496"/>
            <a:ext cx="347472" cy="347472"/>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1</a:t>
            </a:r>
          </a:p>
        </p:txBody>
      </p:sp>
      <p:sp>
        <p:nvSpPr>
          <p:cNvPr id="9" name="TextBox 8"/>
          <p:cNvSpPr txBox="1"/>
          <p:nvPr/>
        </p:nvSpPr>
        <p:spPr>
          <a:xfrm>
            <a:off x="8549640" y="1627632"/>
            <a:ext cx="3093415" cy="1170432"/>
          </a:xfrm>
          <a:prstGeom prst="rect">
            <a:avLst/>
          </a:prstGeom>
          <a:noFill/>
        </p:spPr>
        <p:txBody>
          <a:bodyPr wrap="square" anchor="t"/>
          <a:lstStyle/>
          <a:p>
            <a:pPr algn="l" eaLnBrk="0">
              <a:lnSpc>
                <a:spcPct val="110000"/>
              </a:lnSpc>
              <a:spcAft>
                <a:spcPts val="400"/>
              </a:spcAft>
            </a:pPr>
            <a:r>
              <a:rPr sz="1700" b="1">
                <a:solidFill>
                  <a:srgbClr val="13294B"/>
                </a:solidFill>
                <a:latin typeface="맑은 고딕"/>
                <a:ea typeface="맑은 고딕"/>
                <a:cs typeface="맑은 고딕"/>
              </a:rPr>
              <a:t>경보 발생 11:13:08</a:t>
            </a:r>
          </a:p>
          <a:p>
            <a:pPr algn="l" eaLnBrk="0">
              <a:lnSpc>
                <a:spcPct val="110000"/>
              </a:lnSpc>
              <a:spcAft>
                <a:spcPts val="400"/>
              </a:spcAft>
            </a:pPr>
            <a:r>
              <a:rPr sz="1400" b="0">
                <a:solidFill>
                  <a:srgbClr val="1F2A3A"/>
                </a:solidFill>
                <a:latin typeface="맑은 고딕"/>
                <a:ea typeface="맑은 고딕"/>
                <a:cs typeface="맑은 고딕"/>
              </a:rPr>
              <a:t>유온 55.71 ℃, 냉각 효율 46.2 %.</a:t>
            </a:r>
          </a:p>
          <a:p>
            <a:pPr algn="l" eaLnBrk="0">
              <a:lnSpc>
                <a:spcPct val="110000"/>
              </a:lnSpc>
              <a:spcAft>
                <a:spcPts val="400"/>
              </a:spcAft>
            </a:pPr>
            <a:r>
              <a:rPr sz="1400" b="0">
                <a:solidFill>
                  <a:srgbClr val="1F2A3A"/>
                </a:solidFill>
                <a:latin typeface="맑은 고딕"/>
                <a:ea typeface="맑은 고딕"/>
                <a:cs typeface="맑은 고딕"/>
              </a:rPr>
              <a:t>감지 서비스의 경보 조건이 성립했다.</a:t>
            </a:r>
          </a:p>
        </p:txBody>
      </p:sp>
      <p:sp>
        <p:nvSpPr>
          <p:cNvPr id="10" name="Oval 9"/>
          <p:cNvSpPr/>
          <p:nvPr/>
        </p:nvSpPr>
        <p:spPr>
          <a:xfrm>
            <a:off x="8138160" y="2852928"/>
            <a:ext cx="347472" cy="347472"/>
          </a:xfrm>
          <a:prstGeom prst="ellipse">
            <a:avLst/>
          </a:prstGeom>
          <a:solidFill>
            <a:srgbClr val="13294B"/>
          </a:solidFill>
          <a:ln>
            <a:noFill/>
          </a:ln>
        </p:spPr>
        <p:txBody>
          <a:bodyPr rtlCol="0" anchor="ctr"/>
          <a:lstStyle/>
          <a:p>
            <a:pPr algn="ctr"/>
          </a:p>
        </p:txBody>
      </p:sp>
      <p:sp>
        <p:nvSpPr>
          <p:cNvPr id="11" name="TextBox 10"/>
          <p:cNvSpPr txBox="1"/>
          <p:nvPr/>
        </p:nvSpPr>
        <p:spPr>
          <a:xfrm>
            <a:off x="8138160" y="2852928"/>
            <a:ext cx="347472" cy="347472"/>
          </a:xfrm>
          <a:prstGeom prst="rect">
            <a:avLst/>
          </a:prstGeom>
          <a:noFill/>
        </p:spPr>
        <p:txBody>
          <a:bodyPr wrap="square" anchor="ctr"/>
          <a:lstStyle/>
          <a:p>
            <a:pPr algn="ctr" eaLnBrk="0">
              <a:lnSpc>
                <a:spcPct val="110000"/>
              </a:lnSpc>
            </a:pPr>
            <a:r>
              <a:rPr sz="1200" b="1">
                <a:solidFill>
                  <a:srgbClr val="FFFFFF"/>
                </a:solidFill>
                <a:latin typeface="맑은 고딕"/>
                <a:ea typeface="맑은 고딕"/>
                <a:cs typeface="맑은 고딕"/>
              </a:rPr>
              <a:t>2</a:t>
            </a:r>
          </a:p>
        </p:txBody>
      </p:sp>
      <p:sp>
        <p:nvSpPr>
          <p:cNvPr id="12" name="TextBox 11"/>
          <p:cNvSpPr txBox="1"/>
          <p:nvPr/>
        </p:nvSpPr>
        <p:spPr>
          <a:xfrm>
            <a:off x="8549640" y="2798064"/>
            <a:ext cx="3093415" cy="1170432"/>
          </a:xfrm>
          <a:prstGeom prst="rect">
            <a:avLst/>
          </a:prstGeom>
          <a:noFill/>
        </p:spPr>
        <p:txBody>
          <a:bodyPr wrap="square" anchor="t"/>
          <a:lstStyle/>
          <a:p>
            <a:pPr algn="l" eaLnBrk="0">
              <a:lnSpc>
                <a:spcPct val="110000"/>
              </a:lnSpc>
              <a:spcAft>
                <a:spcPts val="400"/>
              </a:spcAft>
            </a:pPr>
            <a:r>
              <a:rPr sz="1700" b="1">
                <a:solidFill>
                  <a:srgbClr val="13294B"/>
                </a:solidFill>
                <a:latin typeface="맑은 고딕"/>
                <a:ea typeface="맑은 고딕"/>
                <a:cs typeface="맑은 고딕"/>
              </a:rPr>
              <a:t>108초 동안 한 일</a:t>
            </a:r>
          </a:p>
          <a:p>
            <a:pPr algn="l" eaLnBrk="0">
              <a:lnSpc>
                <a:spcPct val="110000"/>
              </a:lnSpc>
              <a:spcAft>
                <a:spcPts val="400"/>
              </a:spcAft>
            </a:pPr>
            <a:r>
              <a:rPr sz="1400" b="0">
                <a:solidFill>
                  <a:srgbClr val="1F2A3A"/>
                </a:solidFill>
                <a:latin typeface="맑은 고딕"/>
                <a:ea typeface="맑은 고딕"/>
                <a:cs typeface="맑은 고딕"/>
              </a:rPr>
              <a:t>원인을 가리고 조치안을 비교하는 데 약 94초, 승인을 기다리는 데 약 13초. 유온은 61.8 ℃까지 올랐다.</a:t>
            </a:r>
          </a:p>
        </p:txBody>
      </p:sp>
      <p:sp>
        <p:nvSpPr>
          <p:cNvPr id="13" name="Oval 12"/>
          <p:cNvSpPr/>
          <p:nvPr/>
        </p:nvSpPr>
        <p:spPr>
          <a:xfrm>
            <a:off x="8138160" y="4023359"/>
            <a:ext cx="347472" cy="347472"/>
          </a:xfrm>
          <a:prstGeom prst="ellipse">
            <a:avLst/>
          </a:prstGeom>
          <a:solidFill>
            <a:srgbClr val="13294B"/>
          </a:solidFill>
          <a:ln>
            <a:noFill/>
          </a:ln>
        </p:spPr>
        <p:txBody>
          <a:bodyPr rtlCol="0" anchor="ctr"/>
          <a:lstStyle/>
          <a:p>
            <a:pPr algn="ctr"/>
          </a:p>
        </p:txBody>
      </p:sp>
      <p:sp>
        <p:nvSpPr>
          <p:cNvPr id="14" name="TextBox 13"/>
          <p:cNvSpPr txBox="1"/>
          <p:nvPr/>
        </p:nvSpPr>
        <p:spPr>
          <a:xfrm>
            <a:off x="8138160" y="4023359"/>
            <a:ext cx="347472" cy="347472"/>
          </a:xfrm>
          <a:prstGeom prst="rect">
            <a:avLst/>
          </a:prstGeom>
          <a:noFill/>
        </p:spPr>
        <p:txBody>
          <a:bodyPr wrap="square" anchor="ctr"/>
          <a:lstStyle/>
          <a:p>
            <a:pPr algn="ctr" eaLnBrk="0">
              <a:lnSpc>
                <a:spcPct val="110000"/>
              </a:lnSpc>
            </a:pPr>
            <a:r>
              <a:rPr sz="1200" b="1">
                <a:solidFill>
                  <a:srgbClr val="FFFFFF"/>
                </a:solidFill>
                <a:latin typeface="맑은 고딕"/>
                <a:ea typeface="맑은 고딕"/>
                <a:cs typeface="맑은 고딕"/>
              </a:rPr>
              <a:t>3</a:t>
            </a:r>
          </a:p>
        </p:txBody>
      </p:sp>
      <p:sp>
        <p:nvSpPr>
          <p:cNvPr id="15" name="TextBox 14"/>
          <p:cNvSpPr txBox="1"/>
          <p:nvPr/>
        </p:nvSpPr>
        <p:spPr>
          <a:xfrm>
            <a:off x="8549640" y="3968496"/>
            <a:ext cx="3093415" cy="1170432"/>
          </a:xfrm>
          <a:prstGeom prst="rect">
            <a:avLst/>
          </a:prstGeom>
          <a:noFill/>
        </p:spPr>
        <p:txBody>
          <a:bodyPr wrap="square" anchor="t"/>
          <a:lstStyle/>
          <a:p>
            <a:pPr algn="l" eaLnBrk="0">
              <a:lnSpc>
                <a:spcPct val="110000"/>
              </a:lnSpc>
              <a:spcAft>
                <a:spcPts val="400"/>
              </a:spcAft>
            </a:pPr>
            <a:r>
              <a:rPr sz="1700" b="1">
                <a:solidFill>
                  <a:srgbClr val="13294B"/>
                </a:solidFill>
                <a:latin typeface="맑은 고딕"/>
                <a:ea typeface="맑은 고딕"/>
                <a:cs typeface="맑은 고딕"/>
              </a:rPr>
              <a:t>조치 승인 11:14:56</a:t>
            </a:r>
          </a:p>
          <a:p>
            <a:pPr algn="l" eaLnBrk="0">
              <a:lnSpc>
                <a:spcPct val="110000"/>
              </a:lnSpc>
              <a:spcAft>
                <a:spcPts val="400"/>
              </a:spcAft>
            </a:pPr>
            <a:r>
              <a:rPr sz="1400" b="0">
                <a:solidFill>
                  <a:srgbClr val="1F2A3A"/>
                </a:solidFill>
                <a:latin typeface="맑은 고딕"/>
                <a:ea typeface="맑은 고딕"/>
                <a:cs typeface="맑은 고딕"/>
              </a:rPr>
              <a:t>운전원이 「팬 최대 운전」을 승인했고, 팬 속도 100 % 명령이 내려갔다.</a:t>
            </a:r>
          </a:p>
        </p:txBody>
      </p:sp>
      <p:sp>
        <p:nvSpPr>
          <p:cNvPr id="16" name="Oval 15"/>
          <p:cNvSpPr/>
          <p:nvPr/>
        </p:nvSpPr>
        <p:spPr>
          <a:xfrm>
            <a:off x="8138160" y="5193792"/>
            <a:ext cx="347472" cy="347472"/>
          </a:xfrm>
          <a:prstGeom prst="ellipse">
            <a:avLst/>
          </a:prstGeom>
          <a:solidFill>
            <a:srgbClr val="13294B"/>
          </a:solidFill>
          <a:ln>
            <a:noFill/>
          </a:ln>
        </p:spPr>
        <p:txBody>
          <a:bodyPr rtlCol="0" anchor="ctr"/>
          <a:lstStyle/>
          <a:p>
            <a:pPr algn="ctr"/>
          </a:p>
        </p:txBody>
      </p:sp>
      <p:sp>
        <p:nvSpPr>
          <p:cNvPr id="17" name="TextBox 16"/>
          <p:cNvSpPr txBox="1"/>
          <p:nvPr/>
        </p:nvSpPr>
        <p:spPr>
          <a:xfrm>
            <a:off x="8138160" y="5193792"/>
            <a:ext cx="347472" cy="347472"/>
          </a:xfrm>
          <a:prstGeom prst="rect">
            <a:avLst/>
          </a:prstGeom>
          <a:noFill/>
        </p:spPr>
        <p:txBody>
          <a:bodyPr wrap="square" anchor="ctr"/>
          <a:lstStyle/>
          <a:p>
            <a:pPr algn="ctr" eaLnBrk="0">
              <a:lnSpc>
                <a:spcPct val="110000"/>
              </a:lnSpc>
            </a:pPr>
            <a:r>
              <a:rPr sz="1200" b="1">
                <a:solidFill>
                  <a:srgbClr val="FFFFFF"/>
                </a:solidFill>
                <a:latin typeface="맑은 고딕"/>
                <a:ea typeface="맑은 고딕"/>
                <a:cs typeface="맑은 고딕"/>
              </a:rPr>
              <a:t>4</a:t>
            </a:r>
          </a:p>
        </p:txBody>
      </p:sp>
      <p:sp>
        <p:nvSpPr>
          <p:cNvPr id="18" name="TextBox 17"/>
          <p:cNvSpPr txBox="1"/>
          <p:nvPr/>
        </p:nvSpPr>
        <p:spPr>
          <a:xfrm>
            <a:off x="8549640" y="5138928"/>
            <a:ext cx="3093415" cy="1170432"/>
          </a:xfrm>
          <a:prstGeom prst="rect">
            <a:avLst/>
          </a:prstGeom>
          <a:noFill/>
        </p:spPr>
        <p:txBody>
          <a:bodyPr wrap="square" anchor="t"/>
          <a:lstStyle/>
          <a:p>
            <a:pPr algn="l" eaLnBrk="0">
              <a:lnSpc>
                <a:spcPct val="110000"/>
              </a:lnSpc>
              <a:spcAft>
                <a:spcPts val="400"/>
              </a:spcAft>
            </a:pPr>
            <a:r>
              <a:rPr sz="1700" b="1">
                <a:solidFill>
                  <a:srgbClr val="13294B"/>
                </a:solidFill>
                <a:latin typeface="맑은 고딕"/>
                <a:ea typeface="맑은 고딕"/>
                <a:cs typeface="맑은 고딕"/>
              </a:rPr>
              <a:t>경보 해제 11:15:52</a:t>
            </a:r>
          </a:p>
          <a:p>
            <a:pPr algn="l" eaLnBrk="0">
              <a:lnSpc>
                <a:spcPct val="110000"/>
              </a:lnSpc>
              <a:spcAft>
                <a:spcPts val="400"/>
              </a:spcAft>
            </a:pPr>
            <a:r>
              <a:rPr sz="1400" b="0">
                <a:solidFill>
                  <a:srgbClr val="1F2A3A"/>
                </a:solidFill>
                <a:latin typeface="맑은 고딕"/>
                <a:ea typeface="맑은 고딕"/>
                <a:cs typeface="맑은 고딕"/>
              </a:rPr>
              <a:t>유온은 내려갔으나 냉각 효율은</a:t>
            </a:r>
          </a:p>
          <a:p>
            <a:pPr algn="l" eaLnBrk="0">
              <a:lnSpc>
                <a:spcPct val="110000"/>
              </a:lnSpc>
              <a:spcAft>
                <a:spcPts val="400"/>
              </a:spcAft>
            </a:pPr>
            <a:r>
              <a:rPr sz="1400" b="0">
                <a:solidFill>
                  <a:srgbClr val="1F2A3A"/>
                </a:solidFill>
                <a:latin typeface="맑은 고딕"/>
                <a:ea typeface="맑은 고딕"/>
                <a:cs typeface="맑은 고딕"/>
              </a:rPr>
              <a:t>55 %로, 기준 70 %에 못 미친다.</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데이터, 정보, 지식과 판단의 네 질문</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값과 이상 여부는 정보로 알 수 있지만, 원인을 가리고 조치를 정하려면 </a:t>
            </a:r>
            <a:r>
              <a:rPr sz="1600" b="1">
                <a:solidFill>
                  <a:srgbClr val="1A6FC4"/>
                </a:solidFill>
                <a:latin typeface="맑은 고딕"/>
                <a:ea typeface="맑은 고딕"/>
                <a:cs typeface="맑은 고딕"/>
              </a:rPr>
              <a:t>지식</a:t>
            </a:r>
            <a:r>
              <a:rPr sz="1600" b="0">
                <a:solidFill>
                  <a:srgbClr val="556175"/>
                </a:solidFill>
                <a:latin typeface="맑은 고딕"/>
                <a:ea typeface="맑은 고딕"/>
                <a:cs typeface="맑은 고딕"/>
              </a:rPr>
              <a:t>이 필요하다.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43</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구분</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같은 사건의 문장</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답하는 질문</a:t>
            </a:r>
          </a:p>
        </p:txBody>
      </p:sp>
      <p:sp>
        <p:nvSpPr>
          <p:cNvPr id="10" name="Rounded Rectangle 9"/>
          <p:cNvSpPr/>
          <p:nvPr/>
        </p:nvSpPr>
        <p:spPr>
          <a:xfrm>
            <a:off x="548640" y="2061972"/>
            <a:ext cx="11094415" cy="801014"/>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데이터</a:t>
            </a:r>
          </a:p>
        </p:txBody>
      </p:sp>
      <p:sp>
        <p:nvSpPr>
          <p:cNvPr id="12" name="TextBox 11"/>
          <p:cNvSpPr txBox="1"/>
          <p:nvPr/>
        </p:nvSpPr>
        <p:spPr>
          <a:xfrm>
            <a:off x="3200400" y="2029968"/>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46.2</a:t>
            </a:r>
          </a:p>
          <a:p>
            <a:pPr algn="l" eaLnBrk="0">
              <a:lnSpc>
                <a:spcPct val="110000"/>
              </a:lnSpc>
            </a:pPr>
            <a:r>
              <a:rPr sz="1400" b="0">
                <a:solidFill>
                  <a:srgbClr val="1F2A3A"/>
                </a:solidFill>
                <a:latin typeface="맑은 고딕"/>
                <a:ea typeface="맑은 고딕"/>
                <a:cs typeface="맑은 고딕"/>
              </a:rPr>
              <a:t>무엇을 잰 값인지, 단위와 기준을 알 수 없다</a:t>
            </a:r>
          </a:p>
        </p:txBody>
      </p:sp>
      <p:sp>
        <p:nvSpPr>
          <p:cNvPr id="13" name="TextBox 12"/>
          <p:cNvSpPr txBox="1"/>
          <p:nvPr/>
        </p:nvSpPr>
        <p:spPr>
          <a:xfrm>
            <a:off x="9448495" y="2029968"/>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답할 수 없음</a:t>
            </a:r>
          </a:p>
        </p:txBody>
      </p:sp>
      <p:sp>
        <p:nvSpPr>
          <p:cNvPr id="14" name="Rounded Rectangle 13"/>
          <p:cNvSpPr/>
          <p:nvPr/>
        </p:nvSpPr>
        <p:spPr>
          <a:xfrm>
            <a:off x="548640" y="2926994"/>
            <a:ext cx="11094415" cy="801014"/>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정보</a:t>
            </a:r>
          </a:p>
        </p:txBody>
      </p:sp>
      <p:sp>
        <p:nvSpPr>
          <p:cNvPr id="16" name="TextBox 15"/>
          <p:cNvSpPr txBox="1"/>
          <p:nvPr/>
        </p:nvSpPr>
        <p:spPr>
          <a:xfrm>
            <a:off x="3200400" y="2894990"/>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HYD-01의 냉각 효율이 46.2 %이다</a:t>
            </a:r>
          </a:p>
          <a:p>
            <a:pPr algn="l" eaLnBrk="0">
              <a:lnSpc>
                <a:spcPct val="110000"/>
              </a:lnSpc>
            </a:pPr>
            <a:r>
              <a:rPr sz="1400" b="0">
                <a:solidFill>
                  <a:srgbClr val="1F2A3A"/>
                </a:solidFill>
                <a:latin typeface="맑은 고딕"/>
                <a:ea typeface="맑은 고딕"/>
                <a:cs typeface="맑은 고딕"/>
              </a:rPr>
              <a:t>대상과 단위가 붙었다</a:t>
            </a:r>
          </a:p>
        </p:txBody>
      </p:sp>
      <p:sp>
        <p:nvSpPr>
          <p:cNvPr id="17" name="TextBox 16"/>
          <p:cNvSpPr txBox="1"/>
          <p:nvPr/>
        </p:nvSpPr>
        <p:spPr>
          <a:xfrm>
            <a:off x="9448495" y="2894990"/>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지금 얼마인가</a:t>
            </a:r>
          </a:p>
          <a:p>
            <a:pPr algn="l" eaLnBrk="0">
              <a:lnSpc>
                <a:spcPct val="110000"/>
              </a:lnSpc>
            </a:pPr>
            <a:r>
              <a:rPr sz="1250" b="1">
                <a:solidFill>
                  <a:srgbClr val="556175"/>
                </a:solidFill>
                <a:latin typeface="맑은 고딕"/>
                <a:ea typeface="맑은 고딕"/>
                <a:cs typeface="맑은 고딕"/>
              </a:rPr>
              <a:t>계측값</a:t>
            </a:r>
          </a:p>
        </p:txBody>
      </p:sp>
      <p:sp>
        <p:nvSpPr>
          <p:cNvPr id="18" name="Rounded Rectangle 17"/>
          <p:cNvSpPr/>
          <p:nvPr/>
        </p:nvSpPr>
        <p:spPr>
          <a:xfrm>
            <a:off x="548640" y="3792016"/>
            <a:ext cx="11094415" cy="801014"/>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정보</a:t>
            </a:r>
          </a:p>
        </p:txBody>
      </p:sp>
      <p:sp>
        <p:nvSpPr>
          <p:cNvPr id="20" name="TextBox 19"/>
          <p:cNvSpPr txBox="1"/>
          <p:nvPr/>
        </p:nvSpPr>
        <p:spPr>
          <a:xfrm>
            <a:off x="3200400" y="3760012"/>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냉각 효율이 기준 70 %보다 낮다</a:t>
            </a:r>
          </a:p>
          <a:p>
            <a:pPr algn="l" eaLnBrk="0">
              <a:lnSpc>
                <a:spcPct val="110000"/>
              </a:lnSpc>
            </a:pPr>
            <a:r>
              <a:rPr sz="1400" b="0">
                <a:solidFill>
                  <a:srgbClr val="1F2A3A"/>
                </a:solidFill>
                <a:latin typeface="맑은 고딕"/>
                <a:ea typeface="맑은 고딕"/>
                <a:cs typeface="맑은 고딕"/>
              </a:rPr>
              <a:t>기준이 붙었다</a:t>
            </a:r>
          </a:p>
        </p:txBody>
      </p:sp>
      <p:sp>
        <p:nvSpPr>
          <p:cNvPr id="21" name="TextBox 20"/>
          <p:cNvSpPr txBox="1"/>
          <p:nvPr/>
        </p:nvSpPr>
        <p:spPr>
          <a:xfrm>
            <a:off x="9448495" y="3760012"/>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벗어났는가</a:t>
            </a:r>
          </a:p>
          <a:p>
            <a:pPr algn="l" eaLnBrk="0">
              <a:lnSpc>
                <a:spcPct val="110000"/>
              </a:lnSpc>
            </a:pPr>
            <a:r>
              <a:rPr sz="1250" b="1">
                <a:solidFill>
                  <a:srgbClr val="556175"/>
                </a:solidFill>
                <a:latin typeface="맑은 고딕"/>
                <a:ea typeface="맑은 고딕"/>
                <a:cs typeface="맑은 고딕"/>
              </a:rPr>
              <a:t>이상 감지</a:t>
            </a:r>
          </a:p>
        </p:txBody>
      </p:sp>
      <p:sp>
        <p:nvSpPr>
          <p:cNvPr id="22" name="Rounded Rectangle 21"/>
          <p:cNvSpPr/>
          <p:nvPr/>
        </p:nvSpPr>
        <p:spPr>
          <a:xfrm>
            <a:off x="548640" y="4657039"/>
            <a:ext cx="11094415" cy="801014"/>
          </a:xfrm>
          <a:prstGeom prst="roundRect">
            <a:avLst>
              <a:gd name="adj" fmla="val 8000"/>
            </a:avLst>
          </a:prstGeom>
          <a:solidFill>
            <a:srgbClr val="E7F3FD"/>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지식</a:t>
            </a:r>
          </a:p>
        </p:txBody>
      </p:sp>
      <p:sp>
        <p:nvSpPr>
          <p:cNvPr id="24" name="TextBox 23"/>
          <p:cNvSpPr txBox="1"/>
          <p:nvPr/>
        </p:nvSpPr>
        <p:spPr>
          <a:xfrm>
            <a:off x="3200400" y="4625035"/>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냉각 효율이 낮고 팬 진동이 정상이면 쿨러 핀 오염이다</a:t>
            </a:r>
          </a:p>
          <a:p>
            <a:pPr algn="l" eaLnBrk="0">
              <a:lnSpc>
                <a:spcPct val="110000"/>
              </a:lnSpc>
            </a:pPr>
            <a:r>
              <a:rPr sz="1400" b="0">
                <a:solidFill>
                  <a:srgbClr val="1F2A3A"/>
                </a:solidFill>
                <a:latin typeface="맑은 고딕"/>
                <a:ea typeface="맑은 고딕"/>
                <a:cs typeface="맑은 고딕"/>
              </a:rPr>
              <a:t>정보가 원인으로 이어졌다</a:t>
            </a:r>
          </a:p>
        </p:txBody>
      </p:sp>
      <p:sp>
        <p:nvSpPr>
          <p:cNvPr id="25" name="TextBox 24"/>
          <p:cNvSpPr txBox="1"/>
          <p:nvPr/>
        </p:nvSpPr>
        <p:spPr>
          <a:xfrm>
            <a:off x="9448495" y="4625035"/>
            <a:ext cx="2103120" cy="865022"/>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왜 벗어났는가</a:t>
            </a:r>
          </a:p>
          <a:p>
            <a:pPr algn="l" eaLnBrk="0">
              <a:lnSpc>
                <a:spcPct val="110000"/>
              </a:lnSpc>
            </a:pPr>
            <a:r>
              <a:rPr sz="1250" b="1">
                <a:solidFill>
                  <a:srgbClr val="1A6FC4"/>
                </a:solidFill>
                <a:latin typeface="맑은 고딕"/>
                <a:ea typeface="맑은 고딕"/>
                <a:cs typeface="맑은 고딕"/>
              </a:rPr>
              <a:t>고장 진단</a:t>
            </a:r>
          </a:p>
        </p:txBody>
      </p:sp>
      <p:sp>
        <p:nvSpPr>
          <p:cNvPr id="26" name="Rounded Rectangle 25"/>
          <p:cNvSpPr/>
          <p:nvPr/>
        </p:nvSpPr>
        <p:spPr>
          <a:xfrm>
            <a:off x="548640" y="5522061"/>
            <a:ext cx="11094415" cy="801014"/>
          </a:xfrm>
          <a:prstGeom prst="roundRect">
            <a:avLst>
              <a:gd name="adj" fmla="val 8000"/>
            </a:avLst>
          </a:prstGeom>
          <a:solidFill>
            <a:srgbClr val="E7F3FD"/>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지식</a:t>
            </a:r>
          </a:p>
        </p:txBody>
      </p:sp>
      <p:sp>
        <p:nvSpPr>
          <p:cNvPr id="28" name="TextBox 27"/>
          <p:cNvSpPr txBox="1"/>
          <p:nvPr/>
        </p:nvSpPr>
        <p:spPr>
          <a:xfrm>
            <a:off x="3200400" y="5490057"/>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쿨러 핀 오염이면 핀을 세척한다</a:t>
            </a:r>
          </a:p>
          <a:p>
            <a:pPr algn="l" eaLnBrk="0">
              <a:lnSpc>
                <a:spcPct val="110000"/>
              </a:lnSpc>
            </a:pPr>
            <a:r>
              <a:rPr sz="1400" b="0">
                <a:solidFill>
                  <a:srgbClr val="1F2A3A"/>
                </a:solidFill>
                <a:latin typeface="맑은 고딕"/>
                <a:ea typeface="맑은 고딕"/>
                <a:cs typeface="맑은 고딕"/>
              </a:rPr>
              <a:t>원인이 조치로 이어졌다</a:t>
            </a:r>
          </a:p>
        </p:txBody>
      </p:sp>
      <p:sp>
        <p:nvSpPr>
          <p:cNvPr id="29" name="TextBox 28"/>
          <p:cNvSpPr txBox="1"/>
          <p:nvPr/>
        </p:nvSpPr>
        <p:spPr>
          <a:xfrm>
            <a:off x="9448495" y="5490057"/>
            <a:ext cx="2103120" cy="865022"/>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무엇을 할 것인가</a:t>
            </a:r>
          </a:p>
          <a:p>
            <a:pPr algn="l" eaLnBrk="0">
              <a:lnSpc>
                <a:spcPct val="110000"/>
              </a:lnSpc>
            </a:pPr>
            <a:r>
              <a:rPr sz="1250" b="1">
                <a:solidFill>
                  <a:srgbClr val="1A6FC4"/>
                </a:solidFill>
                <a:latin typeface="맑은 고딕"/>
                <a:ea typeface="맑은 고딕"/>
                <a:cs typeface="맑은 고딕"/>
              </a:rPr>
              <a:t>조치 판단</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같은 경보에 대한 세 가지 원인 후보와 증거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같은 경보의 원인 후보 셋을 가리려면, 확인할 값과 기준인 </a:t>
            </a:r>
            <a:r>
              <a:rPr sz="1600" b="1">
                <a:solidFill>
                  <a:srgbClr val="1A6FC4"/>
                </a:solidFill>
                <a:latin typeface="맑은 고딕"/>
                <a:ea typeface="맑은 고딕"/>
                <a:cs typeface="맑은 고딕"/>
              </a:rPr>
              <a:t>증거</a:t>
            </a:r>
            <a:r>
              <a:rPr sz="1600" b="0">
                <a:solidFill>
                  <a:srgbClr val="556175"/>
                </a:solidFill>
                <a:latin typeface="맑은 고딕"/>
                <a:ea typeface="맑은 고딕"/>
                <a:cs typeface="맑은 고딕"/>
              </a:rPr>
              <a:t>(Evidence)에 측정값을 대조한다.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44</a:t>
            </a:r>
          </a:p>
        </p:txBody>
      </p:sp>
      <p:pic>
        <p:nvPicPr>
          <p:cNvPr id="6" name="삽화:원인후보.svg" descr="illust_2044691364070091910_179195996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586552" y="4747747"/>
            <a:ext cx="2181899"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유온 상승</a:t>
            </a:r>
          </a:p>
          <a:p>
            <a:pPr algn="ctr" eaLnBrk="0">
              <a:lnSpc>
                <a:spcPct val="110000"/>
              </a:lnSpc>
              <a:spcAft>
                <a:spcPts val="100"/>
              </a:spcAft>
            </a:pPr>
            <a:r>
              <a:rPr sz="1300" b="0">
                <a:solidFill>
                  <a:srgbClr val="556175"/>
                </a:solidFill>
                <a:latin typeface="맑은 고딕"/>
                <a:ea typeface="맑은 고딕"/>
                <a:cs typeface="맑은 고딕"/>
              </a:rPr>
              <a:t>경보의 증상</a:t>
            </a:r>
          </a:p>
        </p:txBody>
      </p:sp>
      <p:sp>
        <p:nvSpPr>
          <p:cNvPr id="8" name="TextBox 7"/>
          <p:cNvSpPr txBox="1"/>
          <p:nvPr/>
        </p:nvSpPr>
        <p:spPr>
          <a:xfrm>
            <a:off x="3995769" y="1627632"/>
            <a:ext cx="1527329"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CE 46.2 %</a:t>
            </a:r>
          </a:p>
          <a:p>
            <a:pPr algn="ctr" eaLnBrk="0">
              <a:lnSpc>
                <a:spcPct val="110000"/>
              </a:lnSpc>
              <a:spcAft>
                <a:spcPts val="100"/>
              </a:spcAft>
            </a:pPr>
            <a:r>
              <a:rPr sz="1300" b="0">
                <a:solidFill>
                  <a:srgbClr val="556175"/>
                </a:solidFill>
                <a:latin typeface="맑은 고딕"/>
                <a:ea typeface="맑은 고딕"/>
                <a:cs typeface="맑은 고딕"/>
              </a:rPr>
              <a:t>냉각 효율</a:t>
            </a:r>
          </a:p>
        </p:txBody>
      </p:sp>
      <p:sp>
        <p:nvSpPr>
          <p:cNvPr id="9" name="TextBox 8"/>
          <p:cNvSpPr txBox="1"/>
          <p:nvPr/>
        </p:nvSpPr>
        <p:spPr>
          <a:xfrm>
            <a:off x="3832127" y="3164052"/>
            <a:ext cx="1854614"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VS1 0.575 mm/s</a:t>
            </a:r>
          </a:p>
          <a:p>
            <a:pPr algn="ctr" eaLnBrk="0">
              <a:lnSpc>
                <a:spcPct val="110000"/>
              </a:lnSpc>
              <a:spcAft>
                <a:spcPts val="100"/>
              </a:spcAft>
            </a:pPr>
            <a:r>
              <a:rPr sz="1300" b="0">
                <a:solidFill>
                  <a:srgbClr val="556175"/>
                </a:solidFill>
                <a:latin typeface="맑은 고딕"/>
                <a:ea typeface="맑은 고딕"/>
                <a:cs typeface="맑은 고딕"/>
              </a:rPr>
              <a:t>팬 진동</a:t>
            </a:r>
          </a:p>
        </p:txBody>
      </p:sp>
      <p:sp>
        <p:nvSpPr>
          <p:cNvPr id="10" name="TextBox 9"/>
          <p:cNvSpPr txBox="1"/>
          <p:nvPr/>
        </p:nvSpPr>
        <p:spPr>
          <a:xfrm>
            <a:off x="3995769" y="4639016"/>
            <a:ext cx="1527329"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TS4 28 ℃</a:t>
            </a:r>
          </a:p>
          <a:p>
            <a:pPr algn="ctr" eaLnBrk="0">
              <a:lnSpc>
                <a:spcPct val="110000"/>
              </a:lnSpc>
              <a:spcAft>
                <a:spcPts val="100"/>
              </a:spcAft>
            </a:pPr>
            <a:r>
              <a:rPr sz="1300" b="0">
                <a:solidFill>
                  <a:srgbClr val="556175"/>
                </a:solidFill>
                <a:latin typeface="맑은 고딕"/>
                <a:ea typeface="맑은 고딕"/>
                <a:cs typeface="맑은 고딕"/>
              </a:rPr>
              <a:t>캐비닛 온도</a:t>
            </a:r>
          </a:p>
        </p:txBody>
      </p:sp>
      <p:sp>
        <p:nvSpPr>
          <p:cNvPr id="11" name="TextBox 10"/>
          <p:cNvSpPr txBox="1"/>
          <p:nvPr/>
        </p:nvSpPr>
        <p:spPr>
          <a:xfrm>
            <a:off x="7394077" y="2157106"/>
            <a:ext cx="4036513" cy="577342"/>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쿨러 핀 오염</a:t>
            </a:r>
          </a:p>
          <a:p>
            <a:pPr algn="ctr" eaLnBrk="0">
              <a:lnSpc>
                <a:spcPct val="110000"/>
              </a:lnSpc>
              <a:spcAft>
                <a:spcPts val="100"/>
              </a:spcAft>
            </a:pPr>
            <a:r>
              <a:rPr sz="1300" b="0">
                <a:solidFill>
                  <a:srgbClr val="556175"/>
                </a:solidFill>
                <a:latin typeface="맑은 고딕"/>
                <a:ea typeface="맑은 고딕"/>
                <a:cs typeface="맑은 고딕"/>
              </a:rPr>
              <a:t>CE 70 % 미만 · VS1 0.9 미만 → 해당</a:t>
            </a:r>
          </a:p>
        </p:txBody>
      </p:sp>
      <p:sp>
        <p:nvSpPr>
          <p:cNvPr id="12" name="TextBox 11"/>
          <p:cNvSpPr txBox="1"/>
          <p:nvPr/>
        </p:nvSpPr>
        <p:spPr>
          <a:xfrm>
            <a:off x="7394077" y="3627342"/>
            <a:ext cx="4036513"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팬 구동 불량</a:t>
            </a:r>
          </a:p>
          <a:p>
            <a:pPr algn="ctr" eaLnBrk="0">
              <a:lnSpc>
                <a:spcPct val="110000"/>
              </a:lnSpc>
              <a:spcAft>
                <a:spcPts val="100"/>
              </a:spcAft>
            </a:pPr>
            <a:r>
              <a:rPr sz="1300" b="0">
                <a:solidFill>
                  <a:srgbClr val="556175"/>
                </a:solidFill>
                <a:latin typeface="맑은 고딕"/>
                <a:ea typeface="맑은 고딕"/>
                <a:cs typeface="맑은 고딕"/>
              </a:rPr>
              <a:t>VS1 0.9 mm/s 이상 → 해당 없음</a:t>
            </a:r>
          </a:p>
        </p:txBody>
      </p:sp>
      <p:sp>
        <p:nvSpPr>
          <p:cNvPr id="13" name="TextBox 12"/>
          <p:cNvSpPr txBox="1"/>
          <p:nvPr/>
        </p:nvSpPr>
        <p:spPr>
          <a:xfrm>
            <a:off x="7394077" y="5102306"/>
            <a:ext cx="4036513"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주변 온도 상승</a:t>
            </a:r>
          </a:p>
          <a:p>
            <a:pPr algn="ctr" eaLnBrk="0">
              <a:lnSpc>
                <a:spcPct val="110000"/>
              </a:lnSpc>
              <a:spcAft>
                <a:spcPts val="100"/>
              </a:spcAft>
            </a:pPr>
            <a:r>
              <a:rPr sz="1300" b="0">
                <a:solidFill>
                  <a:srgbClr val="556175"/>
                </a:solidFill>
                <a:latin typeface="맑은 고딕"/>
                <a:ea typeface="맑은 고딕"/>
                <a:cs typeface="맑은 고딕"/>
              </a:rPr>
              <a:t>TS4 35 ℃ 이상 → 해당 없음</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원인에 따라 달라지는 근본 조치</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증상이 같아도 원인이 다르면 이를 없애는 조치가 달라지므로, 원인을 가려야 조치를 정할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45</a:t>
            </a:r>
          </a:p>
        </p:txBody>
      </p:sp>
      <p:sp>
        <p:nvSpPr>
          <p:cNvPr id="6" name="Rounded Rectangle 5"/>
          <p:cNvSpPr/>
          <p:nvPr/>
        </p:nvSpPr>
        <p:spPr>
          <a:xfrm>
            <a:off x="548640" y="2293873"/>
            <a:ext cx="3515258" cy="3394964"/>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495042"/>
            <a:ext cx="731520" cy="731520"/>
          </a:xfrm>
          <a:prstGeom prst="ellipse">
            <a:avLst/>
          </a:prstGeom>
          <a:solidFill>
            <a:srgbClr val="E7F3FD"/>
          </a:solidFill>
          <a:ln>
            <a:noFill/>
          </a:ln>
        </p:spPr>
        <p:txBody>
          <a:bodyPr rtlCol="0" anchor="ctr"/>
          <a:lstStyle/>
          <a:p>
            <a:pPr algn="ctr"/>
          </a:p>
        </p:txBody>
      </p:sp>
      <p:pic>
        <p:nvPicPr>
          <p:cNvPr id="8" name="아이콘:filter" descr="filter_13294B_1.6.png"/>
          <p:cNvPicPr>
            <a:picLocks noChangeAspect="1"/>
          </p:cNvPicPr>
          <p:nvPr/>
        </p:nvPicPr>
        <p:blipFill>
          <a:blip r:embed="rId3"/>
          <a:stretch>
            <a:fillRect/>
          </a:stretch>
        </p:blipFill>
        <p:spPr>
          <a:xfrm>
            <a:off x="930859" y="2648661"/>
            <a:ext cx="424281" cy="424281"/>
          </a:xfrm>
          <a:prstGeom prst="rect">
            <a:avLst/>
          </a:prstGeom>
        </p:spPr>
      </p:pic>
      <p:sp>
        <p:nvSpPr>
          <p:cNvPr id="9" name="TextBox 8"/>
          <p:cNvSpPr txBox="1"/>
          <p:nvPr/>
        </p:nvSpPr>
        <p:spPr>
          <a:xfrm>
            <a:off x="713232" y="3318001"/>
            <a:ext cx="3186074" cy="1867916"/>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쿨러 핀 오염</a:t>
            </a:r>
          </a:p>
          <a:p>
            <a:pPr algn="l" eaLnBrk="0" marL="205740" indent="-205740">
              <a:lnSpc>
                <a:spcPct val="110000"/>
              </a:lnSpc>
              <a:spcAft>
                <a:spcPts val="400"/>
              </a:spcAft>
            </a:pPr>
            <a:r>
              <a:rPr sz="1800" b="0">
                <a:solidFill>
                  <a:srgbClr val="1F2A3A"/>
                </a:solidFill>
                <a:latin typeface="맑은 고딕"/>
                <a:ea typeface="맑은 고딕"/>
                <a:cs typeface="맑은 고딕"/>
              </a:rPr>
              <a:t>• 쿨러의 핀을 세척한다</a:t>
            </a:r>
          </a:p>
          <a:p>
            <a:pPr algn="l" eaLnBrk="0" marL="205740" indent="-205740">
              <a:lnSpc>
                <a:spcPct val="110000"/>
              </a:lnSpc>
              <a:spcAft>
                <a:spcPts val="400"/>
              </a:spcAft>
            </a:pPr>
            <a:r>
              <a:rPr sz="1800" b="0">
                <a:solidFill>
                  <a:srgbClr val="1F2A3A"/>
                </a:solidFill>
                <a:latin typeface="맑은 고딕"/>
                <a:ea typeface="맑은 고딕"/>
                <a:cs typeface="맑은 고딕"/>
              </a:rPr>
              <a:t>• 핀의 막힘이 풀려 냉각 효율이 돌아온다</a:t>
            </a:r>
          </a:p>
        </p:txBody>
      </p:sp>
      <p:sp>
        <p:nvSpPr>
          <p:cNvPr id="10" name="Rounded Rectangle 9"/>
          <p:cNvSpPr/>
          <p:nvPr/>
        </p:nvSpPr>
        <p:spPr>
          <a:xfrm>
            <a:off x="777240" y="5259070"/>
            <a:ext cx="1450847"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259070"/>
            <a:ext cx="1450847"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원인: 핀이 막힘</a:t>
            </a:r>
          </a:p>
        </p:txBody>
      </p:sp>
      <p:sp>
        <p:nvSpPr>
          <p:cNvPr id="12" name="Rounded Rectangle 11"/>
          <p:cNvSpPr/>
          <p:nvPr/>
        </p:nvSpPr>
        <p:spPr>
          <a:xfrm>
            <a:off x="4338218" y="2293873"/>
            <a:ext cx="3515258" cy="3394964"/>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495042"/>
            <a:ext cx="731520" cy="731520"/>
          </a:xfrm>
          <a:prstGeom prst="ellipse">
            <a:avLst/>
          </a:prstGeom>
          <a:solidFill>
            <a:srgbClr val="E7F3FD"/>
          </a:solidFill>
          <a:ln>
            <a:noFill/>
          </a:ln>
        </p:spPr>
        <p:txBody>
          <a:bodyPr rtlCol="0" anchor="ctr"/>
          <a:lstStyle/>
          <a:p>
            <a:pPr algn="ctr"/>
          </a:p>
        </p:txBody>
      </p:sp>
      <p:pic>
        <p:nvPicPr>
          <p:cNvPr id="14" name="아이콘:propeller" descr="propeller_13294B_1.6.png"/>
          <p:cNvPicPr>
            <a:picLocks noChangeAspect="1"/>
          </p:cNvPicPr>
          <p:nvPr/>
        </p:nvPicPr>
        <p:blipFill>
          <a:blip r:embed="rId4"/>
          <a:stretch>
            <a:fillRect/>
          </a:stretch>
        </p:blipFill>
        <p:spPr>
          <a:xfrm>
            <a:off x="4720437" y="2648661"/>
            <a:ext cx="424281" cy="424281"/>
          </a:xfrm>
          <a:prstGeom prst="rect">
            <a:avLst/>
          </a:prstGeom>
        </p:spPr>
      </p:pic>
      <p:sp>
        <p:nvSpPr>
          <p:cNvPr id="15" name="TextBox 14"/>
          <p:cNvSpPr txBox="1"/>
          <p:nvPr/>
        </p:nvSpPr>
        <p:spPr>
          <a:xfrm>
            <a:off x="4502810" y="3318001"/>
            <a:ext cx="3186074" cy="1867916"/>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팬 구동 불량</a:t>
            </a:r>
          </a:p>
          <a:p>
            <a:pPr algn="l" eaLnBrk="0" marL="205740" indent="-205740">
              <a:lnSpc>
                <a:spcPct val="110000"/>
              </a:lnSpc>
              <a:spcAft>
                <a:spcPts val="400"/>
              </a:spcAft>
            </a:pPr>
            <a:r>
              <a:rPr sz="1800" b="0">
                <a:solidFill>
                  <a:srgbClr val="1F2A3A"/>
                </a:solidFill>
                <a:latin typeface="맑은 고딕"/>
                <a:ea typeface="맑은 고딕"/>
                <a:cs typeface="맑은 고딕"/>
              </a:rPr>
              <a:t>• 쿨러 팬의 벨트를 점검한다</a:t>
            </a:r>
          </a:p>
          <a:p>
            <a:pPr algn="l" eaLnBrk="0" marL="205740" indent="-205740">
              <a:lnSpc>
                <a:spcPct val="110000"/>
              </a:lnSpc>
              <a:spcAft>
                <a:spcPts val="400"/>
              </a:spcAft>
            </a:pPr>
            <a:r>
              <a:rPr sz="1800" b="0">
                <a:solidFill>
                  <a:srgbClr val="1F2A3A"/>
                </a:solidFill>
                <a:latin typeface="맑은 고딕"/>
                <a:ea typeface="맑은 고딕"/>
                <a:cs typeface="맑은 고딕"/>
              </a:rPr>
              <a:t>• 팬이 제 속도로 돌아야 바람이 충분해진다</a:t>
            </a:r>
          </a:p>
        </p:txBody>
      </p:sp>
      <p:sp>
        <p:nvSpPr>
          <p:cNvPr id="16" name="Rounded Rectangle 15"/>
          <p:cNvSpPr/>
          <p:nvPr/>
        </p:nvSpPr>
        <p:spPr>
          <a:xfrm>
            <a:off x="4566818" y="5259070"/>
            <a:ext cx="1496568"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259070"/>
            <a:ext cx="1496568"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원인: 팬이 덜 돎</a:t>
            </a:r>
          </a:p>
        </p:txBody>
      </p:sp>
      <p:sp>
        <p:nvSpPr>
          <p:cNvPr id="18" name="Rounded Rectangle 17"/>
          <p:cNvSpPr/>
          <p:nvPr/>
        </p:nvSpPr>
        <p:spPr>
          <a:xfrm>
            <a:off x="8127796" y="2293873"/>
            <a:ext cx="3515258" cy="3394964"/>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8356396" y="2495042"/>
            <a:ext cx="731520" cy="731520"/>
          </a:xfrm>
          <a:prstGeom prst="ellipse">
            <a:avLst/>
          </a:prstGeom>
          <a:solidFill>
            <a:srgbClr val="E7F3FD"/>
          </a:solidFill>
          <a:ln>
            <a:noFill/>
          </a:ln>
        </p:spPr>
        <p:txBody>
          <a:bodyPr rtlCol="0" anchor="ctr"/>
          <a:lstStyle/>
          <a:p>
            <a:pPr algn="ctr"/>
          </a:p>
        </p:txBody>
      </p:sp>
      <p:pic>
        <p:nvPicPr>
          <p:cNvPr id="20" name="아이콘:wind" descr="wind_13294B_1.6.png"/>
          <p:cNvPicPr>
            <a:picLocks noChangeAspect="1"/>
          </p:cNvPicPr>
          <p:nvPr/>
        </p:nvPicPr>
        <p:blipFill>
          <a:blip r:embed="rId5"/>
          <a:stretch>
            <a:fillRect/>
          </a:stretch>
        </p:blipFill>
        <p:spPr>
          <a:xfrm>
            <a:off x="8510016" y="2648661"/>
            <a:ext cx="424281" cy="424281"/>
          </a:xfrm>
          <a:prstGeom prst="rect">
            <a:avLst/>
          </a:prstGeom>
        </p:spPr>
      </p:pic>
      <p:sp>
        <p:nvSpPr>
          <p:cNvPr id="21" name="TextBox 20"/>
          <p:cNvSpPr txBox="1"/>
          <p:nvPr/>
        </p:nvSpPr>
        <p:spPr>
          <a:xfrm>
            <a:off x="8292388" y="3318001"/>
            <a:ext cx="3186074" cy="1867916"/>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주변 온도 상승</a:t>
            </a:r>
          </a:p>
          <a:p>
            <a:pPr algn="l" eaLnBrk="0" marL="205740" indent="-205740">
              <a:lnSpc>
                <a:spcPct val="110000"/>
              </a:lnSpc>
              <a:spcAft>
                <a:spcPts val="400"/>
              </a:spcAft>
            </a:pPr>
            <a:r>
              <a:rPr sz="1800" b="0">
                <a:solidFill>
                  <a:srgbClr val="1F2A3A"/>
                </a:solidFill>
                <a:latin typeface="맑은 고딕"/>
                <a:ea typeface="맑은 고딕"/>
                <a:cs typeface="맑은 고딕"/>
              </a:rPr>
              <a:t>• 캐비닛의 환기를 보강한다</a:t>
            </a:r>
          </a:p>
          <a:p>
            <a:pPr algn="l" eaLnBrk="0" marL="205740" indent="-205740">
              <a:lnSpc>
                <a:spcPct val="110000"/>
              </a:lnSpc>
              <a:spcAft>
                <a:spcPts val="400"/>
              </a:spcAft>
            </a:pPr>
            <a:r>
              <a:rPr sz="1800" b="0">
                <a:solidFill>
                  <a:srgbClr val="1F2A3A"/>
                </a:solidFill>
                <a:latin typeface="맑은 고딕"/>
                <a:ea typeface="맑은 고딕"/>
                <a:cs typeface="맑은 고딕"/>
              </a:rPr>
              <a:t>• 쿨러로 들어가는 공기의 온도를 낮춘다</a:t>
            </a:r>
          </a:p>
        </p:txBody>
      </p:sp>
      <p:sp>
        <p:nvSpPr>
          <p:cNvPr id="22" name="Rounded Rectangle 21"/>
          <p:cNvSpPr/>
          <p:nvPr/>
        </p:nvSpPr>
        <p:spPr>
          <a:xfrm>
            <a:off x="8356396" y="5259070"/>
            <a:ext cx="1953768"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8356396" y="5259070"/>
            <a:ext cx="1953768"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원인: 주변 공기가 더움</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완화 조치와 근본 조치</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증상을 우선 낮추는 완화 조치와 원인을 없애는 근본 조치는 서로 다른 조치이다.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46</a:t>
            </a:r>
          </a:p>
        </p:txBody>
      </p:sp>
      <p:sp>
        <p:nvSpPr>
          <p:cNvPr id="6" name="Rounded Rectangle 5"/>
          <p:cNvSpPr/>
          <p:nvPr/>
        </p:nvSpPr>
        <p:spPr>
          <a:xfrm>
            <a:off x="548640" y="2498598"/>
            <a:ext cx="5181447" cy="2985516"/>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699766"/>
            <a:ext cx="731520" cy="731520"/>
          </a:xfrm>
          <a:prstGeom prst="ellipse">
            <a:avLst/>
          </a:prstGeom>
          <a:solidFill>
            <a:srgbClr val="FFFFFF"/>
          </a:solidFill>
          <a:ln>
            <a:noFill/>
          </a:ln>
        </p:spPr>
        <p:txBody>
          <a:bodyPr rtlCol="0" anchor="ctr"/>
          <a:lstStyle/>
          <a:p>
            <a:pPr algn="ctr"/>
          </a:p>
        </p:txBody>
      </p:sp>
      <p:pic>
        <p:nvPicPr>
          <p:cNvPr id="8" name="아이콘:propeller" descr="propeller_13294B_1.6.png"/>
          <p:cNvPicPr>
            <a:picLocks noChangeAspect="1"/>
          </p:cNvPicPr>
          <p:nvPr/>
        </p:nvPicPr>
        <p:blipFill>
          <a:blip r:embed="rId3"/>
          <a:stretch>
            <a:fillRect/>
          </a:stretch>
        </p:blipFill>
        <p:spPr>
          <a:xfrm>
            <a:off x="976579" y="2853385"/>
            <a:ext cx="424281" cy="424281"/>
          </a:xfrm>
          <a:prstGeom prst="rect">
            <a:avLst/>
          </a:prstGeom>
        </p:spPr>
      </p:pic>
      <p:sp>
        <p:nvSpPr>
          <p:cNvPr id="9" name="TextBox 8"/>
          <p:cNvSpPr txBox="1"/>
          <p:nvPr/>
        </p:nvSpPr>
        <p:spPr>
          <a:xfrm>
            <a:off x="1691640" y="2699766"/>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완화 조치</a:t>
            </a:r>
          </a:p>
        </p:txBody>
      </p:sp>
      <p:sp>
        <p:nvSpPr>
          <p:cNvPr id="10" name="TextBox 9"/>
          <p:cNvSpPr txBox="1"/>
          <p:nvPr/>
        </p:nvSpPr>
        <p:spPr>
          <a:xfrm>
            <a:off x="822959" y="3550158"/>
            <a:ext cx="4632807" cy="1385316"/>
          </a:xfrm>
          <a:prstGeom prst="rect">
            <a:avLst/>
          </a:prstGeom>
          <a:noFill/>
        </p:spPr>
        <p:txBody>
          <a:bodyPr wrap="square" anchor="t"/>
          <a:lstStyle/>
          <a:p>
            <a:pPr algn="l" eaLnBrk="0" marL="205740" indent="-205740">
              <a:lnSpc>
                <a:spcPct val="110000"/>
              </a:lnSpc>
              <a:spcAft>
                <a:spcPts val="600"/>
              </a:spcAft>
            </a:pPr>
            <a:r>
              <a:rPr sz="1800" b="0">
                <a:solidFill>
                  <a:srgbClr val="1F2A3A"/>
                </a:solidFill>
                <a:latin typeface="맑은 고딕"/>
                <a:ea typeface="맑은 고딕"/>
                <a:cs typeface="맑은 고딕"/>
              </a:rPr>
              <a:t>• 팬을 최대로 돌려 유온을 우선 낮춘다</a:t>
            </a:r>
          </a:p>
          <a:p>
            <a:pPr algn="l" eaLnBrk="0" marL="205740" indent="-205740">
              <a:lnSpc>
                <a:spcPct val="110000"/>
              </a:lnSpc>
              <a:spcAft>
                <a:spcPts val="600"/>
              </a:spcAft>
            </a:pPr>
            <a:r>
              <a:rPr sz="1800" b="0">
                <a:solidFill>
                  <a:srgbClr val="1F2A3A"/>
                </a:solidFill>
                <a:latin typeface="맑은 고딕"/>
                <a:ea typeface="맑은 고딕"/>
                <a:cs typeface="맑은 고딕"/>
              </a:rPr>
              <a:t>• 쿨러의 핀은 여전히 막혀 있다</a:t>
            </a:r>
          </a:p>
          <a:p>
            <a:pPr algn="l" eaLnBrk="0" marL="205740" indent="-205740">
              <a:lnSpc>
                <a:spcPct val="110000"/>
              </a:lnSpc>
              <a:spcAft>
                <a:spcPts val="600"/>
              </a:spcAft>
            </a:pPr>
            <a:r>
              <a:rPr sz="1800" b="0">
                <a:solidFill>
                  <a:srgbClr val="1F2A3A"/>
                </a:solidFill>
                <a:latin typeface="맑은 고딕"/>
                <a:ea typeface="맑은 고딕"/>
                <a:cs typeface="맑은 고딕"/>
              </a:rPr>
              <a:t>• 냉각 효율은 55 %로 기준 아래에 머문다</a:t>
            </a:r>
          </a:p>
        </p:txBody>
      </p:sp>
      <p:sp>
        <p:nvSpPr>
          <p:cNvPr id="11" name="Rounded Rectangle 10"/>
          <p:cNvSpPr/>
          <p:nvPr/>
        </p:nvSpPr>
        <p:spPr>
          <a:xfrm>
            <a:off x="868680" y="5026914"/>
            <a:ext cx="1219199"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026914"/>
            <a:ext cx="121919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팬 최대 운전</a:t>
            </a:r>
          </a:p>
        </p:txBody>
      </p:sp>
      <p:sp>
        <p:nvSpPr>
          <p:cNvPr id="13" name="Rounded Rectangle 12"/>
          <p:cNvSpPr/>
          <p:nvPr/>
        </p:nvSpPr>
        <p:spPr>
          <a:xfrm>
            <a:off x="6461607" y="2498598"/>
            <a:ext cx="5181447" cy="2985516"/>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699766"/>
            <a:ext cx="731520" cy="731520"/>
          </a:xfrm>
          <a:prstGeom prst="ellipse">
            <a:avLst/>
          </a:prstGeom>
          <a:solidFill>
            <a:srgbClr val="5CB8F2"/>
          </a:solidFill>
          <a:ln>
            <a:noFill/>
          </a:ln>
        </p:spPr>
        <p:txBody>
          <a:bodyPr rtlCol="0" anchor="ctr"/>
          <a:lstStyle/>
          <a:p>
            <a:pPr algn="ctr"/>
          </a:p>
        </p:txBody>
      </p:sp>
      <p:pic>
        <p:nvPicPr>
          <p:cNvPr id="15" name="아이콘:tool" descr="tool_13294B_1.6.png"/>
          <p:cNvPicPr>
            <a:picLocks noChangeAspect="1"/>
          </p:cNvPicPr>
          <p:nvPr/>
        </p:nvPicPr>
        <p:blipFill>
          <a:blip r:embed="rId4"/>
          <a:stretch>
            <a:fillRect/>
          </a:stretch>
        </p:blipFill>
        <p:spPr>
          <a:xfrm>
            <a:off x="6889546" y="2853385"/>
            <a:ext cx="424281" cy="424281"/>
          </a:xfrm>
          <a:prstGeom prst="rect">
            <a:avLst/>
          </a:prstGeom>
        </p:spPr>
      </p:pic>
      <p:sp>
        <p:nvSpPr>
          <p:cNvPr id="16" name="TextBox 15"/>
          <p:cNvSpPr txBox="1"/>
          <p:nvPr/>
        </p:nvSpPr>
        <p:spPr>
          <a:xfrm>
            <a:off x="7604607" y="2699766"/>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근본 조치</a:t>
            </a:r>
          </a:p>
        </p:txBody>
      </p:sp>
      <p:sp>
        <p:nvSpPr>
          <p:cNvPr id="17" name="TextBox 16"/>
          <p:cNvSpPr txBox="1"/>
          <p:nvPr/>
        </p:nvSpPr>
        <p:spPr>
          <a:xfrm>
            <a:off x="6735927" y="3550158"/>
            <a:ext cx="4632807" cy="1385316"/>
          </a:xfrm>
          <a:prstGeom prst="rect">
            <a:avLst/>
          </a:prstGeom>
          <a:noFill/>
        </p:spPr>
        <p:txBody>
          <a:bodyPr wrap="square" anchor="t"/>
          <a:lstStyle/>
          <a:p>
            <a:pPr algn="l" eaLnBrk="0" marL="205740" indent="-205740">
              <a:lnSpc>
                <a:spcPct val="110000"/>
              </a:lnSpc>
              <a:spcAft>
                <a:spcPts val="600"/>
              </a:spcAft>
            </a:pPr>
            <a:r>
              <a:rPr sz="1800" b="0">
                <a:solidFill>
                  <a:srgbClr val="1F2A3A"/>
                </a:solidFill>
                <a:latin typeface="맑은 고딕"/>
                <a:ea typeface="맑은 고딕"/>
                <a:cs typeface="맑은 고딕"/>
              </a:rPr>
              <a:t>• 막힌 핀을 세척해 원인을 없앤다</a:t>
            </a:r>
          </a:p>
          <a:p>
            <a:pPr algn="l" eaLnBrk="0" marL="205740" indent="-205740">
              <a:lnSpc>
                <a:spcPct val="110000"/>
              </a:lnSpc>
              <a:spcAft>
                <a:spcPts val="600"/>
              </a:spcAft>
            </a:pPr>
            <a:r>
              <a:rPr sz="1800" b="0">
                <a:solidFill>
                  <a:srgbClr val="1F2A3A"/>
                </a:solidFill>
                <a:latin typeface="맑은 고딕"/>
                <a:ea typeface="맑은 고딕"/>
                <a:cs typeface="맑은 고딕"/>
              </a:rPr>
              <a:t>• 설비를 멈추고 해야 하는 작업이다</a:t>
            </a:r>
          </a:p>
          <a:p>
            <a:pPr algn="l" eaLnBrk="0" marL="205740" indent="-205740">
              <a:lnSpc>
                <a:spcPct val="110000"/>
              </a:lnSpc>
              <a:spcAft>
                <a:spcPts val="600"/>
              </a:spcAft>
            </a:pPr>
            <a:r>
              <a:rPr sz="1800" b="0">
                <a:solidFill>
                  <a:srgbClr val="1F2A3A"/>
                </a:solidFill>
                <a:latin typeface="맑은 고딕"/>
                <a:ea typeface="맑은 고딕"/>
                <a:cs typeface="맑은 고딕"/>
              </a:rPr>
              <a:t>• 작업지시로 따로 등록된다</a:t>
            </a:r>
          </a:p>
        </p:txBody>
      </p:sp>
      <p:sp>
        <p:nvSpPr>
          <p:cNvPr id="18" name="Rounded Rectangle 17"/>
          <p:cNvSpPr/>
          <p:nvPr/>
        </p:nvSpPr>
        <p:spPr>
          <a:xfrm>
            <a:off x="6781647" y="5026914"/>
            <a:ext cx="1219199"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026914"/>
            <a:ext cx="121919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쿨러 핀 세척</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같은 조치가 원인에 따라 설비를 세우는 경우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유온이 오르면 팬을 최대로 돌린다는 한 줄의 규칙은, 원인에 따라 설비를 멈추게 할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47</a:t>
            </a:r>
          </a:p>
        </p:txBody>
      </p:sp>
      <p:sp>
        <p:nvSpPr>
          <p:cNvPr id="6" name="Rounded Rectangle 5"/>
          <p:cNvSpPr/>
          <p:nvPr/>
        </p:nvSpPr>
        <p:spPr>
          <a:xfrm>
            <a:off x="548640" y="2321052"/>
            <a:ext cx="5181447" cy="3340608"/>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522220"/>
            <a:ext cx="731520" cy="731520"/>
          </a:xfrm>
          <a:prstGeom prst="ellipse">
            <a:avLst/>
          </a:prstGeom>
          <a:solidFill>
            <a:srgbClr val="FFFFFF"/>
          </a:solidFill>
          <a:ln>
            <a:noFill/>
          </a:ln>
        </p:spPr>
        <p:txBody>
          <a:bodyPr rtlCol="0" anchor="ctr"/>
          <a:lstStyle/>
          <a:p>
            <a:pPr algn="ctr"/>
          </a:p>
        </p:txBody>
      </p:sp>
      <p:pic>
        <p:nvPicPr>
          <p:cNvPr id="8" name="아이콘:circle-check" descr="circle-check_13294B_1.6.png"/>
          <p:cNvPicPr>
            <a:picLocks noChangeAspect="1"/>
          </p:cNvPicPr>
          <p:nvPr/>
        </p:nvPicPr>
        <p:blipFill>
          <a:blip r:embed="rId3"/>
          <a:stretch>
            <a:fillRect/>
          </a:stretch>
        </p:blipFill>
        <p:spPr>
          <a:xfrm>
            <a:off x="976579" y="2675839"/>
            <a:ext cx="424281" cy="424281"/>
          </a:xfrm>
          <a:prstGeom prst="rect">
            <a:avLst/>
          </a:prstGeom>
        </p:spPr>
      </p:pic>
      <p:sp>
        <p:nvSpPr>
          <p:cNvPr id="9" name="TextBox 8"/>
          <p:cNvSpPr txBox="1"/>
          <p:nvPr/>
        </p:nvSpPr>
        <p:spPr>
          <a:xfrm>
            <a:off x="1691640" y="2522220"/>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쿨러 핀이 막힌 설비</a:t>
            </a:r>
          </a:p>
        </p:txBody>
      </p:sp>
      <p:sp>
        <p:nvSpPr>
          <p:cNvPr id="10" name="TextBox 9"/>
          <p:cNvSpPr txBox="1"/>
          <p:nvPr/>
        </p:nvSpPr>
        <p:spPr>
          <a:xfrm>
            <a:off x="822959" y="3372611"/>
            <a:ext cx="4632807" cy="1740408"/>
          </a:xfrm>
          <a:prstGeom prst="rect">
            <a:avLst/>
          </a:prstGeom>
          <a:noFill/>
        </p:spPr>
        <p:txBody>
          <a:bodyPr wrap="square" anchor="t"/>
          <a:lstStyle/>
          <a:p>
            <a:pPr algn="l" eaLnBrk="0" marL="205740" indent="-205740">
              <a:lnSpc>
                <a:spcPct val="110000"/>
              </a:lnSpc>
              <a:spcAft>
                <a:spcPts val="600"/>
              </a:spcAft>
            </a:pPr>
            <a:r>
              <a:rPr sz="1800" b="0">
                <a:solidFill>
                  <a:srgbClr val="1F2A3A"/>
                </a:solidFill>
                <a:latin typeface="맑은 고딕"/>
                <a:ea typeface="맑은 고딕"/>
                <a:cs typeface="맑은 고딕"/>
              </a:rPr>
              <a:t>• 팬 속도를 100 %로 올린다</a:t>
            </a:r>
          </a:p>
          <a:p>
            <a:pPr algn="l" eaLnBrk="0" marL="205740" indent="-205740">
              <a:lnSpc>
                <a:spcPct val="110000"/>
              </a:lnSpc>
              <a:spcAft>
                <a:spcPts val="600"/>
              </a:spcAft>
            </a:pPr>
            <a:r>
              <a:rPr sz="1800" b="0">
                <a:solidFill>
                  <a:srgbClr val="1F2A3A"/>
                </a:solidFill>
                <a:latin typeface="맑은 고딕"/>
                <a:ea typeface="맑은 고딕"/>
                <a:cs typeface="맑은 고딕"/>
              </a:rPr>
              <a:t>• 바람이 늘어 유온이 61.4 ℃에서 51.5 ℃로 내려간다</a:t>
            </a:r>
          </a:p>
          <a:p>
            <a:pPr algn="l" eaLnBrk="0" marL="205740" indent="-205740">
              <a:lnSpc>
                <a:spcPct val="110000"/>
              </a:lnSpc>
              <a:spcAft>
                <a:spcPts val="600"/>
              </a:spcAft>
            </a:pPr>
            <a:r>
              <a:rPr sz="1800" b="0">
                <a:solidFill>
                  <a:srgbClr val="1F2A3A"/>
                </a:solidFill>
                <a:latin typeface="맑은 고딕"/>
                <a:ea typeface="맑은 고딕"/>
                <a:cs typeface="맑은 고딕"/>
              </a:rPr>
              <a:t>• 경보가 해제된다</a:t>
            </a:r>
          </a:p>
        </p:txBody>
      </p:sp>
      <p:sp>
        <p:nvSpPr>
          <p:cNvPr id="11" name="Rounded Rectangle 10"/>
          <p:cNvSpPr/>
          <p:nvPr/>
        </p:nvSpPr>
        <p:spPr>
          <a:xfrm>
            <a:off x="868680" y="5204460"/>
            <a:ext cx="1676399"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204460"/>
            <a:ext cx="167639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조치가 효과를 낸다</a:t>
            </a:r>
          </a:p>
        </p:txBody>
      </p:sp>
      <p:sp>
        <p:nvSpPr>
          <p:cNvPr id="13" name="Rounded Rectangle 12"/>
          <p:cNvSpPr/>
          <p:nvPr/>
        </p:nvSpPr>
        <p:spPr>
          <a:xfrm>
            <a:off x="6461607" y="2321052"/>
            <a:ext cx="5181447" cy="3340608"/>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522220"/>
            <a:ext cx="731520" cy="731520"/>
          </a:xfrm>
          <a:prstGeom prst="ellipse">
            <a:avLst/>
          </a:prstGeom>
          <a:solidFill>
            <a:srgbClr val="5CB8F2"/>
          </a:solidFill>
          <a:ln>
            <a:noFill/>
          </a:ln>
        </p:spPr>
        <p:txBody>
          <a:bodyPr rtlCol="0" anchor="ctr"/>
          <a:lstStyle/>
          <a:p>
            <a:pPr algn="ctr"/>
          </a:p>
        </p:txBody>
      </p:sp>
      <p:pic>
        <p:nvPicPr>
          <p:cNvPr id="15" name="아이콘:alert-triangle" descr="alert-triangle_13294B_1.6.png"/>
          <p:cNvPicPr>
            <a:picLocks noChangeAspect="1"/>
          </p:cNvPicPr>
          <p:nvPr/>
        </p:nvPicPr>
        <p:blipFill>
          <a:blip r:embed="rId4"/>
          <a:stretch>
            <a:fillRect/>
          </a:stretch>
        </p:blipFill>
        <p:spPr>
          <a:xfrm>
            <a:off x="6889546" y="2675839"/>
            <a:ext cx="424281" cy="424281"/>
          </a:xfrm>
          <a:prstGeom prst="rect">
            <a:avLst/>
          </a:prstGeom>
        </p:spPr>
      </p:pic>
      <p:sp>
        <p:nvSpPr>
          <p:cNvPr id="16" name="TextBox 15"/>
          <p:cNvSpPr txBox="1"/>
          <p:nvPr/>
        </p:nvSpPr>
        <p:spPr>
          <a:xfrm>
            <a:off x="7604607" y="2522220"/>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팬 베어링이 닳은 설비</a:t>
            </a:r>
          </a:p>
        </p:txBody>
      </p:sp>
      <p:sp>
        <p:nvSpPr>
          <p:cNvPr id="17" name="TextBox 16"/>
          <p:cNvSpPr txBox="1"/>
          <p:nvPr/>
        </p:nvSpPr>
        <p:spPr>
          <a:xfrm>
            <a:off x="6735927" y="3372611"/>
            <a:ext cx="4632807" cy="1740408"/>
          </a:xfrm>
          <a:prstGeom prst="rect">
            <a:avLst/>
          </a:prstGeom>
          <a:noFill/>
        </p:spPr>
        <p:txBody>
          <a:bodyPr wrap="square" anchor="t"/>
          <a:lstStyle/>
          <a:p>
            <a:pPr algn="l" eaLnBrk="0" marL="205740" indent="-205740">
              <a:lnSpc>
                <a:spcPct val="110000"/>
              </a:lnSpc>
              <a:spcAft>
                <a:spcPts val="600"/>
              </a:spcAft>
            </a:pPr>
            <a:r>
              <a:rPr sz="1800" b="0">
                <a:solidFill>
                  <a:srgbClr val="1F2A3A"/>
                </a:solidFill>
                <a:latin typeface="맑은 고딕"/>
                <a:ea typeface="맑은 고딕"/>
                <a:cs typeface="맑은 고딕"/>
              </a:rPr>
              <a:t>• 같은 조치로 팬 속도를 100 %로 올린다</a:t>
            </a:r>
          </a:p>
          <a:p>
            <a:pPr algn="l" eaLnBrk="0" marL="205740" indent="-205740">
              <a:lnSpc>
                <a:spcPct val="110000"/>
              </a:lnSpc>
              <a:spcAft>
                <a:spcPts val="600"/>
              </a:spcAft>
            </a:pPr>
            <a:r>
              <a:rPr sz="1800" b="0">
                <a:solidFill>
                  <a:srgbClr val="1F2A3A"/>
                </a:solidFill>
                <a:latin typeface="맑은 고딕"/>
                <a:ea typeface="맑은 고딕"/>
                <a:cs typeface="맑은 고딕"/>
              </a:rPr>
              <a:t>• 팬 진동 VS1이 약 2.8 mm/s로 뛴다</a:t>
            </a:r>
          </a:p>
          <a:p>
            <a:pPr algn="l" eaLnBrk="0" marL="205740" indent="-205740">
              <a:lnSpc>
                <a:spcPct val="110000"/>
              </a:lnSpc>
              <a:spcAft>
                <a:spcPts val="600"/>
              </a:spcAft>
            </a:pPr>
            <a:r>
              <a:rPr sz="1800" b="0">
                <a:solidFill>
                  <a:srgbClr val="1F2A3A"/>
                </a:solidFill>
                <a:latin typeface="맑은 고딕"/>
                <a:ea typeface="맑은 고딕"/>
                <a:cs typeface="맑은 고딕"/>
              </a:rPr>
              <a:t>• 진동 인터록 2.0 mm/s에 걸려 PLC가 설비를 멈춘다</a:t>
            </a:r>
          </a:p>
        </p:txBody>
      </p:sp>
      <p:sp>
        <p:nvSpPr>
          <p:cNvPr id="18" name="Rounded Rectangle 17"/>
          <p:cNvSpPr/>
          <p:nvPr/>
        </p:nvSpPr>
        <p:spPr>
          <a:xfrm>
            <a:off x="6781647" y="5204460"/>
            <a:ext cx="1325879"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204460"/>
            <a:ext cx="132587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설비가 멈춘다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04</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판단 근거의 연결</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판단에 필요한 정보가 흩어져 있을 때 무엇이 부족한가</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판단에 쓰이는 정보가 놓인 곳</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원인을 가리고 조치를 정하는 데 필요한 정보는 서로 다른 시스템과 문서에 </a:t>
            </a:r>
            <a:r>
              <a:rPr sz="1600" b="1">
                <a:solidFill>
                  <a:srgbClr val="1A6FC4"/>
                </a:solidFill>
                <a:latin typeface="맑은 고딕"/>
                <a:ea typeface="맑은 고딕"/>
                <a:cs typeface="맑은 고딕"/>
              </a:rPr>
              <a:t>흩어져</a:t>
            </a:r>
            <a:r>
              <a:rPr sz="1600" b="0">
                <a:solidFill>
                  <a:srgbClr val="556175"/>
                </a:solidFill>
                <a:latin typeface="맑은 고딕"/>
                <a:ea typeface="맑은 고딕"/>
                <a:cs typeface="맑은 고딕"/>
              </a:rPr>
              <a:t>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49</a:t>
            </a:r>
          </a:p>
        </p:txBody>
      </p:sp>
      <p:pic>
        <p:nvPicPr>
          <p:cNvPr id="6" name="삽화:흩어진정보.svg" descr="illust_8663682971055995690_179195996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837471" y="3022229"/>
            <a:ext cx="3054658" cy="778764"/>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시계열 저장소</a:t>
            </a:r>
          </a:p>
          <a:p>
            <a:pPr algn="ctr" eaLnBrk="0">
              <a:lnSpc>
                <a:spcPct val="110000"/>
              </a:lnSpc>
              <a:spcAft>
                <a:spcPts val="100"/>
              </a:spcAft>
            </a:pPr>
            <a:r>
              <a:rPr sz="1300" b="0">
                <a:solidFill>
                  <a:srgbClr val="556175"/>
                </a:solidFill>
                <a:latin typeface="맑은 고딕"/>
                <a:ea typeface="맑은 고딕"/>
                <a:cs typeface="맑은 고딕"/>
              </a:rPr>
              <a:t>현재 센서 값</a:t>
            </a:r>
          </a:p>
          <a:p>
            <a:pPr algn="ctr" eaLnBrk="0">
              <a:lnSpc>
                <a:spcPct val="110000"/>
              </a:lnSpc>
              <a:spcAft>
                <a:spcPts val="100"/>
              </a:spcAft>
            </a:pPr>
            <a:r>
              <a:rPr sz="1300" b="0">
                <a:solidFill>
                  <a:srgbClr val="556175"/>
                </a:solidFill>
                <a:latin typeface="맑은 고딕"/>
                <a:ea typeface="맑은 고딕"/>
                <a:cs typeface="맑은 고딕"/>
              </a:rPr>
              <a:t>CE 46.2 % · TS4 28 ℃</a:t>
            </a:r>
          </a:p>
        </p:txBody>
      </p:sp>
      <p:sp>
        <p:nvSpPr>
          <p:cNvPr id="8" name="TextBox 7"/>
          <p:cNvSpPr txBox="1"/>
          <p:nvPr/>
        </p:nvSpPr>
        <p:spPr>
          <a:xfrm>
            <a:off x="837471" y="5244129"/>
            <a:ext cx="3054658" cy="778764"/>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PLC의 상태 메시지</a:t>
            </a:r>
          </a:p>
          <a:p>
            <a:pPr algn="ctr" eaLnBrk="0">
              <a:lnSpc>
                <a:spcPct val="110000"/>
              </a:lnSpc>
              <a:spcAft>
                <a:spcPts val="100"/>
              </a:spcAft>
            </a:pPr>
            <a:r>
              <a:rPr sz="1300" b="0">
                <a:solidFill>
                  <a:srgbClr val="556175"/>
                </a:solidFill>
                <a:latin typeface="맑은 고딕"/>
                <a:ea typeface="맑은 고딕"/>
                <a:cs typeface="맑은 고딕"/>
              </a:rPr>
              <a:t>설비의 운전 상태</a:t>
            </a:r>
          </a:p>
          <a:p>
            <a:pPr algn="ctr" eaLnBrk="0">
              <a:lnSpc>
                <a:spcPct val="110000"/>
              </a:lnSpc>
              <a:spcAft>
                <a:spcPts val="100"/>
              </a:spcAft>
            </a:pPr>
            <a:r>
              <a:rPr sz="1300" b="0">
                <a:solidFill>
                  <a:srgbClr val="556175"/>
                </a:solidFill>
                <a:latin typeface="맑은 고딕"/>
                <a:ea typeface="맑은 고딕"/>
                <a:cs typeface="맑은 고딕"/>
              </a:rPr>
              <a:t>원격 자동 · 팬 60 %</a:t>
            </a:r>
          </a:p>
        </p:txBody>
      </p:sp>
      <p:sp>
        <p:nvSpPr>
          <p:cNvPr id="9" name="TextBox 8"/>
          <p:cNvSpPr txBox="1"/>
          <p:nvPr/>
        </p:nvSpPr>
        <p:spPr>
          <a:xfrm>
            <a:off x="8070466" y="3022229"/>
            <a:ext cx="3054658" cy="778764"/>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설비 매뉴얼 HM-8</a:t>
            </a:r>
          </a:p>
          <a:p>
            <a:pPr algn="ctr" eaLnBrk="0">
              <a:lnSpc>
                <a:spcPct val="110000"/>
              </a:lnSpc>
              <a:spcAft>
                <a:spcPts val="100"/>
              </a:spcAft>
            </a:pPr>
            <a:r>
              <a:rPr sz="1300" b="0">
                <a:solidFill>
                  <a:srgbClr val="556175"/>
                </a:solidFill>
                <a:latin typeface="맑은 고딕"/>
                <a:ea typeface="맑은 고딕"/>
                <a:cs typeface="맑은 고딕"/>
              </a:rPr>
              <a:t>원인 후보와 판별 기준</a:t>
            </a:r>
          </a:p>
          <a:p>
            <a:pPr algn="ctr" eaLnBrk="0">
              <a:lnSpc>
                <a:spcPct val="110000"/>
              </a:lnSpc>
              <a:spcAft>
                <a:spcPts val="100"/>
              </a:spcAft>
            </a:pPr>
            <a:r>
              <a:rPr sz="1300" b="0">
                <a:solidFill>
                  <a:srgbClr val="556175"/>
                </a:solidFill>
                <a:latin typeface="맑은 고딕"/>
                <a:ea typeface="맑은 고딕"/>
                <a:cs typeface="맑은 고딕"/>
              </a:rPr>
              <a:t>조치 방법</a:t>
            </a:r>
          </a:p>
        </p:txBody>
      </p:sp>
      <p:sp>
        <p:nvSpPr>
          <p:cNvPr id="10" name="TextBox 9"/>
          <p:cNvSpPr txBox="1"/>
          <p:nvPr/>
        </p:nvSpPr>
        <p:spPr>
          <a:xfrm>
            <a:off x="7743181" y="5244129"/>
            <a:ext cx="3709228" cy="980185"/>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MES</a:t>
            </a:r>
          </a:p>
          <a:p>
            <a:pPr algn="ctr" eaLnBrk="0">
              <a:lnSpc>
                <a:spcPct val="110000"/>
              </a:lnSpc>
              <a:spcAft>
                <a:spcPts val="100"/>
              </a:spcAft>
            </a:pPr>
            <a:r>
              <a:rPr sz="1300" b="0">
                <a:solidFill>
                  <a:srgbClr val="556175"/>
                </a:solidFill>
                <a:latin typeface="맑은 고딕"/>
                <a:ea typeface="맑은 고딕"/>
                <a:cs typeface="맑은 고딕"/>
              </a:rPr>
              <a:t>Manufacturing Execution System</a:t>
            </a:r>
          </a:p>
          <a:p>
            <a:pPr algn="ctr" eaLnBrk="0">
              <a:lnSpc>
                <a:spcPct val="110000"/>
              </a:lnSpc>
              <a:spcAft>
                <a:spcPts val="100"/>
              </a:spcAft>
            </a:pPr>
            <a:r>
              <a:rPr sz="1300" b="0">
                <a:solidFill>
                  <a:srgbClr val="556175"/>
                </a:solidFill>
                <a:latin typeface="맑은 고딕"/>
                <a:ea typeface="맑은 고딕"/>
                <a:cs typeface="맑은 고딕"/>
              </a:rPr>
              <a:t>생산 일정의 제약</a:t>
            </a:r>
          </a:p>
          <a:p>
            <a:pPr algn="ctr" eaLnBrk="0">
              <a:lnSpc>
                <a:spcPct val="110000"/>
              </a:lnSpc>
              <a:spcAft>
                <a:spcPts val="100"/>
              </a:spcAft>
            </a:pPr>
            <a:r>
              <a:rPr sz="1300" b="0">
                <a:solidFill>
                  <a:srgbClr val="556175"/>
                </a:solidFill>
                <a:latin typeface="맑은 고딕"/>
                <a:ea typeface="맑은 고딕"/>
                <a:cs typeface="맑은 고딕"/>
              </a:rPr>
              <a:t>긴급 오더 납기까지 5.98시간</a:t>
            </a:r>
          </a:p>
        </p:txBody>
      </p:sp>
      <p:sp>
        <p:nvSpPr>
          <p:cNvPr id="11" name="TextBox 10"/>
          <p:cNvSpPr txBox="1"/>
          <p:nvPr/>
        </p:nvSpPr>
        <p:spPr>
          <a:xfrm>
            <a:off x="4677613" y="4298640"/>
            <a:ext cx="2836468"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경보</a:t>
            </a:r>
          </a:p>
          <a:p>
            <a:pPr algn="ctr" eaLnBrk="0">
              <a:lnSpc>
                <a:spcPct val="110000"/>
              </a:lnSpc>
              <a:spcAft>
                <a:spcPts val="100"/>
              </a:spcAft>
            </a:pPr>
            <a:r>
              <a:rPr sz="1300" b="0">
                <a:solidFill>
                  <a:srgbClr val="556175"/>
                </a:solidFill>
                <a:latin typeface="맑은 고딕"/>
                <a:ea typeface="맑은 고딕"/>
                <a:cs typeface="맑은 고딕"/>
              </a:rPr>
              <a:t>유온 상승 · 냉각 효율 저하</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매뉴얼의 문장에 들어 있는 것과 없는 것</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매뉴얼에 적힌 판별 기준을 경보·태그 값·조치와 잇는 관계로 옮겨야 컴퓨터가 따라갈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50</a:t>
            </a:r>
          </a:p>
        </p:txBody>
      </p:sp>
      <p:sp>
        <p:nvSpPr>
          <p:cNvPr id="6" name="Rounded Rectangle 5"/>
          <p:cNvSpPr/>
          <p:nvPr/>
        </p:nvSpPr>
        <p:spPr>
          <a:xfrm>
            <a:off x="548640" y="2099310"/>
            <a:ext cx="6766560" cy="3784091"/>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236470"/>
            <a:ext cx="6400800" cy="3509771"/>
          </a:xfrm>
          <a:prstGeom prst="rect">
            <a:avLst/>
          </a:prstGeom>
          <a:noFill/>
        </p:spPr>
        <p:txBody>
          <a:bodyPr wrap="square" anchor="t"/>
          <a:lstStyle/>
          <a:p>
            <a:pPr algn="l" eaLnBrk="0">
              <a:lnSpc>
                <a:spcPct val="110000"/>
              </a:lnSpc>
              <a:spcAft>
                <a:spcPts val="200"/>
              </a:spcAft>
            </a:pPr>
            <a:r>
              <a:rPr sz="1300" b="0">
                <a:solidFill>
                  <a:srgbClr val="E8EEF6"/>
                </a:solidFill>
                <a:latin typeface="맑은 고딕"/>
                <a:ea typeface="맑은 고딕"/>
                <a:cs typeface="맑은 고딕"/>
              </a:rPr>
              <a:t>설비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매뉴얼</a:t>
            </a:r>
            <a:r>
              <a:rPr sz="1300" b="0">
                <a:solidFill>
                  <a:srgbClr val="E8EEF6"/>
                </a:solidFill>
                <a:latin typeface="Consolas"/>
                <a:ea typeface="맑은 고딕"/>
                <a:cs typeface="맑은 고딕"/>
              </a:rPr>
              <a:t> HM-8.4</a:t>
            </a:r>
          </a:p>
          <a:p>
            <a:pPr algn="l" eaLnBrk="0">
              <a:lnSpc>
                <a:spcPct val="110000"/>
              </a:lnSpc>
              <a:spcAft>
                <a:spcPts val="200"/>
              </a:spcAft>
            </a:pPr>
          </a:p>
          <a:p>
            <a:pPr algn="l" eaLnBrk="0">
              <a:lnSpc>
                <a:spcPct val="110000"/>
              </a:lnSpc>
              <a:spcAft>
                <a:spcPts val="200"/>
              </a:spcAft>
            </a:pP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오염</a:t>
            </a: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먼지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유막으로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핀이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막힘</a:t>
            </a: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이</a:t>
            </a:r>
          </a:p>
          <a:p>
            <a:pPr algn="l" eaLnBrk="0">
              <a:lnSpc>
                <a:spcPct val="110000"/>
              </a:lnSpc>
              <a:spcAft>
                <a:spcPts val="200"/>
              </a:spcAft>
            </a:pPr>
            <a:r>
              <a:rPr sz="1300" b="0">
                <a:solidFill>
                  <a:srgbClr val="E8EEF6"/>
                </a:solidFill>
                <a:latin typeface="맑은 고딕"/>
                <a:ea typeface="맑은 고딕"/>
                <a:cs typeface="맑은 고딕"/>
              </a:rPr>
              <a:t>가장</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흔하다</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맑은 고딕"/>
                <a:ea typeface="맑은 고딕"/>
                <a:cs typeface="맑은 고딕"/>
              </a:rPr>
              <a:t>최근</a:t>
            </a:r>
            <a:r>
              <a:rPr sz="1300" b="0">
                <a:solidFill>
                  <a:srgbClr val="E8EEF6"/>
                </a:solidFill>
                <a:latin typeface="Consolas"/>
                <a:ea typeface="맑은 고딕"/>
                <a:cs typeface="맑은 고딕"/>
              </a:rPr>
              <a:t> 30</a:t>
            </a:r>
            <a:r>
              <a:rPr sz="1300" b="0">
                <a:solidFill>
                  <a:srgbClr val="E8EEF6"/>
                </a:solidFill>
                <a:latin typeface="맑은 고딕"/>
                <a:ea typeface="맑은 고딕"/>
                <a:cs typeface="맑은 고딕"/>
              </a:rPr>
              <a:t>초</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냉각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효율</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평균이</a:t>
            </a:r>
            <a:r>
              <a:rPr sz="1300" b="0">
                <a:solidFill>
                  <a:srgbClr val="E8EEF6"/>
                </a:solidFill>
                <a:latin typeface="Consolas"/>
                <a:ea typeface="맑은 고딕"/>
                <a:cs typeface="맑은 고딕"/>
              </a:rPr>
              <a:t> 70</a:t>
            </a:r>
            <a:r>
              <a:rPr sz="1300" b="0">
                <a:solidFill>
                  <a:srgbClr val="E8EEF6"/>
                </a:solidFill>
                <a:latin typeface="맑은 고딕"/>
                <a:ea typeface="맑은 고딕"/>
                <a:cs typeface="맑은 고딕"/>
              </a:rPr>
              <a:t> </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미만이고</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맑은 고딕"/>
                <a:ea typeface="맑은 고딕"/>
                <a:cs typeface="맑은 고딕"/>
              </a:rPr>
              <a:t>최근</a:t>
            </a:r>
            <a:r>
              <a:rPr sz="1300" b="0">
                <a:solidFill>
                  <a:srgbClr val="E8EEF6"/>
                </a:solidFill>
                <a:latin typeface="Consolas"/>
                <a:ea typeface="맑은 고딕"/>
                <a:cs typeface="맑은 고딕"/>
              </a:rPr>
              <a:t> 2</a:t>
            </a:r>
            <a:r>
              <a:rPr sz="1300" b="0">
                <a:solidFill>
                  <a:srgbClr val="E8EEF6"/>
                </a:solidFill>
                <a:latin typeface="맑은 고딕"/>
                <a:ea typeface="맑은 고딕"/>
                <a:cs typeface="맑은 고딕"/>
              </a:rPr>
              <a:t>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진동</a:t>
            </a:r>
            <a:r>
              <a:rPr sz="1300" b="0">
                <a:solidFill>
                  <a:srgbClr val="E8EEF6"/>
                </a:solidFill>
                <a:latin typeface="Consolas"/>
                <a:ea typeface="맑은 고딕"/>
                <a:cs typeface="맑은 고딕"/>
              </a:rPr>
              <a:t> VS1 </a:t>
            </a:r>
            <a:r>
              <a:rPr sz="1300" b="0">
                <a:solidFill>
                  <a:srgbClr val="E8EEF6"/>
                </a:solidFill>
                <a:latin typeface="맑은 고딕"/>
                <a:ea typeface="맑은 고딕"/>
                <a:cs typeface="맑은 고딕"/>
              </a:rPr>
              <a:t>평균이</a:t>
            </a:r>
          </a:p>
          <a:p>
            <a:pPr algn="l" eaLnBrk="0">
              <a:lnSpc>
                <a:spcPct val="110000"/>
              </a:lnSpc>
              <a:spcAft>
                <a:spcPts val="200"/>
              </a:spcAft>
            </a:pPr>
            <a:r>
              <a:rPr sz="1300" b="0">
                <a:solidFill>
                  <a:srgbClr val="E8EEF6"/>
                </a:solidFill>
                <a:latin typeface="Consolas"/>
                <a:ea typeface="맑은 고딕"/>
                <a:cs typeface="맑은 고딕"/>
              </a:rPr>
              <a:t>0.9</a:t>
            </a:r>
            <a:r>
              <a:rPr sz="1300" b="0">
                <a:solidFill>
                  <a:srgbClr val="E8EEF6"/>
                </a:solidFill>
                <a:latin typeface="맑은 고딕"/>
                <a:ea typeface="맑은 고딕"/>
                <a:cs typeface="맑은 고딕"/>
              </a:rPr>
              <a:t> </a:t>
            </a:r>
            <a:r>
              <a:rPr sz="1300" b="0">
                <a:solidFill>
                  <a:srgbClr val="E8EEF6"/>
                </a:solidFill>
                <a:latin typeface="Consolas"/>
                <a:ea typeface="맑은 고딕"/>
                <a:cs typeface="맑은 고딕"/>
              </a:rPr>
              <a:t>mm/s </a:t>
            </a:r>
            <a:r>
              <a:rPr sz="1300" b="0">
                <a:solidFill>
                  <a:srgbClr val="E8EEF6"/>
                </a:solidFill>
                <a:latin typeface="맑은 고딕"/>
                <a:ea typeface="맑은 고딕"/>
                <a:cs typeface="맑은 고딕"/>
              </a:rPr>
              <a:t>미만</a:t>
            </a: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팬은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정상</a:t>
            </a: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이면</a:t>
            </a:r>
          </a:p>
          <a:p>
            <a:pPr algn="l" eaLnBrk="0">
              <a:lnSpc>
                <a:spcPct val="110000"/>
              </a:lnSpc>
              <a:spcAft>
                <a:spcPts val="200"/>
              </a:spcAft>
            </a:pPr>
            <a:r>
              <a:rPr sz="1300" b="0">
                <a:solidFill>
                  <a:srgbClr val="E8EEF6"/>
                </a:solidFill>
                <a:latin typeface="맑은 고딕"/>
                <a:ea typeface="맑은 고딕"/>
                <a:cs typeface="맑은 고딕"/>
              </a:rPr>
              <a:t>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오염으로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판정한다</a:t>
            </a:r>
            <a:r>
              <a:rPr sz="1300" b="0">
                <a:solidFill>
                  <a:srgbClr val="E8EEF6"/>
                </a:solidFill>
                <a:latin typeface="Consolas"/>
                <a:ea typeface="맑은 고딕"/>
                <a:cs typeface="맑은 고딕"/>
              </a:rPr>
              <a:t>.</a:t>
            </a:r>
          </a:p>
        </p:txBody>
      </p:sp>
      <p:sp>
        <p:nvSpPr>
          <p:cNvPr id="8" name="TextBox 7"/>
          <p:cNvSpPr txBox="1"/>
          <p:nvPr/>
        </p:nvSpPr>
        <p:spPr>
          <a:xfrm>
            <a:off x="7635240" y="2099310"/>
            <a:ext cx="4007815" cy="94602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들어 있는 것</a:t>
            </a:r>
          </a:p>
          <a:p>
            <a:pPr algn="l" eaLnBrk="0">
              <a:lnSpc>
                <a:spcPct val="110000"/>
              </a:lnSpc>
              <a:spcAft>
                <a:spcPts val="400"/>
              </a:spcAft>
            </a:pPr>
            <a:r>
              <a:rPr sz="1400" b="0">
                <a:solidFill>
                  <a:srgbClr val="1F2A3A"/>
                </a:solidFill>
                <a:latin typeface="맑은 고딕"/>
                <a:ea typeface="맑은 고딕"/>
                <a:cs typeface="맑은 고딕"/>
              </a:rPr>
              <a:t>원인 후보, 확인할 값, 기준이다. 사람이 읽고 해석해야 하는 문장이다. 아래 세 연결은 없다.</a:t>
            </a:r>
          </a:p>
        </p:txBody>
      </p:sp>
      <p:sp>
        <p:nvSpPr>
          <p:cNvPr id="9" name="TextBox 8"/>
          <p:cNvSpPr txBox="1"/>
          <p:nvPr/>
        </p:nvSpPr>
        <p:spPr>
          <a:xfrm>
            <a:off x="7635240" y="3045332"/>
            <a:ext cx="4007815" cy="94602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경보 → 매뉴얼 대목</a:t>
            </a:r>
          </a:p>
          <a:p>
            <a:pPr algn="l" eaLnBrk="0">
              <a:lnSpc>
                <a:spcPct val="110000"/>
              </a:lnSpc>
              <a:spcAft>
                <a:spcPts val="400"/>
              </a:spcAft>
            </a:pPr>
            <a:r>
              <a:rPr sz="1400" b="0">
                <a:solidFill>
                  <a:srgbClr val="1F2A3A"/>
                </a:solidFill>
                <a:latin typeface="맑은 고딕"/>
                <a:ea typeface="맑은 고딕"/>
                <a:cs typeface="맑은 고딕"/>
              </a:rPr>
              <a:t>이 경보에는 매뉴얼의 어느 대목이 해당하는가</a:t>
            </a:r>
          </a:p>
        </p:txBody>
      </p:sp>
      <p:sp>
        <p:nvSpPr>
          <p:cNvPr id="10" name="TextBox 9"/>
          <p:cNvSpPr txBox="1"/>
          <p:nvPr/>
        </p:nvSpPr>
        <p:spPr>
          <a:xfrm>
            <a:off x="7635240" y="3991356"/>
            <a:ext cx="4007815" cy="94602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기준 → 태그 값</a:t>
            </a:r>
          </a:p>
          <a:p>
            <a:pPr algn="l" eaLnBrk="0">
              <a:lnSpc>
                <a:spcPct val="110000"/>
              </a:lnSpc>
              <a:spcAft>
                <a:spcPts val="400"/>
              </a:spcAft>
            </a:pPr>
            <a:r>
              <a:rPr sz="1400" b="0">
                <a:solidFill>
                  <a:srgbClr val="1F2A3A"/>
                </a:solidFill>
                <a:latin typeface="맑은 고딕"/>
                <a:ea typeface="맑은 고딕"/>
                <a:cs typeface="맑은 고딕"/>
              </a:rPr>
              <a:t>그 대목의 기준은 어느 태그의 값과 비교하는가</a:t>
            </a:r>
          </a:p>
        </p:txBody>
      </p:sp>
      <p:sp>
        <p:nvSpPr>
          <p:cNvPr id="11" name="TextBox 10"/>
          <p:cNvSpPr txBox="1"/>
          <p:nvPr/>
        </p:nvSpPr>
        <p:spPr>
          <a:xfrm>
            <a:off x="7635240" y="4937379"/>
            <a:ext cx="4007815" cy="94602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원인 → 조치</a:t>
            </a:r>
          </a:p>
          <a:p>
            <a:pPr algn="l" eaLnBrk="0">
              <a:lnSpc>
                <a:spcPct val="110000"/>
              </a:lnSpc>
              <a:spcAft>
                <a:spcPts val="400"/>
              </a:spcAft>
            </a:pPr>
            <a:r>
              <a:rPr sz="1400" b="0">
                <a:solidFill>
                  <a:srgbClr val="1F2A3A"/>
                </a:solidFill>
                <a:latin typeface="맑은 고딕"/>
                <a:ea typeface="맑은 고딕"/>
                <a:cs typeface="맑은 고딕"/>
              </a:rPr>
              <a:t>그 원인이면 어떤 조치가 맞는가</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숙련자가 증상에서 조치까지를 잇는 순서와 한계</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숙련자의 머릿속 연결을 기록하지 않으면, 같은 경보에서도 사람마다 판단 경로가 달라진다.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51</a:t>
            </a:r>
          </a:p>
        </p:txBody>
      </p:sp>
      <p:sp>
        <p:nvSpPr>
          <p:cNvPr id="6" name="Rounded Rectangle 5"/>
          <p:cNvSpPr/>
          <p:nvPr/>
        </p:nvSpPr>
        <p:spPr>
          <a:xfrm>
            <a:off x="548640" y="2190305"/>
            <a:ext cx="1911644" cy="3602101"/>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138702" y="2373185"/>
            <a:ext cx="731520" cy="731520"/>
          </a:xfrm>
          <a:prstGeom prst="ellipse">
            <a:avLst/>
          </a:prstGeom>
          <a:solidFill>
            <a:srgbClr val="FFFFFF"/>
          </a:solidFill>
          <a:ln>
            <a:noFill/>
          </a:ln>
        </p:spPr>
        <p:txBody>
          <a:bodyPr rtlCol="0" anchor="ctr"/>
          <a:lstStyle/>
          <a:p>
            <a:pPr algn="ctr"/>
          </a:p>
        </p:txBody>
      </p:sp>
      <p:pic>
        <p:nvPicPr>
          <p:cNvPr id="8" name="아이콘:eye" descr="eye_13294B_1.6.png"/>
          <p:cNvPicPr>
            <a:picLocks noChangeAspect="1"/>
          </p:cNvPicPr>
          <p:nvPr/>
        </p:nvPicPr>
        <p:blipFill>
          <a:blip r:embed="rId3"/>
          <a:stretch>
            <a:fillRect/>
          </a:stretch>
        </p:blipFill>
        <p:spPr>
          <a:xfrm>
            <a:off x="1292321" y="2526804"/>
            <a:ext cx="424281" cy="424281"/>
          </a:xfrm>
          <a:prstGeom prst="rect">
            <a:avLst/>
          </a:prstGeom>
        </p:spPr>
      </p:pic>
      <p:sp>
        <p:nvSpPr>
          <p:cNvPr id="9" name="TextBox 8"/>
          <p:cNvSpPr txBox="1"/>
          <p:nvPr/>
        </p:nvSpPr>
        <p:spPr>
          <a:xfrm>
            <a:off x="621792" y="3177857"/>
            <a:ext cx="1765340" cy="2541396"/>
          </a:xfrm>
          <a:prstGeom prst="rect">
            <a:avLst/>
          </a:prstGeom>
          <a:noFill/>
        </p:spPr>
        <p:txBody>
          <a:bodyPr wrap="square" anchor="t"/>
          <a:lstStyle/>
          <a:p>
            <a:pPr algn="ctr" eaLnBrk="0">
              <a:lnSpc>
                <a:spcPct val="110000"/>
              </a:lnSpc>
              <a:spcAft>
                <a:spcPts val="400"/>
              </a:spcAft>
            </a:pPr>
            <a:r>
              <a:rPr sz="1850" b="1">
                <a:solidFill>
                  <a:srgbClr val="13294B"/>
                </a:solidFill>
                <a:latin typeface="맑은 고딕"/>
                <a:ea typeface="맑은 고딕"/>
                <a:cs typeface="맑은 고딕"/>
              </a:rPr>
              <a:t>증상 확인</a:t>
            </a:r>
          </a:p>
          <a:p>
            <a:pPr algn="ctr" eaLnBrk="0">
              <a:lnSpc>
                <a:spcPct val="110000"/>
              </a:lnSpc>
              <a:spcAft>
                <a:spcPts val="400"/>
              </a:spcAft>
            </a:pPr>
            <a:r>
              <a:rPr sz="1550" b="0">
                <a:solidFill>
                  <a:srgbClr val="1F2A3A"/>
                </a:solidFill>
                <a:latin typeface="맑은 고딕"/>
                <a:ea typeface="맑은 고딕"/>
                <a:cs typeface="맑은 고딕"/>
              </a:rPr>
              <a:t>경보와 화면에서</a:t>
            </a:r>
          </a:p>
          <a:p>
            <a:pPr algn="ctr" eaLnBrk="0">
              <a:lnSpc>
                <a:spcPct val="110000"/>
              </a:lnSpc>
              <a:spcAft>
                <a:spcPts val="400"/>
              </a:spcAft>
            </a:pPr>
            <a:r>
              <a:rPr sz="1550" b="0">
                <a:solidFill>
                  <a:srgbClr val="1F2A3A"/>
                </a:solidFill>
                <a:latin typeface="맑은 고딕"/>
                <a:ea typeface="맑은 고딕"/>
                <a:cs typeface="맑은 고딕"/>
              </a:rPr>
              <a:t>유온이 오르고</a:t>
            </a:r>
          </a:p>
          <a:p>
            <a:pPr algn="ctr" eaLnBrk="0">
              <a:lnSpc>
                <a:spcPct val="110000"/>
              </a:lnSpc>
              <a:spcAft>
                <a:spcPts val="400"/>
              </a:spcAft>
            </a:pPr>
            <a:r>
              <a:rPr sz="1550" b="0">
                <a:solidFill>
                  <a:srgbClr val="1F2A3A"/>
                </a:solidFill>
                <a:latin typeface="맑은 고딕"/>
                <a:ea typeface="맑은 고딕"/>
                <a:cs typeface="맑은 고딕"/>
              </a:rPr>
              <a:t>냉각 효율이</a:t>
            </a:r>
          </a:p>
          <a:p>
            <a:pPr algn="ctr" eaLnBrk="0">
              <a:lnSpc>
                <a:spcPct val="110000"/>
              </a:lnSpc>
              <a:spcAft>
                <a:spcPts val="400"/>
              </a:spcAft>
            </a:pPr>
            <a:r>
              <a:rPr sz="1550" b="0">
                <a:solidFill>
                  <a:srgbClr val="1F2A3A"/>
                </a:solidFill>
                <a:latin typeface="맑은 고딕"/>
                <a:ea typeface="맑은 고딕"/>
                <a:cs typeface="맑은 고딕"/>
              </a:rPr>
              <a:t>떨어진 것을 본다</a:t>
            </a:r>
          </a:p>
        </p:txBody>
      </p:sp>
      <p:sp>
        <p:nvSpPr>
          <p:cNvPr id="10" name="Right Arrow 9"/>
          <p:cNvSpPr/>
          <p:nvPr/>
        </p:nvSpPr>
        <p:spPr>
          <a:xfrm>
            <a:off x="2524292"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2844332" y="2190305"/>
            <a:ext cx="1911644" cy="3602101"/>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3434394" y="2373185"/>
            <a:ext cx="731520" cy="731520"/>
          </a:xfrm>
          <a:prstGeom prst="ellipse">
            <a:avLst/>
          </a:prstGeom>
          <a:solidFill>
            <a:srgbClr val="FFFFFF"/>
          </a:solidFill>
          <a:ln>
            <a:noFill/>
          </a:ln>
        </p:spPr>
        <p:txBody>
          <a:bodyPr rtlCol="0" anchor="ctr"/>
          <a:lstStyle/>
          <a:p>
            <a:pPr algn="ctr"/>
          </a:p>
        </p:txBody>
      </p:sp>
      <p:pic>
        <p:nvPicPr>
          <p:cNvPr id="13" name="아이콘:alert-triangle" descr="alert-triangle_13294B_1.6.png"/>
          <p:cNvPicPr>
            <a:picLocks noChangeAspect="1"/>
          </p:cNvPicPr>
          <p:nvPr/>
        </p:nvPicPr>
        <p:blipFill>
          <a:blip r:embed="rId4"/>
          <a:stretch>
            <a:fillRect/>
          </a:stretch>
        </p:blipFill>
        <p:spPr>
          <a:xfrm>
            <a:off x="3588014" y="2526804"/>
            <a:ext cx="424281" cy="424281"/>
          </a:xfrm>
          <a:prstGeom prst="rect">
            <a:avLst/>
          </a:prstGeom>
        </p:spPr>
      </p:pic>
      <p:sp>
        <p:nvSpPr>
          <p:cNvPr id="14" name="TextBox 13"/>
          <p:cNvSpPr txBox="1"/>
          <p:nvPr/>
        </p:nvSpPr>
        <p:spPr>
          <a:xfrm>
            <a:off x="2917484" y="3177857"/>
            <a:ext cx="1765340" cy="2541396"/>
          </a:xfrm>
          <a:prstGeom prst="rect">
            <a:avLst/>
          </a:prstGeom>
          <a:noFill/>
        </p:spPr>
        <p:txBody>
          <a:bodyPr wrap="square" anchor="t"/>
          <a:lstStyle/>
          <a:p>
            <a:pPr algn="ctr" eaLnBrk="0">
              <a:lnSpc>
                <a:spcPct val="110000"/>
              </a:lnSpc>
              <a:spcAft>
                <a:spcPts val="400"/>
              </a:spcAft>
            </a:pPr>
            <a:r>
              <a:rPr sz="1850" b="1">
                <a:solidFill>
                  <a:srgbClr val="13294B"/>
                </a:solidFill>
                <a:latin typeface="맑은 고딕"/>
                <a:ea typeface="맑은 고딕"/>
                <a:cs typeface="맑은 고딕"/>
              </a:rPr>
              <a:t>고장 유형 짐작</a:t>
            </a:r>
          </a:p>
          <a:p>
            <a:pPr algn="ctr" eaLnBrk="0">
              <a:lnSpc>
                <a:spcPct val="110000"/>
              </a:lnSpc>
              <a:spcAft>
                <a:spcPts val="400"/>
              </a:spcAft>
            </a:pPr>
            <a:r>
              <a:rPr sz="1550" b="0">
                <a:solidFill>
                  <a:srgbClr val="1F2A3A"/>
                </a:solidFill>
                <a:latin typeface="맑은 고딕"/>
                <a:ea typeface="맑은 고딕"/>
                <a:cs typeface="맑은 고딕"/>
              </a:rPr>
              <a:t>이 증상이면</a:t>
            </a:r>
          </a:p>
          <a:p>
            <a:pPr algn="ctr" eaLnBrk="0">
              <a:lnSpc>
                <a:spcPct val="110000"/>
              </a:lnSpc>
              <a:spcAft>
                <a:spcPts val="400"/>
              </a:spcAft>
            </a:pPr>
            <a:r>
              <a:rPr sz="1550" b="0">
                <a:solidFill>
                  <a:srgbClr val="1F2A3A"/>
                </a:solidFill>
                <a:latin typeface="맑은 고딕"/>
                <a:ea typeface="맑은 고딕"/>
                <a:cs typeface="맑은 고딕"/>
              </a:rPr>
              <a:t>쿨러가 냉각</a:t>
            </a:r>
          </a:p>
          <a:p>
            <a:pPr algn="ctr" eaLnBrk="0">
              <a:lnSpc>
                <a:spcPct val="110000"/>
              </a:lnSpc>
              <a:spcAft>
                <a:spcPts val="400"/>
              </a:spcAft>
            </a:pPr>
            <a:r>
              <a:rPr sz="1550" b="0">
                <a:solidFill>
                  <a:srgbClr val="1F2A3A"/>
                </a:solidFill>
                <a:latin typeface="맑은 고딕"/>
                <a:ea typeface="맑은 고딕"/>
                <a:cs typeface="맑은 고딕"/>
              </a:rPr>
              <a:t>능력을 잃은</a:t>
            </a:r>
          </a:p>
          <a:p>
            <a:pPr algn="ctr" eaLnBrk="0">
              <a:lnSpc>
                <a:spcPct val="110000"/>
              </a:lnSpc>
              <a:spcAft>
                <a:spcPts val="400"/>
              </a:spcAft>
            </a:pPr>
            <a:r>
              <a:rPr sz="1550" b="0">
                <a:solidFill>
                  <a:srgbClr val="1F2A3A"/>
                </a:solidFill>
                <a:latin typeface="맑은 고딕"/>
                <a:ea typeface="맑은 고딕"/>
                <a:cs typeface="맑은 고딕"/>
              </a:rPr>
              <a:t>것으로 본다</a:t>
            </a:r>
          </a:p>
        </p:txBody>
      </p:sp>
      <p:sp>
        <p:nvSpPr>
          <p:cNvPr id="15" name="Right Arrow 14"/>
          <p:cNvSpPr/>
          <p:nvPr/>
        </p:nvSpPr>
        <p:spPr>
          <a:xfrm>
            <a:off x="4819985"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5140025" y="2190305"/>
            <a:ext cx="1911644" cy="3602101"/>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5730087" y="2373185"/>
            <a:ext cx="731520" cy="731520"/>
          </a:xfrm>
          <a:prstGeom prst="ellipse">
            <a:avLst/>
          </a:prstGeom>
          <a:solidFill>
            <a:srgbClr val="FFFFFF"/>
          </a:solidFill>
          <a:ln>
            <a:noFill/>
          </a:ln>
        </p:spPr>
        <p:txBody>
          <a:bodyPr rtlCol="0" anchor="ctr"/>
          <a:lstStyle/>
          <a:p>
            <a:pPr algn="ctr"/>
          </a:p>
        </p:txBody>
      </p:sp>
      <p:pic>
        <p:nvPicPr>
          <p:cNvPr id="18" name="아이콘:list-check" descr="list-check_13294B_1.6.png"/>
          <p:cNvPicPr>
            <a:picLocks noChangeAspect="1"/>
          </p:cNvPicPr>
          <p:nvPr/>
        </p:nvPicPr>
        <p:blipFill>
          <a:blip r:embed="rId5"/>
          <a:stretch>
            <a:fillRect/>
          </a:stretch>
        </p:blipFill>
        <p:spPr>
          <a:xfrm>
            <a:off x="5883706" y="2526804"/>
            <a:ext cx="424281" cy="424281"/>
          </a:xfrm>
          <a:prstGeom prst="rect">
            <a:avLst/>
          </a:prstGeom>
        </p:spPr>
      </p:pic>
      <p:sp>
        <p:nvSpPr>
          <p:cNvPr id="19" name="TextBox 18"/>
          <p:cNvSpPr txBox="1"/>
          <p:nvPr/>
        </p:nvSpPr>
        <p:spPr>
          <a:xfrm>
            <a:off x="5213177" y="3177857"/>
            <a:ext cx="1765340" cy="2541396"/>
          </a:xfrm>
          <a:prstGeom prst="rect">
            <a:avLst/>
          </a:prstGeom>
          <a:noFill/>
        </p:spPr>
        <p:txBody>
          <a:bodyPr wrap="square" anchor="t"/>
          <a:lstStyle/>
          <a:p>
            <a:pPr algn="ctr" eaLnBrk="0">
              <a:lnSpc>
                <a:spcPct val="110000"/>
              </a:lnSpc>
              <a:spcAft>
                <a:spcPts val="400"/>
              </a:spcAft>
            </a:pPr>
            <a:r>
              <a:rPr sz="1850" b="1">
                <a:solidFill>
                  <a:srgbClr val="13294B"/>
                </a:solidFill>
                <a:latin typeface="맑은 고딕"/>
                <a:ea typeface="맑은 고딕"/>
                <a:cs typeface="맑은 고딕"/>
              </a:rPr>
              <a:t>원인 후보</a:t>
            </a:r>
          </a:p>
          <a:p>
            <a:pPr algn="ctr" eaLnBrk="0">
              <a:lnSpc>
                <a:spcPct val="110000"/>
              </a:lnSpc>
              <a:spcAft>
                <a:spcPts val="400"/>
              </a:spcAft>
            </a:pPr>
            <a:r>
              <a:rPr sz="1550" b="0">
                <a:solidFill>
                  <a:srgbClr val="1F2A3A"/>
                </a:solidFill>
                <a:latin typeface="맑은 고딕"/>
                <a:ea typeface="맑은 고딕"/>
                <a:cs typeface="맑은 고딕"/>
              </a:rPr>
              <a:t>경험과 매뉴얼에서</a:t>
            </a:r>
          </a:p>
          <a:p>
            <a:pPr algn="ctr" eaLnBrk="0">
              <a:lnSpc>
                <a:spcPct val="110000"/>
              </a:lnSpc>
              <a:spcAft>
                <a:spcPts val="400"/>
              </a:spcAft>
            </a:pPr>
            <a:r>
              <a:rPr sz="1550" b="0">
                <a:solidFill>
                  <a:srgbClr val="1F2A3A"/>
                </a:solidFill>
                <a:latin typeface="맑은 고딕"/>
                <a:ea typeface="맑은 고딕"/>
                <a:cs typeface="맑은 고딕"/>
              </a:rPr>
              <a:t>핀 오염,</a:t>
            </a:r>
          </a:p>
          <a:p>
            <a:pPr algn="ctr" eaLnBrk="0">
              <a:lnSpc>
                <a:spcPct val="110000"/>
              </a:lnSpc>
              <a:spcAft>
                <a:spcPts val="400"/>
              </a:spcAft>
            </a:pPr>
            <a:r>
              <a:rPr sz="1550" b="0">
                <a:solidFill>
                  <a:srgbClr val="1F2A3A"/>
                </a:solidFill>
                <a:latin typeface="맑은 고딕"/>
                <a:ea typeface="맑은 고딕"/>
                <a:cs typeface="맑은 고딕"/>
              </a:rPr>
              <a:t>팬 구동 불량,</a:t>
            </a:r>
          </a:p>
          <a:p>
            <a:pPr algn="ctr" eaLnBrk="0">
              <a:lnSpc>
                <a:spcPct val="110000"/>
              </a:lnSpc>
              <a:spcAft>
                <a:spcPts val="400"/>
              </a:spcAft>
            </a:pPr>
            <a:r>
              <a:rPr sz="1550" b="0">
                <a:solidFill>
                  <a:srgbClr val="1F2A3A"/>
                </a:solidFill>
                <a:latin typeface="맑은 고딕"/>
                <a:ea typeface="맑은 고딕"/>
                <a:cs typeface="맑은 고딕"/>
              </a:rPr>
              <a:t>주변 온도를 꼽는다</a:t>
            </a:r>
          </a:p>
        </p:txBody>
      </p:sp>
      <p:sp>
        <p:nvSpPr>
          <p:cNvPr id="20" name="Right Arrow 19"/>
          <p:cNvSpPr/>
          <p:nvPr/>
        </p:nvSpPr>
        <p:spPr>
          <a:xfrm>
            <a:off x="711567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7435717" y="2190305"/>
            <a:ext cx="1911644" cy="3602101"/>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8025780" y="2373185"/>
            <a:ext cx="731520" cy="731520"/>
          </a:xfrm>
          <a:prstGeom prst="ellipse">
            <a:avLst/>
          </a:prstGeom>
          <a:solidFill>
            <a:srgbClr val="FFFFFF"/>
          </a:solidFill>
          <a:ln>
            <a:noFill/>
          </a:ln>
        </p:spPr>
        <p:txBody>
          <a:bodyPr rtlCol="0" anchor="ctr"/>
          <a:lstStyle/>
          <a:p>
            <a:pPr algn="ctr"/>
          </a:p>
        </p:txBody>
      </p:sp>
      <p:pic>
        <p:nvPicPr>
          <p:cNvPr id="23" name="아이콘:zoom-check" descr="zoom-check_13294B_1.6.png"/>
          <p:cNvPicPr>
            <a:picLocks noChangeAspect="1"/>
          </p:cNvPicPr>
          <p:nvPr/>
        </p:nvPicPr>
        <p:blipFill>
          <a:blip r:embed="rId6"/>
          <a:stretch>
            <a:fillRect/>
          </a:stretch>
        </p:blipFill>
        <p:spPr>
          <a:xfrm>
            <a:off x="8179399" y="2526804"/>
            <a:ext cx="424281" cy="424281"/>
          </a:xfrm>
          <a:prstGeom prst="rect">
            <a:avLst/>
          </a:prstGeom>
        </p:spPr>
      </p:pic>
      <p:sp>
        <p:nvSpPr>
          <p:cNvPr id="24" name="TextBox 23"/>
          <p:cNvSpPr txBox="1"/>
          <p:nvPr/>
        </p:nvSpPr>
        <p:spPr>
          <a:xfrm>
            <a:off x="7508869" y="3177857"/>
            <a:ext cx="1765340" cy="2541396"/>
          </a:xfrm>
          <a:prstGeom prst="rect">
            <a:avLst/>
          </a:prstGeom>
          <a:noFill/>
        </p:spPr>
        <p:txBody>
          <a:bodyPr wrap="square" anchor="t"/>
          <a:lstStyle/>
          <a:p>
            <a:pPr algn="ctr" eaLnBrk="0">
              <a:lnSpc>
                <a:spcPct val="110000"/>
              </a:lnSpc>
              <a:spcAft>
                <a:spcPts val="400"/>
              </a:spcAft>
            </a:pPr>
            <a:r>
              <a:rPr sz="1850" b="1">
                <a:solidFill>
                  <a:srgbClr val="13294B"/>
                </a:solidFill>
                <a:latin typeface="맑은 고딕"/>
                <a:ea typeface="맑은 고딕"/>
                <a:cs typeface="맑은 고딕"/>
              </a:rPr>
              <a:t>증거 대조</a:t>
            </a:r>
          </a:p>
          <a:p>
            <a:pPr algn="ctr" eaLnBrk="0">
              <a:lnSpc>
                <a:spcPct val="110000"/>
              </a:lnSpc>
              <a:spcAft>
                <a:spcPts val="400"/>
              </a:spcAft>
            </a:pPr>
            <a:r>
              <a:rPr sz="1550" b="0">
                <a:solidFill>
                  <a:srgbClr val="1F2A3A"/>
                </a:solidFill>
                <a:latin typeface="맑은 고딕"/>
                <a:ea typeface="맑은 고딕"/>
                <a:cs typeface="맑은 고딕"/>
              </a:rPr>
              <a:t>후보마다 어떤</a:t>
            </a:r>
          </a:p>
          <a:p>
            <a:pPr algn="ctr" eaLnBrk="0">
              <a:lnSpc>
                <a:spcPct val="110000"/>
              </a:lnSpc>
              <a:spcAft>
                <a:spcPts val="400"/>
              </a:spcAft>
            </a:pPr>
            <a:r>
              <a:rPr sz="1550" b="0">
                <a:solidFill>
                  <a:srgbClr val="1F2A3A"/>
                </a:solidFill>
                <a:latin typeface="맑은 고딕"/>
                <a:ea typeface="맑은 고딕"/>
                <a:cs typeface="맑은 고딕"/>
              </a:rPr>
              <a:t>센서를 볼지 알고</a:t>
            </a:r>
          </a:p>
          <a:p>
            <a:pPr algn="ctr" eaLnBrk="0">
              <a:lnSpc>
                <a:spcPct val="110000"/>
              </a:lnSpc>
              <a:spcAft>
                <a:spcPts val="400"/>
              </a:spcAft>
            </a:pPr>
            <a:r>
              <a:rPr sz="1550" b="0">
                <a:solidFill>
                  <a:srgbClr val="1F2A3A"/>
                </a:solidFill>
                <a:latin typeface="맑은 고딕"/>
                <a:ea typeface="맑은 고딕"/>
                <a:cs typeface="맑은 고딕"/>
              </a:rPr>
              <a:t>값을 찾아</a:t>
            </a:r>
          </a:p>
          <a:p>
            <a:pPr algn="ctr" eaLnBrk="0">
              <a:lnSpc>
                <a:spcPct val="110000"/>
              </a:lnSpc>
              <a:spcAft>
                <a:spcPts val="400"/>
              </a:spcAft>
            </a:pPr>
            <a:r>
              <a:rPr sz="1550" b="0">
                <a:solidFill>
                  <a:srgbClr val="1F2A3A"/>
                </a:solidFill>
                <a:latin typeface="맑은 고딕"/>
                <a:ea typeface="맑은 고딕"/>
                <a:cs typeface="맑은 고딕"/>
              </a:rPr>
              <a:t>기준과 비교한다</a:t>
            </a:r>
          </a:p>
        </p:txBody>
      </p:sp>
      <p:sp>
        <p:nvSpPr>
          <p:cNvPr id="25" name="Right Arrow 24"/>
          <p:cNvSpPr/>
          <p:nvPr/>
        </p:nvSpPr>
        <p:spPr>
          <a:xfrm>
            <a:off x="9411370" y="3854196"/>
            <a:ext cx="256031" cy="274320"/>
          </a:xfrm>
          <a:prstGeom prst="rightArrow">
            <a:avLst/>
          </a:prstGeom>
          <a:solidFill>
            <a:srgbClr val="13294B"/>
          </a:solidFill>
          <a:ln>
            <a:noFill/>
          </a:ln>
        </p:spPr>
        <p:txBody>
          <a:bodyPr rtlCol="0" anchor="ctr"/>
          <a:lstStyle/>
          <a:p>
            <a:pPr algn="ctr"/>
          </a:p>
        </p:txBody>
      </p:sp>
      <p:sp>
        <p:nvSpPr>
          <p:cNvPr id="26" name="Rounded Rectangle 25"/>
          <p:cNvSpPr/>
          <p:nvPr/>
        </p:nvSpPr>
        <p:spPr>
          <a:xfrm>
            <a:off x="9731410" y="2190305"/>
            <a:ext cx="1911644" cy="3602101"/>
          </a:xfrm>
          <a:prstGeom prst="roundRect">
            <a:avLst>
              <a:gd name="adj" fmla="val 5000"/>
            </a:avLst>
          </a:prstGeom>
          <a:solidFill>
            <a:srgbClr val="E7F3FD"/>
          </a:solidFill>
          <a:ln w="25400">
            <a:solidFill>
              <a:srgbClr val="5CB8F2"/>
            </a:solidFill>
          </a:ln>
        </p:spPr>
        <p:txBody>
          <a:bodyPr rtlCol="0" anchor="ctr"/>
          <a:lstStyle/>
          <a:p>
            <a:pPr algn="ctr"/>
          </a:p>
        </p:txBody>
      </p:sp>
      <p:sp>
        <p:nvSpPr>
          <p:cNvPr id="27" name="Oval 26"/>
          <p:cNvSpPr/>
          <p:nvPr/>
        </p:nvSpPr>
        <p:spPr>
          <a:xfrm>
            <a:off x="10321472" y="2373185"/>
            <a:ext cx="731520" cy="731520"/>
          </a:xfrm>
          <a:prstGeom prst="ellipse">
            <a:avLst/>
          </a:prstGeom>
          <a:solidFill>
            <a:srgbClr val="5CB8F2"/>
          </a:solidFill>
          <a:ln>
            <a:noFill/>
          </a:ln>
        </p:spPr>
        <p:txBody>
          <a:bodyPr rtlCol="0" anchor="ctr"/>
          <a:lstStyle/>
          <a:p>
            <a:pPr algn="ctr"/>
          </a:p>
        </p:txBody>
      </p:sp>
      <p:pic>
        <p:nvPicPr>
          <p:cNvPr id="28" name="아이콘:user-check" descr="user-check_13294B_1.6.png"/>
          <p:cNvPicPr>
            <a:picLocks noChangeAspect="1"/>
          </p:cNvPicPr>
          <p:nvPr/>
        </p:nvPicPr>
        <p:blipFill>
          <a:blip r:embed="rId7"/>
          <a:stretch>
            <a:fillRect/>
          </a:stretch>
        </p:blipFill>
        <p:spPr>
          <a:xfrm>
            <a:off x="10475092" y="2526804"/>
            <a:ext cx="424281" cy="424281"/>
          </a:xfrm>
          <a:prstGeom prst="rect">
            <a:avLst/>
          </a:prstGeom>
        </p:spPr>
      </p:pic>
      <p:sp>
        <p:nvSpPr>
          <p:cNvPr id="29" name="TextBox 28"/>
          <p:cNvSpPr txBox="1"/>
          <p:nvPr/>
        </p:nvSpPr>
        <p:spPr>
          <a:xfrm>
            <a:off x="9804562" y="3177857"/>
            <a:ext cx="1765340" cy="2541396"/>
          </a:xfrm>
          <a:prstGeom prst="rect">
            <a:avLst/>
          </a:prstGeom>
          <a:noFill/>
        </p:spPr>
        <p:txBody>
          <a:bodyPr wrap="square" anchor="t"/>
          <a:lstStyle/>
          <a:p>
            <a:pPr algn="ctr" eaLnBrk="0">
              <a:lnSpc>
                <a:spcPct val="110000"/>
              </a:lnSpc>
              <a:spcAft>
                <a:spcPts val="400"/>
              </a:spcAft>
            </a:pPr>
            <a:r>
              <a:rPr sz="1850" b="1">
                <a:solidFill>
                  <a:srgbClr val="13294B"/>
                </a:solidFill>
                <a:latin typeface="맑은 고딕"/>
                <a:ea typeface="맑은 고딕"/>
                <a:cs typeface="맑은 고딕"/>
              </a:rPr>
              <a:t>조치 선택</a:t>
            </a:r>
          </a:p>
          <a:p>
            <a:pPr algn="ctr" eaLnBrk="0">
              <a:lnSpc>
                <a:spcPct val="110000"/>
              </a:lnSpc>
              <a:spcAft>
                <a:spcPts val="400"/>
              </a:spcAft>
            </a:pPr>
            <a:r>
              <a:rPr sz="1550" b="0">
                <a:solidFill>
                  <a:srgbClr val="1F2A3A"/>
                </a:solidFill>
                <a:latin typeface="맑은 고딕"/>
                <a:ea typeface="맑은 고딕"/>
                <a:cs typeface="맑은 고딕"/>
              </a:rPr>
              <a:t>원인에 맞는</a:t>
            </a:r>
          </a:p>
          <a:p>
            <a:pPr algn="ctr" eaLnBrk="0">
              <a:lnSpc>
                <a:spcPct val="110000"/>
              </a:lnSpc>
              <a:spcAft>
                <a:spcPts val="400"/>
              </a:spcAft>
            </a:pPr>
            <a:r>
              <a:rPr sz="1550" b="0">
                <a:solidFill>
                  <a:srgbClr val="1F2A3A"/>
                </a:solidFill>
                <a:latin typeface="맑은 고딕"/>
                <a:ea typeface="맑은 고딕"/>
                <a:cs typeface="맑은 고딕"/>
              </a:rPr>
              <a:t>조치를 고르고</a:t>
            </a:r>
          </a:p>
          <a:p>
            <a:pPr algn="ctr" eaLnBrk="0">
              <a:lnSpc>
                <a:spcPct val="110000"/>
              </a:lnSpc>
              <a:spcAft>
                <a:spcPts val="400"/>
              </a:spcAft>
            </a:pPr>
            <a:r>
              <a:rPr sz="1550" b="0">
                <a:solidFill>
                  <a:srgbClr val="1F2A3A"/>
                </a:solidFill>
                <a:latin typeface="맑은 고딕"/>
                <a:ea typeface="맑은 고딕"/>
                <a:cs typeface="맑은 고딕"/>
              </a:rPr>
              <a:t>생산 일정도</a:t>
            </a:r>
          </a:p>
          <a:p>
            <a:pPr algn="ctr" eaLnBrk="0">
              <a:lnSpc>
                <a:spcPct val="110000"/>
              </a:lnSpc>
              <a:spcAft>
                <a:spcPts val="400"/>
              </a:spcAft>
            </a:pPr>
            <a:r>
              <a:rPr sz="1550" b="0">
                <a:solidFill>
                  <a:srgbClr val="1F2A3A"/>
                </a:solidFill>
                <a:latin typeface="맑은 고딕"/>
                <a:ea typeface="맑은 고딕"/>
                <a:cs typeface="맑은 고딕"/>
              </a:rPr>
              <a:t>함께 고려한다</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표 · 문서 · 코드로 적어 둔 판단 기준의 한계</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표·문서의 연결과 코드 속 판단 기준을 지식으로 분리해야, 사람과 컴퓨터가 함께 검토하고 쓸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52</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적는 방식</a:t>
            </a:r>
          </a:p>
        </p:txBody>
      </p:sp>
      <p:sp>
        <p:nvSpPr>
          <p:cNvPr id="8" name="TextBox 7"/>
          <p:cNvSpPr txBox="1"/>
          <p:nvPr/>
        </p:nvSpPr>
        <p:spPr>
          <a:xfrm>
            <a:off x="3200400" y="1961387"/>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한계</a:t>
            </a:r>
          </a:p>
        </p:txBody>
      </p:sp>
      <p:sp>
        <p:nvSpPr>
          <p:cNvPr id="9" name="TextBox 8"/>
          <p:cNvSpPr txBox="1"/>
          <p:nvPr/>
        </p:nvSpPr>
        <p:spPr>
          <a:xfrm>
            <a:off x="9448495" y="1961387"/>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되는 것</a:t>
            </a:r>
          </a:p>
        </p:txBody>
      </p:sp>
      <p:sp>
        <p:nvSpPr>
          <p:cNvPr id="10" name="Rounded Rectangle 9"/>
          <p:cNvSpPr/>
          <p:nvPr/>
        </p:nvSpPr>
        <p:spPr>
          <a:xfrm>
            <a:off x="548640" y="23957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3637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표</a:t>
            </a:r>
          </a:p>
        </p:txBody>
      </p:sp>
      <p:sp>
        <p:nvSpPr>
          <p:cNvPr id="12" name="TextBox 11"/>
          <p:cNvSpPr txBox="1"/>
          <p:nvPr/>
        </p:nvSpPr>
        <p:spPr>
          <a:xfrm>
            <a:off x="3200400" y="23637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원인과 증거가 여럿이면 같은 고장 유형이 여러 줄에 반복된다</a:t>
            </a:r>
          </a:p>
          <a:p>
            <a:pPr algn="l" eaLnBrk="0">
              <a:lnSpc>
                <a:spcPct val="110000"/>
              </a:lnSpc>
            </a:pPr>
            <a:r>
              <a:rPr sz="1400" b="0">
                <a:solidFill>
                  <a:srgbClr val="1F2A3A"/>
                </a:solidFill>
                <a:latin typeface="맑은 고딕"/>
                <a:ea typeface="맑은 고딕"/>
                <a:cs typeface="맑은 고딕"/>
              </a:rPr>
              <a:t>표 사이의 의미 연결은 따로 정의해야 한다</a:t>
            </a:r>
          </a:p>
        </p:txBody>
      </p:sp>
      <p:sp>
        <p:nvSpPr>
          <p:cNvPr id="13" name="TextBox 12"/>
          <p:cNvSpPr txBox="1"/>
          <p:nvPr/>
        </p:nvSpPr>
        <p:spPr>
          <a:xfrm>
            <a:off x="9448495" y="23637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사람이 읽는다</a:t>
            </a:r>
          </a:p>
        </p:txBody>
      </p:sp>
      <p:sp>
        <p:nvSpPr>
          <p:cNvPr id="14" name="Rounded Rectangle 13"/>
          <p:cNvSpPr/>
          <p:nvPr/>
        </p:nvSpPr>
        <p:spPr>
          <a:xfrm>
            <a:off x="548640" y="33101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2781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문서</a:t>
            </a:r>
          </a:p>
        </p:txBody>
      </p:sp>
      <p:sp>
        <p:nvSpPr>
          <p:cNvPr id="16" name="TextBox 15"/>
          <p:cNvSpPr txBox="1"/>
          <p:nvPr/>
        </p:nvSpPr>
        <p:spPr>
          <a:xfrm>
            <a:off x="3200400" y="32781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매뉴얼 HM-8처럼 사람이 읽고 해석해야 판단에 쓸 수 있다</a:t>
            </a:r>
          </a:p>
          <a:p>
            <a:pPr algn="l" eaLnBrk="0">
              <a:lnSpc>
                <a:spcPct val="110000"/>
              </a:lnSpc>
            </a:pPr>
            <a:r>
              <a:rPr sz="1400" b="0">
                <a:solidFill>
                  <a:srgbClr val="1F2A3A"/>
                </a:solidFill>
                <a:latin typeface="맑은 고딕"/>
                <a:ea typeface="맑은 고딕"/>
                <a:cs typeface="맑은 고딕"/>
              </a:rPr>
              <a:t>같은 대상을 문서마다 다른 말로 부르기도 한다</a:t>
            </a:r>
          </a:p>
        </p:txBody>
      </p:sp>
      <p:sp>
        <p:nvSpPr>
          <p:cNvPr id="17" name="TextBox 16"/>
          <p:cNvSpPr txBox="1"/>
          <p:nvPr/>
        </p:nvSpPr>
        <p:spPr>
          <a:xfrm>
            <a:off x="9448495" y="32781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사람이 읽는다</a:t>
            </a:r>
          </a:p>
        </p:txBody>
      </p:sp>
      <p:sp>
        <p:nvSpPr>
          <p:cNvPr id="18" name="Rounded Rectangle 17"/>
          <p:cNvSpPr/>
          <p:nvPr/>
        </p:nvSpPr>
        <p:spPr>
          <a:xfrm>
            <a:off x="548640" y="42245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1925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프로그램 코드</a:t>
            </a:r>
          </a:p>
        </p:txBody>
      </p:sp>
      <p:sp>
        <p:nvSpPr>
          <p:cNvPr id="20" name="TextBox 19"/>
          <p:cNvSpPr txBox="1"/>
          <p:nvPr/>
        </p:nvSpPr>
        <p:spPr>
          <a:xfrm>
            <a:off x="3200400" y="41925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기준이 바뀔 때마다 개발자가 코드를 고친다</a:t>
            </a:r>
          </a:p>
          <a:p>
            <a:pPr algn="l" eaLnBrk="0">
              <a:lnSpc>
                <a:spcPct val="110000"/>
              </a:lnSpc>
            </a:pPr>
            <a:r>
              <a:rPr sz="1400" b="0">
                <a:solidFill>
                  <a:srgbClr val="1F2A3A"/>
                </a:solidFill>
                <a:latin typeface="맑은 고딕"/>
                <a:ea typeface="맑은 고딕"/>
                <a:cs typeface="맑은 고딕"/>
              </a:rPr>
              <a:t>판단 근거와 출처는 별도로 기록해야 한다</a:t>
            </a:r>
          </a:p>
        </p:txBody>
      </p:sp>
      <p:sp>
        <p:nvSpPr>
          <p:cNvPr id="21" name="TextBox 20"/>
          <p:cNvSpPr txBox="1"/>
          <p:nvPr/>
        </p:nvSpPr>
        <p:spPr>
          <a:xfrm>
            <a:off x="9448495" y="41925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컴퓨터가 실행한다</a:t>
            </a:r>
          </a:p>
        </p:txBody>
      </p:sp>
      <p:sp>
        <p:nvSpPr>
          <p:cNvPr id="22" name="Rounded Rectangle 21"/>
          <p:cNvSpPr/>
          <p:nvPr/>
        </p:nvSpPr>
        <p:spPr>
          <a:xfrm>
            <a:off x="548640" y="5138927"/>
            <a:ext cx="11094415" cy="850392"/>
          </a:xfrm>
          <a:prstGeom prst="roundRect">
            <a:avLst>
              <a:gd name="adj" fmla="val 8000"/>
            </a:avLst>
          </a:prstGeom>
          <a:solidFill>
            <a:srgbClr val="E7F3FD"/>
          </a:solidFill>
          <a:ln>
            <a:noFill/>
          </a:ln>
        </p:spPr>
        <p:txBody>
          <a:bodyPr rtlCol="0" anchor="ctr"/>
          <a:lstStyle/>
          <a:p>
            <a:pPr algn="ctr"/>
          </a:p>
        </p:txBody>
      </p:sp>
      <p:sp>
        <p:nvSpPr>
          <p:cNvPr id="23" name="TextBox 22"/>
          <p:cNvSpPr txBox="1"/>
          <p:nvPr/>
        </p:nvSpPr>
        <p:spPr>
          <a:xfrm>
            <a:off x="685800" y="51069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필요한 것</a:t>
            </a:r>
          </a:p>
        </p:txBody>
      </p:sp>
      <p:sp>
        <p:nvSpPr>
          <p:cNvPr id="24" name="TextBox 23"/>
          <p:cNvSpPr txBox="1"/>
          <p:nvPr/>
        </p:nvSpPr>
        <p:spPr>
          <a:xfrm>
            <a:off x="3200400" y="51069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사람이 검토하고 컴퓨터가 따라가도록 대상과 관계를 적는다</a:t>
            </a:r>
          </a:p>
          <a:p>
            <a:pPr algn="l" eaLnBrk="0">
              <a:lnSpc>
                <a:spcPct val="110000"/>
              </a:lnSpc>
            </a:pPr>
            <a:r>
              <a:rPr sz="1400" b="0">
                <a:solidFill>
                  <a:srgbClr val="1F2A3A"/>
                </a:solidFill>
                <a:latin typeface="맑은 고딕"/>
                <a:ea typeface="맑은 고딕"/>
                <a:cs typeface="맑은 고딕"/>
              </a:rPr>
              <a:t>지식을 프로그램과 별개로 고친다</a:t>
            </a:r>
          </a:p>
        </p:txBody>
      </p:sp>
      <p:sp>
        <p:nvSpPr>
          <p:cNvPr id="25" name="TextBox 24"/>
          <p:cNvSpPr txBox="1"/>
          <p:nvPr/>
        </p:nvSpPr>
        <p:spPr>
          <a:xfrm>
            <a:off x="9448495" y="5106923"/>
            <a:ext cx="2103120" cy="914400"/>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둘 다</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AI에게 그대로 묻는 방식과 지식을 조회하게 하는 방식</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AI가 설비의 지식과 현재 값을 조회하고 기록해야, 답이 무엇에 근거했는지 확인할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53</a:t>
            </a:r>
          </a:p>
        </p:txBody>
      </p:sp>
      <p:sp>
        <p:nvSpPr>
          <p:cNvPr id="6" name="Rounded Rectangle 5"/>
          <p:cNvSpPr/>
          <p:nvPr/>
        </p:nvSpPr>
        <p:spPr>
          <a:xfrm>
            <a:off x="548640" y="2259711"/>
            <a:ext cx="5181447" cy="3463290"/>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460879"/>
            <a:ext cx="731520" cy="731520"/>
          </a:xfrm>
          <a:prstGeom prst="ellipse">
            <a:avLst/>
          </a:prstGeom>
          <a:solidFill>
            <a:srgbClr val="FFFFFF"/>
          </a:solidFill>
          <a:ln>
            <a:noFill/>
          </a:ln>
        </p:spPr>
        <p:txBody>
          <a:bodyPr rtlCol="0" anchor="ctr"/>
          <a:lstStyle/>
          <a:p>
            <a:pPr algn="ctr"/>
          </a:p>
        </p:txBody>
      </p:sp>
      <p:pic>
        <p:nvPicPr>
          <p:cNvPr id="8" name="아이콘:message-chatbot" descr="message-chatbot_13294B_1.6.png"/>
          <p:cNvPicPr>
            <a:picLocks noChangeAspect="1"/>
          </p:cNvPicPr>
          <p:nvPr/>
        </p:nvPicPr>
        <p:blipFill>
          <a:blip r:embed="rId3"/>
          <a:stretch>
            <a:fillRect/>
          </a:stretch>
        </p:blipFill>
        <p:spPr>
          <a:xfrm>
            <a:off x="976579" y="2614498"/>
            <a:ext cx="424281" cy="424281"/>
          </a:xfrm>
          <a:prstGeom prst="rect">
            <a:avLst/>
          </a:prstGeom>
        </p:spPr>
      </p:pic>
      <p:sp>
        <p:nvSpPr>
          <p:cNvPr id="9" name="TextBox 8"/>
          <p:cNvSpPr txBox="1"/>
          <p:nvPr/>
        </p:nvSpPr>
        <p:spPr>
          <a:xfrm>
            <a:off x="1691640" y="2460879"/>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AI에게 그대로 묻는다</a:t>
            </a:r>
          </a:p>
        </p:txBody>
      </p:sp>
      <p:sp>
        <p:nvSpPr>
          <p:cNvPr id="10" name="TextBox 9"/>
          <p:cNvSpPr txBox="1"/>
          <p:nvPr/>
        </p:nvSpPr>
        <p:spPr>
          <a:xfrm>
            <a:off x="822959" y="3311271"/>
            <a:ext cx="4632807" cy="1863090"/>
          </a:xfrm>
          <a:prstGeom prst="rect">
            <a:avLst/>
          </a:prstGeom>
          <a:noFill/>
        </p:spPr>
        <p:txBody>
          <a:bodyPr wrap="square" anchor="t"/>
          <a:lstStyle/>
          <a:p>
            <a:pPr algn="l" eaLnBrk="0" marL="171450" indent="-171450">
              <a:lnSpc>
                <a:spcPct val="110000"/>
              </a:lnSpc>
              <a:spcAft>
                <a:spcPts val="600"/>
              </a:spcAft>
            </a:pPr>
            <a:r>
              <a:rPr sz="1500" b="0">
                <a:solidFill>
                  <a:srgbClr val="1F2A3A"/>
                </a:solidFill>
                <a:latin typeface="맑은 고딕"/>
                <a:ea typeface="맑은 고딕"/>
                <a:cs typeface="맑은 고딕"/>
              </a:rPr>
              <a:t>• 일반적인 유압 설비 지식으로 그럴듯한 답을 낸다</a:t>
            </a:r>
          </a:p>
          <a:p>
            <a:pPr algn="l" eaLnBrk="0" marL="171450" indent="-171450">
              <a:lnSpc>
                <a:spcPct val="110000"/>
              </a:lnSpc>
              <a:spcAft>
                <a:spcPts val="600"/>
              </a:spcAft>
            </a:pPr>
            <a:r>
              <a:rPr sz="1500" b="0">
                <a:solidFill>
                  <a:srgbClr val="1F2A3A"/>
                </a:solidFill>
                <a:latin typeface="맑은 고딕"/>
                <a:ea typeface="맑은 고딕"/>
                <a:cs typeface="맑은 고딕"/>
              </a:rPr>
              <a:t>• 이 설비의 매뉴얼과 판별 기준을 알지 못한다</a:t>
            </a:r>
          </a:p>
          <a:p>
            <a:pPr algn="l" eaLnBrk="0" marL="171450" indent="-171450">
              <a:lnSpc>
                <a:spcPct val="110000"/>
              </a:lnSpc>
              <a:spcAft>
                <a:spcPts val="600"/>
              </a:spcAft>
            </a:pPr>
            <a:r>
              <a:rPr sz="1500" b="0">
                <a:solidFill>
                  <a:srgbClr val="1F2A3A"/>
                </a:solidFill>
                <a:latin typeface="맑은 고딕"/>
                <a:ea typeface="맑은 고딕"/>
                <a:cs typeface="맑은 고딕"/>
              </a:rPr>
              <a:t>• 현재 센서 값을 보지 못한다</a:t>
            </a:r>
          </a:p>
          <a:p>
            <a:pPr algn="l" eaLnBrk="0" marL="171450" indent="-171450">
              <a:lnSpc>
                <a:spcPct val="110000"/>
              </a:lnSpc>
              <a:spcAft>
                <a:spcPts val="600"/>
              </a:spcAft>
            </a:pPr>
            <a:r>
              <a:rPr sz="1500" b="0">
                <a:solidFill>
                  <a:srgbClr val="1F2A3A"/>
                </a:solidFill>
                <a:latin typeface="맑은 고딕"/>
                <a:ea typeface="맑은 고딕"/>
                <a:cs typeface="맑은 고딕"/>
              </a:rPr>
              <a:t>• 답의 근거를 확인할 방법이 없다</a:t>
            </a:r>
          </a:p>
        </p:txBody>
      </p:sp>
      <p:sp>
        <p:nvSpPr>
          <p:cNvPr id="11" name="Rounded Rectangle 10"/>
          <p:cNvSpPr/>
          <p:nvPr/>
        </p:nvSpPr>
        <p:spPr>
          <a:xfrm>
            <a:off x="868680" y="5265801"/>
            <a:ext cx="187452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265801"/>
            <a:ext cx="187452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근거를 확인할 수 없다</a:t>
            </a:r>
          </a:p>
        </p:txBody>
      </p:sp>
      <p:sp>
        <p:nvSpPr>
          <p:cNvPr id="13" name="Rounded Rectangle 12"/>
          <p:cNvSpPr/>
          <p:nvPr/>
        </p:nvSpPr>
        <p:spPr>
          <a:xfrm>
            <a:off x="6461607" y="2259711"/>
            <a:ext cx="5181447" cy="3463290"/>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460879"/>
            <a:ext cx="731520" cy="731520"/>
          </a:xfrm>
          <a:prstGeom prst="ellipse">
            <a:avLst/>
          </a:prstGeom>
          <a:solidFill>
            <a:srgbClr val="5CB8F2"/>
          </a:solidFill>
          <a:ln>
            <a:noFill/>
          </a:ln>
        </p:spPr>
        <p:txBody>
          <a:bodyPr rtlCol="0" anchor="ctr"/>
          <a:lstStyle/>
          <a:p>
            <a:pPr algn="ctr"/>
          </a:p>
        </p:txBody>
      </p:sp>
      <p:pic>
        <p:nvPicPr>
          <p:cNvPr id="15" name="아이콘:report-search" descr="report-search_13294B_1.6.png"/>
          <p:cNvPicPr>
            <a:picLocks noChangeAspect="1"/>
          </p:cNvPicPr>
          <p:nvPr/>
        </p:nvPicPr>
        <p:blipFill>
          <a:blip r:embed="rId4"/>
          <a:stretch>
            <a:fillRect/>
          </a:stretch>
        </p:blipFill>
        <p:spPr>
          <a:xfrm>
            <a:off x="6889546" y="2614498"/>
            <a:ext cx="424281" cy="424281"/>
          </a:xfrm>
          <a:prstGeom prst="rect">
            <a:avLst/>
          </a:prstGeom>
        </p:spPr>
      </p:pic>
      <p:sp>
        <p:nvSpPr>
          <p:cNvPr id="16" name="TextBox 15"/>
          <p:cNvSpPr txBox="1"/>
          <p:nvPr/>
        </p:nvSpPr>
        <p:spPr>
          <a:xfrm>
            <a:off x="7604607" y="2460879"/>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지식을 조회하게 한다</a:t>
            </a:r>
          </a:p>
        </p:txBody>
      </p:sp>
      <p:sp>
        <p:nvSpPr>
          <p:cNvPr id="17" name="TextBox 16"/>
          <p:cNvSpPr txBox="1"/>
          <p:nvPr/>
        </p:nvSpPr>
        <p:spPr>
          <a:xfrm>
            <a:off x="6735927" y="3311271"/>
            <a:ext cx="4632807" cy="1863090"/>
          </a:xfrm>
          <a:prstGeom prst="rect">
            <a:avLst/>
          </a:prstGeom>
          <a:noFill/>
        </p:spPr>
        <p:txBody>
          <a:bodyPr wrap="square" anchor="t"/>
          <a:lstStyle/>
          <a:p>
            <a:pPr algn="l" eaLnBrk="0" marL="160020" indent="-160020">
              <a:lnSpc>
                <a:spcPct val="110000"/>
              </a:lnSpc>
              <a:spcAft>
                <a:spcPts val="600"/>
              </a:spcAft>
            </a:pPr>
            <a:r>
              <a:rPr sz="1400" b="0">
                <a:solidFill>
                  <a:srgbClr val="1F2A3A"/>
                </a:solidFill>
                <a:latin typeface="맑은 고딕"/>
                <a:ea typeface="맑은 고딕"/>
                <a:cs typeface="맑은 고딕"/>
              </a:rPr>
              <a:t>• 적어 둔 관계를 따라 원인 후보와 판별 기준을 찾는다</a:t>
            </a:r>
          </a:p>
          <a:p>
            <a:pPr algn="l" eaLnBrk="0" marL="160020" indent="-160020">
              <a:lnSpc>
                <a:spcPct val="110000"/>
              </a:lnSpc>
              <a:spcAft>
                <a:spcPts val="600"/>
              </a:spcAft>
            </a:pPr>
            <a:r>
              <a:rPr sz="1400" b="0">
                <a:solidFill>
                  <a:srgbClr val="1F2A3A"/>
                </a:solidFill>
                <a:latin typeface="맑은 고딕"/>
                <a:ea typeface="맑은 고딕"/>
                <a:cs typeface="맑은 고딕"/>
              </a:rPr>
              <a:t>• 기준에 적힌 값을 저장소에서 읽어 대조한다</a:t>
            </a:r>
          </a:p>
          <a:p>
            <a:pPr algn="l" eaLnBrk="0" marL="160020" indent="-160020">
              <a:lnSpc>
                <a:spcPct val="110000"/>
              </a:lnSpc>
              <a:spcAft>
                <a:spcPts val="600"/>
              </a:spcAft>
            </a:pPr>
            <a:r>
              <a:rPr sz="1400" b="0">
                <a:solidFill>
                  <a:srgbClr val="1F2A3A"/>
                </a:solidFill>
                <a:latin typeface="맑은 고딕"/>
                <a:ea typeface="맑은 고딕"/>
                <a:cs typeface="맑은 고딕"/>
              </a:rPr>
              <a:t>• 값이 오래되었거나 비어 있으면 판정을 보류한다</a:t>
            </a:r>
          </a:p>
          <a:p>
            <a:pPr algn="l" eaLnBrk="0" marL="160020" indent="-160020">
              <a:lnSpc>
                <a:spcPct val="110000"/>
              </a:lnSpc>
              <a:spcAft>
                <a:spcPts val="600"/>
              </a:spcAft>
            </a:pPr>
            <a:r>
              <a:rPr sz="1400" b="0">
                <a:solidFill>
                  <a:srgbClr val="1F2A3A"/>
                </a:solidFill>
                <a:latin typeface="맑은 고딕"/>
                <a:ea typeface="맑은 고딕"/>
                <a:cs typeface="맑은 고딕"/>
              </a:rPr>
              <a:t>• 어떤 지식과 값으로 판단했는지 기록에 남는다</a:t>
            </a:r>
          </a:p>
        </p:txBody>
      </p:sp>
      <p:sp>
        <p:nvSpPr>
          <p:cNvPr id="18" name="Rounded Rectangle 17"/>
          <p:cNvSpPr/>
          <p:nvPr/>
        </p:nvSpPr>
        <p:spPr>
          <a:xfrm>
            <a:off x="6781647" y="5265801"/>
            <a:ext cx="1325879"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265801"/>
            <a:ext cx="132587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근거가 남는다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05</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온톨로지의 정의와 관계</a:t>
            </a:r>
          </a:p>
        </p:txBody>
      </p:sp>
      <p:sp>
        <p:nvSpPr>
          <p:cNvPr id="6" name="Rounded Rectangle 5"/>
          <p:cNvSpPr/>
          <p:nvPr/>
        </p:nvSpPr>
        <p:spPr>
          <a:xfrm>
            <a:off x="3108960" y="4160520"/>
            <a:ext cx="1290319"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1290319"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 · 실습</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대상의 종류, 속성, 관계, 제약을 정의해 사람과 컴퓨터가 같은 뜻으로 쓰게 하는 방법</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온톨로지: 대상의 종류, 속성, 관계, 제약을 정의한 지식 모델</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온톨로지는 대상의 종류·속성·관계·제약을 </a:t>
            </a:r>
            <a:r>
              <a:rPr sz="1600" b="1">
                <a:solidFill>
                  <a:srgbClr val="1A6FC4"/>
                </a:solidFill>
                <a:latin typeface="맑은 고딕"/>
                <a:ea typeface="맑은 고딕"/>
                <a:cs typeface="맑은 고딕"/>
              </a:rPr>
              <a:t>명시적으로 정의</a:t>
            </a:r>
            <a:r>
              <a:rPr sz="1600" b="0">
                <a:solidFill>
                  <a:srgbClr val="556175"/>
                </a:solidFill>
                <a:latin typeface="맑은 고딕"/>
                <a:ea typeface="맑은 고딕"/>
                <a:cs typeface="맑은 고딕"/>
              </a:rPr>
              <a:t>해 사람과 컴퓨터가 함께 쓰는 지식 모델이다.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55</a:t>
            </a:r>
          </a:p>
        </p:txBody>
      </p:sp>
      <p:sp>
        <p:nvSpPr>
          <p:cNvPr id="6" name="Rounded Rectangle 5"/>
          <p:cNvSpPr/>
          <p:nvPr/>
        </p:nvSpPr>
        <p:spPr>
          <a:xfrm>
            <a:off x="548640" y="1655064"/>
            <a:ext cx="11094415" cy="890625"/>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1627632"/>
            <a:ext cx="3291839" cy="945489"/>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온톨로지</a:t>
            </a:r>
          </a:p>
          <a:p>
            <a:pPr algn="l" eaLnBrk="0">
              <a:lnSpc>
                <a:spcPct val="110000"/>
              </a:lnSpc>
              <a:spcAft>
                <a:spcPts val="200"/>
              </a:spcAft>
            </a:pPr>
            <a:r>
              <a:rPr sz="1150" b="0">
                <a:solidFill>
                  <a:srgbClr val="556175"/>
                </a:solidFill>
                <a:latin typeface="맑은 고딕"/>
                <a:ea typeface="맑은 고딕"/>
                <a:cs typeface="맑은 고딕"/>
              </a:rPr>
              <a:t>Ontology</a:t>
            </a:r>
          </a:p>
        </p:txBody>
      </p:sp>
      <p:sp>
        <p:nvSpPr>
          <p:cNvPr id="8" name="TextBox 7"/>
          <p:cNvSpPr txBox="1"/>
          <p:nvPr/>
        </p:nvSpPr>
        <p:spPr>
          <a:xfrm>
            <a:off x="4023359" y="1627632"/>
            <a:ext cx="7528255" cy="945489"/>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한 분야의 대상 종류, 속성, 관계, 제약을 명시적으로 정의한 지식 모델이다.</a:t>
            </a:r>
          </a:p>
          <a:p>
            <a:pPr algn="l" eaLnBrk="0">
              <a:lnSpc>
                <a:spcPct val="110000"/>
              </a:lnSpc>
              <a:spcAft>
                <a:spcPts val="300"/>
              </a:spcAft>
            </a:pPr>
            <a:r>
              <a:rPr sz="1400" b="0">
                <a:solidFill>
                  <a:srgbClr val="1F2A3A"/>
                </a:solidFill>
                <a:latin typeface="맑은 고딕"/>
                <a:ea typeface="맑은 고딕"/>
                <a:cs typeface="맑은 고딕"/>
              </a:rPr>
              <a:t>하나의 정의를 쓰므로 「쿨러 핀 오염」 같은 말이 사람에게도 컴퓨터에게도 같은 뜻이 된다.</a:t>
            </a:r>
          </a:p>
        </p:txBody>
      </p:sp>
      <p:sp>
        <p:nvSpPr>
          <p:cNvPr id="9" name="Rectangle 8"/>
          <p:cNvSpPr/>
          <p:nvPr/>
        </p:nvSpPr>
        <p:spPr>
          <a:xfrm>
            <a:off x="548640" y="2563977"/>
            <a:ext cx="11094415" cy="13716"/>
          </a:xfrm>
          <a:prstGeom prst="rect">
            <a:avLst/>
          </a:prstGeom>
          <a:solidFill>
            <a:srgbClr val="D3D9E1"/>
          </a:solidFill>
          <a:ln>
            <a:noFill/>
          </a:ln>
        </p:spPr>
        <p:txBody>
          <a:bodyPr rtlCol="0" anchor="ctr"/>
          <a:lstStyle/>
          <a:p>
            <a:pPr algn="ctr"/>
          </a:p>
        </p:txBody>
      </p:sp>
      <p:sp>
        <p:nvSpPr>
          <p:cNvPr id="10" name="TextBox 9"/>
          <p:cNvSpPr txBox="1"/>
          <p:nvPr/>
        </p:nvSpPr>
        <p:spPr>
          <a:xfrm>
            <a:off x="640080" y="2573121"/>
            <a:ext cx="3291839" cy="945489"/>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종류</a:t>
            </a:r>
          </a:p>
          <a:p>
            <a:pPr algn="l" eaLnBrk="0">
              <a:lnSpc>
                <a:spcPct val="110000"/>
              </a:lnSpc>
              <a:spcAft>
                <a:spcPts val="200"/>
              </a:spcAft>
            </a:pPr>
            <a:r>
              <a:rPr sz="1150" b="0">
                <a:solidFill>
                  <a:srgbClr val="556175"/>
                </a:solidFill>
                <a:latin typeface="맑은 고딕"/>
                <a:ea typeface="맑은 고딕"/>
                <a:cs typeface="맑은 고딕"/>
              </a:rPr>
              <a:t>대상의 갈래</a:t>
            </a:r>
          </a:p>
        </p:txBody>
      </p:sp>
      <p:sp>
        <p:nvSpPr>
          <p:cNvPr id="11" name="TextBox 10"/>
          <p:cNvSpPr txBox="1"/>
          <p:nvPr/>
        </p:nvSpPr>
        <p:spPr>
          <a:xfrm>
            <a:off x="4023359" y="2573121"/>
            <a:ext cx="7528255" cy="945489"/>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설비 쪽: 설비, 구성 요소, 센서</a:t>
            </a:r>
          </a:p>
          <a:p>
            <a:pPr algn="l" eaLnBrk="0">
              <a:lnSpc>
                <a:spcPct val="110000"/>
              </a:lnSpc>
              <a:spcAft>
                <a:spcPts val="300"/>
              </a:spcAft>
            </a:pPr>
            <a:r>
              <a:rPr sz="1400" b="0">
                <a:solidFill>
                  <a:srgbClr val="1F2A3A"/>
                </a:solidFill>
                <a:latin typeface="맑은 고딕"/>
                <a:ea typeface="맑은 고딕"/>
                <a:cs typeface="맑은 고딕"/>
              </a:rPr>
              <a:t>진단 쪽: 이상 패턴, 증상, 고장 유형, 원인, 증거</a:t>
            </a:r>
          </a:p>
          <a:p>
            <a:pPr algn="l" eaLnBrk="0">
              <a:lnSpc>
                <a:spcPct val="110000"/>
              </a:lnSpc>
              <a:spcAft>
                <a:spcPts val="300"/>
              </a:spcAft>
            </a:pPr>
            <a:r>
              <a:rPr sz="1400" b="0">
                <a:solidFill>
                  <a:srgbClr val="1F2A3A"/>
                </a:solidFill>
                <a:latin typeface="맑은 고딕"/>
                <a:ea typeface="맑은 고딕"/>
                <a:cs typeface="맑은 고딕"/>
              </a:rPr>
              <a:t>조치 쪽: 조치 방법, 근거 문서</a:t>
            </a:r>
          </a:p>
        </p:txBody>
      </p:sp>
      <p:sp>
        <p:nvSpPr>
          <p:cNvPr id="12" name="Rectangle 11"/>
          <p:cNvSpPr/>
          <p:nvPr/>
        </p:nvSpPr>
        <p:spPr>
          <a:xfrm>
            <a:off x="548640" y="3509467"/>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3518611"/>
            <a:ext cx="3291839" cy="945489"/>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속성</a:t>
            </a:r>
          </a:p>
          <a:p>
            <a:pPr algn="l" eaLnBrk="0">
              <a:lnSpc>
                <a:spcPct val="110000"/>
              </a:lnSpc>
              <a:spcAft>
                <a:spcPts val="200"/>
              </a:spcAft>
            </a:pPr>
            <a:r>
              <a:rPr sz="1150" b="0">
                <a:solidFill>
                  <a:srgbClr val="556175"/>
                </a:solidFill>
                <a:latin typeface="맑은 고딕"/>
                <a:ea typeface="맑은 고딕"/>
                <a:cs typeface="맑은 고딕"/>
              </a:rPr>
              <a:t>값의 칸</a:t>
            </a:r>
          </a:p>
        </p:txBody>
      </p:sp>
      <p:sp>
        <p:nvSpPr>
          <p:cNvPr id="14" name="TextBox 13"/>
          <p:cNvSpPr txBox="1"/>
          <p:nvPr/>
        </p:nvSpPr>
        <p:spPr>
          <a:xfrm>
            <a:off x="4023359" y="3518611"/>
            <a:ext cx="7528255" cy="945489"/>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같은 종류의 대상이 갖는 값을 담는 칸이다.</a:t>
            </a:r>
          </a:p>
          <a:p>
            <a:pPr algn="l" eaLnBrk="0">
              <a:lnSpc>
                <a:spcPct val="110000"/>
              </a:lnSpc>
              <a:spcAft>
                <a:spcPts val="300"/>
              </a:spcAft>
            </a:pPr>
            <a:r>
              <a:rPr sz="1400" b="0">
                <a:solidFill>
                  <a:srgbClr val="1F2A3A"/>
                </a:solidFill>
                <a:latin typeface="맑은 고딕"/>
                <a:ea typeface="맑은 고딕"/>
                <a:cs typeface="맑은 고딕"/>
              </a:rPr>
              <a:t>유온: 단위 ℃, 정상값 48 ℃, 한계 65 ℃</a:t>
            </a:r>
          </a:p>
        </p:txBody>
      </p:sp>
      <p:sp>
        <p:nvSpPr>
          <p:cNvPr id="15" name="Rectangle 14"/>
          <p:cNvSpPr/>
          <p:nvPr/>
        </p:nvSpPr>
        <p:spPr>
          <a:xfrm>
            <a:off x="548640" y="4454956"/>
            <a:ext cx="11094415" cy="13716"/>
          </a:xfrm>
          <a:prstGeom prst="rect">
            <a:avLst/>
          </a:prstGeom>
          <a:solidFill>
            <a:srgbClr val="D3D9E1"/>
          </a:solidFill>
          <a:ln>
            <a:noFill/>
          </a:ln>
        </p:spPr>
        <p:txBody>
          <a:bodyPr rtlCol="0" anchor="ctr"/>
          <a:lstStyle/>
          <a:p>
            <a:pPr algn="ctr"/>
          </a:p>
        </p:txBody>
      </p:sp>
      <p:sp>
        <p:nvSpPr>
          <p:cNvPr id="16" name="TextBox 15"/>
          <p:cNvSpPr txBox="1"/>
          <p:nvPr/>
        </p:nvSpPr>
        <p:spPr>
          <a:xfrm>
            <a:off x="640080" y="4464100"/>
            <a:ext cx="3291839" cy="945489"/>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관계</a:t>
            </a:r>
          </a:p>
          <a:p>
            <a:pPr algn="l" eaLnBrk="0">
              <a:lnSpc>
                <a:spcPct val="110000"/>
              </a:lnSpc>
              <a:spcAft>
                <a:spcPts val="200"/>
              </a:spcAft>
            </a:pPr>
            <a:r>
              <a:rPr sz="1150" b="0">
                <a:solidFill>
                  <a:srgbClr val="556175"/>
                </a:solidFill>
                <a:latin typeface="맑은 고딕"/>
                <a:ea typeface="맑은 고딕"/>
                <a:cs typeface="맑은 고딕"/>
              </a:rPr>
              <a:t>이름과 방향</a:t>
            </a:r>
          </a:p>
        </p:txBody>
      </p:sp>
      <p:sp>
        <p:nvSpPr>
          <p:cNvPr id="17" name="TextBox 16"/>
          <p:cNvSpPr txBox="1"/>
          <p:nvPr/>
        </p:nvSpPr>
        <p:spPr>
          <a:xfrm>
            <a:off x="4023359" y="4464100"/>
            <a:ext cx="7528255" cy="945489"/>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이름이 다르면 뜻이 다르다.</a:t>
            </a:r>
          </a:p>
          <a:p>
            <a:pPr algn="l" eaLnBrk="0">
              <a:lnSpc>
                <a:spcPct val="110000"/>
              </a:lnSpc>
              <a:spcAft>
                <a:spcPts val="300"/>
              </a:spcAft>
            </a:pPr>
            <a:r>
              <a:rPr sz="1400" b="0">
                <a:solidFill>
                  <a:srgbClr val="1F2A3A"/>
                </a:solidFill>
                <a:latin typeface="맑은 고딕"/>
                <a:ea typeface="맑은 고딕"/>
                <a:cs typeface="맑은 고딕"/>
              </a:rPr>
              <a:t>MITIGATED_BY → 팬 최대 운전(우선 완화), REMEDIED_BY → 쿨러 핀 세척(근본 조치)</a:t>
            </a:r>
          </a:p>
        </p:txBody>
      </p:sp>
      <p:sp>
        <p:nvSpPr>
          <p:cNvPr id="18" name="Rectangle 17"/>
          <p:cNvSpPr/>
          <p:nvPr/>
        </p:nvSpPr>
        <p:spPr>
          <a:xfrm>
            <a:off x="548640" y="5400446"/>
            <a:ext cx="11094415" cy="13716"/>
          </a:xfrm>
          <a:prstGeom prst="rect">
            <a:avLst/>
          </a:prstGeom>
          <a:solidFill>
            <a:srgbClr val="D3D9E1"/>
          </a:solidFill>
          <a:ln>
            <a:noFill/>
          </a:ln>
        </p:spPr>
        <p:txBody>
          <a:bodyPr rtlCol="0" anchor="ctr"/>
          <a:lstStyle/>
          <a:p>
            <a:pPr algn="ctr"/>
          </a:p>
        </p:txBody>
      </p:sp>
      <p:sp>
        <p:nvSpPr>
          <p:cNvPr id="19" name="TextBox 18"/>
          <p:cNvSpPr txBox="1"/>
          <p:nvPr/>
        </p:nvSpPr>
        <p:spPr>
          <a:xfrm>
            <a:off x="640080" y="5409590"/>
            <a:ext cx="3291839" cy="945489"/>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제약</a:t>
            </a:r>
          </a:p>
          <a:p>
            <a:pPr algn="l" eaLnBrk="0">
              <a:lnSpc>
                <a:spcPct val="110000"/>
              </a:lnSpc>
              <a:spcAft>
                <a:spcPts val="200"/>
              </a:spcAft>
            </a:pPr>
            <a:r>
              <a:rPr sz="1150" b="0">
                <a:solidFill>
                  <a:srgbClr val="556175"/>
                </a:solidFill>
                <a:latin typeface="맑은 고딕"/>
                <a:ea typeface="맑은 고딕"/>
                <a:cs typeface="맑은 고딕"/>
              </a:rPr>
              <a:t>양 끝의 종류</a:t>
            </a:r>
          </a:p>
        </p:txBody>
      </p:sp>
      <p:sp>
        <p:nvSpPr>
          <p:cNvPr id="20" name="TextBox 19"/>
          <p:cNvSpPr txBox="1"/>
          <p:nvPr/>
        </p:nvSpPr>
        <p:spPr>
          <a:xfrm>
            <a:off x="4023359" y="5409590"/>
            <a:ext cx="7528255" cy="945489"/>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관계 양 끝의 종류를 정해 잘못된 연결을 검사할 기준을 둔다.</a:t>
            </a:r>
          </a:p>
          <a:p>
            <a:pPr algn="l" eaLnBrk="0">
              <a:lnSpc>
                <a:spcPct val="110000"/>
              </a:lnSpc>
              <a:spcAft>
                <a:spcPts val="300"/>
              </a:spcAft>
            </a:pPr>
            <a:r>
              <a:rPr sz="1400" b="0">
                <a:solidFill>
                  <a:srgbClr val="1F2A3A"/>
                </a:solidFill>
                <a:latin typeface="맑은 고딕"/>
                <a:ea typeface="맑은 고딕"/>
                <a:cs typeface="맑은 고딕"/>
              </a:rPr>
              <a:t>CAUSES는 원인에서 고장 유형으로만 잇는다</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같은 대상을 가리키는 여러 말</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온톨로지는 사람마다 다르게 부르는 말을 하나의 대상에 묶어, 누구나 같은 대상을 가리키게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56</a:t>
            </a:r>
          </a:p>
        </p:txBody>
      </p:sp>
      <p:sp>
        <p:nvSpPr>
          <p:cNvPr id="6" name="Rounded Rectangle 5"/>
          <p:cNvSpPr/>
          <p:nvPr/>
        </p:nvSpPr>
        <p:spPr>
          <a:xfrm>
            <a:off x="548640" y="2572766"/>
            <a:ext cx="3515258" cy="2837180"/>
          </a:xfrm>
          <a:prstGeom prst="roundRect">
            <a:avLst>
              <a:gd name="adj" fmla="val 4000"/>
            </a:avLst>
          </a:prstGeom>
          <a:solidFill>
            <a:srgbClr val="FFFFFF"/>
          </a:solidFill>
          <a:ln w="28575">
            <a:solidFill>
              <a:srgbClr val="5CB8F2"/>
            </a:solidFill>
          </a:ln>
        </p:spPr>
        <p:txBody>
          <a:bodyPr rtlCol="0" anchor="ctr"/>
          <a:lstStyle/>
          <a:p>
            <a:pPr algn="ctr"/>
          </a:p>
        </p:txBody>
      </p:sp>
      <p:sp>
        <p:nvSpPr>
          <p:cNvPr id="7" name="Oval 6"/>
          <p:cNvSpPr/>
          <p:nvPr/>
        </p:nvSpPr>
        <p:spPr>
          <a:xfrm>
            <a:off x="777240" y="2773934"/>
            <a:ext cx="731520" cy="731520"/>
          </a:xfrm>
          <a:prstGeom prst="ellipse">
            <a:avLst/>
          </a:prstGeom>
          <a:solidFill>
            <a:srgbClr val="5CB8F2"/>
          </a:solidFill>
          <a:ln>
            <a:noFill/>
          </a:ln>
        </p:spPr>
        <p:txBody>
          <a:bodyPr rtlCol="0" anchor="ctr"/>
          <a:lstStyle/>
          <a:p>
            <a:pPr algn="ctr"/>
          </a:p>
        </p:txBody>
      </p:sp>
      <p:pic>
        <p:nvPicPr>
          <p:cNvPr id="8" name="아이콘:temperature" descr="temperature_13294B_1.6.png"/>
          <p:cNvPicPr>
            <a:picLocks noChangeAspect="1"/>
          </p:cNvPicPr>
          <p:nvPr/>
        </p:nvPicPr>
        <p:blipFill>
          <a:blip r:embed="rId3"/>
          <a:stretch>
            <a:fillRect/>
          </a:stretch>
        </p:blipFill>
        <p:spPr>
          <a:xfrm>
            <a:off x="930859" y="2927553"/>
            <a:ext cx="424281" cy="424281"/>
          </a:xfrm>
          <a:prstGeom prst="rect">
            <a:avLst/>
          </a:prstGeom>
        </p:spPr>
      </p:pic>
      <p:sp>
        <p:nvSpPr>
          <p:cNvPr id="9" name="TextBox 8"/>
          <p:cNvSpPr txBox="1"/>
          <p:nvPr/>
        </p:nvSpPr>
        <p:spPr>
          <a:xfrm>
            <a:off x="713232" y="3596894"/>
            <a:ext cx="3186074" cy="1310132"/>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유온 상승</a:t>
            </a:r>
          </a:p>
          <a:p>
            <a:pPr algn="l" eaLnBrk="0">
              <a:lnSpc>
                <a:spcPct val="110000"/>
              </a:lnSpc>
              <a:spcAft>
                <a:spcPts val="400"/>
              </a:spcAft>
            </a:pPr>
            <a:r>
              <a:rPr sz="1800" b="0">
                <a:solidFill>
                  <a:srgbClr val="1F2A3A"/>
                </a:solidFill>
                <a:latin typeface="맑은 고딕"/>
                <a:ea typeface="맑은 고딕"/>
                <a:cs typeface="맑은 고딕"/>
              </a:rPr>
              <a:t>「온도 상승」, 「과열」이라고도 부른다</a:t>
            </a:r>
          </a:p>
        </p:txBody>
      </p:sp>
      <p:sp>
        <p:nvSpPr>
          <p:cNvPr id="10" name="Rounded Rectangle 9"/>
          <p:cNvSpPr/>
          <p:nvPr/>
        </p:nvSpPr>
        <p:spPr>
          <a:xfrm>
            <a:off x="777240" y="4980178"/>
            <a:ext cx="822960" cy="292608"/>
          </a:xfrm>
          <a:prstGeom prst="roundRect">
            <a:avLst>
              <a:gd name="adj" fmla="val 50000"/>
            </a:avLst>
          </a:prstGeom>
          <a:solidFill>
            <a:srgbClr val="5CB8F2"/>
          </a:solidFill>
          <a:ln>
            <a:noFill/>
          </a:ln>
        </p:spPr>
        <p:txBody>
          <a:bodyPr rtlCol="0" anchor="ctr"/>
          <a:lstStyle/>
          <a:p>
            <a:pPr algn="ctr"/>
          </a:p>
        </p:txBody>
      </p:sp>
      <p:sp>
        <p:nvSpPr>
          <p:cNvPr id="11" name="TextBox 10"/>
          <p:cNvSpPr txBox="1"/>
          <p:nvPr/>
        </p:nvSpPr>
        <p:spPr>
          <a:xfrm>
            <a:off x="777240" y="4980178"/>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증상</a:t>
            </a:r>
          </a:p>
        </p:txBody>
      </p:sp>
      <p:sp>
        <p:nvSpPr>
          <p:cNvPr id="12" name="Rounded Rectangle 11"/>
          <p:cNvSpPr/>
          <p:nvPr/>
        </p:nvSpPr>
        <p:spPr>
          <a:xfrm>
            <a:off x="4338218" y="2572766"/>
            <a:ext cx="3515258" cy="2837180"/>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773934"/>
            <a:ext cx="731520" cy="731520"/>
          </a:xfrm>
          <a:prstGeom prst="ellipse">
            <a:avLst/>
          </a:prstGeom>
          <a:solidFill>
            <a:srgbClr val="E7F3FD"/>
          </a:solidFill>
          <a:ln>
            <a:noFill/>
          </a:ln>
        </p:spPr>
        <p:txBody>
          <a:bodyPr rtlCol="0" anchor="ctr"/>
          <a:lstStyle/>
          <a:p>
            <a:pPr algn="ctr"/>
          </a:p>
        </p:txBody>
      </p:sp>
      <p:pic>
        <p:nvPicPr>
          <p:cNvPr id="14" name="아이콘:wind" descr="wind_13294B_1.6.png"/>
          <p:cNvPicPr>
            <a:picLocks noChangeAspect="1"/>
          </p:cNvPicPr>
          <p:nvPr/>
        </p:nvPicPr>
        <p:blipFill>
          <a:blip r:embed="rId4"/>
          <a:stretch>
            <a:fillRect/>
          </a:stretch>
        </p:blipFill>
        <p:spPr>
          <a:xfrm>
            <a:off x="4720437" y="2927553"/>
            <a:ext cx="424281" cy="424281"/>
          </a:xfrm>
          <a:prstGeom prst="rect">
            <a:avLst/>
          </a:prstGeom>
        </p:spPr>
      </p:pic>
      <p:sp>
        <p:nvSpPr>
          <p:cNvPr id="15" name="TextBox 14"/>
          <p:cNvSpPr txBox="1"/>
          <p:nvPr/>
        </p:nvSpPr>
        <p:spPr>
          <a:xfrm>
            <a:off x="4502810" y="3596894"/>
            <a:ext cx="3186074" cy="1310132"/>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냉각 효율 저하</a:t>
            </a:r>
          </a:p>
          <a:p>
            <a:pPr algn="l" eaLnBrk="0">
              <a:lnSpc>
                <a:spcPct val="110000"/>
              </a:lnSpc>
              <a:spcAft>
                <a:spcPts val="400"/>
              </a:spcAft>
            </a:pPr>
            <a:r>
              <a:rPr sz="1800" b="0">
                <a:solidFill>
                  <a:srgbClr val="1F2A3A"/>
                </a:solidFill>
                <a:latin typeface="맑은 고딕"/>
                <a:ea typeface="맑은 고딕"/>
                <a:cs typeface="맑은 고딕"/>
              </a:rPr>
              <a:t>「냉각 불량」이라고도 부른다</a:t>
            </a:r>
          </a:p>
        </p:txBody>
      </p:sp>
      <p:sp>
        <p:nvSpPr>
          <p:cNvPr id="16" name="Rounded Rectangle 15"/>
          <p:cNvSpPr/>
          <p:nvPr/>
        </p:nvSpPr>
        <p:spPr>
          <a:xfrm>
            <a:off x="4566818" y="4980178"/>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4980178"/>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증상</a:t>
            </a:r>
          </a:p>
        </p:txBody>
      </p:sp>
      <p:sp>
        <p:nvSpPr>
          <p:cNvPr id="18" name="Rounded Rectangle 17"/>
          <p:cNvSpPr/>
          <p:nvPr/>
        </p:nvSpPr>
        <p:spPr>
          <a:xfrm>
            <a:off x="8127796" y="2572766"/>
            <a:ext cx="3515258" cy="2837180"/>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8356396" y="2773934"/>
            <a:ext cx="731520" cy="731520"/>
          </a:xfrm>
          <a:prstGeom prst="ellipse">
            <a:avLst/>
          </a:prstGeom>
          <a:solidFill>
            <a:srgbClr val="E7F3FD"/>
          </a:solidFill>
          <a:ln>
            <a:noFill/>
          </a:ln>
        </p:spPr>
        <p:txBody>
          <a:bodyPr rtlCol="0" anchor="ctr"/>
          <a:lstStyle/>
          <a:p>
            <a:pPr algn="ctr"/>
          </a:p>
        </p:txBody>
      </p:sp>
      <p:pic>
        <p:nvPicPr>
          <p:cNvPr id="20" name="아이콘:activity" descr="activity_13294B_1.6.png"/>
          <p:cNvPicPr>
            <a:picLocks noChangeAspect="1"/>
          </p:cNvPicPr>
          <p:nvPr/>
        </p:nvPicPr>
        <p:blipFill>
          <a:blip r:embed="rId5"/>
          <a:stretch>
            <a:fillRect/>
          </a:stretch>
        </p:blipFill>
        <p:spPr>
          <a:xfrm>
            <a:off x="8510016" y="2927553"/>
            <a:ext cx="424281" cy="424281"/>
          </a:xfrm>
          <a:prstGeom prst="rect">
            <a:avLst/>
          </a:prstGeom>
        </p:spPr>
      </p:pic>
      <p:sp>
        <p:nvSpPr>
          <p:cNvPr id="21" name="TextBox 20"/>
          <p:cNvSpPr txBox="1"/>
          <p:nvPr/>
        </p:nvSpPr>
        <p:spPr>
          <a:xfrm>
            <a:off x="8292388" y="3596894"/>
            <a:ext cx="3186074" cy="1310132"/>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진동 증가</a:t>
            </a:r>
          </a:p>
          <a:p>
            <a:pPr algn="l" eaLnBrk="0">
              <a:lnSpc>
                <a:spcPct val="110000"/>
              </a:lnSpc>
              <a:spcAft>
                <a:spcPts val="400"/>
              </a:spcAft>
            </a:pPr>
            <a:r>
              <a:rPr sz="1800" b="0">
                <a:solidFill>
                  <a:srgbClr val="1F2A3A"/>
                </a:solidFill>
                <a:latin typeface="맑은 고딕"/>
                <a:ea typeface="맑은 고딕"/>
                <a:cs typeface="맑은 고딕"/>
              </a:rPr>
              <a:t>「떨림」, 「소음」이라고도 부른다</a:t>
            </a:r>
          </a:p>
        </p:txBody>
      </p:sp>
      <p:sp>
        <p:nvSpPr>
          <p:cNvPr id="22" name="Rounded Rectangle 21"/>
          <p:cNvSpPr/>
          <p:nvPr/>
        </p:nvSpPr>
        <p:spPr>
          <a:xfrm>
            <a:off x="8356396" y="4980178"/>
            <a:ext cx="82296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8356396" y="4980178"/>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증상</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온톨로지와 혼동하기 쉬운 세 가지</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관계 그림은 표현, 그래프 DB는 저장 도구, 지식 그래프는 채운 결과, 온톨로지는 공통 정의다.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57</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구분</a:t>
            </a:r>
          </a:p>
        </p:txBody>
      </p:sp>
      <p:sp>
        <p:nvSpPr>
          <p:cNvPr id="8" name="TextBox 7"/>
          <p:cNvSpPr txBox="1"/>
          <p:nvPr/>
        </p:nvSpPr>
        <p:spPr>
          <a:xfrm>
            <a:off x="3200400" y="1961387"/>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하는 일</a:t>
            </a:r>
          </a:p>
        </p:txBody>
      </p:sp>
      <p:sp>
        <p:nvSpPr>
          <p:cNvPr id="9" name="TextBox 8"/>
          <p:cNvSpPr txBox="1"/>
          <p:nvPr/>
        </p:nvSpPr>
        <p:spPr>
          <a:xfrm>
            <a:off x="9448495" y="1961387"/>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하지 않는 일</a:t>
            </a:r>
          </a:p>
        </p:txBody>
      </p:sp>
      <p:sp>
        <p:nvSpPr>
          <p:cNvPr id="10" name="Rounded Rectangle 9"/>
          <p:cNvSpPr/>
          <p:nvPr/>
        </p:nvSpPr>
        <p:spPr>
          <a:xfrm>
            <a:off x="548640" y="23957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3637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관계 그림</a:t>
            </a:r>
          </a:p>
        </p:txBody>
      </p:sp>
      <p:sp>
        <p:nvSpPr>
          <p:cNvPr id="12" name="TextBox 11"/>
          <p:cNvSpPr txBox="1"/>
          <p:nvPr/>
        </p:nvSpPr>
        <p:spPr>
          <a:xfrm>
            <a:off x="3200400" y="23637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사람이 보도록 대상과 선으로 나타낸 표현이다</a:t>
            </a:r>
          </a:p>
        </p:txBody>
      </p:sp>
      <p:sp>
        <p:nvSpPr>
          <p:cNvPr id="13" name="TextBox 12"/>
          <p:cNvSpPr txBox="1"/>
          <p:nvPr/>
        </p:nvSpPr>
        <p:spPr>
          <a:xfrm>
            <a:off x="9448495" y="2363723"/>
            <a:ext cx="2103120" cy="914400"/>
          </a:xfrm>
          <a:prstGeom prst="rect">
            <a:avLst/>
          </a:prstGeom>
          <a:noFill/>
        </p:spPr>
        <p:txBody>
          <a:bodyPr wrap="square" anchor="ctr"/>
          <a:lstStyle/>
          <a:p>
            <a:pPr algn="l" eaLnBrk="0">
              <a:lnSpc>
                <a:spcPct val="110000"/>
              </a:lnSpc>
            </a:pPr>
            <a:r>
              <a:rPr sz="1150" b="1">
                <a:solidFill>
                  <a:srgbClr val="556175"/>
                </a:solidFill>
                <a:latin typeface="맑은 고딕"/>
                <a:ea typeface="맑은 고딕"/>
                <a:cs typeface="맑은 고딕"/>
              </a:rPr>
              <a:t>뜻이 맞는지 검사하지 않는다</a:t>
            </a:r>
          </a:p>
        </p:txBody>
      </p:sp>
      <p:sp>
        <p:nvSpPr>
          <p:cNvPr id="14" name="Rounded Rectangle 13"/>
          <p:cNvSpPr/>
          <p:nvPr/>
        </p:nvSpPr>
        <p:spPr>
          <a:xfrm>
            <a:off x="548640" y="33101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2781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그래프 DB</a:t>
            </a:r>
          </a:p>
        </p:txBody>
      </p:sp>
      <p:sp>
        <p:nvSpPr>
          <p:cNvPr id="16" name="TextBox 15"/>
          <p:cNvSpPr txBox="1"/>
          <p:nvPr/>
        </p:nvSpPr>
        <p:spPr>
          <a:xfrm>
            <a:off x="3200400" y="32781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대상과 관계를 저장하고 조회한다</a:t>
            </a:r>
          </a:p>
          <a:p>
            <a:pPr algn="l" eaLnBrk="0">
              <a:lnSpc>
                <a:spcPct val="110000"/>
              </a:lnSpc>
            </a:pPr>
            <a:r>
              <a:rPr sz="1400" b="0">
                <a:solidFill>
                  <a:srgbClr val="1F2A3A"/>
                </a:solidFill>
                <a:latin typeface="맑은 고딕"/>
                <a:ea typeface="맑은 고딕"/>
                <a:cs typeface="맑은 고딕"/>
              </a:rPr>
              <a:t>Neo4j 등이 이 역할을 한다</a:t>
            </a:r>
          </a:p>
        </p:txBody>
      </p:sp>
      <p:sp>
        <p:nvSpPr>
          <p:cNvPr id="17" name="TextBox 16"/>
          <p:cNvSpPr txBox="1"/>
          <p:nvPr/>
        </p:nvSpPr>
        <p:spPr>
          <a:xfrm>
            <a:off x="9448495" y="3278123"/>
            <a:ext cx="2103120" cy="914400"/>
          </a:xfrm>
          <a:prstGeom prst="rect">
            <a:avLst/>
          </a:prstGeom>
          <a:noFill/>
        </p:spPr>
        <p:txBody>
          <a:bodyPr wrap="square" anchor="ctr"/>
          <a:lstStyle/>
          <a:p>
            <a:pPr algn="l" eaLnBrk="0">
              <a:lnSpc>
                <a:spcPct val="110000"/>
              </a:lnSpc>
            </a:pPr>
            <a:r>
              <a:rPr sz="1150" b="1">
                <a:solidFill>
                  <a:srgbClr val="556175"/>
                </a:solidFill>
                <a:latin typeface="맑은 고딕"/>
                <a:ea typeface="맑은 고딕"/>
                <a:cs typeface="맑은 고딕"/>
              </a:rPr>
              <a:t>무엇을 넣을지 정하지 않는다</a:t>
            </a:r>
          </a:p>
        </p:txBody>
      </p:sp>
      <p:sp>
        <p:nvSpPr>
          <p:cNvPr id="18" name="Rounded Rectangle 17"/>
          <p:cNvSpPr/>
          <p:nvPr/>
        </p:nvSpPr>
        <p:spPr>
          <a:xfrm>
            <a:off x="548640" y="42245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1925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지식 그래프</a:t>
            </a:r>
          </a:p>
        </p:txBody>
      </p:sp>
      <p:sp>
        <p:nvSpPr>
          <p:cNvPr id="20" name="TextBox 19"/>
          <p:cNvSpPr txBox="1"/>
          <p:nvPr/>
        </p:nvSpPr>
        <p:spPr>
          <a:xfrm>
            <a:off x="3200400" y="41925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온톨로지에 맞춰 실제 대상과 관계를 채운 지식이다</a:t>
            </a:r>
          </a:p>
        </p:txBody>
      </p:sp>
      <p:sp>
        <p:nvSpPr>
          <p:cNvPr id="21" name="TextBox 20"/>
          <p:cNvSpPr txBox="1"/>
          <p:nvPr/>
        </p:nvSpPr>
        <p:spPr>
          <a:xfrm>
            <a:off x="9448495" y="41925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HYD의 실시간 값은 별도 저장한다</a:t>
            </a:r>
          </a:p>
        </p:txBody>
      </p:sp>
      <p:sp>
        <p:nvSpPr>
          <p:cNvPr id="22" name="Rounded Rectangle 21"/>
          <p:cNvSpPr/>
          <p:nvPr/>
        </p:nvSpPr>
        <p:spPr>
          <a:xfrm>
            <a:off x="548640" y="5138927"/>
            <a:ext cx="11094415" cy="850392"/>
          </a:xfrm>
          <a:prstGeom prst="roundRect">
            <a:avLst>
              <a:gd name="adj" fmla="val 8000"/>
            </a:avLst>
          </a:prstGeom>
          <a:solidFill>
            <a:srgbClr val="E7F3FD"/>
          </a:solidFill>
          <a:ln>
            <a:noFill/>
          </a:ln>
        </p:spPr>
        <p:txBody>
          <a:bodyPr rtlCol="0" anchor="ctr"/>
          <a:lstStyle/>
          <a:p>
            <a:pPr algn="ctr"/>
          </a:p>
        </p:txBody>
      </p:sp>
      <p:sp>
        <p:nvSpPr>
          <p:cNvPr id="23" name="TextBox 22"/>
          <p:cNvSpPr txBox="1"/>
          <p:nvPr/>
        </p:nvSpPr>
        <p:spPr>
          <a:xfrm>
            <a:off x="685800" y="51069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온톨로지</a:t>
            </a:r>
          </a:p>
        </p:txBody>
      </p:sp>
      <p:sp>
        <p:nvSpPr>
          <p:cNvPr id="24" name="TextBox 23"/>
          <p:cNvSpPr txBox="1"/>
          <p:nvPr/>
        </p:nvSpPr>
        <p:spPr>
          <a:xfrm>
            <a:off x="3200400" y="51069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어떤 종류의 대상과 관계가 있을 수 있는지 정의한다</a:t>
            </a:r>
          </a:p>
        </p:txBody>
      </p:sp>
      <p:sp>
        <p:nvSpPr>
          <p:cNvPr id="25" name="TextBox 24"/>
          <p:cNvSpPr txBox="1"/>
          <p:nvPr/>
        </p:nvSpPr>
        <p:spPr>
          <a:xfrm>
            <a:off x="9448495" y="5106923"/>
            <a:ext cx="2103120" cy="914400"/>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조치를 결정하지 않는다</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노드와 관계, 그리고 관계를 문장으로 읽는 법</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관계는 출발 노드를 주어, 이름을 서술어, 도착 노드를 목적어로 읽었을 때 뜻이 통해야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58</a:t>
            </a:r>
          </a:p>
        </p:txBody>
      </p:sp>
      <p:pic>
        <p:nvPicPr>
          <p:cNvPr id="6" name="삽화:노드관계.svg" descr="illust_1363776472096268225_179195996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492040" y="4984120"/>
            <a:ext cx="2836468"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노드(Node)</a:t>
            </a:r>
          </a:p>
          <a:p>
            <a:pPr algn="ctr" eaLnBrk="0">
              <a:lnSpc>
                <a:spcPct val="110000"/>
              </a:lnSpc>
              <a:spcAft>
                <a:spcPts val="100"/>
              </a:spcAft>
            </a:pPr>
            <a:r>
              <a:rPr sz="1300" b="0">
                <a:solidFill>
                  <a:srgbClr val="556175"/>
                </a:solidFill>
                <a:latin typeface="맑은 고딕"/>
                <a:ea typeface="맑은 고딕"/>
                <a:cs typeface="맑은 고딕"/>
              </a:rPr>
              <a:t>쿨러 핀 오염</a:t>
            </a:r>
          </a:p>
        </p:txBody>
      </p:sp>
      <p:sp>
        <p:nvSpPr>
          <p:cNvPr id="8" name="TextBox 7"/>
          <p:cNvSpPr txBox="1"/>
          <p:nvPr/>
        </p:nvSpPr>
        <p:spPr>
          <a:xfrm>
            <a:off x="7754090" y="4984120"/>
            <a:ext cx="3054658"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노드(Node)</a:t>
            </a:r>
          </a:p>
          <a:p>
            <a:pPr algn="ctr" eaLnBrk="0">
              <a:lnSpc>
                <a:spcPct val="110000"/>
              </a:lnSpc>
              <a:spcAft>
                <a:spcPts val="100"/>
              </a:spcAft>
            </a:pPr>
            <a:r>
              <a:rPr sz="1300" b="0">
                <a:solidFill>
                  <a:srgbClr val="556175"/>
                </a:solidFill>
                <a:latin typeface="맑은 고딕"/>
                <a:ea typeface="맑은 고딕"/>
                <a:cs typeface="맑은 고딕"/>
              </a:rPr>
              <a:t>쿨러 냉각 성능 상실</a:t>
            </a:r>
          </a:p>
        </p:txBody>
      </p:sp>
      <p:sp>
        <p:nvSpPr>
          <p:cNvPr id="9" name="TextBox 8"/>
          <p:cNvSpPr txBox="1"/>
          <p:nvPr/>
        </p:nvSpPr>
        <p:spPr>
          <a:xfrm>
            <a:off x="4459423" y="2856768"/>
            <a:ext cx="3272848" cy="577342"/>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관계(Relationship)</a:t>
            </a:r>
          </a:p>
          <a:p>
            <a:pPr algn="ctr" eaLnBrk="0">
              <a:lnSpc>
                <a:spcPct val="110000"/>
              </a:lnSpc>
              <a:spcAft>
                <a:spcPts val="100"/>
              </a:spcAft>
            </a:pPr>
            <a:r>
              <a:rPr sz="1300" b="0">
                <a:solidFill>
                  <a:srgbClr val="556175"/>
                </a:solidFill>
                <a:latin typeface="맑은 고딕"/>
                <a:ea typeface="맑은 고딕"/>
                <a:cs typeface="맑은 고딕"/>
              </a:rPr>
              <a:t>CAUSES</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HYD 지식 그래프 지도: 설비 쪽과 진단 · 조치 쪽</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증상·원인·조치·구성 요소는 </a:t>
            </a:r>
            <a:r>
              <a:rPr sz="1600" b="1">
                <a:solidFill>
                  <a:srgbClr val="1A6FC4"/>
                </a:solidFill>
                <a:latin typeface="맑은 고딕"/>
                <a:ea typeface="맑은 고딕"/>
                <a:cs typeface="맑은 고딕"/>
              </a:rPr>
              <a:t>고장 유형</a:t>
            </a:r>
            <a:r>
              <a:rPr sz="1600" b="0">
                <a:solidFill>
                  <a:srgbClr val="556175"/>
                </a:solidFill>
                <a:latin typeface="맑은 고딕"/>
                <a:ea typeface="맑은 고딕"/>
                <a:cs typeface="맑은 고딕"/>
              </a:rPr>
              <a:t>에 직접 연결되고, 설비·센서·매뉴얼은 그 바깥에 연결된다.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59</a:t>
            </a:r>
          </a:p>
        </p:txBody>
      </p:sp>
      <p:pic>
        <p:nvPicPr>
          <p:cNvPr id="6" name="삽화:지식그래프_지도.svg" descr="illust_1123196635246100747_1791978726.png"/>
          <p:cNvPicPr>
            <a:picLocks noChangeAspect="1"/>
          </p:cNvPicPr>
          <p:nvPr/>
        </p:nvPicPr>
        <p:blipFill>
          <a:blip r:embed="rId3"/>
          <a:stretch>
            <a:fillRect/>
          </a:stretch>
        </p:blipFill>
        <p:spPr>
          <a:xfrm>
            <a:off x="786223" y="1627632"/>
            <a:ext cx="10619248" cy="4727448"/>
          </a:xfrm>
          <a:prstGeom prst="rect">
            <a:avLst/>
          </a:prstGeom>
        </p:spPr>
      </p:pic>
      <p:sp>
        <p:nvSpPr>
          <p:cNvPr id="7" name="TextBox 6"/>
          <p:cNvSpPr txBox="1"/>
          <p:nvPr/>
        </p:nvSpPr>
        <p:spPr>
          <a:xfrm>
            <a:off x="972060" y="2303657"/>
            <a:ext cx="1030067"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설비</a:t>
            </a:r>
          </a:p>
          <a:p>
            <a:pPr algn="ctr" eaLnBrk="0">
              <a:lnSpc>
                <a:spcPct val="110000"/>
              </a:lnSpc>
              <a:spcAft>
                <a:spcPts val="100"/>
              </a:spcAft>
            </a:pPr>
            <a:r>
              <a:rPr sz="1100" b="0">
                <a:solidFill>
                  <a:srgbClr val="556175"/>
                </a:solidFill>
                <a:latin typeface="맑은 고딕"/>
                <a:ea typeface="맑은 고딕"/>
                <a:cs typeface="맑은 고딕"/>
              </a:rPr>
              <a:t>(Asset)</a:t>
            </a:r>
          </a:p>
        </p:txBody>
      </p:sp>
      <p:sp>
        <p:nvSpPr>
          <p:cNvPr id="8" name="TextBox 7"/>
          <p:cNvSpPr txBox="1"/>
          <p:nvPr/>
        </p:nvSpPr>
        <p:spPr>
          <a:xfrm>
            <a:off x="3568466" y="2303657"/>
            <a:ext cx="1168117"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구성 요소</a:t>
            </a:r>
          </a:p>
          <a:p>
            <a:pPr algn="ctr" eaLnBrk="0">
              <a:lnSpc>
                <a:spcPct val="110000"/>
              </a:lnSpc>
              <a:spcAft>
                <a:spcPts val="100"/>
              </a:spcAft>
            </a:pPr>
            <a:r>
              <a:rPr sz="1100" b="0">
                <a:solidFill>
                  <a:srgbClr val="556175"/>
                </a:solidFill>
                <a:latin typeface="맑은 고딕"/>
                <a:ea typeface="맑은 고딕"/>
                <a:cs typeface="맑은 고딕"/>
              </a:rPr>
              <a:t>(Component)</a:t>
            </a:r>
          </a:p>
        </p:txBody>
      </p:sp>
      <p:sp>
        <p:nvSpPr>
          <p:cNvPr id="9" name="TextBox 8"/>
          <p:cNvSpPr txBox="1"/>
          <p:nvPr/>
        </p:nvSpPr>
        <p:spPr>
          <a:xfrm>
            <a:off x="1587976" y="5281949"/>
            <a:ext cx="1030067"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센서</a:t>
            </a:r>
          </a:p>
          <a:p>
            <a:pPr algn="ctr" eaLnBrk="0">
              <a:lnSpc>
                <a:spcPct val="110000"/>
              </a:lnSpc>
              <a:spcAft>
                <a:spcPts val="100"/>
              </a:spcAft>
            </a:pPr>
            <a:r>
              <a:rPr sz="1100" b="0">
                <a:solidFill>
                  <a:srgbClr val="556175"/>
                </a:solidFill>
                <a:latin typeface="맑은 고딕"/>
                <a:ea typeface="맑은 고딕"/>
                <a:cs typeface="맑은 고딕"/>
              </a:rPr>
              <a:t>(Sensor)</a:t>
            </a:r>
          </a:p>
        </p:txBody>
      </p:sp>
      <p:sp>
        <p:nvSpPr>
          <p:cNvPr id="10" name="TextBox 9"/>
          <p:cNvSpPr txBox="1"/>
          <p:nvPr/>
        </p:nvSpPr>
        <p:spPr>
          <a:xfrm>
            <a:off x="4343671" y="5281949"/>
            <a:ext cx="1104401"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증상</a:t>
            </a:r>
          </a:p>
          <a:p>
            <a:pPr algn="ctr" eaLnBrk="0">
              <a:lnSpc>
                <a:spcPct val="110000"/>
              </a:lnSpc>
              <a:spcAft>
                <a:spcPts val="100"/>
              </a:spcAft>
            </a:pPr>
            <a:r>
              <a:rPr sz="1100" b="0">
                <a:solidFill>
                  <a:srgbClr val="556175"/>
                </a:solidFill>
                <a:latin typeface="맑은 고딕"/>
                <a:ea typeface="맑은 고딕"/>
                <a:cs typeface="맑은 고딕"/>
              </a:rPr>
              <a:t>(Symptom)</a:t>
            </a:r>
          </a:p>
        </p:txBody>
      </p:sp>
      <p:sp>
        <p:nvSpPr>
          <p:cNvPr id="11" name="TextBox 10"/>
          <p:cNvSpPr txBox="1"/>
          <p:nvPr/>
        </p:nvSpPr>
        <p:spPr>
          <a:xfrm>
            <a:off x="6223278" y="3721891"/>
            <a:ext cx="1380502"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고장 유형</a:t>
            </a:r>
          </a:p>
          <a:p>
            <a:pPr algn="ctr" eaLnBrk="0">
              <a:lnSpc>
                <a:spcPct val="110000"/>
              </a:lnSpc>
              <a:spcAft>
                <a:spcPts val="100"/>
              </a:spcAft>
            </a:pPr>
            <a:r>
              <a:rPr sz="1100" b="0">
                <a:solidFill>
                  <a:srgbClr val="556175"/>
                </a:solidFill>
                <a:latin typeface="맑은 고딕"/>
                <a:ea typeface="맑은 고딕"/>
                <a:cs typeface="맑은 고딕"/>
              </a:rPr>
              <a:t>(FailureMode)</a:t>
            </a:r>
          </a:p>
        </p:txBody>
      </p:sp>
      <p:sp>
        <p:nvSpPr>
          <p:cNvPr id="12" name="TextBox 11"/>
          <p:cNvSpPr txBox="1"/>
          <p:nvPr/>
        </p:nvSpPr>
        <p:spPr>
          <a:xfrm>
            <a:off x="8809065" y="2199653"/>
            <a:ext cx="1030067"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원인</a:t>
            </a:r>
          </a:p>
          <a:p>
            <a:pPr algn="ctr" eaLnBrk="0">
              <a:lnSpc>
                <a:spcPct val="110000"/>
              </a:lnSpc>
              <a:spcAft>
                <a:spcPts val="100"/>
              </a:spcAft>
            </a:pPr>
            <a:r>
              <a:rPr sz="1100" b="0">
                <a:solidFill>
                  <a:srgbClr val="556175"/>
                </a:solidFill>
                <a:latin typeface="맑은 고딕"/>
                <a:ea typeface="맑은 고딕"/>
                <a:cs typeface="맑은 고딕"/>
              </a:rPr>
              <a:t>(Cause)</a:t>
            </a:r>
          </a:p>
        </p:txBody>
      </p:sp>
      <p:sp>
        <p:nvSpPr>
          <p:cNvPr id="13" name="TextBox 12"/>
          <p:cNvSpPr txBox="1"/>
          <p:nvPr/>
        </p:nvSpPr>
        <p:spPr>
          <a:xfrm>
            <a:off x="8336508" y="5367043"/>
            <a:ext cx="1104401"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조치 방법</a:t>
            </a:r>
          </a:p>
          <a:p>
            <a:pPr algn="ctr" eaLnBrk="0">
              <a:lnSpc>
                <a:spcPct val="110000"/>
              </a:lnSpc>
              <a:spcAft>
                <a:spcPts val="100"/>
              </a:spcAft>
            </a:pPr>
            <a:r>
              <a:rPr sz="1100" b="0">
                <a:solidFill>
                  <a:srgbClr val="556175"/>
                </a:solidFill>
                <a:latin typeface="맑은 고딕"/>
                <a:ea typeface="맑은 고딕"/>
                <a:cs typeface="맑은 고딕"/>
              </a:rPr>
              <a:t>(Skill)</a:t>
            </a:r>
          </a:p>
        </p:txBody>
      </p:sp>
      <p:sp>
        <p:nvSpPr>
          <p:cNvPr id="14" name="TextBox 13"/>
          <p:cNvSpPr txBox="1"/>
          <p:nvPr/>
        </p:nvSpPr>
        <p:spPr>
          <a:xfrm>
            <a:off x="9934705" y="3721891"/>
            <a:ext cx="1454836"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매뉴얼 절</a:t>
            </a:r>
          </a:p>
          <a:p>
            <a:pPr algn="ctr" eaLnBrk="0">
              <a:lnSpc>
                <a:spcPct val="110000"/>
              </a:lnSpc>
              <a:spcAft>
                <a:spcPts val="100"/>
              </a:spcAft>
            </a:pPr>
            <a:r>
              <a:rPr sz="1100" b="0">
                <a:solidFill>
                  <a:srgbClr val="556175"/>
                </a:solidFill>
                <a:latin typeface="맑은 고딕"/>
                <a:ea typeface="맑은 고딕"/>
                <a:cs typeface="맑은 고딕"/>
              </a:rPr>
              <a:t>(ManualSection)</a:t>
            </a:r>
          </a:p>
        </p:txBody>
      </p:sp>
      <p:sp>
        <p:nvSpPr>
          <p:cNvPr id="15" name="TextBox 14"/>
          <p:cNvSpPr txBox="1"/>
          <p:nvPr/>
        </p:nvSpPr>
        <p:spPr>
          <a:xfrm>
            <a:off x="1975579" y="2157106"/>
            <a:ext cx="1592887"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HAS_COMPONENT</a:t>
            </a:r>
          </a:p>
        </p:txBody>
      </p:sp>
      <p:sp>
        <p:nvSpPr>
          <p:cNvPr id="16" name="TextBox 15"/>
          <p:cNvSpPr txBox="1"/>
          <p:nvPr/>
        </p:nvSpPr>
        <p:spPr>
          <a:xfrm>
            <a:off x="1880006" y="3546975"/>
            <a:ext cx="1507933"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MONITORED_BY</a:t>
            </a:r>
          </a:p>
        </p:txBody>
      </p:sp>
      <p:sp>
        <p:nvSpPr>
          <p:cNvPr id="17" name="TextBox 16"/>
          <p:cNvSpPr txBox="1"/>
          <p:nvPr/>
        </p:nvSpPr>
        <p:spPr>
          <a:xfrm>
            <a:off x="2793261" y="5575051"/>
            <a:ext cx="1422979"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OBSERVED_BY</a:t>
            </a:r>
          </a:p>
        </p:txBody>
      </p:sp>
      <p:sp>
        <p:nvSpPr>
          <p:cNvPr id="18" name="TextBox 17"/>
          <p:cNvSpPr txBox="1"/>
          <p:nvPr/>
        </p:nvSpPr>
        <p:spPr>
          <a:xfrm>
            <a:off x="5469311" y="4969937"/>
            <a:ext cx="1274309"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INDICATES</a:t>
            </a:r>
          </a:p>
        </p:txBody>
      </p:sp>
      <p:sp>
        <p:nvSpPr>
          <p:cNvPr id="19" name="TextBox 18"/>
          <p:cNvSpPr txBox="1"/>
          <p:nvPr/>
        </p:nvSpPr>
        <p:spPr>
          <a:xfrm>
            <a:off x="7879881" y="3268056"/>
            <a:ext cx="1019447"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CAUSES</a:t>
            </a:r>
          </a:p>
        </p:txBody>
      </p:sp>
      <p:sp>
        <p:nvSpPr>
          <p:cNvPr id="20" name="TextBox 19"/>
          <p:cNvSpPr txBox="1"/>
          <p:nvPr/>
        </p:nvSpPr>
        <p:spPr>
          <a:xfrm>
            <a:off x="5055161" y="2733854"/>
            <a:ext cx="1253071"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OCCURS_IN</a:t>
            </a:r>
          </a:p>
        </p:txBody>
      </p:sp>
      <p:sp>
        <p:nvSpPr>
          <p:cNvPr id="21" name="TextBox 20"/>
          <p:cNvSpPr txBox="1"/>
          <p:nvPr/>
        </p:nvSpPr>
        <p:spPr>
          <a:xfrm>
            <a:off x="6849814" y="5050304"/>
            <a:ext cx="1507933"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MITIGATED_BY</a:t>
            </a:r>
          </a:p>
        </p:txBody>
      </p:sp>
      <p:sp>
        <p:nvSpPr>
          <p:cNvPr id="22" name="TextBox 21"/>
          <p:cNvSpPr txBox="1"/>
          <p:nvPr/>
        </p:nvSpPr>
        <p:spPr>
          <a:xfrm>
            <a:off x="9393124" y="5003029"/>
            <a:ext cx="1348644" cy="468884"/>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HAS_STEP ·</a:t>
            </a:r>
          </a:p>
          <a:p>
            <a:pPr algn="ctr" eaLnBrk="0">
              <a:lnSpc>
                <a:spcPct val="110000"/>
              </a:lnSpc>
              <a:spcAft>
                <a:spcPts val="100"/>
              </a:spcAft>
            </a:pPr>
            <a:r>
              <a:rPr sz="1100" b="0">
                <a:solidFill>
                  <a:srgbClr val="13294B"/>
                </a:solidFill>
                <a:latin typeface="맑은 고딕"/>
                <a:ea typeface="맑은 고딕"/>
                <a:cs typeface="맑은 고딕"/>
              </a:rPr>
              <a:t>REFERS_TO</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관계의 방향: 저장된 방향과 따라가는 방향</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관계 이름의 뜻이 저장 방향을 정하며, 조회할 때는 새 관계를 만들지 않고 그 방향을 거슬러 갈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60</a:t>
            </a:r>
          </a:p>
        </p:txBody>
      </p:sp>
      <p:sp>
        <p:nvSpPr>
          <p:cNvPr id="6" name="Rounded Rectangle 5"/>
          <p:cNvSpPr/>
          <p:nvPr/>
        </p:nvSpPr>
        <p:spPr>
          <a:xfrm>
            <a:off x="548640" y="2105406"/>
            <a:ext cx="5181447" cy="3771900"/>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306574"/>
            <a:ext cx="731520" cy="731520"/>
          </a:xfrm>
          <a:prstGeom prst="ellipse">
            <a:avLst/>
          </a:prstGeom>
          <a:solidFill>
            <a:srgbClr val="FFFFFF"/>
          </a:solidFill>
          <a:ln>
            <a:noFill/>
          </a:ln>
        </p:spPr>
        <p:txBody>
          <a:bodyPr rtlCol="0" anchor="ctr"/>
          <a:lstStyle/>
          <a:p>
            <a:pPr algn="ctr"/>
          </a:p>
        </p:txBody>
      </p:sp>
      <p:pic>
        <p:nvPicPr>
          <p:cNvPr id="8" name="아이콘:arrow-right" descr="arrow-right_13294B_1.6.png"/>
          <p:cNvPicPr>
            <a:picLocks noChangeAspect="1"/>
          </p:cNvPicPr>
          <p:nvPr/>
        </p:nvPicPr>
        <p:blipFill>
          <a:blip r:embed="rId3"/>
          <a:stretch>
            <a:fillRect/>
          </a:stretch>
        </p:blipFill>
        <p:spPr>
          <a:xfrm>
            <a:off x="976579" y="2460193"/>
            <a:ext cx="424281" cy="424281"/>
          </a:xfrm>
          <a:prstGeom prst="rect">
            <a:avLst/>
          </a:prstGeom>
        </p:spPr>
      </p:pic>
      <p:sp>
        <p:nvSpPr>
          <p:cNvPr id="9" name="TextBox 8"/>
          <p:cNvSpPr txBox="1"/>
          <p:nvPr/>
        </p:nvSpPr>
        <p:spPr>
          <a:xfrm>
            <a:off x="1691640" y="2306574"/>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저장된 방향</a:t>
            </a:r>
          </a:p>
        </p:txBody>
      </p:sp>
      <p:sp>
        <p:nvSpPr>
          <p:cNvPr id="10" name="TextBox 9"/>
          <p:cNvSpPr txBox="1"/>
          <p:nvPr/>
        </p:nvSpPr>
        <p:spPr>
          <a:xfrm>
            <a:off x="822959" y="3156966"/>
            <a:ext cx="4632807" cy="2171700"/>
          </a:xfrm>
          <a:prstGeom prst="rect">
            <a:avLst/>
          </a:prstGeom>
          <a:noFill/>
        </p:spPr>
        <p:txBody>
          <a:bodyPr wrap="square" anchor="t"/>
          <a:lstStyle/>
          <a:p>
            <a:pPr algn="l" eaLnBrk="0" marL="171450" indent="-171450">
              <a:lnSpc>
                <a:spcPct val="110000"/>
              </a:lnSpc>
              <a:spcAft>
                <a:spcPts val="600"/>
              </a:spcAft>
            </a:pPr>
            <a:r>
              <a:rPr sz="1500" b="0">
                <a:solidFill>
                  <a:srgbClr val="1F2A3A"/>
                </a:solidFill>
                <a:latin typeface="맑은 고딕"/>
                <a:ea typeface="맑은 고딕"/>
                <a:cs typeface="맑은 고딕"/>
              </a:rPr>
              <a:t>• CAUSES: 쿨러 핀 오염 → 쿨러 냉각 성능 상실</a:t>
            </a:r>
          </a:p>
          <a:p>
            <a:pPr algn="l" eaLnBrk="0" marL="171450" indent="-171450">
              <a:lnSpc>
                <a:spcPct val="110000"/>
              </a:lnSpc>
              <a:spcAft>
                <a:spcPts val="600"/>
              </a:spcAft>
            </a:pPr>
            <a:r>
              <a:rPr sz="1500" b="0">
                <a:solidFill>
                  <a:srgbClr val="1F2A3A"/>
                </a:solidFill>
                <a:latin typeface="맑은 고딕"/>
                <a:ea typeface="맑은 고딕"/>
                <a:cs typeface="맑은 고딕"/>
              </a:rPr>
              <a:t>• 원인이 주어다: 「핀 오염은 냉각 성능 상실을 일으킨다」</a:t>
            </a:r>
          </a:p>
          <a:p>
            <a:pPr algn="l" eaLnBrk="0" marL="171450" indent="-171450">
              <a:lnSpc>
                <a:spcPct val="110000"/>
              </a:lnSpc>
              <a:spcAft>
                <a:spcPts val="600"/>
              </a:spcAft>
            </a:pPr>
            <a:r>
              <a:rPr sz="1500" b="0">
                <a:solidFill>
                  <a:srgbClr val="1F2A3A"/>
                </a:solidFill>
                <a:latin typeface="맑은 고딕"/>
                <a:ea typeface="맑은 고딕"/>
                <a:cs typeface="맑은 고딕"/>
              </a:rPr>
              <a:t>• 관계 이름의 뜻이 화살표의 방향을 정한다</a:t>
            </a:r>
          </a:p>
        </p:txBody>
      </p:sp>
      <p:sp>
        <p:nvSpPr>
          <p:cNvPr id="11" name="Rounded Rectangle 10"/>
          <p:cNvSpPr/>
          <p:nvPr/>
        </p:nvSpPr>
        <p:spPr>
          <a:xfrm>
            <a:off x="868680" y="5420106"/>
            <a:ext cx="156972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420106"/>
            <a:ext cx="156972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원인 → 고장 유형</a:t>
            </a:r>
          </a:p>
        </p:txBody>
      </p:sp>
      <p:sp>
        <p:nvSpPr>
          <p:cNvPr id="13" name="Rounded Rectangle 12"/>
          <p:cNvSpPr/>
          <p:nvPr/>
        </p:nvSpPr>
        <p:spPr>
          <a:xfrm>
            <a:off x="6461607" y="2105406"/>
            <a:ext cx="5181447" cy="3771900"/>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306574"/>
            <a:ext cx="731520" cy="731520"/>
          </a:xfrm>
          <a:prstGeom prst="ellipse">
            <a:avLst/>
          </a:prstGeom>
          <a:solidFill>
            <a:srgbClr val="5CB8F2"/>
          </a:solidFill>
          <a:ln>
            <a:noFill/>
          </a:ln>
        </p:spPr>
        <p:txBody>
          <a:bodyPr rtlCol="0" anchor="ctr"/>
          <a:lstStyle/>
          <a:p>
            <a:pPr algn="ctr"/>
          </a:p>
        </p:txBody>
      </p:sp>
      <p:pic>
        <p:nvPicPr>
          <p:cNvPr id="15" name="아이콘:arrow-back-up" descr="arrow-back-up_13294B_1.6.png"/>
          <p:cNvPicPr>
            <a:picLocks noChangeAspect="1"/>
          </p:cNvPicPr>
          <p:nvPr/>
        </p:nvPicPr>
        <p:blipFill>
          <a:blip r:embed="rId4"/>
          <a:stretch>
            <a:fillRect/>
          </a:stretch>
        </p:blipFill>
        <p:spPr>
          <a:xfrm>
            <a:off x="6889546" y="2460193"/>
            <a:ext cx="424281" cy="424281"/>
          </a:xfrm>
          <a:prstGeom prst="rect">
            <a:avLst/>
          </a:prstGeom>
        </p:spPr>
      </p:pic>
      <p:sp>
        <p:nvSpPr>
          <p:cNvPr id="16" name="TextBox 15"/>
          <p:cNvSpPr txBox="1"/>
          <p:nvPr/>
        </p:nvSpPr>
        <p:spPr>
          <a:xfrm>
            <a:off x="7604607" y="2306574"/>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따라가는 방향</a:t>
            </a:r>
          </a:p>
        </p:txBody>
      </p:sp>
      <p:sp>
        <p:nvSpPr>
          <p:cNvPr id="17" name="TextBox 16"/>
          <p:cNvSpPr txBox="1"/>
          <p:nvPr/>
        </p:nvSpPr>
        <p:spPr>
          <a:xfrm>
            <a:off x="6735927" y="3156966"/>
            <a:ext cx="4632807" cy="2171700"/>
          </a:xfrm>
          <a:prstGeom prst="rect">
            <a:avLst/>
          </a:prstGeom>
          <a:noFill/>
        </p:spPr>
        <p:txBody>
          <a:bodyPr wrap="square" anchor="t"/>
          <a:lstStyle/>
          <a:p>
            <a:pPr algn="l" eaLnBrk="0" marL="171450" indent="-171450">
              <a:lnSpc>
                <a:spcPct val="110000"/>
              </a:lnSpc>
              <a:spcAft>
                <a:spcPts val="600"/>
              </a:spcAft>
            </a:pPr>
            <a:r>
              <a:rPr sz="1500" b="0">
                <a:solidFill>
                  <a:srgbClr val="1F2A3A"/>
                </a:solidFill>
                <a:latin typeface="맑은 고딕"/>
                <a:ea typeface="맑은 고딕"/>
                <a:cs typeface="맑은 고딕"/>
              </a:rPr>
              <a:t>• 고장 유형으로 들어오는 CAUSES를 거슬러 원인 후보를 찾는다</a:t>
            </a:r>
          </a:p>
          <a:p>
            <a:pPr algn="l" eaLnBrk="0" marL="171450" indent="-171450">
              <a:lnSpc>
                <a:spcPct val="110000"/>
              </a:lnSpc>
              <a:spcAft>
                <a:spcPts val="600"/>
              </a:spcAft>
            </a:pPr>
            <a:r>
              <a:rPr sz="1500" b="0">
                <a:solidFill>
                  <a:srgbClr val="1F2A3A"/>
                </a:solidFill>
                <a:latin typeface="맑은 고딕"/>
                <a:ea typeface="맑은 고딕"/>
                <a:cs typeface="맑은 고딕"/>
              </a:rPr>
              <a:t>• 저장된 관계를 그대로 쓰며, 반대 뜻의 관계를 따로 두지 않는다</a:t>
            </a:r>
          </a:p>
          <a:p>
            <a:pPr algn="l" eaLnBrk="0" marL="171450" indent="-171450">
              <a:lnSpc>
                <a:spcPct val="110000"/>
              </a:lnSpc>
              <a:spcAft>
                <a:spcPts val="600"/>
              </a:spcAft>
            </a:pPr>
            <a:r>
              <a:rPr sz="1500" b="0">
                <a:solidFill>
                  <a:srgbClr val="1F2A3A"/>
                </a:solidFill>
                <a:latin typeface="맑은 고딕"/>
                <a:ea typeface="맑은 고딕"/>
                <a:cs typeface="맑은 고딕"/>
              </a:rPr>
              <a:t>• 화살표는 한쪽으로만 다녀야 하는 통행 방향이 아니다</a:t>
            </a:r>
          </a:p>
        </p:txBody>
      </p:sp>
      <p:sp>
        <p:nvSpPr>
          <p:cNvPr id="18" name="Rounded Rectangle 17"/>
          <p:cNvSpPr/>
          <p:nvPr/>
        </p:nvSpPr>
        <p:spPr>
          <a:xfrm>
            <a:off x="6781647" y="5420106"/>
            <a:ext cx="233172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420106"/>
            <a:ext cx="233172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고장 유형에서 원인을 찾는다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관계를 따라가는 과정 ①: 경보에서 고장 유형까지</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경보의 이상 패턴에서 DETECTS와 INDICATES를 따라가면, 증상을 거쳐 고장 유형에 이른다.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61</a:t>
            </a:r>
          </a:p>
        </p:txBody>
      </p:sp>
      <p:pic>
        <p:nvPicPr>
          <p:cNvPr id="6" name="삽화:경로2_1.svg" descr="illust_5732469132579855796_1791985595.png"/>
          <p:cNvPicPr>
            <a:picLocks noChangeAspect="1"/>
          </p:cNvPicPr>
          <p:nvPr/>
        </p:nvPicPr>
        <p:blipFill>
          <a:blip r:embed="rId3"/>
          <a:stretch>
            <a:fillRect/>
          </a:stretch>
        </p:blipFill>
        <p:spPr>
          <a:xfrm>
            <a:off x="786223" y="1627632"/>
            <a:ext cx="10619248" cy="4727448"/>
          </a:xfrm>
          <a:prstGeom prst="rect">
            <a:avLst/>
          </a:prstGeom>
        </p:spPr>
      </p:pic>
      <p:sp>
        <p:nvSpPr>
          <p:cNvPr id="7" name="TextBox 6"/>
          <p:cNvSpPr txBox="1"/>
          <p:nvPr/>
        </p:nvSpPr>
        <p:spPr>
          <a:xfrm>
            <a:off x="950821" y="2379296"/>
            <a:ext cx="1327406" cy="678053"/>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이상 패턴</a:t>
            </a:r>
          </a:p>
          <a:p>
            <a:pPr algn="ctr" eaLnBrk="0">
              <a:lnSpc>
                <a:spcPct val="110000"/>
              </a:lnSpc>
              <a:spcAft>
                <a:spcPts val="100"/>
              </a:spcAft>
            </a:pPr>
            <a:r>
              <a:rPr sz="1050" b="0">
                <a:solidFill>
                  <a:srgbClr val="556175"/>
                </a:solidFill>
                <a:latin typeface="맑은 고딕"/>
                <a:ea typeface="맑은 고딕"/>
                <a:cs typeface="맑은 고딕"/>
              </a:rPr>
              <a:t>(AnomalyPattern)</a:t>
            </a:r>
          </a:p>
        </p:txBody>
      </p:sp>
      <p:sp>
        <p:nvSpPr>
          <p:cNvPr id="8" name="TextBox 7"/>
          <p:cNvSpPr txBox="1"/>
          <p:nvPr/>
        </p:nvSpPr>
        <p:spPr>
          <a:xfrm>
            <a:off x="2618043" y="5092851"/>
            <a:ext cx="966351"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증상</a:t>
            </a:r>
          </a:p>
          <a:p>
            <a:pPr algn="ctr" eaLnBrk="0">
              <a:lnSpc>
                <a:spcPct val="110000"/>
              </a:lnSpc>
              <a:spcAft>
                <a:spcPts val="100"/>
              </a:spcAft>
            </a:pPr>
            <a:r>
              <a:rPr sz="1100" b="0">
                <a:solidFill>
                  <a:srgbClr val="556175"/>
                </a:solidFill>
                <a:latin typeface="맑은 고딕"/>
                <a:ea typeface="맑은 고딕"/>
                <a:cs typeface="맑은 고딕"/>
              </a:rPr>
              <a:t>(Symptom)</a:t>
            </a:r>
          </a:p>
        </p:txBody>
      </p:sp>
      <p:sp>
        <p:nvSpPr>
          <p:cNvPr id="9" name="TextBox 8"/>
          <p:cNvSpPr txBox="1"/>
          <p:nvPr/>
        </p:nvSpPr>
        <p:spPr>
          <a:xfrm>
            <a:off x="4327742" y="3608432"/>
            <a:ext cx="1327406"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고장 유형</a:t>
            </a:r>
          </a:p>
          <a:p>
            <a:pPr algn="ctr" eaLnBrk="0">
              <a:lnSpc>
                <a:spcPct val="110000"/>
              </a:lnSpc>
              <a:spcAft>
                <a:spcPts val="100"/>
              </a:spcAft>
            </a:pPr>
            <a:r>
              <a:rPr sz="1100" b="0">
                <a:solidFill>
                  <a:srgbClr val="556175"/>
                </a:solidFill>
                <a:latin typeface="맑은 고딕"/>
                <a:ea typeface="맑은 고딕"/>
                <a:cs typeface="맑은 고딕"/>
              </a:rPr>
              <a:t>(FailureMode)</a:t>
            </a:r>
          </a:p>
        </p:txBody>
      </p:sp>
      <p:sp>
        <p:nvSpPr>
          <p:cNvPr id="10" name="TextBox 9"/>
          <p:cNvSpPr txBox="1"/>
          <p:nvPr/>
        </p:nvSpPr>
        <p:spPr>
          <a:xfrm>
            <a:off x="2676449" y="3726618"/>
            <a:ext cx="955732"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DETECTS</a:t>
            </a:r>
          </a:p>
        </p:txBody>
      </p:sp>
      <p:sp>
        <p:nvSpPr>
          <p:cNvPr id="11" name="TextBox 10"/>
          <p:cNvSpPr txBox="1"/>
          <p:nvPr/>
        </p:nvSpPr>
        <p:spPr>
          <a:xfrm>
            <a:off x="3929521" y="4780839"/>
            <a:ext cx="1061924"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INDICATES</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관계를 따라가는 과정 ②: 원인 후보, 증거, 조치</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CAUSES를 거슬러 원인 후보를 모아 증거로 확인하고, 고장 유형의 MITIGATED_BY로 조치를 찾는다.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62</a:t>
            </a:r>
          </a:p>
        </p:txBody>
      </p:sp>
      <p:pic>
        <p:nvPicPr>
          <p:cNvPr id="6" name="삽화:경로2_2.svg" descr="illust_7057340806506011027_1791985595.png"/>
          <p:cNvPicPr>
            <a:picLocks noChangeAspect="1"/>
          </p:cNvPicPr>
          <p:nvPr/>
        </p:nvPicPr>
        <p:blipFill>
          <a:blip r:embed="rId3"/>
          <a:stretch>
            <a:fillRect/>
          </a:stretch>
        </p:blipFill>
        <p:spPr>
          <a:xfrm>
            <a:off x="786223" y="1627632"/>
            <a:ext cx="10619248" cy="4727448"/>
          </a:xfrm>
          <a:prstGeom prst="rect">
            <a:avLst/>
          </a:prstGeom>
        </p:spPr>
      </p:pic>
      <p:sp>
        <p:nvSpPr>
          <p:cNvPr id="7" name="TextBox 6"/>
          <p:cNvSpPr txBox="1"/>
          <p:nvPr/>
        </p:nvSpPr>
        <p:spPr>
          <a:xfrm>
            <a:off x="950821" y="2379296"/>
            <a:ext cx="1327406" cy="678053"/>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이상 패턴</a:t>
            </a:r>
          </a:p>
          <a:p>
            <a:pPr algn="ctr" eaLnBrk="0">
              <a:lnSpc>
                <a:spcPct val="110000"/>
              </a:lnSpc>
              <a:spcAft>
                <a:spcPts val="100"/>
              </a:spcAft>
            </a:pPr>
            <a:r>
              <a:rPr sz="1050" b="0">
                <a:solidFill>
                  <a:srgbClr val="556175"/>
                </a:solidFill>
                <a:latin typeface="맑은 고딕"/>
                <a:ea typeface="맑은 고딕"/>
                <a:cs typeface="맑은 고딕"/>
              </a:rPr>
              <a:t>(AnomalyPattern)</a:t>
            </a:r>
          </a:p>
        </p:txBody>
      </p:sp>
      <p:sp>
        <p:nvSpPr>
          <p:cNvPr id="8" name="TextBox 7"/>
          <p:cNvSpPr txBox="1"/>
          <p:nvPr/>
        </p:nvSpPr>
        <p:spPr>
          <a:xfrm>
            <a:off x="2618043" y="5092851"/>
            <a:ext cx="966351"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증상</a:t>
            </a:r>
          </a:p>
          <a:p>
            <a:pPr algn="ctr" eaLnBrk="0">
              <a:lnSpc>
                <a:spcPct val="110000"/>
              </a:lnSpc>
              <a:spcAft>
                <a:spcPts val="100"/>
              </a:spcAft>
            </a:pPr>
            <a:r>
              <a:rPr sz="1100" b="0">
                <a:solidFill>
                  <a:srgbClr val="556175"/>
                </a:solidFill>
                <a:latin typeface="맑은 고딕"/>
                <a:ea typeface="맑은 고딕"/>
                <a:cs typeface="맑은 고딕"/>
              </a:rPr>
              <a:t>(Symptom)</a:t>
            </a:r>
          </a:p>
        </p:txBody>
      </p:sp>
      <p:sp>
        <p:nvSpPr>
          <p:cNvPr id="9" name="TextBox 8"/>
          <p:cNvSpPr txBox="1"/>
          <p:nvPr/>
        </p:nvSpPr>
        <p:spPr>
          <a:xfrm>
            <a:off x="4327742" y="3608432"/>
            <a:ext cx="1327406"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고장 유형</a:t>
            </a:r>
          </a:p>
          <a:p>
            <a:pPr algn="ctr" eaLnBrk="0">
              <a:lnSpc>
                <a:spcPct val="110000"/>
              </a:lnSpc>
              <a:spcAft>
                <a:spcPts val="100"/>
              </a:spcAft>
            </a:pPr>
            <a:r>
              <a:rPr sz="1100" b="0">
                <a:solidFill>
                  <a:srgbClr val="556175"/>
                </a:solidFill>
                <a:latin typeface="맑은 고딕"/>
                <a:ea typeface="맑은 고딕"/>
                <a:cs typeface="맑은 고딕"/>
              </a:rPr>
              <a:t>(FailureMode)</a:t>
            </a:r>
          </a:p>
        </p:txBody>
      </p:sp>
      <p:sp>
        <p:nvSpPr>
          <p:cNvPr id="10" name="TextBox 9"/>
          <p:cNvSpPr txBox="1"/>
          <p:nvPr/>
        </p:nvSpPr>
        <p:spPr>
          <a:xfrm>
            <a:off x="5729483" y="5442682"/>
            <a:ext cx="966351" cy="507618"/>
          </a:xfrm>
          <a:prstGeom prst="rect">
            <a:avLst/>
          </a:prstGeom>
          <a:noFill/>
        </p:spPr>
        <p:txBody>
          <a:bodyPr wrap="square" anchor="t"/>
          <a:lstStyle/>
          <a:p>
            <a:pPr algn="ctr" eaLnBrk="0">
              <a:lnSpc>
                <a:spcPct val="110000"/>
              </a:lnSpc>
              <a:spcAft>
                <a:spcPts val="100"/>
              </a:spcAft>
            </a:pPr>
            <a:r>
              <a:rPr sz="1350" b="1">
                <a:solidFill>
                  <a:srgbClr val="1A6FC4"/>
                </a:solidFill>
                <a:latin typeface="맑은 고딕"/>
                <a:ea typeface="맑은 고딕"/>
                <a:cs typeface="맑은 고딕"/>
              </a:rPr>
              <a:t>조치 방법</a:t>
            </a:r>
          </a:p>
          <a:p>
            <a:pPr algn="ctr" eaLnBrk="0">
              <a:lnSpc>
                <a:spcPct val="110000"/>
              </a:lnSpc>
              <a:spcAft>
                <a:spcPts val="100"/>
              </a:spcAft>
            </a:pPr>
            <a:r>
              <a:rPr sz="1100" b="0">
                <a:solidFill>
                  <a:srgbClr val="556175"/>
                </a:solidFill>
                <a:latin typeface="맑은 고딕"/>
                <a:ea typeface="맑은 고딕"/>
                <a:cs typeface="맑은 고딕"/>
              </a:rPr>
              <a:t>(Skill)</a:t>
            </a:r>
          </a:p>
        </p:txBody>
      </p:sp>
      <p:sp>
        <p:nvSpPr>
          <p:cNvPr id="11" name="TextBox 10"/>
          <p:cNvSpPr txBox="1"/>
          <p:nvPr/>
        </p:nvSpPr>
        <p:spPr>
          <a:xfrm>
            <a:off x="6881671" y="2246927"/>
            <a:ext cx="1295548" cy="507618"/>
          </a:xfrm>
          <a:prstGeom prst="rect">
            <a:avLst/>
          </a:prstGeom>
          <a:noFill/>
        </p:spPr>
        <p:txBody>
          <a:bodyPr wrap="square" anchor="t"/>
          <a:lstStyle/>
          <a:p>
            <a:pPr algn="ctr" eaLnBrk="0">
              <a:lnSpc>
                <a:spcPct val="110000"/>
              </a:lnSpc>
              <a:spcAft>
                <a:spcPts val="100"/>
              </a:spcAft>
            </a:pPr>
            <a:r>
              <a:rPr sz="1350" b="1">
                <a:solidFill>
                  <a:srgbClr val="1A6FC4"/>
                </a:solidFill>
                <a:latin typeface="맑은 고딕"/>
                <a:ea typeface="맑은 고딕"/>
                <a:cs typeface="맑은 고딕"/>
              </a:rPr>
              <a:t>쿨러 핀 오염</a:t>
            </a:r>
          </a:p>
          <a:p>
            <a:pPr algn="ctr" eaLnBrk="0">
              <a:lnSpc>
                <a:spcPct val="110000"/>
              </a:lnSpc>
              <a:spcAft>
                <a:spcPts val="100"/>
              </a:spcAft>
            </a:pPr>
            <a:r>
              <a:rPr sz="1100" b="0">
                <a:solidFill>
                  <a:srgbClr val="556175"/>
                </a:solidFill>
                <a:latin typeface="맑은 고딕"/>
                <a:ea typeface="맑은 고딕"/>
                <a:cs typeface="맑은 고딕"/>
              </a:rPr>
              <a:t>(Cause)</a:t>
            </a:r>
          </a:p>
        </p:txBody>
      </p:sp>
      <p:sp>
        <p:nvSpPr>
          <p:cNvPr id="12" name="TextBox 11"/>
          <p:cNvSpPr txBox="1"/>
          <p:nvPr/>
        </p:nvSpPr>
        <p:spPr>
          <a:xfrm>
            <a:off x="7402015" y="3868442"/>
            <a:ext cx="1295548"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팬 구동 불량</a:t>
            </a:r>
          </a:p>
          <a:p>
            <a:pPr algn="ctr" eaLnBrk="0">
              <a:lnSpc>
                <a:spcPct val="110000"/>
              </a:lnSpc>
              <a:spcAft>
                <a:spcPts val="100"/>
              </a:spcAft>
            </a:pPr>
            <a:r>
              <a:rPr sz="1100" b="0">
                <a:solidFill>
                  <a:srgbClr val="556175"/>
                </a:solidFill>
                <a:latin typeface="맑은 고딕"/>
                <a:ea typeface="맑은 고딕"/>
                <a:cs typeface="맑은 고딕"/>
              </a:rPr>
              <a:t>(Cause)</a:t>
            </a:r>
          </a:p>
        </p:txBody>
      </p:sp>
      <p:sp>
        <p:nvSpPr>
          <p:cNvPr id="13" name="TextBox 12"/>
          <p:cNvSpPr txBox="1"/>
          <p:nvPr/>
        </p:nvSpPr>
        <p:spPr>
          <a:xfrm>
            <a:off x="7147153" y="5400135"/>
            <a:ext cx="1295548" cy="71678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주변 온도 상승</a:t>
            </a:r>
          </a:p>
          <a:p>
            <a:pPr algn="ctr" eaLnBrk="0">
              <a:lnSpc>
                <a:spcPct val="110000"/>
              </a:lnSpc>
              <a:spcAft>
                <a:spcPts val="100"/>
              </a:spcAft>
            </a:pPr>
            <a:r>
              <a:rPr sz="1100" b="0">
                <a:solidFill>
                  <a:srgbClr val="556175"/>
                </a:solidFill>
                <a:latin typeface="맑은 고딕"/>
                <a:ea typeface="맑은 고딕"/>
                <a:cs typeface="맑은 고딕"/>
              </a:rPr>
              <a:t>(Cause)</a:t>
            </a:r>
          </a:p>
        </p:txBody>
      </p:sp>
      <p:sp>
        <p:nvSpPr>
          <p:cNvPr id="14" name="TextBox 13"/>
          <p:cNvSpPr txBox="1"/>
          <p:nvPr/>
        </p:nvSpPr>
        <p:spPr>
          <a:xfrm>
            <a:off x="9663914" y="2246927"/>
            <a:ext cx="1061924" cy="507618"/>
          </a:xfrm>
          <a:prstGeom prst="rect">
            <a:avLst/>
          </a:prstGeom>
          <a:noFill/>
        </p:spPr>
        <p:txBody>
          <a:bodyPr wrap="square" anchor="t"/>
          <a:lstStyle/>
          <a:p>
            <a:pPr algn="ctr" eaLnBrk="0">
              <a:lnSpc>
                <a:spcPct val="110000"/>
              </a:lnSpc>
              <a:spcAft>
                <a:spcPts val="100"/>
              </a:spcAft>
            </a:pPr>
            <a:r>
              <a:rPr sz="1350" b="1">
                <a:solidFill>
                  <a:srgbClr val="1A6FC4"/>
                </a:solidFill>
                <a:latin typeface="맑은 고딕"/>
                <a:ea typeface="맑은 고딕"/>
                <a:cs typeface="맑은 고딕"/>
              </a:rPr>
              <a:t>CE · VS1</a:t>
            </a:r>
          </a:p>
          <a:p>
            <a:pPr algn="ctr" eaLnBrk="0">
              <a:lnSpc>
                <a:spcPct val="110000"/>
              </a:lnSpc>
              <a:spcAft>
                <a:spcPts val="100"/>
              </a:spcAft>
            </a:pPr>
            <a:r>
              <a:rPr sz="1100" b="0">
                <a:solidFill>
                  <a:srgbClr val="556175"/>
                </a:solidFill>
                <a:latin typeface="맑은 고딕"/>
                <a:ea typeface="맑은 고딕"/>
                <a:cs typeface="맑은 고딕"/>
              </a:rPr>
              <a:t>(Evidence)</a:t>
            </a:r>
          </a:p>
        </p:txBody>
      </p:sp>
      <p:sp>
        <p:nvSpPr>
          <p:cNvPr id="15" name="TextBox 14"/>
          <p:cNvSpPr txBox="1"/>
          <p:nvPr/>
        </p:nvSpPr>
        <p:spPr>
          <a:xfrm>
            <a:off x="10194877" y="3868442"/>
            <a:ext cx="1061924"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VS1</a:t>
            </a:r>
          </a:p>
          <a:p>
            <a:pPr algn="ctr" eaLnBrk="0">
              <a:lnSpc>
                <a:spcPct val="110000"/>
              </a:lnSpc>
              <a:spcAft>
                <a:spcPts val="100"/>
              </a:spcAft>
            </a:pPr>
            <a:r>
              <a:rPr sz="1100" b="0">
                <a:solidFill>
                  <a:srgbClr val="556175"/>
                </a:solidFill>
                <a:latin typeface="맑은 고딕"/>
                <a:ea typeface="맑은 고딕"/>
                <a:cs typeface="맑은 고딕"/>
              </a:rPr>
              <a:t>(Evidence)</a:t>
            </a:r>
          </a:p>
        </p:txBody>
      </p:sp>
      <p:sp>
        <p:nvSpPr>
          <p:cNvPr id="16" name="TextBox 15"/>
          <p:cNvSpPr txBox="1"/>
          <p:nvPr/>
        </p:nvSpPr>
        <p:spPr>
          <a:xfrm>
            <a:off x="9971873" y="5400135"/>
            <a:ext cx="1061924"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TS4</a:t>
            </a:r>
          </a:p>
          <a:p>
            <a:pPr algn="ctr" eaLnBrk="0">
              <a:lnSpc>
                <a:spcPct val="110000"/>
              </a:lnSpc>
              <a:spcAft>
                <a:spcPts val="100"/>
              </a:spcAft>
            </a:pPr>
            <a:r>
              <a:rPr sz="1100" b="0">
                <a:solidFill>
                  <a:srgbClr val="556175"/>
                </a:solidFill>
                <a:latin typeface="맑은 고딕"/>
                <a:ea typeface="맑은 고딕"/>
                <a:cs typeface="맑은 고딕"/>
              </a:rPr>
              <a:t>(Evidence)</a:t>
            </a:r>
          </a:p>
        </p:txBody>
      </p:sp>
      <p:sp>
        <p:nvSpPr>
          <p:cNvPr id="17" name="TextBox 16"/>
          <p:cNvSpPr txBox="1"/>
          <p:nvPr/>
        </p:nvSpPr>
        <p:spPr>
          <a:xfrm>
            <a:off x="6053370" y="3509156"/>
            <a:ext cx="849539"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CAUSES</a:t>
            </a:r>
          </a:p>
        </p:txBody>
      </p:sp>
      <p:sp>
        <p:nvSpPr>
          <p:cNvPr id="18" name="TextBox 17"/>
          <p:cNvSpPr txBox="1"/>
          <p:nvPr/>
        </p:nvSpPr>
        <p:spPr>
          <a:xfrm>
            <a:off x="8272793" y="2133468"/>
            <a:ext cx="1274309"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EVIDENCED_BY</a:t>
            </a:r>
          </a:p>
        </p:txBody>
      </p:sp>
      <p:sp>
        <p:nvSpPr>
          <p:cNvPr id="19" name="TextBox 18"/>
          <p:cNvSpPr txBox="1"/>
          <p:nvPr/>
        </p:nvSpPr>
        <p:spPr>
          <a:xfrm>
            <a:off x="4184382" y="4903753"/>
            <a:ext cx="1274309"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MITIGATED_BY</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지식 모델이 판단과 업무에 쓰이는 자리</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온톨로지로 원인 후보와 근거를 찾고, 에이전트가 추천한 조치를 사람이 승인하면 프로세스가 실행한다.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63</a:t>
            </a:r>
          </a:p>
        </p:txBody>
      </p:sp>
      <p:sp>
        <p:nvSpPr>
          <p:cNvPr id="6" name="Rounded Rectangle 5"/>
          <p:cNvSpPr/>
          <p:nvPr/>
        </p:nvSpPr>
        <p:spPr>
          <a:xfrm>
            <a:off x="548640" y="2643505"/>
            <a:ext cx="1911644" cy="2695702"/>
          </a:xfrm>
          <a:prstGeom prst="roundRect">
            <a:avLst>
              <a:gd name="adj" fmla="val 5000"/>
            </a:avLst>
          </a:prstGeom>
          <a:solidFill>
            <a:srgbClr val="E7F3FD"/>
          </a:solidFill>
          <a:ln w="25400">
            <a:solidFill>
              <a:srgbClr val="5CB8F2"/>
            </a:solidFill>
          </a:ln>
        </p:spPr>
        <p:txBody>
          <a:bodyPr rtlCol="0" anchor="ctr"/>
          <a:lstStyle/>
          <a:p>
            <a:pPr algn="ctr"/>
          </a:p>
        </p:txBody>
      </p:sp>
      <p:sp>
        <p:nvSpPr>
          <p:cNvPr id="7" name="Oval 6"/>
          <p:cNvSpPr/>
          <p:nvPr/>
        </p:nvSpPr>
        <p:spPr>
          <a:xfrm>
            <a:off x="1138702" y="2826385"/>
            <a:ext cx="731520" cy="731520"/>
          </a:xfrm>
          <a:prstGeom prst="ellipse">
            <a:avLst/>
          </a:prstGeom>
          <a:solidFill>
            <a:srgbClr val="5CB8F2"/>
          </a:solidFill>
          <a:ln>
            <a:noFill/>
          </a:ln>
        </p:spPr>
        <p:txBody>
          <a:bodyPr rtlCol="0" anchor="ctr"/>
          <a:lstStyle/>
          <a:p>
            <a:pPr algn="ctr"/>
          </a:p>
        </p:txBody>
      </p:sp>
      <p:pic>
        <p:nvPicPr>
          <p:cNvPr id="8" name="아이콘:topology-star-3" descr="topology-star-3_13294B_1.6.png"/>
          <p:cNvPicPr>
            <a:picLocks noChangeAspect="1"/>
          </p:cNvPicPr>
          <p:nvPr/>
        </p:nvPicPr>
        <p:blipFill>
          <a:blip r:embed="rId3"/>
          <a:stretch>
            <a:fillRect/>
          </a:stretch>
        </p:blipFill>
        <p:spPr>
          <a:xfrm>
            <a:off x="1292321" y="2980004"/>
            <a:ext cx="424281" cy="424281"/>
          </a:xfrm>
          <a:prstGeom prst="rect">
            <a:avLst/>
          </a:prstGeom>
        </p:spPr>
      </p:pic>
      <p:sp>
        <p:nvSpPr>
          <p:cNvPr id="9" name="TextBox 8"/>
          <p:cNvSpPr txBox="1"/>
          <p:nvPr/>
        </p:nvSpPr>
        <p:spPr>
          <a:xfrm>
            <a:off x="621792" y="3631057"/>
            <a:ext cx="1765340" cy="1634997"/>
          </a:xfrm>
          <a:prstGeom prst="rect">
            <a:avLst/>
          </a:prstGeom>
          <a:noFill/>
        </p:spPr>
        <p:txBody>
          <a:bodyPr wrap="square" anchor="t"/>
          <a:lstStyle/>
          <a:p>
            <a:pPr algn="ctr" eaLnBrk="0">
              <a:lnSpc>
                <a:spcPct val="110000"/>
              </a:lnSpc>
              <a:spcAft>
                <a:spcPts val="400"/>
              </a:spcAft>
            </a:pPr>
            <a:r>
              <a:rPr sz="1550" b="1">
                <a:solidFill>
                  <a:srgbClr val="13294B"/>
                </a:solidFill>
                <a:latin typeface="맑은 고딕"/>
                <a:ea typeface="맑은 고딕"/>
                <a:cs typeface="맑은 고딕"/>
              </a:rPr>
              <a:t>정의</a:t>
            </a:r>
          </a:p>
          <a:p>
            <a:pPr algn="ctr" eaLnBrk="0">
              <a:lnSpc>
                <a:spcPct val="110000"/>
              </a:lnSpc>
              <a:spcAft>
                <a:spcPts val="400"/>
              </a:spcAft>
            </a:pPr>
            <a:r>
              <a:rPr sz="1250" b="0">
                <a:solidFill>
                  <a:srgbClr val="1F2A3A"/>
                </a:solidFill>
                <a:latin typeface="맑은 고딕"/>
                <a:ea typeface="맑은 고딕"/>
                <a:cs typeface="맑은 고딕"/>
              </a:rPr>
              <a:t>온톨로지가</a:t>
            </a:r>
          </a:p>
          <a:p>
            <a:pPr algn="ctr" eaLnBrk="0">
              <a:lnSpc>
                <a:spcPct val="110000"/>
              </a:lnSpc>
              <a:spcAft>
                <a:spcPts val="400"/>
              </a:spcAft>
            </a:pPr>
            <a:r>
              <a:rPr sz="1250" b="0">
                <a:solidFill>
                  <a:srgbClr val="1F2A3A"/>
                </a:solidFill>
                <a:latin typeface="맑은 고딕"/>
                <a:ea typeface="맑은 고딕"/>
                <a:cs typeface="맑은 고딕"/>
              </a:rPr>
              <a:t>대상의 종류, 속성,</a:t>
            </a:r>
          </a:p>
          <a:p>
            <a:pPr algn="ctr" eaLnBrk="0">
              <a:lnSpc>
                <a:spcPct val="110000"/>
              </a:lnSpc>
              <a:spcAft>
                <a:spcPts val="400"/>
              </a:spcAft>
            </a:pPr>
            <a:r>
              <a:rPr sz="1250" b="0">
                <a:solidFill>
                  <a:srgbClr val="1F2A3A"/>
                </a:solidFill>
                <a:latin typeface="맑은 고딕"/>
                <a:ea typeface="맑은 고딕"/>
                <a:cs typeface="맑은 고딕"/>
              </a:rPr>
              <a:t>관계, 제약을 정한다</a:t>
            </a:r>
          </a:p>
        </p:txBody>
      </p:sp>
      <p:sp>
        <p:nvSpPr>
          <p:cNvPr id="10" name="Right Arrow 9"/>
          <p:cNvSpPr/>
          <p:nvPr/>
        </p:nvSpPr>
        <p:spPr>
          <a:xfrm>
            <a:off x="2524292"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2844332" y="2643505"/>
            <a:ext cx="1911644" cy="2695702"/>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3434394" y="2826385"/>
            <a:ext cx="731520" cy="731520"/>
          </a:xfrm>
          <a:prstGeom prst="ellipse">
            <a:avLst/>
          </a:prstGeom>
          <a:solidFill>
            <a:srgbClr val="FFFFFF"/>
          </a:solidFill>
          <a:ln>
            <a:noFill/>
          </a:ln>
        </p:spPr>
        <p:txBody>
          <a:bodyPr rtlCol="0" anchor="ctr"/>
          <a:lstStyle/>
          <a:p>
            <a:pPr algn="ctr"/>
          </a:p>
        </p:txBody>
      </p:sp>
      <p:pic>
        <p:nvPicPr>
          <p:cNvPr id="13" name="아이콘:route" descr="route_13294B_1.6.png"/>
          <p:cNvPicPr>
            <a:picLocks noChangeAspect="1"/>
          </p:cNvPicPr>
          <p:nvPr/>
        </p:nvPicPr>
        <p:blipFill>
          <a:blip r:embed="rId4"/>
          <a:stretch>
            <a:fillRect/>
          </a:stretch>
        </p:blipFill>
        <p:spPr>
          <a:xfrm>
            <a:off x="3588014" y="2980004"/>
            <a:ext cx="424281" cy="424281"/>
          </a:xfrm>
          <a:prstGeom prst="rect">
            <a:avLst/>
          </a:prstGeom>
        </p:spPr>
      </p:pic>
      <p:sp>
        <p:nvSpPr>
          <p:cNvPr id="14" name="TextBox 13"/>
          <p:cNvSpPr txBox="1"/>
          <p:nvPr/>
        </p:nvSpPr>
        <p:spPr>
          <a:xfrm>
            <a:off x="2917484" y="3631057"/>
            <a:ext cx="1765340" cy="1634997"/>
          </a:xfrm>
          <a:prstGeom prst="rect">
            <a:avLst/>
          </a:prstGeom>
          <a:noFill/>
        </p:spPr>
        <p:txBody>
          <a:bodyPr wrap="square" anchor="t"/>
          <a:lstStyle/>
          <a:p>
            <a:pPr algn="ctr" eaLnBrk="0">
              <a:lnSpc>
                <a:spcPct val="110000"/>
              </a:lnSpc>
              <a:spcAft>
                <a:spcPts val="400"/>
              </a:spcAft>
            </a:pPr>
            <a:r>
              <a:rPr sz="1550" b="1">
                <a:solidFill>
                  <a:srgbClr val="13294B"/>
                </a:solidFill>
                <a:latin typeface="맑은 고딕"/>
                <a:ea typeface="맑은 고딕"/>
                <a:cs typeface="맑은 고딕"/>
              </a:rPr>
              <a:t>조회</a:t>
            </a:r>
          </a:p>
          <a:p>
            <a:pPr algn="ctr" eaLnBrk="0">
              <a:lnSpc>
                <a:spcPct val="110000"/>
              </a:lnSpc>
              <a:spcAft>
                <a:spcPts val="400"/>
              </a:spcAft>
            </a:pPr>
            <a:r>
              <a:rPr sz="1250" b="0">
                <a:solidFill>
                  <a:srgbClr val="1F2A3A"/>
                </a:solidFill>
                <a:latin typeface="맑은 고딕"/>
                <a:ea typeface="맑은 고딕"/>
                <a:cs typeface="맑은 고딕"/>
              </a:rPr>
              <a:t>경보에서 관계를 따라</a:t>
            </a:r>
          </a:p>
          <a:p>
            <a:pPr algn="ctr" eaLnBrk="0">
              <a:lnSpc>
                <a:spcPct val="110000"/>
              </a:lnSpc>
              <a:spcAft>
                <a:spcPts val="400"/>
              </a:spcAft>
            </a:pPr>
            <a:r>
              <a:rPr sz="1250" b="0">
                <a:solidFill>
                  <a:srgbClr val="1F2A3A"/>
                </a:solidFill>
                <a:latin typeface="맑은 고딕"/>
                <a:ea typeface="맑은 고딕"/>
                <a:cs typeface="맑은 고딕"/>
              </a:rPr>
              <a:t>원인 후보와</a:t>
            </a:r>
          </a:p>
          <a:p>
            <a:pPr algn="ctr" eaLnBrk="0">
              <a:lnSpc>
                <a:spcPct val="110000"/>
              </a:lnSpc>
              <a:spcAft>
                <a:spcPts val="400"/>
              </a:spcAft>
            </a:pPr>
            <a:r>
              <a:rPr sz="1250" b="0">
                <a:solidFill>
                  <a:srgbClr val="1F2A3A"/>
                </a:solidFill>
                <a:latin typeface="맑은 고딕"/>
                <a:ea typeface="맑은 고딕"/>
                <a:cs typeface="맑은 고딕"/>
              </a:rPr>
              <a:t>증거를 찾는다</a:t>
            </a:r>
          </a:p>
        </p:txBody>
      </p:sp>
      <p:sp>
        <p:nvSpPr>
          <p:cNvPr id="15" name="Right Arrow 14"/>
          <p:cNvSpPr/>
          <p:nvPr/>
        </p:nvSpPr>
        <p:spPr>
          <a:xfrm>
            <a:off x="4819985"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5140025" y="2643505"/>
            <a:ext cx="1911644" cy="2695702"/>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5730087" y="2826385"/>
            <a:ext cx="731520" cy="731520"/>
          </a:xfrm>
          <a:prstGeom prst="ellipse">
            <a:avLst/>
          </a:prstGeom>
          <a:solidFill>
            <a:srgbClr val="FFFFFF"/>
          </a:solidFill>
          <a:ln>
            <a:noFill/>
          </a:ln>
        </p:spPr>
        <p:txBody>
          <a:bodyPr rtlCol="0" anchor="ctr"/>
          <a:lstStyle/>
          <a:p>
            <a:pPr algn="ctr"/>
          </a:p>
        </p:txBody>
      </p:sp>
      <p:pic>
        <p:nvPicPr>
          <p:cNvPr id="18" name="아이콘:robot" descr="robot_13294B_1.6.png"/>
          <p:cNvPicPr>
            <a:picLocks noChangeAspect="1"/>
          </p:cNvPicPr>
          <p:nvPr/>
        </p:nvPicPr>
        <p:blipFill>
          <a:blip r:embed="rId5"/>
          <a:stretch>
            <a:fillRect/>
          </a:stretch>
        </p:blipFill>
        <p:spPr>
          <a:xfrm>
            <a:off x="5883706" y="2980004"/>
            <a:ext cx="424281" cy="424281"/>
          </a:xfrm>
          <a:prstGeom prst="rect">
            <a:avLst/>
          </a:prstGeom>
        </p:spPr>
      </p:pic>
      <p:sp>
        <p:nvSpPr>
          <p:cNvPr id="19" name="TextBox 18"/>
          <p:cNvSpPr txBox="1"/>
          <p:nvPr/>
        </p:nvSpPr>
        <p:spPr>
          <a:xfrm>
            <a:off x="5213177" y="3631057"/>
            <a:ext cx="1765340" cy="1634997"/>
          </a:xfrm>
          <a:prstGeom prst="rect">
            <a:avLst/>
          </a:prstGeom>
          <a:noFill/>
        </p:spPr>
        <p:txBody>
          <a:bodyPr wrap="square" anchor="t"/>
          <a:lstStyle/>
          <a:p>
            <a:pPr algn="ctr" eaLnBrk="0">
              <a:lnSpc>
                <a:spcPct val="110000"/>
              </a:lnSpc>
              <a:spcAft>
                <a:spcPts val="400"/>
              </a:spcAft>
            </a:pPr>
            <a:r>
              <a:rPr sz="1550" b="1">
                <a:solidFill>
                  <a:srgbClr val="13294B"/>
                </a:solidFill>
                <a:latin typeface="맑은 고딕"/>
                <a:ea typeface="맑은 고딕"/>
                <a:cs typeface="맑은 고딕"/>
              </a:rPr>
              <a:t>판단</a:t>
            </a:r>
          </a:p>
          <a:p>
            <a:pPr algn="ctr" eaLnBrk="0">
              <a:lnSpc>
                <a:spcPct val="110000"/>
              </a:lnSpc>
              <a:spcAft>
                <a:spcPts val="400"/>
              </a:spcAft>
            </a:pPr>
            <a:r>
              <a:rPr sz="1250" b="0">
                <a:solidFill>
                  <a:srgbClr val="1F2A3A"/>
                </a:solidFill>
                <a:latin typeface="맑은 고딕"/>
                <a:ea typeface="맑은 고딕"/>
                <a:cs typeface="맑은 고딕"/>
              </a:rPr>
              <a:t>에이전트가</a:t>
            </a:r>
          </a:p>
          <a:p>
            <a:pPr algn="ctr" eaLnBrk="0">
              <a:lnSpc>
                <a:spcPct val="110000"/>
              </a:lnSpc>
              <a:spcAft>
                <a:spcPts val="400"/>
              </a:spcAft>
            </a:pPr>
            <a:r>
              <a:rPr sz="1250" b="0">
                <a:solidFill>
                  <a:srgbClr val="1F2A3A"/>
                </a:solidFill>
                <a:latin typeface="맑은 고딕"/>
                <a:ea typeface="맑은 고딕"/>
                <a:cs typeface="맑은 고딕"/>
              </a:rPr>
              <a:t>값을 대조해</a:t>
            </a:r>
          </a:p>
          <a:p>
            <a:pPr algn="ctr" eaLnBrk="0">
              <a:lnSpc>
                <a:spcPct val="110000"/>
              </a:lnSpc>
              <a:spcAft>
                <a:spcPts val="400"/>
              </a:spcAft>
            </a:pPr>
            <a:r>
              <a:rPr sz="1250" b="0">
                <a:solidFill>
                  <a:srgbClr val="1F2A3A"/>
                </a:solidFill>
                <a:latin typeface="맑은 고딕"/>
                <a:ea typeface="맑은 고딕"/>
                <a:cs typeface="맑은 고딕"/>
              </a:rPr>
              <a:t>조치를 추천한다</a:t>
            </a:r>
          </a:p>
        </p:txBody>
      </p:sp>
      <p:sp>
        <p:nvSpPr>
          <p:cNvPr id="20" name="Right Arrow 19"/>
          <p:cNvSpPr/>
          <p:nvPr/>
        </p:nvSpPr>
        <p:spPr>
          <a:xfrm>
            <a:off x="711567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7435717" y="2643505"/>
            <a:ext cx="1911644" cy="2695702"/>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8025780" y="2826385"/>
            <a:ext cx="731520" cy="731520"/>
          </a:xfrm>
          <a:prstGeom prst="ellipse">
            <a:avLst/>
          </a:prstGeom>
          <a:solidFill>
            <a:srgbClr val="FFFFFF"/>
          </a:solidFill>
          <a:ln>
            <a:noFill/>
          </a:ln>
        </p:spPr>
        <p:txBody>
          <a:bodyPr rtlCol="0" anchor="ctr"/>
          <a:lstStyle/>
          <a:p>
            <a:pPr algn="ctr"/>
          </a:p>
        </p:txBody>
      </p:sp>
      <p:pic>
        <p:nvPicPr>
          <p:cNvPr id="23" name="아이콘:user-check" descr="user-check_13294B_1.6.png"/>
          <p:cNvPicPr>
            <a:picLocks noChangeAspect="1"/>
          </p:cNvPicPr>
          <p:nvPr/>
        </p:nvPicPr>
        <p:blipFill>
          <a:blip r:embed="rId6"/>
          <a:stretch>
            <a:fillRect/>
          </a:stretch>
        </p:blipFill>
        <p:spPr>
          <a:xfrm>
            <a:off x="8179399" y="2980004"/>
            <a:ext cx="424281" cy="424281"/>
          </a:xfrm>
          <a:prstGeom prst="rect">
            <a:avLst/>
          </a:prstGeom>
        </p:spPr>
      </p:pic>
      <p:sp>
        <p:nvSpPr>
          <p:cNvPr id="24" name="TextBox 23"/>
          <p:cNvSpPr txBox="1"/>
          <p:nvPr/>
        </p:nvSpPr>
        <p:spPr>
          <a:xfrm>
            <a:off x="7508869" y="3631057"/>
            <a:ext cx="1765340" cy="1634997"/>
          </a:xfrm>
          <a:prstGeom prst="rect">
            <a:avLst/>
          </a:prstGeom>
          <a:noFill/>
        </p:spPr>
        <p:txBody>
          <a:bodyPr wrap="square" anchor="t"/>
          <a:lstStyle/>
          <a:p>
            <a:pPr algn="ctr" eaLnBrk="0">
              <a:lnSpc>
                <a:spcPct val="110000"/>
              </a:lnSpc>
              <a:spcAft>
                <a:spcPts val="400"/>
              </a:spcAft>
            </a:pPr>
            <a:r>
              <a:rPr sz="1550" b="1">
                <a:solidFill>
                  <a:srgbClr val="13294B"/>
                </a:solidFill>
                <a:latin typeface="맑은 고딕"/>
                <a:ea typeface="맑은 고딕"/>
                <a:cs typeface="맑은 고딕"/>
              </a:rPr>
              <a:t>승인</a:t>
            </a:r>
          </a:p>
          <a:p>
            <a:pPr algn="ctr" eaLnBrk="0">
              <a:lnSpc>
                <a:spcPct val="110000"/>
              </a:lnSpc>
              <a:spcAft>
                <a:spcPts val="400"/>
              </a:spcAft>
            </a:pPr>
            <a:r>
              <a:rPr sz="1250" b="0">
                <a:solidFill>
                  <a:srgbClr val="1F2A3A"/>
                </a:solidFill>
                <a:latin typeface="맑은 고딕"/>
                <a:ea typeface="맑은 고딕"/>
                <a:cs typeface="맑은 고딕"/>
              </a:rPr>
              <a:t>담당자가</a:t>
            </a:r>
          </a:p>
          <a:p>
            <a:pPr algn="ctr" eaLnBrk="0">
              <a:lnSpc>
                <a:spcPct val="110000"/>
              </a:lnSpc>
              <a:spcAft>
                <a:spcPts val="400"/>
              </a:spcAft>
            </a:pPr>
            <a:r>
              <a:rPr sz="1250" b="0">
                <a:solidFill>
                  <a:srgbClr val="1F2A3A"/>
                </a:solidFill>
                <a:latin typeface="맑은 고딕"/>
                <a:ea typeface="맑은 고딕"/>
                <a:cs typeface="맑은 고딕"/>
              </a:rPr>
              <a:t>추천과 근거를 보고</a:t>
            </a:r>
          </a:p>
          <a:p>
            <a:pPr algn="ctr" eaLnBrk="0">
              <a:lnSpc>
                <a:spcPct val="110000"/>
              </a:lnSpc>
              <a:spcAft>
                <a:spcPts val="400"/>
              </a:spcAft>
            </a:pPr>
            <a:r>
              <a:rPr sz="1250" b="0">
                <a:solidFill>
                  <a:srgbClr val="1F2A3A"/>
                </a:solidFill>
                <a:latin typeface="맑은 고딕"/>
                <a:ea typeface="맑은 고딕"/>
                <a:cs typeface="맑은 고딕"/>
              </a:rPr>
              <a:t>승인하거나 거절한다</a:t>
            </a:r>
          </a:p>
        </p:txBody>
      </p:sp>
      <p:sp>
        <p:nvSpPr>
          <p:cNvPr id="25" name="Right Arrow 24"/>
          <p:cNvSpPr/>
          <p:nvPr/>
        </p:nvSpPr>
        <p:spPr>
          <a:xfrm>
            <a:off x="9411370" y="3854196"/>
            <a:ext cx="256031" cy="274320"/>
          </a:xfrm>
          <a:prstGeom prst="rightArrow">
            <a:avLst/>
          </a:prstGeom>
          <a:solidFill>
            <a:srgbClr val="13294B"/>
          </a:solidFill>
          <a:ln>
            <a:noFill/>
          </a:ln>
        </p:spPr>
        <p:txBody>
          <a:bodyPr rtlCol="0" anchor="ctr"/>
          <a:lstStyle/>
          <a:p>
            <a:pPr algn="ctr"/>
          </a:p>
        </p:txBody>
      </p:sp>
      <p:sp>
        <p:nvSpPr>
          <p:cNvPr id="26" name="Rounded Rectangle 25"/>
          <p:cNvSpPr/>
          <p:nvPr/>
        </p:nvSpPr>
        <p:spPr>
          <a:xfrm>
            <a:off x="9731410" y="2643505"/>
            <a:ext cx="1911644" cy="2695702"/>
          </a:xfrm>
          <a:prstGeom prst="roundRect">
            <a:avLst>
              <a:gd name="adj" fmla="val 5000"/>
            </a:avLst>
          </a:prstGeom>
          <a:solidFill>
            <a:srgbClr val="F3F6F9"/>
          </a:solidFill>
          <a:ln>
            <a:noFill/>
          </a:ln>
        </p:spPr>
        <p:txBody>
          <a:bodyPr rtlCol="0" anchor="ctr"/>
          <a:lstStyle/>
          <a:p>
            <a:pPr algn="ctr"/>
          </a:p>
        </p:txBody>
      </p:sp>
      <p:sp>
        <p:nvSpPr>
          <p:cNvPr id="27" name="Oval 26"/>
          <p:cNvSpPr/>
          <p:nvPr/>
        </p:nvSpPr>
        <p:spPr>
          <a:xfrm>
            <a:off x="10321472" y="2826385"/>
            <a:ext cx="731520" cy="731520"/>
          </a:xfrm>
          <a:prstGeom prst="ellipse">
            <a:avLst/>
          </a:prstGeom>
          <a:solidFill>
            <a:srgbClr val="FFFFFF"/>
          </a:solidFill>
          <a:ln>
            <a:noFill/>
          </a:ln>
        </p:spPr>
        <p:txBody>
          <a:bodyPr rtlCol="0" anchor="ctr"/>
          <a:lstStyle/>
          <a:p>
            <a:pPr algn="ctr"/>
          </a:p>
        </p:txBody>
      </p:sp>
      <p:pic>
        <p:nvPicPr>
          <p:cNvPr id="28" name="아이콘:settings-automation" descr="settings-automation_13294B_1.6.png"/>
          <p:cNvPicPr>
            <a:picLocks noChangeAspect="1"/>
          </p:cNvPicPr>
          <p:nvPr/>
        </p:nvPicPr>
        <p:blipFill>
          <a:blip r:embed="rId7"/>
          <a:stretch>
            <a:fillRect/>
          </a:stretch>
        </p:blipFill>
        <p:spPr>
          <a:xfrm>
            <a:off x="10475092" y="2980004"/>
            <a:ext cx="424281" cy="424281"/>
          </a:xfrm>
          <a:prstGeom prst="rect">
            <a:avLst/>
          </a:prstGeom>
        </p:spPr>
      </p:pic>
      <p:sp>
        <p:nvSpPr>
          <p:cNvPr id="29" name="TextBox 28"/>
          <p:cNvSpPr txBox="1"/>
          <p:nvPr/>
        </p:nvSpPr>
        <p:spPr>
          <a:xfrm>
            <a:off x="9804562" y="3631057"/>
            <a:ext cx="1765340" cy="1634997"/>
          </a:xfrm>
          <a:prstGeom prst="rect">
            <a:avLst/>
          </a:prstGeom>
          <a:noFill/>
        </p:spPr>
        <p:txBody>
          <a:bodyPr wrap="square" anchor="t"/>
          <a:lstStyle/>
          <a:p>
            <a:pPr algn="ctr" eaLnBrk="0">
              <a:lnSpc>
                <a:spcPct val="110000"/>
              </a:lnSpc>
              <a:spcAft>
                <a:spcPts val="400"/>
              </a:spcAft>
            </a:pPr>
            <a:r>
              <a:rPr sz="1550" b="1">
                <a:solidFill>
                  <a:srgbClr val="13294B"/>
                </a:solidFill>
                <a:latin typeface="맑은 고딕"/>
                <a:ea typeface="맑은 고딕"/>
                <a:cs typeface="맑은 고딕"/>
              </a:rPr>
              <a:t>실행</a:t>
            </a:r>
          </a:p>
          <a:p>
            <a:pPr algn="ctr" eaLnBrk="0">
              <a:lnSpc>
                <a:spcPct val="110000"/>
              </a:lnSpc>
              <a:spcAft>
                <a:spcPts val="400"/>
              </a:spcAft>
            </a:pPr>
            <a:r>
              <a:rPr sz="1250" b="0">
                <a:solidFill>
                  <a:srgbClr val="1F2A3A"/>
                </a:solidFill>
                <a:latin typeface="맑은 고딕"/>
                <a:ea typeface="맑은 고딕"/>
                <a:cs typeface="맑은 고딕"/>
              </a:rPr>
              <a:t>프로세스 엔진이</a:t>
            </a:r>
          </a:p>
          <a:p>
            <a:pPr algn="ctr" eaLnBrk="0">
              <a:lnSpc>
                <a:spcPct val="110000"/>
              </a:lnSpc>
              <a:spcAft>
                <a:spcPts val="400"/>
              </a:spcAft>
            </a:pPr>
            <a:r>
              <a:rPr sz="1250" b="0">
                <a:solidFill>
                  <a:srgbClr val="1F2A3A"/>
                </a:solidFill>
                <a:latin typeface="맑은 고딕"/>
                <a:ea typeface="맑은 고딕"/>
                <a:cs typeface="맑은 고딕"/>
              </a:rPr>
              <a:t>승인된 조치만</a:t>
            </a:r>
          </a:p>
          <a:p>
            <a:pPr algn="ctr" eaLnBrk="0">
              <a:lnSpc>
                <a:spcPct val="110000"/>
              </a:lnSpc>
              <a:spcAft>
                <a:spcPts val="400"/>
              </a:spcAft>
            </a:pPr>
            <a:r>
              <a:rPr sz="1250" b="0">
                <a:solidFill>
                  <a:srgbClr val="1F2A3A"/>
                </a:solidFill>
                <a:latin typeface="맑은 고딕"/>
                <a:ea typeface="맑은 고딕"/>
                <a:cs typeface="맑은 고딕"/>
              </a:rPr>
              <a:t>명령으로 내려보낸다</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실습: 설비 이상과 원인 · 조치의 관계 그리기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arrows.app에서 노드와 관계를 배치하고 이름과 방향을 정한다</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실습에서 그리는 것과 완성되는 것</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설비·센서·증상·원인·조치를 이름과 방향이 있는 관계로 연결한 그림 한 장을 완성한다.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65</a:t>
            </a:r>
          </a:p>
        </p:txBody>
      </p:sp>
      <p:sp>
        <p:nvSpPr>
          <p:cNvPr id="6" name="Rounded Rectangle 5"/>
          <p:cNvSpPr/>
          <p:nvPr/>
        </p:nvSpPr>
        <p:spPr>
          <a:xfrm>
            <a:off x="548640" y="2293873"/>
            <a:ext cx="3515258" cy="3394964"/>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495042"/>
            <a:ext cx="731520" cy="731520"/>
          </a:xfrm>
          <a:prstGeom prst="ellipse">
            <a:avLst/>
          </a:prstGeom>
          <a:solidFill>
            <a:srgbClr val="E7F3FD"/>
          </a:solidFill>
          <a:ln>
            <a:noFill/>
          </a:ln>
        </p:spPr>
        <p:txBody>
          <a:bodyPr rtlCol="0" anchor="ctr"/>
          <a:lstStyle/>
          <a:p>
            <a:pPr algn="ctr"/>
          </a:p>
        </p:txBody>
      </p:sp>
      <p:pic>
        <p:nvPicPr>
          <p:cNvPr id="8" name="아이콘:circle-plus" descr="circle-plus_13294B_1.6.png"/>
          <p:cNvPicPr>
            <a:picLocks noChangeAspect="1"/>
          </p:cNvPicPr>
          <p:nvPr/>
        </p:nvPicPr>
        <p:blipFill>
          <a:blip r:embed="rId3"/>
          <a:stretch>
            <a:fillRect/>
          </a:stretch>
        </p:blipFill>
        <p:spPr>
          <a:xfrm>
            <a:off x="930859" y="2648661"/>
            <a:ext cx="424281" cy="424281"/>
          </a:xfrm>
          <a:prstGeom prst="rect">
            <a:avLst/>
          </a:prstGeom>
        </p:spPr>
      </p:pic>
      <p:sp>
        <p:nvSpPr>
          <p:cNvPr id="9" name="TextBox 8"/>
          <p:cNvSpPr txBox="1"/>
          <p:nvPr/>
        </p:nvSpPr>
        <p:spPr>
          <a:xfrm>
            <a:off x="713232" y="3318001"/>
            <a:ext cx="3186074" cy="1867916"/>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노드를 놓는다</a:t>
            </a:r>
          </a:p>
          <a:p>
            <a:pPr algn="l" eaLnBrk="0" marL="205740" indent="-205740">
              <a:lnSpc>
                <a:spcPct val="110000"/>
              </a:lnSpc>
              <a:spcAft>
                <a:spcPts val="400"/>
              </a:spcAft>
            </a:pPr>
            <a:r>
              <a:rPr sz="1800" b="0">
                <a:solidFill>
                  <a:srgbClr val="1F2A3A"/>
                </a:solidFill>
                <a:latin typeface="맑은 고딕"/>
                <a:ea typeface="맑은 고딕"/>
                <a:cs typeface="맑은 고딕"/>
              </a:rPr>
              <a:t>• 설비, 센서, 증상, 원인, 조치를 노드로 만든다</a:t>
            </a:r>
          </a:p>
          <a:p>
            <a:pPr algn="l" eaLnBrk="0" marL="205740" indent="-205740">
              <a:lnSpc>
                <a:spcPct val="110000"/>
              </a:lnSpc>
              <a:spcAft>
                <a:spcPts val="400"/>
              </a:spcAft>
            </a:pPr>
            <a:r>
              <a:rPr sz="1800" b="0">
                <a:solidFill>
                  <a:srgbClr val="1F2A3A"/>
                </a:solidFill>
                <a:latin typeface="맑은 고딕"/>
                <a:ea typeface="맑은 고딕"/>
                <a:cs typeface="맑은 고딕"/>
              </a:rPr>
              <a:t>• 노드마다 실제 대상의 이름을 적는다</a:t>
            </a:r>
          </a:p>
        </p:txBody>
      </p:sp>
      <p:sp>
        <p:nvSpPr>
          <p:cNvPr id="10" name="Rounded Rectangle 9"/>
          <p:cNvSpPr/>
          <p:nvPr/>
        </p:nvSpPr>
        <p:spPr>
          <a:xfrm>
            <a:off x="777240" y="5259070"/>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259070"/>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대상</a:t>
            </a:r>
          </a:p>
        </p:txBody>
      </p:sp>
      <p:sp>
        <p:nvSpPr>
          <p:cNvPr id="12" name="Rounded Rectangle 11"/>
          <p:cNvSpPr/>
          <p:nvPr/>
        </p:nvSpPr>
        <p:spPr>
          <a:xfrm>
            <a:off x="4338218" y="2293873"/>
            <a:ext cx="3515258" cy="3394964"/>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495042"/>
            <a:ext cx="731520" cy="731520"/>
          </a:xfrm>
          <a:prstGeom prst="ellipse">
            <a:avLst/>
          </a:prstGeom>
          <a:solidFill>
            <a:srgbClr val="E7F3FD"/>
          </a:solidFill>
          <a:ln>
            <a:noFill/>
          </a:ln>
        </p:spPr>
        <p:txBody>
          <a:bodyPr rtlCol="0" anchor="ctr"/>
          <a:lstStyle/>
          <a:p>
            <a:pPr algn="ctr"/>
          </a:p>
        </p:txBody>
      </p:sp>
      <p:pic>
        <p:nvPicPr>
          <p:cNvPr id="14" name="아이콘:arrows-right" descr="arrows-right_13294B_1.6.png"/>
          <p:cNvPicPr>
            <a:picLocks noChangeAspect="1"/>
          </p:cNvPicPr>
          <p:nvPr/>
        </p:nvPicPr>
        <p:blipFill>
          <a:blip r:embed="rId4"/>
          <a:stretch>
            <a:fillRect/>
          </a:stretch>
        </p:blipFill>
        <p:spPr>
          <a:xfrm>
            <a:off x="4720437" y="2648661"/>
            <a:ext cx="424281" cy="424281"/>
          </a:xfrm>
          <a:prstGeom prst="rect">
            <a:avLst/>
          </a:prstGeom>
        </p:spPr>
      </p:pic>
      <p:sp>
        <p:nvSpPr>
          <p:cNvPr id="15" name="TextBox 14"/>
          <p:cNvSpPr txBox="1"/>
          <p:nvPr/>
        </p:nvSpPr>
        <p:spPr>
          <a:xfrm>
            <a:off x="4502810" y="3318001"/>
            <a:ext cx="3186074" cy="1867916"/>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관계를 잇는다</a:t>
            </a:r>
          </a:p>
          <a:p>
            <a:pPr algn="l" eaLnBrk="0" marL="205740" indent="-205740">
              <a:lnSpc>
                <a:spcPct val="110000"/>
              </a:lnSpc>
              <a:spcAft>
                <a:spcPts val="400"/>
              </a:spcAft>
            </a:pPr>
            <a:r>
              <a:rPr sz="1800" b="0">
                <a:solidFill>
                  <a:srgbClr val="1F2A3A"/>
                </a:solidFill>
                <a:latin typeface="맑은 고딕"/>
                <a:ea typeface="맑은 고딕"/>
                <a:cs typeface="맑은 고딕"/>
              </a:rPr>
              <a:t>• 노드 사이에 화살표를 긋고 이름을 붙인다</a:t>
            </a:r>
          </a:p>
          <a:p>
            <a:pPr algn="l" eaLnBrk="0" marL="205740" indent="-205740">
              <a:lnSpc>
                <a:spcPct val="110000"/>
              </a:lnSpc>
              <a:spcAft>
                <a:spcPts val="400"/>
              </a:spcAft>
            </a:pPr>
            <a:r>
              <a:rPr sz="1800" b="0">
                <a:solidFill>
                  <a:srgbClr val="1F2A3A"/>
                </a:solidFill>
                <a:latin typeface="맑은 고딕"/>
                <a:ea typeface="맑은 고딕"/>
                <a:cs typeface="맑은 고딕"/>
              </a:rPr>
              <a:t>• 관계의 이름은 스스로 정한다</a:t>
            </a:r>
          </a:p>
        </p:txBody>
      </p:sp>
      <p:sp>
        <p:nvSpPr>
          <p:cNvPr id="16" name="Rounded Rectangle 15"/>
          <p:cNvSpPr/>
          <p:nvPr/>
        </p:nvSpPr>
        <p:spPr>
          <a:xfrm>
            <a:off x="4566818" y="5259070"/>
            <a:ext cx="11734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259070"/>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이름과 방향</a:t>
            </a:r>
          </a:p>
        </p:txBody>
      </p:sp>
      <p:sp>
        <p:nvSpPr>
          <p:cNvPr id="18" name="Rounded Rectangle 17"/>
          <p:cNvSpPr/>
          <p:nvPr/>
        </p:nvSpPr>
        <p:spPr>
          <a:xfrm>
            <a:off x="8127796" y="2293873"/>
            <a:ext cx="3515258" cy="3394964"/>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495042"/>
            <a:ext cx="731520" cy="731520"/>
          </a:xfrm>
          <a:prstGeom prst="ellipse">
            <a:avLst/>
          </a:prstGeom>
          <a:solidFill>
            <a:srgbClr val="5CB8F2"/>
          </a:solidFill>
          <a:ln>
            <a:noFill/>
          </a:ln>
        </p:spPr>
        <p:txBody>
          <a:bodyPr rtlCol="0" anchor="ctr"/>
          <a:lstStyle/>
          <a:p>
            <a:pPr algn="ctr"/>
          </a:p>
        </p:txBody>
      </p:sp>
      <p:pic>
        <p:nvPicPr>
          <p:cNvPr id="20" name="아이콘:message-check" descr="message-check_13294B_1.6.png"/>
          <p:cNvPicPr>
            <a:picLocks noChangeAspect="1"/>
          </p:cNvPicPr>
          <p:nvPr/>
        </p:nvPicPr>
        <p:blipFill>
          <a:blip r:embed="rId5"/>
          <a:stretch>
            <a:fillRect/>
          </a:stretch>
        </p:blipFill>
        <p:spPr>
          <a:xfrm>
            <a:off x="8510016" y="2648661"/>
            <a:ext cx="424281" cy="424281"/>
          </a:xfrm>
          <a:prstGeom prst="rect">
            <a:avLst/>
          </a:prstGeom>
        </p:spPr>
      </p:pic>
      <p:sp>
        <p:nvSpPr>
          <p:cNvPr id="21" name="TextBox 20"/>
          <p:cNvSpPr txBox="1"/>
          <p:nvPr/>
        </p:nvSpPr>
        <p:spPr>
          <a:xfrm>
            <a:off x="8292388" y="3318001"/>
            <a:ext cx="3186074" cy="1867916"/>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문장으로 읽는다</a:t>
            </a:r>
          </a:p>
          <a:p>
            <a:pPr algn="l" eaLnBrk="0" marL="205740" indent="-205740">
              <a:lnSpc>
                <a:spcPct val="110000"/>
              </a:lnSpc>
              <a:spcAft>
                <a:spcPts val="400"/>
              </a:spcAft>
            </a:pPr>
            <a:r>
              <a:rPr sz="1800" b="0">
                <a:solidFill>
                  <a:srgbClr val="1F2A3A"/>
                </a:solidFill>
                <a:latin typeface="맑은 고딕"/>
                <a:ea typeface="맑은 고딕"/>
                <a:cs typeface="맑은 고딕"/>
              </a:rPr>
              <a:t>• 화살표마다 주어, 서술어, 목적어로 읽는다</a:t>
            </a:r>
          </a:p>
          <a:p>
            <a:pPr algn="l" eaLnBrk="0" marL="205740" indent="-205740">
              <a:lnSpc>
                <a:spcPct val="110000"/>
              </a:lnSpc>
              <a:spcAft>
                <a:spcPts val="400"/>
              </a:spcAft>
            </a:pPr>
            <a:r>
              <a:rPr sz="1800" b="0">
                <a:solidFill>
                  <a:srgbClr val="1F2A3A"/>
                </a:solidFill>
                <a:latin typeface="맑은 고딕"/>
                <a:ea typeface="맑은 고딕"/>
                <a:cs typeface="맑은 고딕"/>
              </a:rPr>
              <a:t>• 어색하면 이름이나 방향을 고친다</a:t>
            </a:r>
          </a:p>
        </p:txBody>
      </p:sp>
      <p:sp>
        <p:nvSpPr>
          <p:cNvPr id="22" name="Rounded Rectangle 21"/>
          <p:cNvSpPr/>
          <p:nvPr/>
        </p:nvSpPr>
        <p:spPr>
          <a:xfrm>
            <a:off x="8356396" y="5259070"/>
            <a:ext cx="82296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259070"/>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점검</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오늘 다룬 핵심 개념과 주요 용어 정리</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본문에서 풀어 쓴 약어의 정식 명칭과, HYD에서 해당 역할을 맡는 구성 요소를 한곳에 모은다.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66</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약어</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정식 명칭</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HYD에서</a:t>
            </a:r>
          </a:p>
        </p:txBody>
      </p:sp>
      <p:sp>
        <p:nvSpPr>
          <p:cNvPr id="10" name="Rounded Rectangle 9"/>
          <p:cNvSpPr/>
          <p:nvPr/>
        </p:nvSpPr>
        <p:spPr>
          <a:xfrm>
            <a:off x="548640" y="2061972"/>
            <a:ext cx="11094415" cy="476631"/>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540639"/>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OT · IT</a:t>
            </a:r>
          </a:p>
        </p:txBody>
      </p:sp>
      <p:sp>
        <p:nvSpPr>
          <p:cNvPr id="12" name="TextBox 11"/>
          <p:cNvSpPr txBox="1"/>
          <p:nvPr/>
        </p:nvSpPr>
        <p:spPr>
          <a:xfrm>
            <a:off x="3200400" y="2029968"/>
            <a:ext cx="6156655" cy="540639"/>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Operational Technology · Information Technology</a:t>
            </a:r>
          </a:p>
        </p:txBody>
      </p:sp>
      <p:sp>
        <p:nvSpPr>
          <p:cNvPr id="13" name="TextBox 12"/>
          <p:cNvSpPr txBox="1"/>
          <p:nvPr/>
        </p:nvSpPr>
        <p:spPr>
          <a:xfrm>
            <a:off x="9448495" y="2029968"/>
            <a:ext cx="2103120" cy="540639"/>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설비 영역 · 분석 영역</a:t>
            </a:r>
          </a:p>
        </p:txBody>
      </p:sp>
      <p:sp>
        <p:nvSpPr>
          <p:cNvPr id="14" name="Rounded Rectangle 13"/>
          <p:cNvSpPr/>
          <p:nvPr/>
        </p:nvSpPr>
        <p:spPr>
          <a:xfrm>
            <a:off x="548640" y="2602611"/>
            <a:ext cx="11094415" cy="476631"/>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570607"/>
            <a:ext cx="2514600" cy="540639"/>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DMZ</a:t>
            </a:r>
          </a:p>
        </p:txBody>
      </p:sp>
      <p:sp>
        <p:nvSpPr>
          <p:cNvPr id="16" name="TextBox 15"/>
          <p:cNvSpPr txBox="1"/>
          <p:nvPr/>
        </p:nvSpPr>
        <p:spPr>
          <a:xfrm>
            <a:off x="3200400" y="2570607"/>
            <a:ext cx="6156655" cy="540639"/>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Demilitarized Zone</a:t>
            </a:r>
          </a:p>
        </p:txBody>
      </p:sp>
      <p:sp>
        <p:nvSpPr>
          <p:cNvPr id="17" name="TextBox 16"/>
          <p:cNvSpPr txBox="1"/>
          <p:nvPr/>
        </p:nvSpPr>
        <p:spPr>
          <a:xfrm>
            <a:off x="9448495" y="2570607"/>
            <a:ext cx="2103120" cy="540639"/>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수집 · 명령 검사 구역</a:t>
            </a:r>
          </a:p>
        </p:txBody>
      </p:sp>
      <p:sp>
        <p:nvSpPr>
          <p:cNvPr id="18" name="Rounded Rectangle 17"/>
          <p:cNvSpPr/>
          <p:nvPr/>
        </p:nvSpPr>
        <p:spPr>
          <a:xfrm>
            <a:off x="548640" y="3143250"/>
            <a:ext cx="11094415" cy="476631"/>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111246"/>
            <a:ext cx="2514600" cy="540639"/>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PLC</a:t>
            </a:r>
          </a:p>
        </p:txBody>
      </p:sp>
      <p:sp>
        <p:nvSpPr>
          <p:cNvPr id="20" name="TextBox 19"/>
          <p:cNvSpPr txBox="1"/>
          <p:nvPr/>
        </p:nvSpPr>
        <p:spPr>
          <a:xfrm>
            <a:off x="3200400" y="3111246"/>
            <a:ext cx="6156655" cy="540639"/>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Programmable Logic Controller</a:t>
            </a:r>
          </a:p>
        </p:txBody>
      </p:sp>
      <p:sp>
        <p:nvSpPr>
          <p:cNvPr id="21" name="TextBox 20"/>
          <p:cNvSpPr txBox="1"/>
          <p:nvPr/>
        </p:nvSpPr>
        <p:spPr>
          <a:xfrm>
            <a:off x="9448495" y="3111246"/>
            <a:ext cx="2103120" cy="540639"/>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센서 값 읽기 · 인터록</a:t>
            </a:r>
          </a:p>
        </p:txBody>
      </p:sp>
      <p:sp>
        <p:nvSpPr>
          <p:cNvPr id="22" name="Rounded Rectangle 21"/>
          <p:cNvSpPr/>
          <p:nvPr/>
        </p:nvSpPr>
        <p:spPr>
          <a:xfrm>
            <a:off x="548640" y="3683888"/>
            <a:ext cx="11094415" cy="476631"/>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3651885"/>
            <a:ext cx="2514600" cy="540639"/>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MQTT</a:t>
            </a:r>
          </a:p>
        </p:txBody>
      </p:sp>
      <p:sp>
        <p:nvSpPr>
          <p:cNvPr id="24" name="TextBox 23"/>
          <p:cNvSpPr txBox="1"/>
          <p:nvPr/>
        </p:nvSpPr>
        <p:spPr>
          <a:xfrm>
            <a:off x="3200400" y="3651885"/>
            <a:ext cx="6156655" cy="540639"/>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Message Queuing Telemetry Transport</a:t>
            </a:r>
          </a:p>
        </p:txBody>
      </p:sp>
      <p:sp>
        <p:nvSpPr>
          <p:cNvPr id="25" name="TextBox 24"/>
          <p:cNvSpPr txBox="1"/>
          <p:nvPr/>
        </p:nvSpPr>
        <p:spPr>
          <a:xfrm>
            <a:off x="9448495" y="3651885"/>
            <a:ext cx="2103120" cy="540639"/>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브로커(예: EMQX)</a:t>
            </a:r>
          </a:p>
        </p:txBody>
      </p:sp>
      <p:sp>
        <p:nvSpPr>
          <p:cNvPr id="26" name="Rounded Rectangle 25"/>
          <p:cNvSpPr/>
          <p:nvPr/>
        </p:nvSpPr>
        <p:spPr>
          <a:xfrm>
            <a:off x="548640" y="4224528"/>
            <a:ext cx="11094415" cy="476631"/>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4192524"/>
            <a:ext cx="2514600" cy="540639"/>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SCADA</a:t>
            </a:r>
          </a:p>
        </p:txBody>
      </p:sp>
      <p:sp>
        <p:nvSpPr>
          <p:cNvPr id="28" name="TextBox 27"/>
          <p:cNvSpPr txBox="1"/>
          <p:nvPr/>
        </p:nvSpPr>
        <p:spPr>
          <a:xfrm>
            <a:off x="3200400" y="4192524"/>
            <a:ext cx="6156655" cy="540639"/>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Supervisory Control and Data Acquisition</a:t>
            </a:r>
          </a:p>
        </p:txBody>
      </p:sp>
      <p:sp>
        <p:nvSpPr>
          <p:cNvPr id="29" name="TextBox 28"/>
          <p:cNvSpPr txBox="1"/>
          <p:nvPr/>
        </p:nvSpPr>
        <p:spPr>
          <a:xfrm>
            <a:off x="9448495" y="4192524"/>
            <a:ext cx="2103120" cy="540639"/>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운전 화면</a:t>
            </a:r>
          </a:p>
        </p:txBody>
      </p:sp>
      <p:sp>
        <p:nvSpPr>
          <p:cNvPr id="30" name="Rounded Rectangle 29"/>
          <p:cNvSpPr/>
          <p:nvPr/>
        </p:nvSpPr>
        <p:spPr>
          <a:xfrm>
            <a:off x="548640" y="4765167"/>
            <a:ext cx="11094415" cy="476631"/>
          </a:xfrm>
          <a:prstGeom prst="roundRect">
            <a:avLst>
              <a:gd name="adj" fmla="val 8000"/>
            </a:avLst>
          </a:prstGeom>
          <a:solidFill>
            <a:srgbClr val="F3F6F9"/>
          </a:solidFill>
          <a:ln>
            <a:noFill/>
          </a:ln>
        </p:spPr>
        <p:txBody>
          <a:bodyPr rtlCol="0" anchor="ctr"/>
          <a:lstStyle/>
          <a:p>
            <a:pPr algn="ctr"/>
          </a:p>
        </p:txBody>
      </p:sp>
      <p:sp>
        <p:nvSpPr>
          <p:cNvPr id="31" name="TextBox 30"/>
          <p:cNvSpPr txBox="1"/>
          <p:nvPr/>
        </p:nvSpPr>
        <p:spPr>
          <a:xfrm>
            <a:off x="685800" y="4733163"/>
            <a:ext cx="2514600" cy="540639"/>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HMI</a:t>
            </a:r>
          </a:p>
        </p:txBody>
      </p:sp>
      <p:sp>
        <p:nvSpPr>
          <p:cNvPr id="32" name="TextBox 31"/>
          <p:cNvSpPr txBox="1"/>
          <p:nvPr/>
        </p:nvSpPr>
        <p:spPr>
          <a:xfrm>
            <a:off x="3200400" y="4733163"/>
            <a:ext cx="6156655" cy="540639"/>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Human-Machine Interface</a:t>
            </a:r>
          </a:p>
        </p:txBody>
      </p:sp>
      <p:sp>
        <p:nvSpPr>
          <p:cNvPr id="33" name="TextBox 32"/>
          <p:cNvSpPr txBox="1"/>
          <p:nvPr/>
        </p:nvSpPr>
        <p:spPr>
          <a:xfrm>
            <a:off x="9448495" y="4733163"/>
            <a:ext cx="2103120" cy="540639"/>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운전 화면</a:t>
            </a:r>
          </a:p>
        </p:txBody>
      </p:sp>
      <p:sp>
        <p:nvSpPr>
          <p:cNvPr id="34" name="Rounded Rectangle 33"/>
          <p:cNvSpPr/>
          <p:nvPr/>
        </p:nvSpPr>
        <p:spPr>
          <a:xfrm>
            <a:off x="548640" y="5305806"/>
            <a:ext cx="11094415" cy="476631"/>
          </a:xfrm>
          <a:prstGeom prst="roundRect">
            <a:avLst>
              <a:gd name="adj" fmla="val 8000"/>
            </a:avLst>
          </a:prstGeom>
          <a:solidFill>
            <a:srgbClr val="F3F6F9"/>
          </a:solidFill>
          <a:ln>
            <a:noFill/>
          </a:ln>
        </p:spPr>
        <p:txBody>
          <a:bodyPr rtlCol="0" anchor="ctr"/>
          <a:lstStyle/>
          <a:p>
            <a:pPr algn="ctr"/>
          </a:p>
        </p:txBody>
      </p:sp>
      <p:sp>
        <p:nvSpPr>
          <p:cNvPr id="35" name="TextBox 34"/>
          <p:cNvSpPr txBox="1"/>
          <p:nvPr/>
        </p:nvSpPr>
        <p:spPr>
          <a:xfrm>
            <a:off x="685800" y="5273802"/>
            <a:ext cx="2514600" cy="540639"/>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HITL</a:t>
            </a:r>
          </a:p>
        </p:txBody>
      </p:sp>
      <p:sp>
        <p:nvSpPr>
          <p:cNvPr id="36" name="TextBox 35"/>
          <p:cNvSpPr txBox="1"/>
          <p:nvPr/>
        </p:nvSpPr>
        <p:spPr>
          <a:xfrm>
            <a:off x="3200400" y="5273802"/>
            <a:ext cx="6156655" cy="540639"/>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Human-in-the-Loop</a:t>
            </a:r>
          </a:p>
        </p:txBody>
      </p:sp>
      <p:sp>
        <p:nvSpPr>
          <p:cNvPr id="37" name="TextBox 36"/>
          <p:cNvSpPr txBox="1"/>
          <p:nvPr/>
        </p:nvSpPr>
        <p:spPr>
          <a:xfrm>
            <a:off x="9448495" y="5273802"/>
            <a:ext cx="2103120" cy="540639"/>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담당자의 승인 · 거절</a:t>
            </a:r>
          </a:p>
        </p:txBody>
      </p:sp>
      <p:sp>
        <p:nvSpPr>
          <p:cNvPr id="38" name="Rounded Rectangle 37"/>
          <p:cNvSpPr/>
          <p:nvPr/>
        </p:nvSpPr>
        <p:spPr>
          <a:xfrm>
            <a:off x="548640" y="5846445"/>
            <a:ext cx="11094415" cy="476631"/>
          </a:xfrm>
          <a:prstGeom prst="roundRect">
            <a:avLst>
              <a:gd name="adj" fmla="val 8000"/>
            </a:avLst>
          </a:prstGeom>
          <a:solidFill>
            <a:srgbClr val="F3F6F9"/>
          </a:solidFill>
          <a:ln>
            <a:noFill/>
          </a:ln>
        </p:spPr>
        <p:txBody>
          <a:bodyPr rtlCol="0" anchor="ctr"/>
          <a:lstStyle/>
          <a:p>
            <a:pPr algn="ctr"/>
          </a:p>
        </p:txBody>
      </p:sp>
      <p:sp>
        <p:nvSpPr>
          <p:cNvPr id="39" name="TextBox 38"/>
          <p:cNvSpPr txBox="1"/>
          <p:nvPr/>
        </p:nvSpPr>
        <p:spPr>
          <a:xfrm>
            <a:off x="685800" y="5814441"/>
            <a:ext cx="2514600" cy="540639"/>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MES</a:t>
            </a:r>
          </a:p>
        </p:txBody>
      </p:sp>
      <p:sp>
        <p:nvSpPr>
          <p:cNvPr id="40" name="TextBox 39"/>
          <p:cNvSpPr txBox="1"/>
          <p:nvPr/>
        </p:nvSpPr>
        <p:spPr>
          <a:xfrm>
            <a:off x="3200400" y="5814441"/>
            <a:ext cx="6156655" cy="540639"/>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Manufacturing Execution System</a:t>
            </a:r>
          </a:p>
        </p:txBody>
      </p:sp>
      <p:sp>
        <p:nvSpPr>
          <p:cNvPr id="41" name="TextBox 40"/>
          <p:cNvSpPr txBox="1"/>
          <p:nvPr/>
        </p:nvSpPr>
        <p:spPr>
          <a:xfrm>
            <a:off x="9448495" y="5814441"/>
            <a:ext cx="2103120" cy="540639"/>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납기의 출처</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Review Quiz: 핵심 흐름 되짚어보기</a:t>
            </a:r>
          </a:p>
        </p:txBody>
      </p:sp>
      <p:sp>
        <p:nvSpPr>
          <p:cNvPr id="5" name="TextBox 4"/>
          <p:cNvSpPr txBox="1"/>
          <p:nvPr/>
        </p:nvSpPr>
        <p:spPr>
          <a:xfrm>
            <a:off x="731520" y="4160520"/>
            <a:ext cx="10911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배운 내용을 바탕으로 정답을 맞혀 보세요.</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Quiz 1. 경보 이후의 판단</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HYD-01의 쿨러 성능 저하 경보 때 VS1 평균은 1.1 mm/s, TS4는 28 ℃라고 하자.</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68</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이 값을 바탕으로 내릴 판단 중 가장 적절한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경보 이름이 쿨러 성능 저하이므로 원인은 쿨러 핀 오염이다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팬 진동이 기준 0.9 이상이므로 팬 구동 불량을 먼저 의심한다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유온이 올랐으므로 원인과 관계없이 팬 속도를 최대로 올린다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캐비닛 온도가 정상이므로 설비에는 이상이 없다</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Quiz 2. 관계의 이름과 방향</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원인 노드 「쿨러 핀 오염」과 고장 유형 노드 「쿨러 냉각 성능 상실」을 관계로 연결하려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69</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관계의 이름과 방향이 서로 맞게 적힌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쿨러 냉각 성능 상실 — CAUSES → 쿨러 핀 오염</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쿨러 핀 오염 — INDICATES → 쿨러 냉각 성능 상실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쿨러 핀 오염 — CAUSES → 쿨러 냉각 성능 상실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선만 이으면 되고 이름과 방향은 필요하지 않다</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Quiz 3. 추천과 실행의 책임 경계</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에이전트가 쿨러 핀 오염을 원인으로 판단해 「팬 최대 운전」을 추천했으나, 담당자는 아직 승인하지 않았다.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70</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이 시점의 상태를 바르게 설명한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에이전트가 추천과 동시에 팬 속도 명령을 설비로 보냈다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지식 그래프에 조치가 연결되어 있으므로 승인 없이 실행된다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일정 시간이 지나면 추천안이 자동으로 실행된다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설비 명령은 아직 만들어지지 않았으며 승인을 기다린다</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정답과 판단 기준</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세 문항은 각각 경보와 원인, 이름과 방향, 추천과 실행을 구분할 수 있는지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71</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문항</a:t>
            </a:r>
          </a:p>
        </p:txBody>
      </p:sp>
      <p:sp>
        <p:nvSpPr>
          <p:cNvPr id="8" name="TextBox 7"/>
          <p:cNvSpPr txBox="1"/>
          <p:nvPr/>
        </p:nvSpPr>
        <p:spPr>
          <a:xfrm>
            <a:off x="3200400" y="2418587"/>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판단 기준</a:t>
            </a:r>
          </a:p>
        </p:txBody>
      </p:sp>
      <p:sp>
        <p:nvSpPr>
          <p:cNvPr id="9" name="TextBox 8"/>
          <p:cNvSpPr txBox="1"/>
          <p:nvPr/>
        </p:nvSpPr>
        <p:spPr>
          <a:xfrm>
            <a:off x="9448495" y="2418587"/>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정답</a:t>
            </a:r>
          </a:p>
        </p:txBody>
      </p:sp>
      <p:sp>
        <p:nvSpPr>
          <p:cNvPr id="10" name="Rounded Rectangle 9"/>
          <p:cNvSpPr/>
          <p:nvPr/>
        </p:nvSpPr>
        <p:spPr>
          <a:xfrm>
            <a:off x="548640" y="28529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Quiz 1</a:t>
            </a:r>
          </a:p>
        </p:txBody>
      </p:sp>
      <p:sp>
        <p:nvSpPr>
          <p:cNvPr id="12" name="TextBox 11"/>
          <p:cNvSpPr txBox="1"/>
          <p:nvPr/>
        </p:nvSpPr>
        <p:spPr>
          <a:xfrm>
            <a:off x="3200400" y="28209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경보는 조건이 성립했다는 사실만 알린다. 원인은 팬 진동과 캐비닛 온도 같은 다른 값으로 가린다.</a:t>
            </a:r>
          </a:p>
        </p:txBody>
      </p:sp>
      <p:sp>
        <p:nvSpPr>
          <p:cNvPr id="13" name="TextBox 12"/>
          <p:cNvSpPr txBox="1"/>
          <p:nvPr/>
        </p:nvSpPr>
        <p:spPr>
          <a:xfrm>
            <a:off x="9448495" y="28209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2번</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Quiz 2</a:t>
            </a:r>
          </a:p>
        </p:txBody>
      </p:sp>
      <p:sp>
        <p:nvSpPr>
          <p:cNvPr id="16" name="TextBox 15"/>
          <p:cNvSpPr txBox="1"/>
          <p:nvPr/>
        </p:nvSpPr>
        <p:spPr>
          <a:xfrm>
            <a:off x="3200400" y="37353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문장으로 읽었을 때 뜻이 통해야 한다. 「핀 오염은 냉각 성능 상실을 일으킨다」가 사실에 맞는다.</a:t>
            </a:r>
          </a:p>
        </p:txBody>
      </p:sp>
      <p:sp>
        <p:nvSpPr>
          <p:cNvPr id="17" name="TextBox 16"/>
          <p:cNvSpPr txBox="1"/>
          <p:nvPr/>
        </p:nvSpPr>
        <p:spPr>
          <a:xfrm>
            <a:off x="9448495" y="37353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3번</a:t>
            </a:r>
          </a:p>
        </p:txBody>
      </p:sp>
      <p:sp>
        <p:nvSpPr>
          <p:cNvPr id="18" name="Rounded Rectangle 17"/>
          <p:cNvSpPr/>
          <p:nvPr/>
        </p:nvSpPr>
        <p:spPr>
          <a:xfrm>
            <a:off x="548640" y="46817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Quiz 3</a:t>
            </a:r>
          </a:p>
        </p:txBody>
      </p:sp>
      <p:sp>
        <p:nvSpPr>
          <p:cNvPr id="20" name="TextBox 19"/>
          <p:cNvSpPr txBox="1"/>
          <p:nvPr/>
        </p:nvSpPr>
        <p:spPr>
          <a:xfrm>
            <a:off x="3200400" y="46497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에이전트는 추천까지만 한다. 명령은 담당자가 승인한 뒤에만 만들어진다.</a:t>
            </a:r>
          </a:p>
        </p:txBody>
      </p:sp>
      <p:sp>
        <p:nvSpPr>
          <p:cNvPr id="21" name="TextBox 20"/>
          <p:cNvSpPr txBox="1"/>
          <p:nvPr/>
        </p:nvSpPr>
        <p:spPr>
          <a:xfrm>
            <a:off x="9448495" y="46497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4번</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