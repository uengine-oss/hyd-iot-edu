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생기는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 냉각 효율은 센서로 직접 재지 않고 다른 계측값으로 계산하는 가상 센서(Virtual Sensor)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입력을 읽고 프로그램을 실행해 출력을 쓰는 스캔 주기를 1초에도 수십 번씩 되풀이합니다.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 지연이 짧으면 되지만, 현장 통신은 최악의 경우에도 정해진 시간 안에 도착해야 합니다. 이것을 결정성(Determinism)이라고 합니다. PLC가 1초에도 수십 번씩 판단을 끝내려면 그사이를 오가는 신호도 매번 제시간에 와야 합니다. 암호화와 인증은 처리 시간의 흔들림, 곧 지터(Jitter)를 키우기 때문에 싣지 않고, 보안은 상위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레지스터 주소에 담긴 원시 값이라 그 자체로는 무엇을 잰 것인지 알 수 없습니다. 엣지 게이트웨이는 현장 규약으로 이 값을 읽어 태그 이름과 시각을 붙이고, 태그 값과 운전 상태 메시지로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송신 측이 수신 측과 하나하나 직접 연결하는 방식을 점대점(Point-to-Point) 연결이라고 합니다. 이 방식에서는 수신 측이 늘 때마다 설비 쪽 프로그램을 고쳐야 합니다. 한쪽을 바꿀 때 다른 쪽도 고쳐야 하는 이 관계를 강한 결합(Tight Coupling)이라고 합니다. 가운데에 메시지 브로커를 두면 서로를 몰라도 되는 느슨한 결합(Loose Coupling)이 되고, 이 방식으로 주고받는 규약이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있는 메시지 브로커를 줄여서 브로커라고 합니다. MQTT(Message Queuing Telemetry Transport)는 작은 장치와 불안정한 네트워크를 위해 만든 가벼운 발행 · 구독(Publish/Subscribe) 규약입니다. 발행자는 토픽이라는 주소를 붙여 브로커에 보내고, 구독자는 원하는 토픽만 받으므로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메시지를 보관하지 않으므로, 구독자가 먼저 받을 토픽을 브로커에 구독해 둡니다. 발행자는 데이터를 토픽으로 발행하고, 브로커는 그 토픽을 구독한 모든 구독자에게 메시지를 밀어 줍니다. 구독자가 요청하지 않아도 브로커가 보내 주는 이 방식을 푸시(Push)라고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안전이 우선입니다. 업무 데이터를 다루는 IT는 외부와 연결되어 침해될 수 있어 기밀성과 무결성을 먼저 지킵니다. 그래서 두 영역의 망을 나누는 망 분리(Network Segmentation)를 하고,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완충 구역을 DMZ(Demilitarized Zone)라고 합니다. DMZ의 수집 서비스는 브로커를 구독해 받은 메시지를 IT의 이벤트 로그로 옮깁니다. 이렇게 한쪽으로만 복사하는 것을 단방향 복제(One-way Replication)라고 합니다. 수집 서비스는 OT 쪽으로는 아무것도 발행하지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옮기는 곳은 Layer 3, 이벤트 백본의 이벤트 로그입니다. 브로커는 그 순간 구독 중인 쪽에 메시지를 밀어 준 뒤에는 보관하지 않습니다. 이벤트 로그는 받은 순서대로 뒤에 덧붙이기만 하는 추가 전용 로그입니다. 기록을 쓰는 쪽을 생산자(Producer), 읽는 쪽을 소비자(Consumer)라고 합니다. 소비자마다 어디까지 읽었는지를 나타내는 오프셋을 따로 가지므로,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형태가 달라집니다. 위쪽 메시지에서는 설비와 태그 이름이 토픽 경로에 있었지만, 아래쪽 레코드에서는 페이로드, 곧 본문 안에 들어 있습니다. 그래서 레코드 한 건만 보아도 유압 설비 HYD-01의 유온이 55.71이라는 것을 알 수 있습니다. 키는 같은 설비의 레코드를 한 줄로 모아 측정한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시점과 알아차리는 시점 사이에 지연이 생깁니다. 감지 서비스는 데이터가 기록되는 대로 하나씩 받아 조건과 비교합니다. 끊임없이 도착하는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이처럼 값 하나의 임계치가 아니라 여러 값의 조합과 추세, 지속 시간으로 판정하는 방식을 복합 이벤트 처리(CEP, Complex Event Processing)라고 합니다. 그래프에서 유온이 55 ℃를 넘은 11시 13분 4초와, 4초 뒤인 11시 13분 8초의 경보를 차례로 짚어 봅니다. 그동안 조건이 이어지는지 지켜보는 유지 시간이 있어, 값이 잠깐 튀었다가 돌아오는 경우에는 경보가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리셋해야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 에이전트,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거치도록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다르기 때문에 검사를 두 번 합니다. 먼저 왼쪽의 명령 관문은 명령의 스키마, 허용 목록, 만료, 승인 기록, 운전 모드를 봅니다. 다음으로 오른쪽의 PLC는 설정값이 범위 안에 있는지, 지금 트립 상태가 아닌지를 확인한 뒤 설정값을 바꾸고 결과를 ACK로 돌려보냅니다. 명령서에 문제가 없어도 현재 설비가 명령을 받을 수 없는 상태라면 PLC가 거부합니다. 이렇게 여러 겹으로 막는 구조를 심층 방어(Defense in Depth)라고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응답은 ACK(Acknowledgement), 곧 명령을 받아 처리했다는 확인 응답입니다. 관문과 PLC의 명령 검사도 이 사이에 끝났으므로,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 결과에서 근거까지 거슬러 올라갈 수 있는 이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공정에서 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전기 신호로 바꿔</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487060902594842344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빼내는 정도</a:t>
            </a:r>
          </a:p>
          <a:p>
            <a:pPr algn="ctr">
              <a:lnSpc>
                <a:spcPct val="110000"/>
              </a:lnSpc>
              <a:spcAft>
                <a:spcPts val="100"/>
              </a:spcAft>
            </a:pPr>
            <a:r>
              <a:rPr sz="1100" b="0">
                <a:solidFill>
                  <a:srgbClr val="556175"/>
                </a:solidFill>
                <a:latin typeface="맑은 고딕"/>
                <a:ea typeface="맑은 고딕"/>
                <a:cs typeface="맑은 고딕"/>
              </a:rPr>
              <a:t>다른 값 기반 가상센서값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 판단을 기다리다 손상될 수 있어, 위험 수준이면 설비 옆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입력 읽기 → 프로그램 실행 → 출력 쓰기를 짧은 스캔 주기(Scan Cycle)로 되풀이한다.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설정값(SP)을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트립(Trip, 보호 정지)시킨다.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트립된다</a:t>
            </a:r>
          </a:p>
          <a:p>
            <a:pPr algn="l">
              <a:lnSpc>
                <a:spcPct val="110000"/>
              </a:lnSpc>
              <a:spcAft>
                <a:spcPts val="400"/>
              </a:spcAft>
            </a:pPr>
            <a:r>
              <a:rPr sz="14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트립된다</a:t>
            </a:r>
          </a:p>
          <a:p>
            <a:pPr algn="l">
              <a:lnSpc>
                <a:spcPct val="110000"/>
              </a:lnSpc>
              <a:spcAft>
                <a:spcPts val="400"/>
              </a:spcAft>
            </a:pPr>
            <a:r>
              <a:rPr sz="14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트립된다</a:t>
            </a:r>
          </a:p>
          <a:p>
            <a:pPr algn="l">
              <a:lnSpc>
                <a:spcPct val="110000"/>
              </a:lnSpc>
              <a:spcAft>
                <a:spcPts val="400"/>
              </a:spcAft>
            </a:pPr>
            <a:r>
              <a:rPr sz="14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결정성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지연의 상한을 지켜야 하므로 지터를 키우는 암호화와 인증을 싣지 않고, 보안은 상위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 지연(Latency)과 처리량이 중요하다</a:t>
            </a:r>
          </a:p>
          <a:p>
            <a:pPr algn="l">
              <a:lnSpc>
                <a:spcPct val="110000"/>
              </a:lnSpc>
              <a:spcAft>
                <a:spcPts val="600"/>
              </a:spcAft>
            </a:pPr>
            <a:r>
              <a:rPr sz="1450" b="0">
                <a:solidFill>
                  <a:srgbClr val="1F2A3A"/>
                </a:solidFill>
                <a:latin typeface="맑은 고딕"/>
                <a:ea typeface="맑은 고딕"/>
                <a:cs typeface="맑은 고딕"/>
              </a:rPr>
              <a:t>• 암호화와 인증으로 기밀성과 무결성을 지킨다</a:t>
            </a:r>
          </a:p>
          <a:p>
            <a:pPr algn="l">
              <a:lnSpc>
                <a:spcPct val="110000"/>
              </a:lnSpc>
              <a:spcAft>
                <a:spcPts val="600"/>
              </a:spcAft>
            </a:pPr>
            <a:r>
              <a:rPr sz="1450" b="0">
                <a:solidFill>
                  <a:srgbClr val="1F2A3A"/>
                </a:solidFill>
                <a:latin typeface="맑은 고딕"/>
                <a:ea typeface="맑은 고딕"/>
                <a:cs typeface="맑은 고딕"/>
              </a:rPr>
              <a:t>• 지연이 매번 달라져도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성능</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최악의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지연의 흔들림인 지터(Jitter)를 키우는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산업용 통신 규약이 쓰인다</a:t>
            </a:r>
          </a:p>
        </p:txBody>
      </p:sp>
      <p:sp>
        <p:nvSpPr>
          <p:cNvPr id="18" name="Rounded Rectangle 17"/>
          <p:cNvSpPr/>
          <p:nvPr/>
        </p:nvSpPr>
        <p:spPr>
          <a:xfrm>
            <a:off x="6781647" y="5246433"/>
            <a:ext cx="186842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6842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결정성(Determinism)</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원시 값에 맥락을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레지스터의 원시 값에 태그 이름과 시각을 붙여, 태그 값과 운전 상태 메시지로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원시 값을 이름과 시각을 갖춘 메시지로 바꾸는 프로토콜 변환의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점대점 연결의 한계: 강한 결합과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점대점은 송신 측이 각 수신 측을 알고 직접 연결해, 수신 측이 늘면 설비를 고쳐야 하는 강한 결합이다.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점대점 연결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측이 수신 측의 주소를 모두 안다</a:t>
            </a:r>
          </a:p>
          <a:p>
            <a:pPr algn="l">
              <a:lnSpc>
                <a:spcPct val="110000"/>
              </a:lnSpc>
              <a:spcAft>
                <a:spcPts val="600"/>
              </a:spcAft>
            </a:pPr>
            <a:r>
              <a:rPr sz="1450" b="0">
                <a:solidFill>
                  <a:srgbClr val="1F2A3A"/>
                </a:solidFill>
                <a:latin typeface="맑은 고딕"/>
                <a:ea typeface="맑은 고딕"/>
                <a:cs typeface="맑은 고딕"/>
              </a:rPr>
              <a:t>• 수신 측이 하나 늘면 설비 쪽 프로그램을 고친다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강한 결합</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메시지 브로커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송신 측은 브로커에만 보낸다</a:t>
            </a:r>
          </a:p>
          <a:p>
            <a:pPr algn="l">
              <a:lnSpc>
                <a:spcPct val="110000"/>
              </a:lnSpc>
              <a:spcAft>
                <a:spcPts val="600"/>
              </a:spcAft>
            </a:pPr>
            <a:r>
              <a:rPr sz="1450" b="0">
                <a:solidFill>
                  <a:srgbClr val="1F2A3A"/>
                </a:solidFill>
                <a:latin typeface="맑은 고딕"/>
                <a:ea typeface="맑은 고딕"/>
                <a:cs typeface="맑은 고딕"/>
              </a:rPr>
              <a:t>• 수신 측은 받을 주제를 브로커에 등록한다</a:t>
            </a:r>
          </a:p>
          <a:p>
            <a:pPr algn="l">
              <a:lnSpc>
                <a:spcPct val="110000"/>
              </a:lnSpc>
              <a:spcAft>
                <a:spcPts val="600"/>
              </a:spcAft>
            </a:pPr>
            <a:r>
              <a:rPr sz="1450" b="0">
                <a:solidFill>
                  <a:srgbClr val="1F2A3A"/>
                </a:solidFill>
                <a:latin typeface="맑은 고딕"/>
                <a:ea typeface="맑은 고딕"/>
                <a:cs typeface="맑은 고딕"/>
              </a:rPr>
              <a:t>• 수신 측이 늘어도 설비 쪽은 그대로이다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느슨한 결합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발행자와 구독자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전달하는 발행 · 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840207906015813849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토픽으로 발행한다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메시지를 보관하지 않으므로, 구독자가 토픽을 미리 구독해 두지 않으면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구독한다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토픽으로 발행한다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토픽의</a:t>
            </a:r>
          </a:p>
          <a:p>
            <a:pPr algn="ctr">
              <a:lnSpc>
                <a:spcPct val="110000"/>
              </a:lnSpc>
              <a:spcAft>
                <a:spcPts val="400"/>
              </a:spcAft>
            </a:pPr>
            <a:r>
              <a:rPr sz="1350" b="0">
                <a:solidFill>
                  <a:srgbClr val="1F2A3A"/>
                </a:solidFill>
                <a:latin typeface="맑은 고딕"/>
                <a:ea typeface="맑은 고딕"/>
                <a:cs typeface="맑은 고딕"/>
              </a:rPr>
              <a:t>모든 구독자에게 밀어 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연결된 IT가 침해되어도 설비 사고로 번지지 않도록, 망 분리로 두 영역을 직접 연결하지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Operational Technology</a:t>
            </a:r>
          </a:p>
          <a:p>
            <a:pPr algn="l">
              <a:lnSpc>
                <a:spcPct val="110000"/>
              </a:lnSpc>
              <a:spcAft>
                <a:spcPts val="600"/>
              </a:spcAft>
            </a:pPr>
            <a:r>
              <a:rPr sz="1450" b="0">
                <a:solidFill>
                  <a:srgbClr val="1F2A3A"/>
                </a:solidFill>
                <a:latin typeface="맑은 고딕"/>
                <a:ea typeface="맑은 고딕"/>
                <a:cs typeface="맑은 고딕"/>
              </a:rPr>
              <a:t>• 설비를 직접 감시 · 제어한다</a:t>
            </a:r>
          </a:p>
          <a:p>
            <a:pPr algn="l">
              <a:lnSpc>
                <a:spcPct val="110000"/>
              </a:lnSpc>
              <a:spcAft>
                <a:spcPts val="600"/>
              </a:spcAft>
            </a:pPr>
            <a:r>
              <a:rPr sz="1450" b="0">
                <a:solidFill>
                  <a:srgbClr val="1F2A3A"/>
                </a:solidFill>
                <a:latin typeface="맑은 고딕"/>
                <a:ea typeface="맑은 고딕"/>
                <a:cs typeface="맑은 고딕"/>
              </a:rPr>
              <a:t>• 가용성과 안전이 최우선이다</a:t>
            </a:r>
          </a:p>
          <a:p>
            <a:pPr algn="l">
              <a:lnSpc>
                <a:spcPct val="110000"/>
              </a:lnSpc>
              <a:spcAft>
                <a:spcPts val="600"/>
              </a:spcAft>
            </a:pPr>
            <a:r>
              <a:rPr sz="145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Information Technology</a:t>
            </a:r>
          </a:p>
          <a:p>
            <a:pPr algn="l">
              <a:lnSpc>
                <a:spcPct val="110000"/>
              </a:lnSpc>
              <a:spcAft>
                <a:spcPts val="600"/>
              </a:spcAft>
            </a:pPr>
            <a:r>
              <a:rPr sz="1450" b="0">
                <a:solidFill>
                  <a:srgbClr val="1F2A3A"/>
                </a:solidFill>
                <a:latin typeface="맑은 고딕"/>
                <a:ea typeface="맑은 고딕"/>
                <a:cs typeface="맑은 고딕"/>
              </a:rPr>
              <a:t>• 업무 데이터를 다룬다</a:t>
            </a:r>
          </a:p>
          <a:p>
            <a:pPr algn="l">
              <a:lnSpc>
                <a:spcPct val="110000"/>
              </a:lnSpc>
              <a:spcAft>
                <a:spcPts val="600"/>
              </a:spcAft>
            </a:pPr>
            <a:r>
              <a:rPr sz="1450" b="0">
                <a:solidFill>
                  <a:srgbClr val="1F2A3A"/>
                </a:solidFill>
                <a:latin typeface="맑은 고딕"/>
                <a:ea typeface="맑은 고딕"/>
                <a:cs typeface="맑은 고딕"/>
              </a:rPr>
              <a:t>• 사무망 · 인터넷과 연결되어 침해에 노출된다</a:t>
            </a:r>
          </a:p>
          <a:p>
            <a:pPr algn="l">
              <a:lnSpc>
                <a:spcPct val="110000"/>
              </a:lnSpc>
              <a:spcAft>
                <a:spcPts val="600"/>
              </a:spcAft>
            </a:pPr>
            <a:r>
              <a:rPr sz="1450" b="0">
                <a:solidFill>
                  <a:srgbClr val="1F2A3A"/>
                </a:solidFill>
                <a:latin typeface="맑은 고딕"/>
                <a:ea typeface="맑은 고딕"/>
                <a:cs typeface="맑은 고딕"/>
              </a:rPr>
              <a:t>• 기밀성과 무결성이 최우선이다</a:t>
            </a:r>
          </a:p>
        </p:txBody>
      </p:sp>
      <p:sp>
        <p:nvSpPr>
          <p:cNvPr id="18" name="Rounded Rectangle 17"/>
          <p:cNvSpPr/>
          <p:nvPr/>
        </p:nvSpPr>
        <p:spPr>
          <a:xfrm>
            <a:off x="6781647" y="5096002"/>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 사이의 완충 구역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서비스는 데이터를 OT에서 IT로 단방향 복제만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49869368324096385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383029"/>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이벤트 로그로</a:t>
            </a:r>
          </a:p>
          <a:p>
            <a:pPr algn="ctr">
              <a:lnSpc>
                <a:spcPct val="110000"/>
              </a:lnSpc>
              <a:spcAft>
                <a:spcPts val="100"/>
              </a:spcAft>
            </a:pPr>
            <a:r>
              <a:rPr sz="1300" b="0">
                <a:solidFill>
                  <a:srgbClr val="556175"/>
                </a:solidFill>
                <a:latin typeface="맑은 고딕"/>
                <a:ea typeface="맑은 고딕"/>
                <a:cs typeface="맑은 고딕"/>
              </a:rPr>
              <a:t>단방향 복제한다</a:t>
            </a:r>
          </a:p>
          <a:p>
            <a:pPr algn="ctr">
              <a:lnSpc>
                <a:spcPct val="110000"/>
              </a:lnSpc>
              <a:spcAft>
                <a:spcPts val="100"/>
              </a:spcAft>
            </a:pPr>
            <a:r>
              <a:rPr sz="1300" b="0">
                <a:solidFill>
                  <a:srgbClr val="556175"/>
                </a:solidFill>
                <a:latin typeface="맑은 고딕"/>
                <a:ea typeface="맑은 고딕"/>
                <a:cs typeface="맑은 고딕"/>
              </a:rPr>
              <a:t>OT로는 발행하지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추가 전용 기록과 재처리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보관 없이 전달만 하며, 이벤트 로그는 추가 전용으로 기록해 여러 소비자가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구독 중인 쪽에 그 순간 밀어 주고 보관하지 않는다</a:t>
            </a:r>
          </a:p>
          <a:p>
            <a:pPr algn="l">
              <a:lnSpc>
                <a:spcPct val="110000"/>
              </a:lnSpc>
              <a:spcAft>
                <a:spcPts val="600"/>
              </a:spcAft>
            </a:pPr>
            <a:r>
              <a:rPr sz="1450" b="0">
                <a:solidFill>
                  <a:srgbClr val="1F2A3A"/>
                </a:solidFill>
                <a:latin typeface="맑은 고딕"/>
                <a:ea typeface="맑은 고딕"/>
                <a:cs typeface="맑은 고딕"/>
              </a:rPr>
              <a:t>• 나중에 연결된 구독자는 지나간 메시지를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뒤에 덧붙이기만 하는 추가 전용 로그(Append-only Log)이다</a:t>
            </a:r>
          </a:p>
          <a:p>
            <a:pPr algn="l">
              <a:lnSpc>
                <a:spcPct val="110000"/>
              </a:lnSpc>
              <a:spcAft>
                <a:spcPts val="600"/>
              </a:spcAft>
            </a:pPr>
            <a:r>
              <a:rPr sz="1450" b="0">
                <a:solidFill>
                  <a:srgbClr val="1F2A3A"/>
                </a:solidFill>
                <a:latin typeface="맑은 고딕"/>
                <a:ea typeface="맑은 고딕"/>
                <a:cs typeface="맑은 고딕"/>
              </a:rPr>
              <a:t>• 소비자마다 어디까지 읽었는지를 나타내는 오프셋(Offset)을 따로 가진다</a:t>
            </a:r>
          </a:p>
          <a:p>
            <a:pPr algn="l">
              <a:lnSpc>
                <a:spcPct val="110000"/>
              </a:lnSpc>
              <a:spcAft>
                <a:spcPts val="600"/>
              </a:spcAft>
            </a:pPr>
            <a:r>
              <a:rPr sz="1450" b="0">
                <a:solidFill>
                  <a:srgbClr val="1F2A3A"/>
                </a:solidFill>
                <a:latin typeface="맑은 고딕"/>
                <a:ea typeface="맑은 고딕"/>
                <a:cs typeface="맑은 고딕"/>
              </a:rPr>
              <a:t>• 오프셋을 되돌려 처음부터 다시 읽는다(재처리)</a:t>
            </a:r>
          </a:p>
          <a:p>
            <a:pPr algn="l">
              <a:lnSpc>
                <a:spcPct val="110000"/>
              </a:lnSpc>
              <a:spcAft>
                <a:spcPts val="600"/>
              </a:spcAft>
            </a:pPr>
            <a:r>
              <a:rPr sz="1450" b="0">
                <a:solidFill>
                  <a:srgbClr val="1F2A3A"/>
                </a:solidFill>
                <a:latin typeface="맑은 고딕"/>
                <a:ea typeface="맑은 고딕"/>
                <a:cs typeface="맑은 고딕"/>
              </a:rPr>
              <a:t>• 이 자리에는 Kafka Connect와 Kafka 등이 있다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 · 재처리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페이로드에 넣어, 레코드 한 건만으로도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페이로드(본문) 안으로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레코드의 키이다. 같은 설비의 레코드를 한 줄로 모아 잰 순서대로 읽히게 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측정 시각 t와 데이터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배치 처리</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데이터를 저장소에 쌓은 뒤 주기적으로 질의한다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스트림 처리</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끊임없이 도착하는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추세에 대한 조건이 유지 시간 동안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시간(Hold Time)</a:t>
            </a:r>
          </a:p>
          <a:p>
            <a:pPr algn="l">
              <a:lnSpc>
                <a:spcPct val="110000"/>
              </a:lnSpc>
              <a:spcAft>
                <a:spcPts val="400"/>
              </a:spcAft>
            </a:pPr>
            <a:r>
              <a:rPr sz="1400" b="0">
                <a:solidFill>
                  <a:srgbClr val="1F2A3A"/>
                </a:solidFill>
                <a:latin typeface="맑은 고딕"/>
                <a:ea typeface="맑은 고딕"/>
                <a:cs typeface="맑은 고딕"/>
              </a:rPr>
              <a:t>잠깐 튄 값에 경보가 울리지 않도록, 조건이 이어져야 경보가 성립하게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찾을 수 있도록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OT에서 현재 상태를 보여 주고,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리셋해야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보는 복합 조건</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값 하나의 단일 임계치(Threshold)</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트립시킨다</a:t>
            </a:r>
          </a:p>
          <a:p>
            <a:pPr algn="ctr">
              <a:lnSpc>
                <a:spcPct val="110000"/>
              </a:lnSpc>
              <a:spcAft>
                <a:spcPts val="400"/>
              </a:spcAft>
            </a:pPr>
            <a:r>
              <a:rPr sz="1350" b="0">
                <a:solidFill>
                  <a:srgbClr val="1F2A3A"/>
                </a:solidFill>
                <a:latin typeface="맑은 고딕"/>
                <a:ea typeface="맑은 고딕"/>
                <a:cs typeface="맑은 고딕"/>
              </a:rPr>
              <a:t>자동 복귀하지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진단하고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권한이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통해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1927974"/>
            <a:ext cx="4309750" cy="412676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1927974"/>
            <a:ext cx="2090867" cy="4126762"/>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1982838"/>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1927974"/>
            <a:ext cx="4309750" cy="4126762"/>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1982838"/>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346132"/>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236404"/>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119291"/>
            <a:ext cx="599985" cy="599985"/>
          </a:xfrm>
          <a:prstGeom prst="rect">
            <a:avLst/>
          </a:prstGeom>
        </p:spPr>
      </p:pic>
      <p:sp>
        <p:nvSpPr>
          <p:cNvPr id="17" name="TextBox 16"/>
          <p:cNvSpPr txBox="1"/>
          <p:nvPr/>
        </p:nvSpPr>
        <p:spPr>
          <a:xfrm>
            <a:off x="64007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236404"/>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119291"/>
            <a:ext cx="599985" cy="599985"/>
          </a:xfrm>
          <a:prstGeom prst="rect">
            <a:avLst/>
          </a:prstGeom>
        </p:spPr>
      </p:pic>
      <p:sp>
        <p:nvSpPr>
          <p:cNvPr id="22" name="TextBox 21"/>
          <p:cNvSpPr txBox="1"/>
          <p:nvPr/>
        </p:nvSpPr>
        <p:spPr>
          <a:xfrm>
            <a:off x="2858963"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236404"/>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2842374"/>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119291"/>
            <a:ext cx="599985" cy="599985"/>
          </a:xfrm>
          <a:prstGeom prst="rect">
            <a:avLst/>
          </a:prstGeom>
        </p:spPr>
      </p:pic>
      <p:sp>
        <p:nvSpPr>
          <p:cNvPr id="27" name="TextBox 26"/>
          <p:cNvSpPr txBox="1"/>
          <p:nvPr/>
        </p:nvSpPr>
        <p:spPr>
          <a:xfrm>
            <a:off x="5077846"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명령 게이트웨이(Command Gateway)</a:t>
            </a:r>
          </a:p>
          <a:p>
            <a:pPr algn="ctr">
              <a:lnSpc>
                <a:spcPct val="110000"/>
              </a:lnSpc>
              <a:spcAft>
                <a:spcPts val="400"/>
              </a:spcAft>
            </a:pPr>
            <a:r>
              <a:rPr sz="1300" b="0">
                <a:solidFill>
                  <a:srgbClr val="1F2A3A"/>
                </a:solidFill>
                <a:latin typeface="맑은 고딕"/>
                <a:ea typeface="맑은 고딕"/>
                <a:cs typeface="맑은 고딕"/>
              </a:rPr>
              <a:t>형식, 허용 목록,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236404"/>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2888932"/>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119291"/>
            <a:ext cx="599985" cy="599985"/>
          </a:xfrm>
          <a:prstGeom prst="rect">
            <a:avLst/>
          </a:prstGeom>
        </p:spPr>
      </p:pic>
      <p:sp>
        <p:nvSpPr>
          <p:cNvPr id="32" name="TextBox 31"/>
          <p:cNvSpPr txBox="1"/>
          <p:nvPr/>
        </p:nvSpPr>
        <p:spPr>
          <a:xfrm>
            <a:off x="7296729"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2842374"/>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119291"/>
            <a:ext cx="599985" cy="599985"/>
          </a:xfrm>
          <a:prstGeom prst="rect">
            <a:avLst/>
          </a:prstGeom>
        </p:spPr>
      </p:pic>
      <p:sp>
        <p:nvSpPr>
          <p:cNvPr id="35" name="TextBox 34"/>
          <p:cNvSpPr txBox="1"/>
          <p:nvPr/>
        </p:nvSpPr>
        <p:spPr>
          <a:xfrm>
            <a:off x="9515612" y="4133354"/>
            <a:ext cx="2036003" cy="1738503"/>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만료 시각이다.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cmdId · 그 밖의 칸</a:t>
            </a:r>
          </a:p>
          <a:p>
            <a:pPr algn="l">
              <a:lnSpc>
                <a:spcPct val="110000"/>
              </a:lnSpc>
              <a:spcAft>
                <a:spcPts val="400"/>
              </a:spcAft>
            </a:pPr>
            <a:r>
              <a:rPr sz="1400" b="0">
                <a:solidFill>
                  <a:srgbClr val="1F2A3A"/>
                </a:solidFill>
                <a:latin typeface="맑은 고딕"/>
                <a:ea typeface="맑은 고딕"/>
                <a:cs typeface="맑은 고딕"/>
              </a:rPr>
              <a:t>명령 식별자로 같은 명령의 중복 실행을 막는다</a:t>
            </a:r>
          </a:p>
          <a:p>
            <a:pPr algn="l">
              <a:lnSpc>
                <a:spcPct val="110000"/>
              </a:lnSpc>
              <a:spcAft>
                <a:spcPts val="400"/>
              </a:spcAft>
            </a:pPr>
            <a:r>
              <a:rPr sz="1400" b="0">
                <a:solidFill>
                  <a:srgbClr val="1F2A3A"/>
                </a:solidFill>
                <a:latin typeface="맑은 고딕"/>
                <a:ea typeface="맑은 고딕"/>
                <a:cs typeface="맑은 고딕"/>
              </a:rPr>
              <a:t>설비, 사건 번호, 발행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명령서의 형식 · 권한 · 유효성을, PLC는 현재 설비 상태를 검사해 서로 다른 문제를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 필요한 칸이 모두 있는가</a:t>
            </a:r>
          </a:p>
          <a:p>
            <a:pPr algn="l">
              <a:lnSpc>
                <a:spcPct val="110000"/>
              </a:lnSpc>
              <a:spcAft>
                <a:spcPts val="600"/>
              </a:spcAft>
            </a:pPr>
            <a:r>
              <a:rPr sz="1450" b="0">
                <a:solidFill>
                  <a:srgbClr val="1F2A3A"/>
                </a:solidFill>
                <a:latin typeface="맑은 고딕"/>
                <a:ea typeface="맑은 고딕"/>
                <a:cs typeface="맑은 고딕"/>
              </a:rPr>
              <a:t>• 허용 목록(Whitelist): 허용된 조치인가</a:t>
            </a:r>
          </a:p>
          <a:p>
            <a:pPr algn="l">
              <a:lnSpc>
                <a:spcPct val="110000"/>
              </a:lnSpc>
              <a:spcAft>
                <a:spcPts val="600"/>
              </a:spcAft>
            </a:pPr>
            <a:r>
              <a:rPr sz="1450" b="0">
                <a:solidFill>
                  <a:srgbClr val="1F2A3A"/>
                </a:solidFill>
                <a:latin typeface="맑은 고딕"/>
                <a:ea typeface="맑은 고딕"/>
                <a:cs typeface="맑은 고딕"/>
              </a:rPr>
              <a:t>• 만료: 유효 시간이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모드인가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 0~100 %, 부하 60~100 % 범위 안인가</a:t>
            </a:r>
          </a:p>
          <a:p>
            <a:pPr algn="l">
              <a:lnSpc>
                <a:spcPct val="110000"/>
              </a:lnSpc>
              <a:spcAft>
                <a:spcPts val="600"/>
              </a:spcAft>
            </a:pPr>
            <a:r>
              <a:rPr sz="1450" b="0">
                <a:solidFill>
                  <a:srgbClr val="1F2A3A"/>
                </a:solidFill>
                <a:latin typeface="맑은 고딕"/>
                <a:ea typeface="맑은 고딕"/>
                <a:cs typeface="맑은 고딕"/>
              </a:rPr>
              <a:t>• 인터록: 지금 트립 상태가 아닌가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ACK로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ACK</a:t>
            </a:r>
          </a:p>
          <a:p>
            <a:pPr algn="ctr">
              <a:lnSpc>
                <a:spcPct val="110000"/>
              </a:lnSpc>
              <a:spcAft>
                <a:spcPts val="400"/>
              </a:spcAft>
            </a:pPr>
            <a:r>
              <a:rPr sz="1350" b="0">
                <a:solidFill>
                  <a:srgbClr val="1F2A3A"/>
                </a:solidFill>
                <a:latin typeface="맑은 고딕"/>
                <a:ea typeface="맑은 고딕"/>
                <a:cs typeface="맑은 고딕"/>
              </a:rPr>
              <a:t>PLC가 실행 완료(DONE)를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 제어 판단의 근거를 최초 계측값까지 되짚는 데이터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이어져 있어, 결과에서 최초 계측값까지 거슬러 올라가는 추적성이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897897313877372265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수업에서는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720664865102472202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이상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819527592826216222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573925744874414855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314605845473916170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502697888163149135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776742212898084082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904478034564527000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832006424600749588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739878928743889254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750838644862656053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