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먼저 배운 내용을 남기는 기록 방법을 정합니다. 그다음에는 HYD-01의 유온이 오르는 사건 하나를 따라가며 값의 경로, 경보 이후의 판단, 관계의 표현을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 필기를 넘겨 정리한 문서는 보기에는 좋아도 읽고 이해하는 일은 그대로 남습니다. 자료를 덮고 자신의 말로 써 보면 문장이 끊기는 자리가 드러나고, 그 자리가 공부할 범위입니다. 이렇게 쓴 기록을 분류해 두고 다시 찾아 쓰는 것이 지식 자산화입니다.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기준은 둘입니다. 자료를 보지 않고 쓸 수 있는지, 말로 설명할 수 있는지입니다. 하나라도 막히면 그 자리가 아직 모르는 자리이고, 그 자리만 다시 공부해 고쳐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쓰지 말라는 것이 아니라 순서를 바꾸라는 것입니다. 먼저 물으면 답을 읽고 끝나서 자신의 문장이 남지 않습니다. 아는 범위를 먼저 써서 AI에 보여 주면 틀린 곳과 빠진 곳이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내용을 절차로 묶으면 네 단계입니다. 서술하고, 막힌 자리를 표시하고, 그 자리만 보완하고, 다시 확인합니다. 확인을 통과한 개념만 이해한 것으로 기록합니다.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기록할 것은 네 가지입니다. 개념 정의와 동작 원리는 오늘부터 쌓이며, 참고한 자료와 출처를 함께 연결해 두어야 나중에 근거를 다시 확인할 수 있습니다. 실습 결과와 오류 해결 과정은 랩이 시작되면 늘어납니다. 오류의 원인과 해결 과정은 같은 문제를 다시 만났을 때 가장 먼저 찾게 되는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노션에서 기록을 쌓는 단위는 데이터베이스입니다. 기록 한 건이 항목 하나이고, 모든 항목이 같은 속성 칸을 갖습니다. 학습 노트의 속성은 분야, 이해도, 생성 일시이며, 항목을 열면 본문을 가진 페이지가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데이터베이스는 저장된 내용과 보여 주는 모양이 나뉘어 있습니다. 표, 갤러리, 보드는 복사본이 아니라 같은 데이터를 보는 세 가지 방법입니다. 그래서 한 보기에서 고친 값이 다른 보기에도 그대로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템플릿은 새 항목을 만들 때 본문에 미리 채워지는 양식입니다. 왼쪽이 이 과정에서 쓸 양식의 한 예입니다. 양식을 한번 정하면 모든 기록에 같은 틀을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속성으로 분류해 둔 효과가 여기서 나옵니다. 이해도가 설명 가능이 아닌 항목만 남기는 필터를 걸면 다시 공부할 목록이 나옵니다. 확인을 통과해 이해도를 올린 항목은 그 목록에서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방식은 둘입니다. 공유는 지정한 사람에게만 권한을 주고, 게시는 링크만 있으면 누구나 볼 수 있게 합니다. 게시하면 페이지 안의 데이터베이스 항목도 함께 보이므로 접속 키와 계정 정보는 노트에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만드는 것은 내용이 아니라 내용이 들어갈 구조입니다. 과정 홈과 세 구획, 학습 노트 데이터베이스를 만들고 첫 기록 한 건을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교육에서 배운 내용을 먼저 되짚겠습니다. 설비에서 생긴 물리량을 센서가 재고, PLC가 그 값을 읽어 설비를 제어하며, 관제 화면이 값을 보여 주고 조작을 받습니다. 이 수업은 그다음, 곧 그 값이 어디에 쌓이고 판단과 조치로 어떻게 이어지는지를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 전체가 사건 하나를 따라갑니다. 유압 설비 HYD-01의 유온이 정상값 48 ℃에서 오르기 시작하는 사건입니다. 그 값이 어디서 생기고, 어디에 쌓이고, 누가 알아차리는지를 순서대로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시스템 전체를 먼저 보겠습니다. 아홉 개의 기능 계층이 있고, 아래일수록 설비에 가깝고 위로 갈수록 판단과 실행에 가깝습니다. 오른쪽 세 칸은 보안 영역이며 파란 점이 그 계층이 놓인 영역입니다. 지금은 이름만 보아 두고 유온 한 값을 따라 올라가며 하나씩 확인하겠습니다. 층을 나눈 것은 설비 가까이에서는 정해진 시간 안의 반응이, 위쪽에서는 판단이 먼저이기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그림에서 작동유가 도는 길과 열이 빠지는 자리를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탱크와 펌프를 봅니다. 탱크는 작동유를 담아 두고, 펌프가 그 작동유를 빨아올려 압력을 걸어 위쪽의 부하로 보냅니다. 다음으로 부하에서 뜨거워져 돌아오는 작동유가 오일 쿨러의 관을 지나는 동안 팬이 보내는 바람에 열을 내줍니다. 쿨러가 열을 충분히 내보내지 못하면 덜 식은 작동유가 탱크로 돌아가 다시 돌고, 쿨러 입구에서 재는 TS1이 조금씩 오릅니다. 냉각 효율 CE가 떨어지고 유온이 오르는 것이 이 사건의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센서가 잰 값을 가장 먼저 받는 것은 설비 옆의 PLC입니다. PLC는 값을 읽어 설비를 제어하고, 위험한 값이 되면 서버의 판단을 기다리지 않고 인터록으로 설비를 세웁니다. 현장에서 제어기가 주고받는 통신은 단순하게 두고,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 세 조건은 모두 그대로 두면 설비가 상하는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코드 칸의 위쪽 태그 값을 봅니다. 센서가 잰 값이 태그마다 따로 올라오고, 유온 TS1과 냉각 효율 CE, 토출 압력 PS1과 팬 진동 VS1에는 각각 단위와 정상값이 있습니다. 이 단원은 TS1과 CE를 따라가고 PS1과 VS1은 원인을 가릴 때 다시 나옵니다. 다음으로 아래쪽 운전 상태입니다. 원격 자동 모드로 운전 중이고 팬 속도 60 %, 부하 90 %, 인터록은 통과 상태이며, 이 운전 상태는 조치를 내릴 수 있는지 판단할 때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이 문제가 사라집니다. 이 방식의 이름이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브로커이고, HYD의 브로커는 EMQX입니다. 보내는 쪽인 발행자는 토픽이라는 주소를 붙여 브로커에 보내고, 받는 쪽인 구독자는 원하는 토픽을 받습니다. 그림에서 흐린 부분은 아직 다루지 않은 구간입니다. 발행자는 구독자가 누구인지 몰라도 되며, 브로커는 메시지를 보관하지 않고 바로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순서로 보면 세 걸음입니다. 받는 쪽이 먼저 받고 싶은 토픽을 브로커에 등록합니다. 보내는 쪽은 값을 토픽에 실어 브로커로 보냅니다. 브로커는 그 토픽을 등록해 둔 구독자 모두에게 메시지를 넘깁니다. 유온은 이렇게 1초에 한 번 올라옵니다. 브로커는 값을 갖고 있지 않으므로 받는 쪽이 먼저 등록해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사이의 구역이 DMZ입니다. DMZ의 connect-ingest가 EMQX를 구독해 받은 메시지를 IT의 이벤트 로그에 옮겨 적습니다. 값은 OT에서 IT로만 옮겨지고 반대로는 쓰지 않습니다. 현장 통신을 단순하게 둔 대신, 들어오는 길을 좁혀 놓은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이벤트 로그라고 부른 것이 Redpanda입니다. 위가 EMQX가 전달한 메시지이고 아래가 Redpanda에 쌓인 레코드입니다. 토픽 경로에 있던 설비와 태그 이름이 레코드에서는 본문 안으로 들어갑니다. 값 55.71은 뒤에서 볼 경보가 난 순간의 유온입니다. 토픽이 하나로 모이므로 설비와 태그 이름을 본문에 넣고, 같은 설비의 순서를 지키려고 설비를 키로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 더 옮겨 적는 이유가 여기에 있습니다. 브로커는 전달이 일이어서 넘기고 나면 값을 갖고 있지 않습니다. 이벤트 로그는 보관이 일이어서 저장 서비스와 감지기가 같은 값을 각자 읽을 수 있습니다. 생방송과 녹화본에 견줄 수 있습니다. 하나는 그 순간에만 전달되고 하나는 나중에 다시 볼 수 있다는 점이 닮았고, 로그의 기록도 보존 기간이 지나면 지워진다는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Redpanda에 쌓인 값을 읽어 가는 곳이 둘입니다. TimescaleDB는 값을 시각과 함께 저장하고, detector는 같은 값을 읽어 이상을 감지합니다. 두 가지를 하나씩 이어서 보겠습니다. 저장소는 시각으로 찾아보기 위해 두고, 감지는 늦지 않으려고 흐르는 값을 바로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모습은 단순합니다. 값 하나가 한 줄이고, 줄마다 시각과 설비와 태그 이름과 값이 있습니다. 강조한 줄이 경보가 난 순간의 유온 55.71입니다. Grafana의 추세선은 이 줄들을 시각 순서로 이은 것입니다. 값 하나를 한 행으로 적으면 태그가 늘어도 표를 고치지 않아도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 유온은 쿨러가 멀쩡해도 오를 수 있으므로 냉각 효율이 함께 떨어졌을 때에만 쿨러의 문제로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유온을 사람이 보는 화면이 둘입니다. FUXA는 EMQX에서 받은 지금의 값을 보여 주고 운전원의 조작을 받습니다. Grafana는 TimescaleDB에 쌓인 이력과 추세를 보여 줍니다. 지금 무슨 값인지는 FUXA에서, 어떻게 변해 왔는지는 Grafana에서 봅니다. 운전 화면은 서버가 멈춰도 보여야 하므로 OT에 두고, 분석 화면은 읽기 전용이어서 설비로 내려가는 길은 관문 하나로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유온이 오를 때 반응하는 장치가 셋입니다. FUXA의 알람, detector의 경보, PLC의 인터록입니다. 기준도 목적도 서로 다릅니다. 세 장치를 반응하는 온도 순서로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기준을 온도 순서로 놓으면 55, 60, 65입니다. detector의 경보가 가장 낮은 온도에서 먼저 반응하고, 그다음이 화면의 알람입니다. 마지막 65 ℃의 인터록은 설비를 세워 상태가 TRIP이 되며, 자동으로 풀리지 않고 유온이 55 ℃ 아래로 내려온 뒤 사람이 다시 걸어야 합니다. 인터록에 걸려 설비가 서기 전에 원인을 가리고 조치할 시간을 벌기 위한 순서입니다. 인터록이 저절로 풀리면 원인이 남은 채로 다시 뜨거워지므로 사람이 확인하고 다시 겁니다.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따라온 경로를 데이터의 종류로 다시 묶겠습니다. 센서와 PLC가 만든 원천 데이터, 그것을 재료로 계산한 가공 데이터, 조건이 성립했다는 이상 이벤트, 그리고 판단 결과입니다. 데이터 리니지는 이 네 가지가 어디서 무엇을 재료로 만들어졌는지를 되짚을 수 있게 하는 내력입니다. 설비를 움직인 판단은 무엇을 보고 내렸는지 답할 수 있어야 하므로 내력을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실제 예입니다. 위의 유온 값 셋은 센서가 잰 그대로의 원천 데이터입니다. detector는 이런 값 여러 개에서 기울기를 계산합니다. 기울기가 0보다 크면 오르는 중입니다. 앞에서 본 경보 조건의 추세가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한 건의 실제 내용입니다. 이 경보를 가리키는 식별자가 있고, 어느 설비에서 어떤 패턴이 성립했는지가 적혀 있습니다. 아래에는 그 순간의 유온과 냉각 효율이 근거로 붙어 있습니다. 경보만 보아도 무엇을 근거로 났는지 알 수 있습니다. 값은 계속 바뀌므로 그때의 근거를 경보에 함께 실어 둡니다.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올라가는 길과 반대 방향의 길이 하나 더 있습니다. 승인된 조치를 process가 명령으로 만들어 Redpanda에 기록하면, DMZ의 cmd-gateway가 검사한 뒤 OT의 브로커로 내보내고 PLC가 받습니다. 이 그림은 앞의 경로 그림과 방향이 반대여서 왼쪽이 IT입니다. 명령을 먼저 기록하는 것은 누가 언제 무엇을 내렸는지를 남기기 위해서입니다.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실제 내용입니다. 팬 속도를 100 %로 올리라는 내용과 함께, 어느 사건에서 나왔고 누가 승인했으며 언제까지 유효한지가 들어 있습니다. 명령이 늦게 도착해 상황이 바뀐 뒤에 실행되는 일을 막으려고 유효 시간을 둡니다. 승인자는 책임을 밝히고, 유효 시간은 늦게 도착한 명령이 달라진 상황에서 실행되는 것을 막습니다.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검사를 두 번 하는 까닭은 두 곳이 보는 것이 다르기 때문입니다. 먼저 왼쪽의 cmd-gateway입니다. 명령의 형식, 유효 시간, 승인 기록, PLC의 운전 모드를 확인하고 하나라도 맞지 않으면 그 명령을 버립니다. 승인 기록을 따로 확인하므로 승인 없이 만들어진 명령은 설비에 닿지 못합니다. 다음으로 오른쪽의 PLC입니다. 관문을 지난 명령도 값이 허용 범위 안인지, 인터록에 걸려 있지 않은지를 다시 보며, 이 사건에서는 실행 완료와 인터록 통과라는 응답이 돌아왔습니다.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1초 안에 끝났습니다. 검사가 조치를 늦추지 않았으며, 시간이 걸린 곳은 그 앞의 판단이었습니다.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정리하겠습니다. 에이전트는 추천까지만 합니다. 담당자가 승인하거나 거절하고, 승인된 조치만 process가 명령으로 만듭니다. 설비를 세울지 계속 돌릴지는 책임이 따르는 결정이어서 사람이 내립니다. 사람의 판단을 거치게 하는 이 구조를 HITL이라고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OT입니다. 설비와 PLC, 브로커, 운전 화면이 있고 멈추지 않는 것과 안전이 먼저여서, IT 쪽이 모두 멈춰도 OT 안의 제어와 운전 화면은 그대로 동작합니다. 다음으로 DMZ에는 올라가는 길을 맡은 connect-ingest와 내려가는 길을 맡은 cmd-gateway 둘뿐이며, IT 서비스가 OT의 브로커와 PLC 명령 경로에 닿는 길은 이 둘뿐입니다. 마지막으로 IT는 기록하고 분석하고 판단하는 영역입니다. 뒤에서 볼 지식 그래프와 에이전트도 이 영역에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구성요소를 계층 그림에 놓으면 아래 여섯 계층이 채워집니다. 이 여섯 계층이 하는 일은 값을 재고, 전달하고, 저장하고, 보여 주고, 기준을 벗어나면 알리는 것입니다. 계층마다 받는 것과 내는 것을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1계층과 2계층을 봅니다. 1계층이 낸 태그 값과 운전 상태를 2계층이 받아 토픽에 실린 메시지로 내며, 한 계층이 낸 것이 다음 계층이 받는 것입니다. 다음으로 3계층은 값을 올리고, 기록하고, 명령을 내리는 세 가지 일을 맡아 DMZ와 IT 두 영역에 걸쳐 있고, 4계층과 5계층이 이 계층의 기록을 읽어 일합니다. 마지막으로 4계층과 5계층은 같은 기록을 읽어 하나는 가공 데이터와 경보를 내고 하나는 값을 표에 저장합니다. 4계층은 이상을 알릴 뿐 원인을 가리지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다음의 일은 위의 세 계층이 맡습니다. 7계층이 지식을 내면 8계층의 에이전트가 그것을 조회해 근거가 붙은 추천안을 내고, 9계층은 승인된 것만 명령으로 만들어 실행한 뒤 기록을 남깁니다. 이 과정 전체가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한 장으로 줄이면 길이 둘입니다. 실선이 값이 올라가는 길이고 점선이 명령이 내려가는 길입니다. 여기까지가 값을 모아 이상을 알리는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108초를 나누어 보면 94초가 원인을 가리고 조치안을 비교하는 데 쓰였고, 13초가 담당자의 승인을 기다리는 데 쓰였습니다. 시간이 걸린 것은 판단이었습니다. 이 단원은 그 판단에 무엇이 필요했는지를 풀어 갑니다.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사건의 문장 다섯 개를 위에서부터 봅니다.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현장에서는 같은 증상을 온도 상승이라고도 하고 과열이라고도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TimescaleDB에서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 넷을 같은 사건으로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종류와 속성입니다. HYD의 온톨로지는 설비 쪽, 진단 쪽, 조치 쪽으로 종류를 두고, 유온이라는 대상에는 단위와 정상값과 한계가 속성으로 적혀 있습니다. 다음으로 관계입니다. 같은 고장 유형에서 조치로 가는 선이라도 MITIGATED_BY는 우선 완화한다는 뜻이고 REMEDIED_BY는 근본적으로 없앤다는 뜻입니다. 마지막으로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4.png"/><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34.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8.png"/><Relationship Id="rId4" Type="http://schemas.openxmlformats.org/officeDocument/2006/relationships/image" Target="../media/image31.png"/><Relationship Id="rId5" Type="http://schemas.openxmlformats.org/officeDocument/2006/relationships/image" Target="../media/image3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0.png"/><Relationship Id="rId4" Type="http://schemas.openxmlformats.org/officeDocument/2006/relationships/image" Target="../media/image4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43.png"/><Relationship Id="rId5" Type="http://schemas.openxmlformats.org/officeDocument/2006/relationships/image" Target="../media/image4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0.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1.png"/><Relationship Id="rId4"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35.png"/><Relationship Id="rId6" Type="http://schemas.openxmlformats.org/officeDocument/2006/relationships/image" Target="../media/image5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5.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43.png"/><Relationship Id="rId7" Type="http://schemas.openxmlformats.org/officeDocument/2006/relationships/image" Target="../media/image5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17.png"/><Relationship Id="rId4" Type="http://schemas.openxmlformats.org/officeDocument/2006/relationships/image" Target="../media/image34.png"/><Relationship Id="rId5" Type="http://schemas.openxmlformats.org/officeDocument/2006/relationships/image" Target="../media/image51.png"/><Relationship Id="rId6" Type="http://schemas.openxmlformats.org/officeDocument/2006/relationships/image" Target="../media/image41.png"/><Relationship Id="rId7" Type="http://schemas.openxmlformats.org/officeDocument/2006/relationships/image" Target="../media/image3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4.png"/><Relationship Id="rId4" Type="http://schemas.openxmlformats.org/officeDocument/2006/relationships/image" Target="../media/image5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3.png"/><Relationship Id="rId4" Type="http://schemas.openxmlformats.org/officeDocument/2006/relationships/image" Target="../media/image43.png"/><Relationship Id="rId5"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5.png"/><Relationship Id="rId4" Type="http://schemas.openxmlformats.org/officeDocument/2006/relationships/image" Target="../media/image53.png"/><Relationship Id="rId5" Type="http://schemas.openxmlformats.org/officeDocument/2006/relationships/image" Target="../media/image1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0.png"/><Relationship Id="rId4" Type="http://schemas.openxmlformats.org/officeDocument/2006/relationships/image" Target="../media/image57.png"/><Relationship Id="rId5" Type="http://schemas.openxmlformats.org/officeDocument/2006/relationships/image" Target="../media/image2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5.png"/><Relationship Id="rId4" Type="http://schemas.openxmlformats.org/officeDocument/2006/relationships/image" Target="../media/image55.png"/><Relationship Id="rId5" Type="http://schemas.openxmlformats.org/officeDocument/2006/relationships/image" Target="../media/image53.png"/><Relationship Id="rId6" Type="http://schemas.openxmlformats.org/officeDocument/2006/relationships/image" Target="../media/image17.png"/><Relationship Id="rId7" Type="http://schemas.openxmlformats.org/officeDocument/2006/relationships/image" Target="../media/image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13.png"/><Relationship Id="rId4" Type="http://schemas.openxmlformats.org/officeDocument/2006/relationships/image" Target="../media/image5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31.png"/><Relationship Id="rId4" Type="http://schemas.openxmlformats.org/officeDocument/2006/relationships/image" Target="../media/image35.png"/><Relationship Id="rId5" Type="http://schemas.openxmlformats.org/officeDocument/2006/relationships/image" Target="../media/image13.png"/><Relationship Id="rId6" Type="http://schemas.openxmlformats.org/officeDocument/2006/relationships/image" Target="../media/image5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1.png"/><Relationship Id="rId4" Type="http://schemas.openxmlformats.org/officeDocument/2006/relationships/image" Target="../media/image66.png"/><Relationship Id="rId5" Type="http://schemas.openxmlformats.org/officeDocument/2006/relationships/image" Target="../media/image1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23.png"/><Relationship Id="rId4" Type="http://schemas.openxmlformats.org/officeDocument/2006/relationships/image" Target="../media/image67.png"/><Relationship Id="rId5" Type="http://schemas.openxmlformats.org/officeDocument/2006/relationships/image" Target="../media/image68.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7.png"/><Relationship Id="rId4" Type="http://schemas.openxmlformats.org/officeDocument/2006/relationships/image" Target="../media/image5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24.png"/><Relationship Id="rId4" Type="http://schemas.openxmlformats.org/officeDocument/2006/relationships/image" Target="../media/image69.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74.png"/><Relationship Id="rId4" Type="http://schemas.openxmlformats.org/officeDocument/2006/relationships/image" Target="../media/image69.png"/><Relationship Id="rId5" Type="http://schemas.openxmlformats.org/officeDocument/2006/relationships/image" Target="../media/image22.png"/><Relationship Id="rId6" Type="http://schemas.openxmlformats.org/officeDocument/2006/relationships/image" Target="../media/image7.png"/><Relationship Id="rId7" Type="http://schemas.openxmlformats.org/officeDocument/2006/relationships/image" Target="../media/image53.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5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77.png"/><Relationship Id="rId4" Type="http://schemas.openxmlformats.org/officeDocument/2006/relationships/image" Target="../media/image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8.png"/><Relationship Id="rId4" Type="http://schemas.openxmlformats.org/officeDocument/2006/relationships/image" Target="../media/image7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5.png"/><Relationship Id="rId4" Type="http://schemas.openxmlformats.org/officeDocument/2006/relationships/image" Target="../media/image32.png"/><Relationship Id="rId5" Type="http://schemas.openxmlformats.org/officeDocument/2006/relationships/image" Target="../media/image1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38.png"/><Relationship Id="rId4" Type="http://schemas.openxmlformats.org/officeDocument/2006/relationships/image" Target="../media/image68.png"/><Relationship Id="rId5" Type="http://schemas.openxmlformats.org/officeDocument/2006/relationships/image" Target="../media/image3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10.png"/><Relationship Id="rId4" Type="http://schemas.openxmlformats.org/officeDocument/2006/relationships/image" Target="../media/image29.png"/><Relationship Id="rId5" Type="http://schemas.openxmlformats.org/officeDocument/2006/relationships/image" Target="../media/image80.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8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5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4.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85.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86.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87.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28.png"/><Relationship Id="rId4" Type="http://schemas.openxmlformats.org/officeDocument/2006/relationships/image" Target="../media/image47.png"/><Relationship Id="rId5" Type="http://schemas.openxmlformats.org/officeDocument/2006/relationships/image" Target="../media/image88.png"/><Relationship Id="rId6" Type="http://schemas.openxmlformats.org/officeDocument/2006/relationships/image" Target="../media/image25.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89.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9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35.png"/><Relationship Id="rId4" Type="http://schemas.openxmlformats.org/officeDocument/2006/relationships/image" Target="../media/image91.png"/><Relationship Id="rId5" Type="http://schemas.openxmlformats.org/officeDocument/2006/relationships/image" Target="../media/image8.png"/><Relationship Id="rId6" Type="http://schemas.openxmlformats.org/officeDocument/2006/relationships/image" Target="../media/image6.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80.png"/><Relationship Id="rId4" Type="http://schemas.openxmlformats.org/officeDocument/2006/relationships/image" Target="../media/image22.png"/><Relationship Id="rId5" Type="http://schemas.openxmlformats.org/officeDocument/2006/relationships/image" Target="../media/image92.png"/><Relationship Id="rId6" Type="http://schemas.openxmlformats.org/officeDocument/2006/relationships/image" Target="../media/image55.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93.png"/><Relationship Id="rId4" Type="http://schemas.openxmlformats.org/officeDocument/2006/relationships/image" Target="../media/image88.png"/><Relationship Id="rId5" Type="http://schemas.openxmlformats.org/officeDocument/2006/relationships/image" Target="../media/image94.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데이터가 판단과 조치로</a:t>
            </a:r>
          </a:p>
          <a:p>
            <a:pPr algn="l">
              <a:lnSpc>
                <a:spcPct val="110000"/>
              </a:lnSpc>
            </a:pPr>
            <a:r>
              <a:rPr sz="4000" b="1">
                <a:solidFill>
                  <a:srgbClr val="FFFFFF"/>
                </a:solidFill>
                <a:latin typeface="맑은 고딕"/>
                <a:ea typeface="맑은 고딕"/>
                <a:cs typeface="맑은 고딕"/>
              </a:rPr>
              <a:t>이어지는 전체 흐름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유온 한 값이 지나가는 경로에서 온톨로지의 필요성까지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값 하나가 지나가는 경로를 따라가며 경보 이후의 판단에 무엇이 더 필요한지를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개념을 자신의 문장으로 기록한다</a:t>
            </a:r>
          </a:p>
          <a:p>
            <a:pPr algn="l">
              <a:lnSpc>
                <a:spcPct val="110000"/>
              </a:lnSpc>
              <a:spcAft>
                <a:spcPts val="400"/>
              </a:spcAft>
            </a:pPr>
            <a:r>
              <a:rPr sz="1350" b="0">
                <a:solidFill>
                  <a:srgbClr val="1F2A3A"/>
                </a:solidFill>
                <a:latin typeface="맑은 고딕"/>
                <a:ea typeface="맑은 고딕"/>
                <a:cs typeface="맑은 고딕"/>
              </a:rPr>
              <a:t>• 기록을 분류해 다시 찾아 쓰는 구조를 만든다</a:t>
            </a:r>
          </a:p>
        </p:txBody>
      </p:sp>
      <p:sp>
        <p:nvSpPr>
          <p:cNvPr id="10" name="Rounded Rectangle 9"/>
          <p:cNvSpPr/>
          <p:nvPr/>
        </p:nvSpPr>
        <p:spPr>
          <a:xfrm>
            <a:off x="777240" y="523894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경로</a:t>
            </a:r>
          </a:p>
          <a:p>
            <a:pPr algn="l">
              <a:lnSpc>
                <a:spcPct val="110000"/>
              </a:lnSpc>
              <a:spcAft>
                <a:spcPts val="400"/>
              </a:spcAft>
            </a:pPr>
            <a:r>
              <a:rPr sz="1350" b="0">
                <a:solidFill>
                  <a:srgbClr val="1F2A3A"/>
                </a:solidFill>
                <a:latin typeface="맑은 고딕"/>
                <a:ea typeface="맑은 고딕"/>
                <a:cs typeface="맑은 고딕"/>
              </a:rPr>
              <a:t>유온 한 값이 설비에서 저장소, 화면, 경보에 이르는 경로를 설명한다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시스템 구조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경보 이후의 판단</a:t>
            </a:r>
          </a:p>
          <a:p>
            <a:pPr algn="l">
              <a:lnSpc>
                <a:spcPct val="110000"/>
              </a:lnSpc>
              <a:spcAft>
                <a:spcPts val="400"/>
              </a:spcAft>
            </a:pPr>
            <a:r>
              <a:rPr sz="1350" b="0">
                <a:solidFill>
                  <a:srgbClr val="1F2A3A"/>
                </a:solidFill>
                <a:latin typeface="맑은 고딕"/>
                <a:ea typeface="맑은 고딕"/>
                <a:cs typeface="맑은 고딕"/>
              </a:rPr>
              <a:t>• 경보가 알려 주는 것과 알려 주지 않는 것을 구분한다</a:t>
            </a:r>
          </a:p>
          <a:p>
            <a:pPr algn="l">
              <a:lnSpc>
                <a:spcPct val="110000"/>
              </a:lnSpc>
              <a:spcAft>
                <a:spcPts val="400"/>
              </a:spcAft>
            </a:pPr>
            <a:r>
              <a:rPr sz="1350" b="0">
                <a:solidFill>
                  <a:srgbClr val="1F2A3A"/>
                </a:solidFill>
                <a:latin typeface="맑은 고딕"/>
                <a:ea typeface="맑은 고딕"/>
                <a:cs typeface="맑은 고딕"/>
              </a:rPr>
              <a:t>• 판단에 필요한 정보가 어디에 있는지 말한다</a:t>
            </a:r>
          </a:p>
        </p:txBody>
      </p:sp>
      <p:sp>
        <p:nvSpPr>
          <p:cNvPr id="22" name="Rounded Rectangle 21"/>
          <p:cNvSpPr/>
          <p:nvPr/>
        </p:nvSpPr>
        <p:spPr>
          <a:xfrm>
            <a:off x="6461607" y="5238940"/>
            <a:ext cx="1630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필요성</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 증상, 원인, 조치를 노드와 관계로 나타낸다</a:t>
            </a:r>
          </a:p>
          <a:p>
            <a:pPr algn="l">
              <a:lnSpc>
                <a:spcPct val="110000"/>
              </a:lnSpc>
              <a:spcAft>
                <a:spcPts val="400"/>
              </a:spcAft>
            </a:pPr>
            <a:r>
              <a:rPr sz="1350" b="0">
                <a:solidFill>
                  <a:srgbClr val="1F2A3A"/>
                </a:solidFill>
                <a:latin typeface="맑은 고딕"/>
                <a:ea typeface="맑은 고딕"/>
                <a:cs typeface="맑은 고딕"/>
              </a:rPr>
              <a:t>• 관계의 이름과 방향을 문장으로 읽는다</a:t>
            </a:r>
          </a:p>
        </p:txBody>
      </p:sp>
      <p:sp>
        <p:nvSpPr>
          <p:cNvPr id="28" name="Rounded Rectangle 27"/>
          <p:cNvSpPr/>
          <p:nvPr/>
        </p:nvSpPr>
        <p:spPr>
          <a:xfrm>
            <a:off x="9303791" y="5238940"/>
            <a:ext cx="14782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기초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자신의 언어로 기록하고 다시 찾아 쓰는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문서와 자신의 언어로 다시 쓴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정리해 준 문서는 결과물일 뿐이며, 이해는 학습자가 자신의 언어로 다시 쓸 때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AI가 정리해 준 문서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넘겨 정리를 맡긴 결과물이다</a:t>
            </a:r>
          </a:p>
          <a:p>
            <a:pPr algn="l">
              <a:lnSpc>
                <a:spcPct val="110000"/>
              </a:lnSpc>
              <a:spcAft>
                <a:spcPts val="600"/>
              </a:spcAft>
            </a:pPr>
            <a:r>
              <a:rPr sz="1450" b="0">
                <a:solidFill>
                  <a:srgbClr val="1F2A3A"/>
                </a:solidFill>
                <a:latin typeface="맑은 고딕"/>
                <a:ea typeface="맑은 고딕"/>
                <a:cs typeface="맑은 고딕"/>
              </a:rPr>
              <a:t>• 형식은 정돈되어 있으나 학습자의 판단이 들어 있지 않다</a:t>
            </a:r>
          </a:p>
          <a:p>
            <a:pPr algn="l">
              <a:lnSpc>
                <a:spcPct val="110000"/>
              </a:lnSpc>
              <a:spcAft>
                <a:spcPts val="600"/>
              </a:spcAft>
            </a:pPr>
            <a:r>
              <a:rPr sz="1450" b="0">
                <a:solidFill>
                  <a:srgbClr val="1F2A3A"/>
                </a:solidFill>
                <a:latin typeface="맑은 고딕"/>
                <a:ea typeface="맑은 고딕"/>
                <a:cs typeface="맑은 고딕"/>
              </a:rPr>
              <a:t>• 읽을 때는 아는 것 같지만 자료 없이 설명하면 막힌다</a:t>
            </a:r>
          </a:p>
          <a:p>
            <a:pPr algn="l">
              <a:lnSpc>
                <a:spcPct val="110000"/>
              </a:lnSpc>
              <a:spcAft>
                <a:spcPts val="600"/>
              </a:spcAft>
            </a:pPr>
            <a:r>
              <a:rPr sz="1450" b="0">
                <a:solidFill>
                  <a:srgbClr val="1F2A3A"/>
                </a:solidFill>
                <a:latin typeface="맑은 고딕"/>
                <a:ea typeface="맑은 고딕"/>
                <a:cs typeface="맑은 고딕"/>
              </a:rPr>
              <a:t>• 쌓일수록 다시 열지 않게 된다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보관된 문서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자신의 언어로 다시 쓴 기록</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보지 않고 개념을 직접 서술한 기록이다</a:t>
            </a:r>
          </a:p>
          <a:p>
            <a:pPr algn="l">
              <a:lnSpc>
                <a:spcPct val="110000"/>
              </a:lnSpc>
              <a:spcAft>
                <a:spcPts val="600"/>
              </a:spcAft>
            </a:pPr>
            <a:r>
              <a:rPr sz="1450" b="0">
                <a:solidFill>
                  <a:srgbClr val="1F2A3A"/>
                </a:solidFill>
                <a:latin typeface="맑은 고딕"/>
                <a:ea typeface="맑은 고딕"/>
                <a:cs typeface="맑은 고딕"/>
              </a:rPr>
              <a:t>• 서술이 끊기는 자리에서 모르는 부분이 드러난다</a:t>
            </a:r>
          </a:p>
          <a:p>
            <a:pPr algn="l">
              <a:lnSpc>
                <a:spcPct val="110000"/>
              </a:lnSpc>
              <a:spcAft>
                <a:spcPts val="600"/>
              </a:spcAft>
            </a:pPr>
            <a:r>
              <a:rPr sz="1450" b="0">
                <a:solidFill>
                  <a:srgbClr val="1F2A3A"/>
                </a:solidFill>
                <a:latin typeface="맑은 고딕"/>
                <a:ea typeface="맑은 고딕"/>
                <a:cs typeface="맑은 고딕"/>
              </a:rPr>
              <a:t>• 그 부분을 보완해 고쳐 쓴 문장은 다시 설명할 수 있다</a:t>
            </a:r>
          </a:p>
          <a:p>
            <a:pPr algn="l">
              <a:lnSpc>
                <a:spcPct val="110000"/>
              </a:lnSpc>
              <a:spcAft>
                <a:spcPts val="600"/>
              </a:spcAft>
            </a:pPr>
            <a:r>
              <a:rPr sz="1450" b="0">
                <a:solidFill>
                  <a:srgbClr val="1F2A3A"/>
                </a:solidFill>
                <a:latin typeface="맑은 고딕"/>
                <a:ea typeface="맑은 고딕"/>
                <a:cs typeface="맑은 고딕"/>
              </a:rPr>
              <a:t>• 분류와 이해도를 함께 적어 두어 다시 찾아 쓴다</a:t>
            </a:r>
          </a:p>
        </p:txBody>
      </p:sp>
      <p:sp>
        <p:nvSpPr>
          <p:cNvPr id="18" name="Rounded Rectangle 17"/>
          <p:cNvSpPr/>
          <p:nvPr/>
        </p:nvSpPr>
        <p:spPr>
          <a:xfrm>
            <a:off x="6781647" y="5396865"/>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재사용하는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이해의 판정 기준: 설명 가능성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개념을 자료 없이 설명할 수 있는지가 이해 여부를 판정하는 가장 직접적인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writing" descr="writin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써 본다</a:t>
            </a:r>
          </a:p>
          <a:p>
            <a:pPr algn="l">
              <a:lnSpc>
                <a:spcPct val="110000"/>
              </a:lnSpc>
              <a:spcAft>
                <a:spcPts val="400"/>
              </a:spcAft>
            </a:pPr>
            <a:r>
              <a:rPr sz="1400" b="0">
                <a:solidFill>
                  <a:srgbClr val="1F2A3A"/>
                </a:solidFill>
                <a:latin typeface="맑은 고딕"/>
                <a:ea typeface="맑은 고딕"/>
                <a:cs typeface="맑은 고딕"/>
              </a:rPr>
              <a:t>자료를 덮고 정의, 동작 원리, 쓰임을 자신의 문장으로 적는다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microphone" descr="microphon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설명해 본다</a:t>
            </a:r>
          </a:p>
          <a:p>
            <a:pPr algn="l">
              <a:lnSpc>
                <a:spcPct val="110000"/>
              </a:lnSpc>
              <a:spcAft>
                <a:spcPts val="400"/>
              </a:spcAft>
            </a:pPr>
            <a:r>
              <a:rPr sz="1400" b="0">
                <a:solidFill>
                  <a:srgbClr val="1F2A3A"/>
                </a:solidFill>
                <a:latin typeface="맑은 고딕"/>
                <a:ea typeface="맑은 고딕"/>
                <a:cs typeface="맑은 고딕"/>
              </a:rPr>
              <a:t>• 다른 사람에게 말로 설명한다</a:t>
            </a:r>
          </a:p>
          <a:p>
            <a:pPr algn="l">
              <a:lnSpc>
                <a:spcPct val="110000"/>
              </a:lnSpc>
              <a:spcAft>
                <a:spcPts val="400"/>
              </a:spcAft>
            </a:pPr>
            <a:r>
              <a:rPr sz="1400" b="0">
                <a:solidFill>
                  <a:srgbClr val="1F2A3A"/>
                </a:solidFill>
                <a:latin typeface="맑은 고딕"/>
                <a:ea typeface="맑은 고딕"/>
                <a:cs typeface="맑은 고딕"/>
              </a:rPr>
              <a:t>• 표현이 달라도 뜻이 같으면 이해한 것이다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자리</a:t>
            </a:r>
          </a:p>
          <a:p>
            <a:pPr algn="l">
              <a:lnSpc>
                <a:spcPct val="110000"/>
              </a:lnSpc>
              <a:spcAft>
                <a:spcPts val="400"/>
              </a:spcAft>
            </a:pPr>
            <a:r>
              <a:rPr sz="1400" b="0">
                <a:solidFill>
                  <a:srgbClr val="1F2A3A"/>
                </a:solidFill>
                <a:latin typeface="맑은 고딕"/>
                <a:ea typeface="맑은 고딕"/>
                <a:cs typeface="맑은 고딕"/>
              </a:rPr>
              <a:t>• 둘 중 하나라도 막히면 그 자리가 아직 모르는 자리이다</a:t>
            </a:r>
          </a:p>
          <a:p>
            <a:pPr algn="l">
              <a:lnSpc>
                <a:spcPct val="110000"/>
              </a:lnSpc>
              <a:spcAft>
                <a:spcPts val="400"/>
              </a:spcAft>
            </a:pPr>
            <a:r>
              <a:rPr sz="1400" b="0">
                <a:solidFill>
                  <a:srgbClr val="1F2A3A"/>
                </a:solidFill>
                <a:latin typeface="맑은 고딕"/>
                <a:ea typeface="맑은 고딕"/>
                <a:cs typeface="맑은 고딕"/>
              </a:rPr>
              <a:t>• 그 자리만 다시 공부해 고쳐 쓴다</a:t>
            </a:r>
          </a:p>
        </p:txBody>
      </p:sp>
      <p:sp>
        <p:nvSpPr>
          <p:cNvPr id="22" name="Rounded Rectangle 21"/>
          <p:cNvSpPr/>
          <p:nvPr/>
        </p:nvSpPr>
        <p:spPr>
          <a:xfrm>
            <a:off x="8356396" y="5041392"/>
            <a:ext cx="12191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볼 범위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 활용 순서: 질문 먼저와 서술 먼저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먼저 묻지 않고 아는 범위를 먼저 서술하면 보완해야 할 자리가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먼저 묻는다</a:t>
            </a:r>
          </a:p>
        </p:txBody>
      </p:sp>
      <p:sp>
        <p:nvSpPr>
          <p:cNvPr id="8" name="TextBox 7"/>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질문하고 답을 읽는 것으로 끝난다</a:t>
            </a:r>
          </a:p>
          <a:p>
            <a:pPr algn="l">
              <a:lnSpc>
                <a:spcPct val="110000"/>
              </a:lnSpc>
              <a:spcAft>
                <a:spcPts val="600"/>
              </a:spcAft>
            </a:pPr>
            <a:r>
              <a:rPr sz="1450" b="0">
                <a:solidFill>
                  <a:srgbClr val="1F2A3A"/>
                </a:solidFill>
                <a:latin typeface="맑은 고딕"/>
                <a:ea typeface="맑은 고딕"/>
                <a:cs typeface="맑은 고딕"/>
              </a:rPr>
              <a:t>• 자신의 서술이 남지 않는다</a:t>
            </a:r>
          </a:p>
          <a:p>
            <a:pPr algn="l">
              <a:lnSpc>
                <a:spcPct val="110000"/>
              </a:lnSpc>
              <a:spcAft>
                <a:spcPts val="600"/>
              </a:spcAft>
            </a:pPr>
            <a:r>
              <a:rPr sz="1450" b="0">
                <a:solidFill>
                  <a:srgbClr val="1F2A3A"/>
                </a:solidFill>
                <a:latin typeface="맑은 고딕"/>
                <a:ea typeface="맑은 고딕"/>
                <a:cs typeface="맑은 고딕"/>
              </a:rPr>
              <a:t>• 무엇을 모르는지 확인할 기회가 없다</a:t>
            </a:r>
          </a:p>
          <a:p>
            <a:pPr algn="l">
              <a:lnSpc>
                <a:spcPct val="110000"/>
              </a:lnSpc>
              <a:spcAft>
                <a:spcPts val="600"/>
              </a:spcAft>
            </a:pPr>
            <a:r>
              <a:rPr sz="1450" b="0">
                <a:solidFill>
                  <a:srgbClr val="1F2A3A"/>
                </a:solidFill>
                <a:latin typeface="맑은 고딕"/>
                <a:ea typeface="맑은 고딕"/>
                <a:cs typeface="맑은 고딕"/>
              </a:rPr>
              <a:t>• 답에 있던 낯선 용어가 풀리지 않고 남는다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끝나는 학습</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자신이 먼저 서술한다</a:t>
            </a:r>
          </a:p>
        </p:txBody>
      </p:sp>
      <p:sp>
        <p:nvSpPr>
          <p:cNvPr id="13" name="TextBox 12"/>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써 본 뒤 AI에 검토를 요청한다</a:t>
            </a:r>
          </a:p>
          <a:p>
            <a:pPr algn="l">
              <a:lnSpc>
                <a:spcPct val="110000"/>
              </a:lnSpc>
              <a:spcAft>
                <a:spcPts val="600"/>
              </a:spcAft>
            </a:pPr>
            <a:r>
              <a:rPr sz="1450" b="0">
                <a:solidFill>
                  <a:srgbClr val="1F2A3A"/>
                </a:solidFill>
                <a:latin typeface="맑은 고딕"/>
                <a:ea typeface="맑은 고딕"/>
                <a:cs typeface="맑은 고딕"/>
              </a:rPr>
              <a:t>• 손으로 써도 되고 말로 설명해 음성 입력으로 남겨도 된다</a:t>
            </a:r>
          </a:p>
          <a:p>
            <a:pPr algn="l">
              <a:lnSpc>
                <a:spcPct val="110000"/>
              </a:lnSpc>
              <a:spcAft>
                <a:spcPts val="600"/>
              </a:spcAft>
            </a:pPr>
            <a:r>
              <a:rPr sz="1450" b="0">
                <a:solidFill>
                  <a:srgbClr val="1F2A3A"/>
                </a:solidFill>
                <a:latin typeface="맑은 고딕"/>
                <a:ea typeface="맑은 고딕"/>
                <a:cs typeface="맑은 고딕"/>
              </a:rPr>
              <a:t>• 서툴러도 되며 목적은 막히는 자리를 찾는 것이다</a:t>
            </a:r>
          </a:p>
          <a:p>
            <a:pPr algn="l">
              <a:lnSpc>
                <a:spcPct val="110000"/>
              </a:lnSpc>
              <a:spcAft>
                <a:spcPts val="600"/>
              </a:spcAft>
            </a:pPr>
            <a:r>
              <a:rPr sz="1450" b="0">
                <a:solidFill>
                  <a:srgbClr val="1F2A3A"/>
                </a:solidFill>
                <a:latin typeface="맑은 고딕"/>
                <a:ea typeface="맑은 고딕"/>
                <a:cs typeface="맑은 고딕"/>
              </a:rPr>
              <a:t>• 지적받은 자리가 그대로 학습 범위가 된다</a:t>
            </a:r>
          </a:p>
        </p:txBody>
      </p:sp>
      <p:sp>
        <p:nvSpPr>
          <p:cNvPr id="14" name="Rounded Rectangle 13"/>
          <p:cNvSpPr/>
          <p:nvPr/>
        </p:nvSpPr>
        <p:spPr>
          <a:xfrm>
            <a:off x="6781647" y="5246433"/>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 곳을 찾는 학습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 절차: 서술 · 식별 · 보완 ·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학습은 먼저 서술하고 막힌 자리를 찾아 그 자리만 보완한 뒤 다시 확인하는 순환으로 진행한다.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서술</a:t>
            </a:r>
          </a:p>
          <a:p>
            <a:pPr algn="ctr">
              <a:lnSpc>
                <a:spcPct val="110000"/>
              </a:lnSpc>
              <a:spcAft>
                <a:spcPts val="400"/>
              </a:spcAft>
            </a:pPr>
            <a:r>
              <a:rPr sz="1350" b="0">
                <a:solidFill>
                  <a:srgbClr val="1F2A3A"/>
                </a:solidFill>
                <a:latin typeface="맑은 고딕"/>
                <a:ea typeface="맑은 고딕"/>
                <a:cs typeface="맑은 고딕"/>
              </a:rPr>
              <a:t>자료를 덮고</a:t>
            </a:r>
          </a:p>
          <a:p>
            <a:pPr algn="ctr">
              <a:lnSpc>
                <a:spcPct val="110000"/>
              </a:lnSpc>
              <a:spcAft>
                <a:spcPts val="400"/>
              </a:spcAft>
            </a:pPr>
            <a:r>
              <a:rPr sz="1350" b="0">
                <a:solidFill>
                  <a:srgbClr val="1F2A3A"/>
                </a:solidFill>
                <a:latin typeface="맑은 고딕"/>
                <a:ea typeface="맑은 고딕"/>
                <a:cs typeface="맑은 고딕"/>
              </a:rPr>
              <a:t>개념을 자신의 문장으로 쓴다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식별</a:t>
            </a:r>
          </a:p>
          <a:p>
            <a:pPr algn="ctr">
              <a:lnSpc>
                <a:spcPct val="110000"/>
              </a:lnSpc>
              <a:spcAft>
                <a:spcPts val="400"/>
              </a:spcAft>
            </a:pPr>
            <a:r>
              <a:rPr sz="1350" b="0">
                <a:solidFill>
                  <a:srgbClr val="1F2A3A"/>
                </a:solidFill>
                <a:latin typeface="맑은 고딕"/>
                <a:ea typeface="맑은 고딕"/>
                <a:cs typeface="맑은 고딕"/>
              </a:rPr>
              <a:t>서술이 끊긴 자리와</a:t>
            </a:r>
          </a:p>
          <a:p>
            <a:pPr algn="ctr">
              <a:lnSpc>
                <a:spcPct val="110000"/>
              </a:lnSpc>
              <a:spcAft>
                <a:spcPts val="400"/>
              </a:spcAft>
            </a:pPr>
            <a:r>
              <a:rPr sz="1350" b="0">
                <a:solidFill>
                  <a:srgbClr val="1F2A3A"/>
                </a:solidFill>
                <a:latin typeface="맑은 고딕"/>
                <a:ea typeface="맑은 고딕"/>
                <a:cs typeface="맑은 고딕"/>
              </a:rPr>
              <a:t>틀렸다고 지적된 자리를 표시한다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보완</a:t>
            </a:r>
          </a:p>
          <a:p>
            <a:pPr algn="ctr">
              <a:lnSpc>
                <a:spcPct val="110000"/>
              </a:lnSpc>
              <a:spcAft>
                <a:spcPts val="400"/>
              </a:spcAft>
            </a:pPr>
            <a:r>
              <a:rPr sz="1350" b="0">
                <a:solidFill>
                  <a:srgbClr val="1F2A3A"/>
                </a:solidFill>
                <a:latin typeface="맑은 고딕"/>
                <a:ea typeface="맑은 고딕"/>
                <a:cs typeface="맑은 고딕"/>
              </a:rPr>
              <a:t>표시한 자리만 다시 학습한다</a:t>
            </a:r>
          </a:p>
          <a:p>
            <a:pPr algn="ctr">
              <a:lnSpc>
                <a:spcPct val="110000"/>
              </a:lnSpc>
              <a:spcAft>
                <a:spcPts val="400"/>
              </a:spcAft>
            </a:pPr>
            <a:r>
              <a:rPr sz="1350" b="0">
                <a:solidFill>
                  <a:srgbClr val="1F2A3A"/>
                </a:solidFill>
                <a:latin typeface="맑은 고딕"/>
                <a:ea typeface="맑은 고딕"/>
                <a:cs typeface="맑은 고딕"/>
              </a:rPr>
              <a:t>모르는 용어가 나오면 그 용어를 다시 묻는다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고쳐 쓴 내용을 자료 없이 다시 쓰고</a:t>
            </a:r>
          </a:p>
          <a:p>
            <a:pPr algn="ctr">
              <a:lnSpc>
                <a:spcPct val="110000"/>
              </a:lnSpc>
              <a:spcAft>
                <a:spcPts val="400"/>
              </a:spcAft>
            </a:pPr>
            <a:r>
              <a:rPr sz="1350" b="0">
                <a:solidFill>
                  <a:srgbClr val="1F2A3A"/>
                </a:solidFill>
                <a:latin typeface="맑은 고딕"/>
                <a:ea typeface="맑은 고딕"/>
                <a:cs typeface="맑은 고딕"/>
              </a:rPr>
              <a:t>다른 사람에게 설명한다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제조 AI 과정에서 축적할 기록의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과정에서는 개념 정의부터 오류의 원인과 해결 과정까지가 모두 기록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vocabulary" descr="vocabulary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 정의</a:t>
            </a:r>
          </a:p>
          <a:p>
            <a:pPr algn="l">
              <a:lnSpc>
                <a:spcPct val="110000"/>
              </a:lnSpc>
              <a:spcAft>
                <a:spcPts val="400"/>
              </a:spcAft>
            </a:pPr>
            <a:r>
              <a:rPr sz="1350" b="0">
                <a:solidFill>
                  <a:srgbClr val="1F2A3A"/>
                </a:solidFill>
                <a:latin typeface="맑은 고딕"/>
                <a:ea typeface="맑은 고딕"/>
                <a:cs typeface="맑은 고딕"/>
              </a:rPr>
              <a:t>• 용어의 정식 명칭과 뜻을 자신의 문장으로 적는다</a:t>
            </a:r>
          </a:p>
          <a:p>
            <a:pPr algn="l">
              <a:lnSpc>
                <a:spcPct val="110000"/>
              </a:lnSpc>
              <a:spcAft>
                <a:spcPts val="400"/>
              </a:spcAft>
            </a:pPr>
            <a:r>
              <a:rPr sz="1350" b="0">
                <a:solidFill>
                  <a:srgbClr val="1F2A3A"/>
                </a:solidFill>
                <a:latin typeface="맑은 고딕"/>
                <a:ea typeface="맑은 고딕"/>
                <a:cs typeface="맑은 고딕"/>
              </a:rPr>
              <a:t>• 헷갈리기 쉬운 용어와의 차이를 함께 적는다</a:t>
            </a:r>
          </a:p>
        </p:txBody>
      </p:sp>
      <p:sp>
        <p:nvSpPr>
          <p:cNvPr id="10" name="Rounded Rectangle 9"/>
          <p:cNvSpPr/>
          <p:nvPr/>
        </p:nvSpPr>
        <p:spPr>
          <a:xfrm>
            <a:off x="777240" y="5238940"/>
            <a:ext cx="1603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603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브로커와 토픽</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ettings-automation" descr="settings-automatio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동작 원리</a:t>
            </a:r>
          </a:p>
          <a:p>
            <a:pPr algn="l">
              <a:lnSpc>
                <a:spcPct val="110000"/>
              </a:lnSpc>
              <a:spcAft>
                <a:spcPts val="400"/>
              </a:spcAft>
            </a:pPr>
            <a:r>
              <a:rPr sz="1350" b="0">
                <a:solidFill>
                  <a:srgbClr val="1F2A3A"/>
                </a:solidFill>
                <a:latin typeface="맑은 고딕"/>
                <a:ea typeface="맑은 고딕"/>
                <a:cs typeface="맑은 고딕"/>
              </a:rPr>
              <a:t>• 구성요소가 무엇을 받아 무엇을 넘기는지를 적는다</a:t>
            </a:r>
          </a:p>
          <a:p>
            <a:pPr algn="l">
              <a:lnSpc>
                <a:spcPct val="110000"/>
              </a:lnSpc>
              <a:spcAft>
                <a:spcPts val="400"/>
              </a:spcAft>
            </a:pPr>
            <a:r>
              <a:rPr sz="1350" b="0">
                <a:solidFill>
                  <a:srgbClr val="1F2A3A"/>
                </a:solidFill>
                <a:latin typeface="맑은 고딕"/>
                <a:ea typeface="맑은 고딕"/>
                <a:cs typeface="맑은 고딕"/>
              </a:rPr>
              <a:t>• 근거로 삼은 참고 자료와 출처를 함께 연결해 둔다</a:t>
            </a:r>
          </a:p>
        </p:txBody>
      </p:sp>
      <p:sp>
        <p:nvSpPr>
          <p:cNvPr id="16" name="Rounded Rectangle 15"/>
          <p:cNvSpPr/>
          <p:nvPr/>
        </p:nvSpPr>
        <p:spPr>
          <a:xfrm>
            <a:off x="3619423" y="5238940"/>
            <a:ext cx="197815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97815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detector 경보 조건</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terminal-2" descr="terminal-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결과</a:t>
            </a:r>
          </a:p>
          <a:p>
            <a:pPr algn="l">
              <a:lnSpc>
                <a:spcPct val="110000"/>
              </a:lnSpc>
              <a:spcAft>
                <a:spcPts val="400"/>
              </a:spcAft>
            </a:pPr>
            <a:r>
              <a:rPr sz="1350" b="0">
                <a:solidFill>
                  <a:srgbClr val="1F2A3A"/>
                </a:solidFill>
                <a:latin typeface="맑은 고딕"/>
                <a:ea typeface="맑은 고딕"/>
                <a:cs typeface="맑은 고딕"/>
              </a:rPr>
              <a:t>무엇을 실행했고 어떤 결과가 나왔는지를 입력 · 출력과 함께 남긴다</a:t>
            </a:r>
          </a:p>
        </p:txBody>
      </p:sp>
      <p:sp>
        <p:nvSpPr>
          <p:cNvPr id="22" name="Rounded Rectangle 21"/>
          <p:cNvSpPr/>
          <p:nvPr/>
        </p:nvSpPr>
        <p:spPr>
          <a:xfrm>
            <a:off x="6461607" y="5238940"/>
            <a:ext cx="129844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관계 그림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ug" descr="bug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오류와 해결</a:t>
            </a:r>
          </a:p>
          <a:p>
            <a:pPr algn="l">
              <a:lnSpc>
                <a:spcPct val="110000"/>
              </a:lnSpc>
              <a:spcAft>
                <a:spcPts val="400"/>
              </a:spcAft>
            </a:pPr>
            <a:r>
              <a:rPr sz="1350" b="0">
                <a:solidFill>
                  <a:srgbClr val="1F2A3A"/>
                </a:solidFill>
                <a:latin typeface="맑은 고딕"/>
                <a:ea typeface="맑은 고딕"/>
                <a:cs typeface="맑은 고딕"/>
              </a:rPr>
              <a:t>증상, 확인한 원인, 적용한 해결 방법을 순서대로 남긴다</a:t>
            </a:r>
          </a:p>
        </p:txBody>
      </p:sp>
      <p:sp>
        <p:nvSpPr>
          <p:cNvPr id="28" name="Rounded Rectangle 27"/>
          <p:cNvSpPr/>
          <p:nvPr/>
        </p:nvSpPr>
        <p:spPr>
          <a:xfrm>
            <a:off x="9303791" y="5238940"/>
            <a:ext cx="180136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80136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서비스 기동 실패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노션 데이터베이스: 항목과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기록 한 건을 데이터베이스의 항목으로 저장하고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분류하면 검색과 재사용이 가능해진다.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노션_데이터베이스.svg" descr="illust_474366371768249687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1816729"/>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같은 형식의 항목을 모은 집합</a:t>
            </a:r>
          </a:p>
        </p:txBody>
      </p:sp>
      <p:sp>
        <p:nvSpPr>
          <p:cNvPr id="8" name="TextBox 7"/>
          <p:cNvSpPr txBox="1"/>
          <p:nvPr/>
        </p:nvSpPr>
        <p:spPr>
          <a:xfrm>
            <a:off x="4001224" y="1816729"/>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모든 항목이 공통으로 갖는 칸</a:t>
            </a:r>
          </a:p>
        </p:txBody>
      </p:sp>
      <p:sp>
        <p:nvSpPr>
          <p:cNvPr id="9" name="TextBox 8"/>
          <p:cNvSpPr txBox="1"/>
          <p:nvPr/>
        </p:nvSpPr>
        <p:spPr>
          <a:xfrm>
            <a:off x="1808416" y="277167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이름</a:t>
            </a:r>
          </a:p>
        </p:txBody>
      </p:sp>
      <p:sp>
        <p:nvSpPr>
          <p:cNvPr id="10" name="TextBox 9"/>
          <p:cNvSpPr txBox="1"/>
          <p:nvPr/>
        </p:nvSpPr>
        <p:spPr>
          <a:xfrm>
            <a:off x="4001224"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분야</a:t>
            </a:r>
          </a:p>
        </p:txBody>
      </p:sp>
      <p:sp>
        <p:nvSpPr>
          <p:cNvPr id="11" name="TextBox 10"/>
          <p:cNvSpPr txBox="1"/>
          <p:nvPr/>
        </p:nvSpPr>
        <p:spPr>
          <a:xfrm>
            <a:off x="5190359"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이해도</a:t>
            </a:r>
          </a:p>
        </p:txBody>
      </p:sp>
      <p:sp>
        <p:nvSpPr>
          <p:cNvPr id="12" name="TextBox 11"/>
          <p:cNvSpPr txBox="1"/>
          <p:nvPr/>
        </p:nvSpPr>
        <p:spPr>
          <a:xfrm>
            <a:off x="6226761" y="2771674"/>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생성 일시</a:t>
            </a:r>
          </a:p>
        </p:txBody>
      </p:sp>
      <p:sp>
        <p:nvSpPr>
          <p:cNvPr id="13" name="TextBox 12"/>
          <p:cNvSpPr txBox="1"/>
          <p:nvPr/>
        </p:nvSpPr>
        <p:spPr>
          <a:xfrm>
            <a:off x="8146832" y="1816729"/>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항목 하나 = 페이지 하나</a:t>
            </a:r>
          </a:p>
          <a:p>
            <a:pPr algn="ctr">
              <a:lnSpc>
                <a:spcPct val="110000"/>
              </a:lnSpc>
              <a:spcAft>
                <a:spcPts val="100"/>
              </a:spcAft>
            </a:pPr>
            <a:r>
              <a:rPr sz="1300" b="0">
                <a:solidFill>
                  <a:srgbClr val="556175"/>
                </a:solidFill>
                <a:latin typeface="맑은 고딕"/>
                <a:ea typeface="맑은 고딕"/>
                <a:cs typeface="맑은 고딕"/>
              </a:rPr>
              <a:t>열면 제목, 속성, 본문이 나온다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보기: 같은 데이터를 보여 주는 세 가지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보기를 바꾸어도 데이터는 한 벌이므로 한 보기에서 고친 값은 다른 보기에도 그대로 반영된다.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노션_보기.svg" descr="illust_540103721840560072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769455"/>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보기(View)</a:t>
            </a:r>
          </a:p>
          <a:p>
            <a:pPr algn="ctr">
              <a:lnSpc>
                <a:spcPct val="110000"/>
              </a:lnSpc>
              <a:spcAft>
                <a:spcPts val="100"/>
              </a:spcAft>
            </a:pPr>
            <a:r>
              <a:rPr sz="1300" b="0">
                <a:solidFill>
                  <a:srgbClr val="556175"/>
                </a:solidFill>
                <a:latin typeface="맑은 고딕"/>
                <a:ea typeface="맑은 고딕"/>
                <a:cs typeface="맑은 고딕"/>
              </a:rPr>
              <a:t>같은 데이터를 다른 모양으로 보여 주는 화면</a:t>
            </a:r>
          </a:p>
        </p:txBody>
      </p:sp>
      <p:sp>
        <p:nvSpPr>
          <p:cNvPr id="8" name="TextBox 7"/>
          <p:cNvSpPr txBox="1"/>
          <p:nvPr/>
        </p:nvSpPr>
        <p:spPr>
          <a:xfrm>
            <a:off x="695647" y="493684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저장된 데이터는 한 벌이다</a:t>
            </a:r>
          </a:p>
        </p:txBody>
      </p:sp>
      <p:sp>
        <p:nvSpPr>
          <p:cNvPr id="9" name="TextBox 8"/>
          <p:cNvSpPr txBox="1"/>
          <p:nvPr/>
        </p:nvSpPr>
        <p:spPr>
          <a:xfrm>
            <a:off x="3990315"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a:t>
            </a:r>
          </a:p>
          <a:p>
            <a:pPr algn="ctr">
              <a:lnSpc>
                <a:spcPct val="110000"/>
              </a:lnSpc>
              <a:spcAft>
                <a:spcPts val="100"/>
              </a:spcAft>
            </a:pPr>
            <a:r>
              <a:rPr sz="1300" b="0">
                <a:solidFill>
                  <a:srgbClr val="556175"/>
                </a:solidFill>
                <a:latin typeface="맑은 고딕"/>
                <a:ea typeface="맑은 고딕"/>
                <a:cs typeface="맑은 고딕"/>
              </a:rPr>
              <a:t>속성 값을 나란히 비교한다</a:t>
            </a:r>
          </a:p>
        </p:txBody>
      </p:sp>
      <p:sp>
        <p:nvSpPr>
          <p:cNvPr id="10" name="TextBox 9"/>
          <p:cNvSpPr txBox="1"/>
          <p:nvPr/>
        </p:nvSpPr>
        <p:spPr>
          <a:xfrm>
            <a:off x="6532227"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갤러리</a:t>
            </a:r>
          </a:p>
          <a:p>
            <a:pPr algn="ctr">
              <a:lnSpc>
                <a:spcPct val="110000"/>
              </a:lnSpc>
              <a:spcAft>
                <a:spcPts val="100"/>
              </a:spcAft>
            </a:pPr>
            <a:r>
              <a:rPr sz="1300" b="0">
                <a:solidFill>
                  <a:srgbClr val="556175"/>
                </a:solidFill>
                <a:latin typeface="맑은 고딕"/>
                <a:ea typeface="맑은 고딕"/>
                <a:cs typeface="맑은 고딕"/>
              </a:rPr>
              <a:t>항목을 카드로 훑어본다</a:t>
            </a:r>
          </a:p>
        </p:txBody>
      </p:sp>
      <p:sp>
        <p:nvSpPr>
          <p:cNvPr id="11" name="TextBox 10"/>
          <p:cNvSpPr txBox="1"/>
          <p:nvPr/>
        </p:nvSpPr>
        <p:spPr>
          <a:xfrm>
            <a:off x="9074139"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보드</a:t>
            </a:r>
          </a:p>
          <a:p>
            <a:pPr algn="ctr">
              <a:lnSpc>
                <a:spcPct val="110000"/>
              </a:lnSpc>
              <a:spcAft>
                <a:spcPts val="100"/>
              </a:spcAft>
            </a:pPr>
            <a:r>
              <a:rPr sz="1300" b="0">
                <a:solidFill>
                  <a:srgbClr val="556175"/>
                </a:solidFill>
                <a:latin typeface="맑은 고딕"/>
                <a:ea typeface="맑은 고딕"/>
                <a:cs typeface="맑은 고딕"/>
              </a:rPr>
              <a:t>속성 값별로 묶어 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템플릿: 모든 기록이 같은 틀을 갖게 하는 양식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템플릿은 새 항목을 만들 때 본문에 미리 채워지는 양식으로, 기록의 형식을 하나로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자료를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자신의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설명</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시스템에서의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어느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구성요소가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하는가</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설명이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끊긴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자리</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답에서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나온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낯선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용어</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개념별 제목</a:t>
            </a:r>
          </a:p>
          <a:p>
            <a:pPr algn="l">
              <a:lnSpc>
                <a:spcPct val="110000"/>
              </a:lnSpc>
              <a:spcAft>
                <a:spcPts val="400"/>
              </a:spcAft>
            </a:pPr>
            <a:r>
              <a:rPr sz="1400" b="0">
                <a:solidFill>
                  <a:srgbClr val="1F2A3A"/>
                </a:solidFill>
                <a:latin typeface="맑은 고딕"/>
                <a:ea typeface="맑은 고딕"/>
                <a:cs typeface="맑은 고딕"/>
              </a:rPr>
              <a:t>개념 하나에 제목 하나를 둔다. 제목이 나중에 검색어가 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다음에 확인할 것</a:t>
            </a:r>
          </a:p>
          <a:p>
            <a:pPr algn="l">
              <a:lnSpc>
                <a:spcPct val="110000"/>
              </a:lnSpc>
              <a:spcAft>
                <a:spcPts val="400"/>
              </a:spcAft>
            </a:pPr>
            <a:r>
              <a:rPr sz="1400" b="0">
                <a:solidFill>
                  <a:srgbClr val="1F2A3A"/>
                </a:solidFill>
                <a:latin typeface="맑은 고딕"/>
                <a:ea typeface="맑은 고딕"/>
                <a:cs typeface="맑은 고딕"/>
              </a:rPr>
              <a:t>막힌 자리를 체크 목록으로 남긴다. 해결해도 지우지 않아 진행이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기본 템플릿</a:t>
            </a:r>
          </a:p>
          <a:p>
            <a:pPr algn="l">
              <a:lnSpc>
                <a:spcPct val="110000"/>
              </a:lnSpc>
              <a:spcAft>
                <a:spcPts val="400"/>
              </a:spcAft>
            </a:pPr>
            <a:r>
              <a:rPr sz="1400" b="0">
                <a:solidFill>
                  <a:srgbClr val="1F2A3A"/>
                </a:solidFill>
                <a:latin typeface="맑은 고딕"/>
                <a:ea typeface="맑은 고딕"/>
                <a:cs typeface="맑은 고딕"/>
              </a:rPr>
              <a:t>기본으로 지정해 두면 어느 보기에서 항목을 만들어도 같은 양식이 채워진다.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필터: 다시 학습할 항목만 골라내기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이해도 속성에 필터를 걸면 아직 설명하지 못하는 항목만 모아 다시 학습할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이해도 기록</a:t>
            </a:r>
          </a:p>
          <a:p>
            <a:pPr algn="ctr">
              <a:lnSpc>
                <a:spcPct val="110000"/>
              </a:lnSpc>
              <a:spcAft>
                <a:spcPts val="400"/>
              </a:spcAft>
            </a:pPr>
            <a:r>
              <a:rPr sz="1350" b="0">
                <a:solidFill>
                  <a:srgbClr val="1F2A3A"/>
                </a:solidFill>
                <a:latin typeface="맑은 고딕"/>
                <a:ea typeface="맑은 고딕"/>
                <a:cs typeface="맑은 고딕"/>
              </a:rPr>
              <a:t>항목마다</a:t>
            </a:r>
          </a:p>
          <a:p>
            <a:pPr algn="ctr">
              <a:lnSpc>
                <a:spcPct val="110000"/>
              </a:lnSpc>
              <a:spcAft>
                <a:spcPts val="400"/>
              </a:spcAft>
            </a:pPr>
            <a:r>
              <a:rPr sz="1350" b="0">
                <a:solidFill>
                  <a:srgbClr val="1F2A3A"/>
                </a:solidFill>
                <a:latin typeface="맑은 고딕"/>
                <a:ea typeface="맑은 고딕"/>
                <a:cs typeface="맑은 고딕"/>
              </a:rPr>
              <a:t>설명 못함, 대충 앎,</a:t>
            </a:r>
          </a:p>
          <a:p>
            <a:pPr algn="ctr">
              <a:lnSpc>
                <a:spcPct val="110000"/>
              </a:lnSpc>
              <a:spcAft>
                <a:spcPts val="400"/>
              </a:spcAft>
            </a:pPr>
            <a:r>
              <a:rPr sz="1350" b="0">
                <a:solidFill>
                  <a:srgbClr val="1F2A3A"/>
                </a:solidFill>
                <a:latin typeface="맑은 고딕"/>
                <a:ea typeface="맑은 고딕"/>
                <a:cs typeface="맑은 고딕"/>
              </a:rPr>
              <a:t>설명 가능 가운데</a:t>
            </a:r>
          </a:p>
          <a:p>
            <a:pPr algn="ctr">
              <a:lnSpc>
                <a:spcPct val="110000"/>
              </a:lnSpc>
              <a:spcAft>
                <a:spcPts val="400"/>
              </a:spcAft>
            </a:pPr>
            <a:r>
              <a:rPr sz="1350" b="0">
                <a:solidFill>
                  <a:srgbClr val="1F2A3A"/>
                </a:solidFill>
                <a:latin typeface="맑은 고딕"/>
                <a:ea typeface="맑은 고딕"/>
                <a:cs typeface="맑은 고딕"/>
              </a:rPr>
              <a:t>하나를 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filter" descr="filt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필터</a:t>
            </a:r>
          </a:p>
          <a:p>
            <a:pPr algn="ctr">
              <a:lnSpc>
                <a:spcPct val="110000"/>
              </a:lnSpc>
              <a:spcAft>
                <a:spcPts val="400"/>
              </a:spcAft>
            </a:pPr>
            <a:r>
              <a:rPr sz="1350" b="0">
                <a:solidFill>
                  <a:srgbClr val="1F2A3A"/>
                </a:solidFill>
                <a:latin typeface="맑은 고딕"/>
                <a:ea typeface="맑은 고딕"/>
                <a:cs typeface="맑은 고딕"/>
              </a:rPr>
              <a:t>Filter</a:t>
            </a:r>
          </a:p>
          <a:p>
            <a:pPr algn="ctr">
              <a:lnSpc>
                <a:spcPct val="110000"/>
              </a:lnSpc>
              <a:spcAft>
                <a:spcPts val="400"/>
              </a:spcAft>
            </a:pPr>
            <a:r>
              <a:rPr sz="1350" b="0">
                <a:solidFill>
                  <a:srgbClr val="1F2A3A"/>
                </a:solidFill>
                <a:latin typeface="맑은 고딕"/>
                <a:ea typeface="맑은 고딕"/>
                <a:cs typeface="맑은 고딕"/>
              </a:rPr>
              <a:t>「설명 가능」이 아닌</a:t>
            </a:r>
          </a:p>
          <a:p>
            <a:pPr algn="ctr">
              <a:lnSpc>
                <a:spcPct val="110000"/>
              </a:lnSpc>
              <a:spcAft>
                <a:spcPts val="400"/>
              </a:spcAft>
            </a:pPr>
            <a:r>
              <a:rPr sz="1350" b="0">
                <a:solidFill>
                  <a:srgbClr val="1F2A3A"/>
                </a:solidFill>
                <a:latin typeface="맑은 고딕"/>
                <a:ea typeface="맑은 고딕"/>
                <a:cs typeface="맑은 고딕"/>
              </a:rPr>
              <a:t>항목만 남기는</a:t>
            </a:r>
          </a:p>
          <a:p>
            <a:pPr algn="ctr">
              <a:lnSpc>
                <a:spcPct val="110000"/>
              </a:lnSpc>
              <a:spcAft>
                <a:spcPts val="400"/>
              </a:spcAft>
            </a:pPr>
            <a:r>
              <a:rPr sz="1350" b="0">
                <a:solidFill>
                  <a:srgbClr val="1F2A3A"/>
                </a:solidFill>
                <a:latin typeface="맑은 고딕"/>
                <a:ea typeface="맑은 고딕"/>
                <a:cs typeface="맑은 고딕"/>
              </a:rPr>
              <a:t>조건을 건다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재학습</a:t>
            </a:r>
          </a:p>
          <a:p>
            <a:pPr algn="ctr">
              <a:lnSpc>
                <a:spcPct val="110000"/>
              </a:lnSpc>
              <a:spcAft>
                <a:spcPts val="400"/>
              </a:spcAft>
            </a:pPr>
            <a:r>
              <a:rPr sz="1350" b="0">
                <a:solidFill>
                  <a:srgbClr val="1F2A3A"/>
                </a:solidFill>
                <a:latin typeface="맑은 고딕"/>
                <a:ea typeface="맑은 고딕"/>
                <a:cs typeface="맑은 고딕"/>
              </a:rPr>
              <a:t>남은 항목을</a:t>
            </a:r>
          </a:p>
          <a:p>
            <a:pPr algn="ctr">
              <a:lnSpc>
                <a:spcPct val="110000"/>
              </a:lnSpc>
              <a:spcAft>
                <a:spcPts val="400"/>
              </a:spcAft>
            </a:pPr>
            <a:r>
              <a:rPr sz="1350" b="0">
                <a:solidFill>
                  <a:srgbClr val="1F2A3A"/>
                </a:solidFill>
                <a:latin typeface="맑은 고딕"/>
                <a:ea typeface="맑은 고딕"/>
                <a:cs typeface="맑은 고딕"/>
              </a:rPr>
              <a:t>서술, 식별, 보완, 확인의</a:t>
            </a:r>
          </a:p>
          <a:p>
            <a:pPr algn="ctr">
              <a:lnSpc>
                <a:spcPct val="110000"/>
              </a:lnSpc>
              <a:spcAft>
                <a:spcPts val="400"/>
              </a:spcAft>
            </a:pPr>
            <a:r>
              <a:rPr sz="1350" b="0">
                <a:solidFill>
                  <a:srgbClr val="1F2A3A"/>
                </a:solidFill>
                <a:latin typeface="맑은 고딕"/>
                <a:ea typeface="맑은 고딕"/>
                <a:cs typeface="맑은 고딕"/>
              </a:rPr>
              <a:t>절차로 다시 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갱신</a:t>
            </a:r>
          </a:p>
          <a:p>
            <a:pPr algn="ctr">
              <a:lnSpc>
                <a:spcPct val="110000"/>
              </a:lnSpc>
              <a:spcAft>
                <a:spcPts val="400"/>
              </a:spcAft>
            </a:pPr>
            <a:r>
              <a:rPr sz="1350" b="0">
                <a:solidFill>
                  <a:srgbClr val="1F2A3A"/>
                </a:solidFill>
                <a:latin typeface="맑은 고딕"/>
                <a:ea typeface="맑은 고딕"/>
                <a:cs typeface="맑은 고딕"/>
              </a:rPr>
              <a:t>확인을 통과하면</a:t>
            </a:r>
          </a:p>
          <a:p>
            <a:pPr algn="ctr">
              <a:lnSpc>
                <a:spcPct val="110000"/>
              </a:lnSpc>
              <a:spcAft>
                <a:spcPts val="400"/>
              </a:spcAft>
            </a:pPr>
            <a:r>
              <a:rPr sz="1350" b="0">
                <a:solidFill>
                  <a:srgbClr val="1F2A3A"/>
                </a:solidFill>
                <a:latin typeface="맑은 고딕"/>
                <a:ea typeface="맑은 고딕"/>
                <a:cs typeface="맑은 고딕"/>
              </a:rPr>
              <a:t>이해도를 올린다</a:t>
            </a:r>
          </a:p>
          <a:p>
            <a:pPr algn="ctr">
              <a:lnSpc>
                <a:spcPct val="110000"/>
              </a:lnSpc>
              <a:spcAft>
                <a:spcPts val="400"/>
              </a:spcAft>
            </a:pPr>
            <a:r>
              <a:rPr sz="1350" b="0">
                <a:solidFill>
                  <a:srgbClr val="1F2A3A"/>
                </a:solidFill>
                <a:latin typeface="맑은 고딕"/>
                <a:ea typeface="맑은 고딕"/>
                <a:cs typeface="맑은 고딕"/>
              </a:rPr>
              <a:t>그 항목은 목록에서</a:t>
            </a:r>
          </a:p>
          <a:p>
            <a:pPr algn="ctr">
              <a:lnSpc>
                <a:spcPct val="110000"/>
              </a:lnSpc>
              <a:spcAft>
                <a:spcPts val="400"/>
              </a:spcAft>
            </a:pPr>
            <a:r>
              <a:rPr sz="1350" b="0">
                <a:solidFill>
                  <a:srgbClr val="1F2A3A"/>
                </a:solidFill>
                <a:latin typeface="맑은 고딕"/>
                <a:ea typeface="맑은 고딕"/>
                <a:cs typeface="맑은 고딕"/>
              </a:rPr>
              <a:t>빠진다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공유와 게시: 공개 범위의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게시한 페이지는 링크를 아는 누구에게나 보이므로 공개하기 전에 내용의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공유</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지정한 사용자에게만 열람 · 편집 권한을 준다</a:t>
            </a:r>
          </a:p>
          <a:p>
            <a:pPr algn="l">
              <a:lnSpc>
                <a:spcPct val="110000"/>
              </a:lnSpc>
              <a:spcAft>
                <a:spcPts val="600"/>
              </a:spcAft>
            </a:pPr>
            <a:r>
              <a:rPr sz="1450" b="0">
                <a:solidFill>
                  <a:srgbClr val="1F2A3A"/>
                </a:solidFill>
                <a:latin typeface="맑은 고딕"/>
                <a:ea typeface="맑은 고딕"/>
                <a:cs typeface="맑은 고딕"/>
              </a:rPr>
              <a:t>• 권한을 받은 계정으로 로그인해야 보인다</a:t>
            </a:r>
          </a:p>
          <a:p>
            <a:pPr algn="l">
              <a:lnSpc>
                <a:spcPct val="110000"/>
              </a:lnSpc>
              <a:spcAft>
                <a:spcPts val="600"/>
              </a:spcAft>
            </a:pPr>
            <a:r>
              <a:rPr sz="1450" b="0">
                <a:solidFill>
                  <a:srgbClr val="1F2A3A"/>
                </a:solidFill>
                <a:latin typeface="맑은 고딕"/>
                <a:ea typeface="맑은 고딕"/>
                <a:cs typeface="맑은 고딕"/>
              </a:rPr>
              <a:t>• 함께 작업하는 사람과 쓸 때 고른다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지정한 사람만</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게시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페이지를 웹 주소로 공개한다</a:t>
            </a:r>
          </a:p>
          <a:p>
            <a:pPr algn="l">
              <a:lnSpc>
                <a:spcPct val="110000"/>
              </a:lnSpc>
              <a:spcAft>
                <a:spcPts val="600"/>
              </a:spcAft>
            </a:pPr>
            <a:r>
              <a:rPr sz="1450" b="0">
                <a:solidFill>
                  <a:srgbClr val="1F2A3A"/>
                </a:solidFill>
                <a:latin typeface="맑은 고딕"/>
                <a:ea typeface="맑은 고딕"/>
                <a:cs typeface="맑은 고딕"/>
              </a:rPr>
              <a:t>• 로그인 없이 링크만으로 열린다</a:t>
            </a:r>
          </a:p>
          <a:p>
            <a:pPr algn="l">
              <a:lnSpc>
                <a:spcPct val="110000"/>
              </a:lnSpc>
              <a:spcAft>
                <a:spcPts val="600"/>
              </a:spcAft>
            </a:pPr>
            <a:r>
              <a:rPr sz="1450" b="0">
                <a:solidFill>
                  <a:srgbClr val="1F2A3A"/>
                </a:solidFill>
                <a:latin typeface="맑은 고딕"/>
                <a:ea typeface="맑은 고딕"/>
                <a:cs typeface="맑은 고딕"/>
              </a:rPr>
              <a:t>• 페이지 안의 데이터베이스 항목도 함께 보인다</a:t>
            </a:r>
          </a:p>
          <a:p>
            <a:pPr algn="l">
              <a:lnSpc>
                <a:spcPct val="110000"/>
              </a:lnSpc>
              <a:spcAft>
                <a:spcPts val="600"/>
              </a:spcAft>
            </a:pPr>
            <a:r>
              <a:rPr sz="1450" b="0">
                <a:solidFill>
                  <a:srgbClr val="1F2A3A"/>
                </a:solidFill>
                <a:latin typeface="맑은 고딕"/>
                <a:ea typeface="맑은 고딕"/>
                <a:cs typeface="맑은 고딕"/>
              </a:rPr>
              <a:t>• 개인 정보, 계정, 접속 키는 넣지 않는다</a:t>
            </a:r>
          </a:p>
        </p:txBody>
      </p:sp>
      <p:sp>
        <p:nvSpPr>
          <p:cNvPr id="18" name="Rounded Rectangle 17"/>
          <p:cNvSpPr/>
          <p:nvPr/>
        </p:nvSpPr>
        <p:spPr>
          <a:xfrm>
            <a:off x="6781647" y="509600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링크를 아는 누구나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Notion 학습 노트의 구성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과정 홈과 학습 노트 데이터베이스를 만들어 이후 기록의 틀로 삼는다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과정 홈 하나와 학습 노트 데이터베이스 하나가 만들어지고 첫 기록 한 건이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전체의 입구가 되는 페이지이다</a:t>
            </a:r>
          </a:p>
          <a:p>
            <a:pPr algn="l">
              <a:lnSpc>
                <a:spcPct val="110000"/>
              </a:lnSpc>
              <a:spcAft>
                <a:spcPts val="400"/>
              </a:spcAft>
            </a:pPr>
            <a:r>
              <a:rPr sz="1400" b="0">
                <a:solidFill>
                  <a:srgbClr val="1F2A3A"/>
                </a:solidFill>
                <a:latin typeface="맑은 고딕"/>
                <a:ea typeface="맑은 고딕"/>
                <a:cs typeface="맑은 고딕"/>
              </a:rPr>
              <a:t>• 노트의 사용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기록의 종류마다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종류의 구분</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 노트 데이터베이스</a:t>
            </a:r>
          </a:p>
          <a:p>
            <a:pPr algn="l">
              <a:lnSpc>
                <a:spcPct val="110000"/>
              </a:lnSpc>
              <a:spcAft>
                <a:spcPts val="400"/>
              </a:spcAft>
            </a:pPr>
            <a:r>
              <a:rPr sz="1400" b="0">
                <a:solidFill>
                  <a:srgbClr val="1F2A3A"/>
                </a:solidFill>
                <a:latin typeface="맑은 고딕"/>
                <a:ea typeface="맑은 고딕"/>
                <a:cs typeface="맑은 고딕"/>
              </a:rPr>
              <a:t>• 속성은 분야, 이해도, 생성 일시이다</a:t>
            </a:r>
          </a:p>
          <a:p>
            <a:pPr algn="l">
              <a:lnSpc>
                <a:spcPct val="110000"/>
              </a:lnSpc>
              <a:spcAft>
                <a:spcPts val="400"/>
              </a:spcAft>
            </a:pPr>
            <a:r>
              <a:rPr sz="1400" b="0">
                <a:solidFill>
                  <a:srgbClr val="1F2A3A"/>
                </a:solidFill>
                <a:latin typeface="맑은 고딕"/>
                <a:ea typeface="맑은 고딕"/>
                <a:cs typeface="맑은 고딕"/>
              </a:rPr>
              <a:t>• 템플릿과 재학습 필터 보기를 함께 둔다</a:t>
            </a:r>
          </a:p>
          <a:p>
            <a:pPr algn="l">
              <a:lnSpc>
                <a:spcPct val="110000"/>
              </a:lnSpc>
              <a:spcAft>
                <a:spcPts val="400"/>
              </a:spcAft>
            </a:pPr>
            <a:r>
              <a:rPr sz="1400" b="0">
                <a:solidFill>
                  <a:srgbClr val="1F2A3A"/>
                </a:solidFill>
                <a:latin typeface="맑은 고딕"/>
                <a:ea typeface="맑은 고딕"/>
                <a:cs typeface="맑은 고딕"/>
              </a:rPr>
              <a:t>• 첫 기록으로 개념 하나를 자신의 문장으로 적는다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재학습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설비의 통신에는 왜 암호가 없는가: 유온 TS1 한 값을 따라가며 찾는 답</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선행 교육의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설비에서 생긴 물리량은 센서와 PLC를 거쳐 관제 화면에 이르며, 이 수업은 그 값이 그 뒤에 어떻게 쓰이는지를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사건: HYD-01의 유온 TS1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단원은 유압 설비 HYD-01의 유온 TS1이 오르는 사건 하나를 따라가며 값이 지나가는 자리를 차례로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HYD-01의 유온 TS1이 48 ℃에서 오르기 시작한다</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gauge" descr="gaug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생기는 곳</a:t>
            </a:r>
          </a:p>
          <a:p>
            <a:pPr algn="l">
              <a:lnSpc>
                <a:spcPct val="110000"/>
              </a:lnSpc>
              <a:spcAft>
                <a:spcPts val="400"/>
              </a:spcAft>
            </a:pPr>
            <a:r>
              <a:rPr sz="1400" b="0">
                <a:solidFill>
                  <a:srgbClr val="1F2A3A"/>
                </a:solidFill>
                <a:latin typeface="맑은 고딕"/>
                <a:ea typeface="맑은 고딕"/>
                <a:cs typeface="맑은 고딕"/>
              </a:rPr>
              <a:t>설비의 센서와 PLC</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stack-2" descr="stack-2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쌓이는 곳</a:t>
            </a:r>
          </a:p>
          <a:p>
            <a:pPr algn="l">
              <a:lnSpc>
                <a:spcPct val="110000"/>
              </a:lnSpc>
              <a:spcAft>
                <a:spcPts val="400"/>
              </a:spcAft>
            </a:pPr>
            <a:r>
              <a:rPr sz="1400" b="0">
                <a:solidFill>
                  <a:srgbClr val="1F2A3A"/>
                </a:solidFill>
                <a:latin typeface="맑은 고딕"/>
                <a:ea typeface="맑은 고딕"/>
                <a:cs typeface="맑은 고딕"/>
              </a:rPr>
              <a:t>메시지, 기록, 저장소</a:t>
            </a:r>
          </a:p>
        </p:txBody>
      </p:sp>
      <p:sp>
        <p:nvSpPr>
          <p:cNvPr id="14" name="Oval 13"/>
          <p:cNvSpPr/>
          <p:nvPr/>
        </p:nvSpPr>
        <p:spPr>
          <a:xfrm>
            <a:off x="8127796" y="4180078"/>
            <a:ext cx="731520" cy="731520"/>
          </a:xfrm>
          <a:prstGeom prst="ellipse">
            <a:avLst/>
          </a:prstGeom>
          <a:solidFill>
            <a:srgbClr val="E7F3FD"/>
          </a:solidFill>
          <a:ln>
            <a:noFill/>
          </a:ln>
        </p:spPr>
        <p:txBody>
          <a:bodyPr rtlCol="0" anchor="ctr"/>
          <a:lstStyle/>
          <a:p>
            <a:pPr algn="ctr"/>
          </a:p>
        </p:txBody>
      </p:sp>
      <p:pic>
        <p:nvPicPr>
          <p:cNvPr id="15" name="아이콘:bell-ringing" descr="bell-ringing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값을 알아차리는 곳</a:t>
            </a:r>
          </a:p>
          <a:p>
            <a:pPr algn="l">
              <a:lnSpc>
                <a:spcPct val="110000"/>
              </a:lnSpc>
              <a:spcAft>
                <a:spcPts val="400"/>
              </a:spcAft>
            </a:pPr>
            <a:r>
              <a:rPr sz="1400" b="0">
                <a:solidFill>
                  <a:srgbClr val="1F2A3A"/>
                </a:solidFill>
                <a:latin typeface="맑은 고딕"/>
                <a:ea typeface="맑은 고딕"/>
                <a:cs typeface="맑은 고딕"/>
              </a:rPr>
              <a:t>화면과 감지기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9개 기능 계층과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가까이는 정해진 시간이, 위쪽은 판단이 먼저여서 HYD는 기능을 아홉 계층으로 나누고 세 보안 영역에 배치한다.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계층_0_전체.svg" descr="illust_902757003484601869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설비_유압파워팩.svg" descr="illust_28036067341538784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 TS1이 오르는 까닭: 작동유의 순환과 쿨러의 열 방출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쿨러가 열을 덜 내보내면 덜 식은 작동유가 탱크로 돌아가 다시 돌므로 쿨러 입구의 유온 TS1이 오른다.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설비_유압파워팩.svg" descr="illust_28036067341538784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531504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작동유 탱크</a:t>
            </a:r>
          </a:p>
        </p:txBody>
      </p:sp>
      <p:sp>
        <p:nvSpPr>
          <p:cNvPr id="8" name="TextBox 7"/>
          <p:cNvSpPr txBox="1"/>
          <p:nvPr/>
        </p:nvSpPr>
        <p:spPr>
          <a:xfrm>
            <a:off x="1252031"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모터 · 펌프</a:t>
            </a:r>
          </a:p>
        </p:txBody>
      </p:sp>
      <p:sp>
        <p:nvSpPr>
          <p:cNvPr id="9" name="TextBox 8"/>
          <p:cNvSpPr txBox="1"/>
          <p:nvPr/>
        </p:nvSpPr>
        <p:spPr>
          <a:xfrm>
            <a:off x="7481353" y="1864004"/>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a:t>
            </a:r>
          </a:p>
        </p:txBody>
      </p:sp>
      <p:sp>
        <p:nvSpPr>
          <p:cNvPr id="10" name="TextBox 9"/>
          <p:cNvSpPr txBox="1"/>
          <p:nvPr/>
        </p:nvSpPr>
        <p:spPr>
          <a:xfrm>
            <a:off x="8386841" y="290404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뜨거운 작동유</a:t>
            </a:r>
          </a:p>
          <a:p>
            <a:pPr algn="ctr">
              <a:lnSpc>
                <a:spcPct val="110000"/>
              </a:lnSpc>
              <a:spcAft>
                <a:spcPts val="100"/>
              </a:spcAft>
            </a:pPr>
            <a:r>
              <a:rPr sz="1300" b="0">
                <a:solidFill>
                  <a:srgbClr val="556175"/>
                </a:solidFill>
                <a:latin typeface="맑은 고딕"/>
                <a:ea typeface="맑은 고딕"/>
                <a:cs typeface="맑은 고딕"/>
              </a:rPr>
              <a:t>부하에서 돌아온다</a:t>
            </a:r>
          </a:p>
        </p:txBody>
      </p:sp>
      <p:sp>
        <p:nvSpPr>
          <p:cNvPr id="11" name="TextBox 10"/>
          <p:cNvSpPr txBox="1"/>
          <p:nvPr/>
        </p:nvSpPr>
        <p:spPr>
          <a:xfrm>
            <a:off x="5550372" y="2667670"/>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 유온</a:t>
            </a:r>
          </a:p>
          <a:p>
            <a:pPr algn="ctr">
              <a:lnSpc>
                <a:spcPct val="110000"/>
              </a:lnSpc>
              <a:spcAft>
                <a:spcPts val="100"/>
              </a:spcAft>
            </a:pPr>
            <a:r>
              <a:rPr sz="1300" b="0">
                <a:solidFill>
                  <a:srgbClr val="556175"/>
                </a:solidFill>
                <a:latin typeface="맑은 고딕"/>
                <a:ea typeface="맑은 고딕"/>
                <a:cs typeface="맑은 고딕"/>
              </a:rPr>
              <a:t>쿨러 입구에서 잰다</a:t>
            </a:r>
          </a:p>
          <a:p>
            <a:pPr algn="ctr">
              <a:lnSpc>
                <a:spcPct val="110000"/>
              </a:lnSpc>
              <a:spcAft>
                <a:spcPts val="100"/>
              </a:spcAft>
            </a:pPr>
            <a:r>
              <a:rPr sz="1300" b="0">
                <a:solidFill>
                  <a:srgbClr val="556175"/>
                </a:solidFill>
                <a:latin typeface="맑은 고딕"/>
                <a:ea typeface="맑은 고딕"/>
                <a:cs typeface="맑은 고딕"/>
              </a:rPr>
              <a:t>정상 48 ℃</a:t>
            </a:r>
          </a:p>
        </p:txBody>
      </p:sp>
      <p:sp>
        <p:nvSpPr>
          <p:cNvPr id="12" name="TextBox 11"/>
          <p:cNvSpPr txBox="1"/>
          <p:nvPr/>
        </p:nvSpPr>
        <p:spPr>
          <a:xfrm>
            <a:off x="6314037" y="5244129"/>
            <a:ext cx="436379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작동유의 열을 공기로 내보낸다</a:t>
            </a:r>
          </a:p>
          <a:p>
            <a:pPr algn="ctr">
              <a:lnSpc>
                <a:spcPct val="110000"/>
              </a:lnSpc>
              <a:spcAft>
                <a:spcPts val="100"/>
              </a:spcAft>
            </a:pPr>
            <a:r>
              <a:rPr sz="1300" b="0">
                <a:solidFill>
                  <a:srgbClr val="556175"/>
                </a:solidFill>
                <a:latin typeface="맑은 고딕"/>
                <a:ea typeface="맑은 고딕"/>
                <a:cs typeface="맑은 고딕"/>
              </a:rPr>
              <a:t>열을 덜 내보내면 덜 식은 작동유가 다시 돈다</a:t>
            </a:r>
          </a:p>
        </p:txBody>
      </p:sp>
      <p:sp>
        <p:nvSpPr>
          <p:cNvPr id="13" name="TextBox 12"/>
          <p:cNvSpPr txBox="1"/>
          <p:nvPr/>
        </p:nvSpPr>
        <p:spPr>
          <a:xfrm>
            <a:off x="9870532" y="3991356"/>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팬</a:t>
            </a:r>
          </a:p>
        </p:txBody>
      </p:sp>
      <p:sp>
        <p:nvSpPr>
          <p:cNvPr id="14" name="TextBox 13"/>
          <p:cNvSpPr txBox="1"/>
          <p:nvPr/>
        </p:nvSpPr>
        <p:spPr>
          <a:xfrm>
            <a:off x="4895803" y="564596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돌아오는 길</a:t>
            </a:r>
          </a:p>
          <a:p>
            <a:pPr algn="ctr">
              <a:lnSpc>
                <a:spcPct val="110000"/>
              </a:lnSpc>
              <a:spcAft>
                <a:spcPts val="100"/>
              </a:spcAft>
            </a:pPr>
            <a:r>
              <a:rPr sz="1300" b="0">
                <a:solidFill>
                  <a:srgbClr val="556175"/>
                </a:solidFill>
                <a:latin typeface="맑은 고딕"/>
                <a:ea typeface="맑은 고딕"/>
                <a:cs typeface="맑은 고딕"/>
              </a:rPr>
              <a:t>쿨러를 거쳐 탱크로</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 센서 값을 읽고 설비를 보호하는 제어기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PLC는 서버의 판단을 기다리지 않고, 값이 위험 수준에 이르면 설비 옆에서 바로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현장 통신</a:t>
            </a:r>
          </a:p>
          <a:p>
            <a:pPr algn="l">
              <a:lnSpc>
                <a:spcPct val="110000"/>
              </a:lnSpc>
              <a:spcAft>
                <a:spcPts val="200"/>
              </a:spcAft>
            </a:pPr>
            <a:r>
              <a:rPr sz="1150" b="0">
                <a:solidFill>
                  <a:srgbClr val="556175"/>
                </a:solidFill>
                <a:latin typeface="맑은 고딕"/>
                <a:ea typeface="맑은 고딕"/>
                <a:cs typeface="맑은 고딕"/>
              </a:rPr>
              <a:t>Modbus</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제어기가 주고받는 통신은 단순하게 둔다. 언제나 정해진 시간 안에 도착해야 하기 때문이다.</a:t>
            </a:r>
          </a:p>
          <a:p>
            <a:pPr algn="l">
              <a:lnSpc>
                <a:spcPct val="110000"/>
              </a:lnSpc>
              <a:spcAft>
                <a:spcPts val="300"/>
              </a:spcAft>
            </a:pPr>
            <a:r>
              <a:rPr sz="1400" b="0">
                <a:solidFill>
                  <a:srgbClr val="1F2A3A"/>
                </a:solidFill>
                <a:latin typeface="맑은 고딕"/>
                <a:ea typeface="맑은 고딕"/>
                <a:cs typeface="맑은 고딕"/>
              </a:rPr>
              <a:t>예: Modbus. 암호화와 인증을 넣지 않고, 보안은 위 계층이 맡는다.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PLC는 유온, 토출 압력, 팬 진동의 세 값 가운데 하나라도 한계를 벗어나면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65 ℃를 넘으면 정지한다</a:t>
            </a:r>
          </a:p>
        </p:txBody>
      </p:sp>
      <p:sp>
        <p:nvSpPr>
          <p:cNvPr id="10" name="Rounded Rectangle 9"/>
          <p:cNvSpPr/>
          <p:nvPr/>
        </p:nvSpPr>
        <p:spPr>
          <a:xfrm>
            <a:off x="777240" y="4824476"/>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130 bar 아래로 내려가면 정지한다</a:t>
            </a:r>
          </a:p>
        </p:txBody>
      </p:sp>
      <p:sp>
        <p:nvSpPr>
          <p:cNvPr id="16" name="Rounded Rectangle 15"/>
          <p:cNvSpPr/>
          <p:nvPr/>
        </p:nvSpPr>
        <p:spPr>
          <a:xfrm>
            <a:off x="4566818" y="482447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2.0 mm/s 이상이면 정지한다</a:t>
            </a:r>
          </a:p>
        </p:txBody>
      </p:sp>
      <p:sp>
        <p:nvSpPr>
          <p:cNvPr id="22" name="Rounded Rectangle 21"/>
          <p:cNvSpPr/>
          <p:nvPr/>
        </p:nvSpPr>
        <p:spPr>
          <a:xfrm>
            <a:off x="8356396" y="482447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태그 값과 운전 상태: PLC가 올려 보내는 두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엣지 게이트웨이는 태그 값과 운전 상태를 올려 보내며, 태그 값은 정상값에 견주어야 높낮이를 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2002917"/>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3328543"/>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PS1 · VS1</a:t>
            </a:r>
          </a:p>
          <a:p>
            <a:pPr algn="l">
              <a:lnSpc>
                <a:spcPct val="110000"/>
              </a:lnSpc>
              <a:spcAft>
                <a:spcPts val="400"/>
              </a:spcAft>
            </a:pPr>
            <a:r>
              <a:rPr sz="1400" b="0">
                <a:solidFill>
                  <a:srgbClr val="1F2A3A"/>
                </a:solidFill>
                <a:latin typeface="맑은 고딕"/>
                <a:ea typeface="맑은 고딕"/>
                <a:cs typeface="맑은 고딕"/>
              </a:rPr>
              <a:t>토출 압력(펌프가 내보내는 압력)은 정상 182 bar, 팬 진동(쿨러 팬의 떨림)은 정상 0.6 mm/s이다.</a:t>
            </a:r>
          </a:p>
        </p:txBody>
      </p:sp>
      <p:sp>
        <p:nvSpPr>
          <p:cNvPr id="10" name="TextBox 9"/>
          <p:cNvSpPr txBox="1"/>
          <p:nvPr/>
        </p:nvSpPr>
        <p:spPr>
          <a:xfrm>
            <a:off x="7635240" y="4654169"/>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운전 상태</a:t>
            </a:r>
          </a:p>
          <a:p>
            <a:pPr algn="l">
              <a:lnSpc>
                <a:spcPct val="110000"/>
              </a:lnSpc>
              <a:spcAft>
                <a:spcPts val="400"/>
              </a:spcAft>
            </a:pPr>
            <a:r>
              <a:rPr sz="1400" b="0">
                <a:solidFill>
                  <a:srgbClr val="1F2A3A"/>
                </a:solidFill>
                <a:latin typeface="맑은 고딕"/>
                <a:ea typeface="맑은 고딕"/>
                <a:cs typeface="맑은 고딕"/>
              </a:rPr>
              <a:t>설비가 어떤 모드로 돌고 있는지, 팬 속도와 부하가 몇 퍼센트인지를 담는다. interlock은 인터록에 걸리지 않았으면 PASS이다.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 브로커를 거쳐 값을 전달하는 발행 · 구독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리니지_1_MQTT.svg" descr="illust_258249872091699301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 EMQX</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값을 갖고 있지 않으므로, 구독자가 받을 토픽을 먼저 등록해 두어야 발행된 메시지가 전달된다.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EMQX에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EMQX로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EMQX가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영역의 경계와 수집 서비스 connect-ingest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OT와 IT는 직접 이어져 있지 않고, 계측값은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의 connect-ingest가 받아 IT로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리니지_2_DMZ.svg" descr="illust_682867540150363066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EMQX</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connect-ingest</a:t>
            </a:r>
          </a:p>
          <a:p>
            <a:pPr algn="ctr">
              <a:lnSpc>
                <a:spcPct val="110000"/>
              </a:lnSpc>
              <a:spcAft>
                <a:spcPts val="100"/>
              </a:spcAft>
            </a:pPr>
            <a:r>
              <a:rPr sz="1300" b="0">
                <a:solidFill>
                  <a:srgbClr val="556175"/>
                </a:solidFill>
                <a:latin typeface="맑은 고딕"/>
                <a:ea typeface="맑은 고딕"/>
                <a:cs typeface="맑은 고딕"/>
              </a:rPr>
              <a:t>EMQX를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값의 두 형식: MQTT 메시지와 Redpanda 레코드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토픽이 하나로 모이므로 connect-ingest는 설비와 태그 이름을 본문에 넣고 설비를 키로 두어 </a:t>
            </a:r>
            <a:r>
              <a:rPr sz="1600" b="1">
                <a:solidFill>
                  <a:srgbClr val="1A6FC4"/>
                </a:solidFill>
                <a:latin typeface="맑은 고딕"/>
                <a:ea typeface="맑은 고딕"/>
                <a:cs typeface="맑은 고딕"/>
              </a:rPr>
              <a:t>Redpanda</a:t>
            </a:r>
            <a:r>
              <a:rPr sz="1600" b="0">
                <a:solidFill>
                  <a:srgbClr val="556175"/>
                </a:solidFill>
                <a:latin typeface="맑은 고딕"/>
                <a:ea typeface="맑은 고딕"/>
                <a:cs typeface="맑은 고딕"/>
              </a:rPr>
              <a:t>에 기록한다.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OT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EMQX</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MQTT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IT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Redpanda</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쌓인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 · v · q</a:t>
            </a:r>
          </a:p>
          <a:p>
            <a:pPr algn="l">
              <a:lnSpc>
                <a:spcPct val="110000"/>
              </a:lnSpc>
              <a:spcAft>
                <a:spcPts val="400"/>
              </a:spcAft>
            </a:pPr>
            <a:r>
              <a:rPr sz="1400" b="0">
                <a:solidFill>
                  <a:srgbClr val="1F2A3A"/>
                </a:solidFill>
                <a:latin typeface="맑은 고딕"/>
                <a:ea typeface="맑은 고딕"/>
                <a:cs typeface="맑은 고딕"/>
              </a:rPr>
              <a:t>본문(payload)에 든 잰 시각, 값, 품질이다.</a:t>
            </a:r>
          </a:p>
          <a:p>
            <a:pPr algn="l">
              <a:lnSpc>
                <a:spcPct val="110000"/>
              </a:lnSpc>
              <a:spcAft>
                <a:spcPts val="400"/>
              </a:spcAft>
            </a:pPr>
            <a:r>
              <a:rPr sz="1400" b="0">
                <a:solidFill>
                  <a:srgbClr val="1F2A3A"/>
                </a:solidFill>
                <a:latin typeface="맑은 고딕"/>
                <a:ea typeface="맑은 고딕"/>
                <a:cs typeface="맑은 고딕"/>
              </a:rPr>
              <a:t>t는 세계 표준시로 한국 시간 11:13:08이며, 55.71은 그때의 유온이다.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Redpanda</a:t>
            </a:r>
          </a:p>
          <a:p>
            <a:pPr algn="l">
              <a:lnSpc>
                <a:spcPct val="110000"/>
              </a:lnSpc>
              <a:spcAft>
                <a:spcPts val="400"/>
              </a:spcAft>
            </a:pPr>
            <a:r>
              <a:rPr sz="1400" b="0">
                <a:solidFill>
                  <a:srgbClr val="1F2A3A"/>
                </a:solidFill>
                <a:latin typeface="맑은 고딕"/>
                <a:ea typeface="맑은 고딕"/>
                <a:cs typeface="맑은 고딕"/>
              </a:rPr>
              <a:t>Kafka API와 호환되는 이벤트 스트리밍 플랫폼이다. 받은 레코드를 순서대로 디스크에 보관한다.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plant.tag</a:t>
            </a:r>
          </a:p>
          <a:p>
            <a:pPr algn="l">
              <a:lnSpc>
                <a:spcPct val="110000"/>
              </a:lnSpc>
              <a:spcAft>
                <a:spcPts val="400"/>
              </a:spcAft>
            </a:pPr>
            <a:r>
              <a:rPr sz="1400" b="0">
                <a:solidFill>
                  <a:srgbClr val="1F2A3A"/>
                </a:solidFill>
                <a:latin typeface="맑은 고딕"/>
                <a:ea typeface="맑은 고딕"/>
                <a:cs typeface="맑은 고딕"/>
              </a:rPr>
              <a:t>태그 값이 쌓이는 Redpanda의 토픽이다.</a:t>
            </a:r>
          </a:p>
          <a:p>
            <a:pPr algn="l">
              <a:lnSpc>
                <a:spcPct val="110000"/>
              </a:lnSpc>
              <a:spcAft>
                <a:spcPts val="400"/>
              </a:spcAft>
            </a:pPr>
            <a:r>
              <a:rPr sz="1400" b="0">
                <a:solidFill>
                  <a:srgbClr val="1F2A3A"/>
                </a:solidFill>
                <a:latin typeface="맑은 고딕"/>
                <a:ea typeface="맑은 고딕"/>
                <a:cs typeface="맑은 고딕"/>
              </a:rPr>
              <a:t>키 hyd01은 설비별 레코드 순서를 지킨다.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옮겨 적는 이유</a:t>
            </a:r>
          </a:p>
          <a:p>
            <a:pPr algn="l">
              <a:lnSpc>
                <a:spcPct val="110000"/>
              </a:lnSpc>
              <a:spcAft>
                <a:spcPts val="400"/>
              </a:spcAft>
            </a:pPr>
            <a:r>
              <a:rPr sz="1400" b="0">
                <a:solidFill>
                  <a:srgbClr val="1F2A3A"/>
                </a:solidFill>
                <a:latin typeface="맑은 고딕"/>
                <a:ea typeface="맑은 고딕"/>
                <a:cs typeface="맑은 고딕"/>
              </a:rPr>
              <a:t>EMQX는 태그 메시지를 전달한 뒤 보관하지 않는다. Redpanda에 쌓인 레코드는 여러 서비스가 각자 다시 읽는다.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전달하는 브로커와 보관하는 이벤트 로그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EMQX는 메시지를 전달하고 나면 갖고 있지 않으며, Redpanda는 받은 레코드를 순서대로 보관한다.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EMQX</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Redpanda</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TimescaleDB와 detector: 값의 저장과 이상 감지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시각으로 찾아보려고 </a:t>
            </a:r>
            <a:r>
              <a:rPr sz="1600" b="1">
                <a:solidFill>
                  <a:srgbClr val="1A6FC4"/>
                </a:solidFill>
                <a:latin typeface="맑은 고딕"/>
                <a:ea typeface="맑은 고딕"/>
                <a:cs typeface="맑은 고딕"/>
              </a:rPr>
              <a:t>TimescaleDB</a:t>
            </a:r>
            <a:r>
              <a:rPr sz="1600" b="0">
                <a:solidFill>
                  <a:srgbClr val="556175"/>
                </a:solidFill>
                <a:latin typeface="맑은 고딕"/>
                <a:ea typeface="맑은 고딕"/>
                <a:cs typeface="맑은 고딕"/>
              </a:rPr>
              <a:t>에 저장하고, 늦지 않게 알아차리려고 detector는 흐르는 값을 그 자리에서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리니지_3_저장감지.svg" descr="illust_537808591387587713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26672" y="261094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EMQX</a:t>
            </a:r>
          </a:p>
        </p:txBody>
      </p:sp>
      <p:sp>
        <p:nvSpPr>
          <p:cNvPr id="8" name="TextBox 7"/>
          <p:cNvSpPr txBox="1"/>
          <p:nvPr/>
        </p:nvSpPr>
        <p:spPr>
          <a:xfrm>
            <a:off x="7383168" y="2610941"/>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Redpanda</a:t>
            </a:r>
          </a:p>
        </p:txBody>
      </p:sp>
      <p:sp>
        <p:nvSpPr>
          <p:cNvPr id="9" name="TextBox 8"/>
          <p:cNvSpPr txBox="1"/>
          <p:nvPr/>
        </p:nvSpPr>
        <p:spPr>
          <a:xfrm>
            <a:off x="9063230" y="1864004"/>
            <a:ext cx="2400088" cy="1018920"/>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detector</a:t>
            </a:r>
          </a:p>
          <a:p>
            <a:pPr algn="ctr">
              <a:lnSpc>
                <a:spcPct val="110000"/>
              </a:lnSpc>
              <a:spcAft>
                <a:spcPts val="100"/>
              </a:spcAft>
            </a:pPr>
            <a:r>
              <a:rPr sz="1100" b="0">
                <a:solidFill>
                  <a:srgbClr val="556175"/>
                </a:solidFill>
                <a:latin typeface="맑은 고딕"/>
                <a:ea typeface="맑은 고딕"/>
                <a:cs typeface="맑은 고딕"/>
              </a:rPr>
              <a:t>감지기 · 조건이 일정 시간</a:t>
            </a:r>
          </a:p>
          <a:p>
            <a:pPr algn="ctr">
              <a:lnSpc>
                <a:spcPct val="110000"/>
              </a:lnSpc>
              <a:spcAft>
                <a:spcPts val="100"/>
              </a:spcAft>
            </a:pPr>
            <a:r>
              <a:rPr sz="1100" b="0">
                <a:solidFill>
                  <a:srgbClr val="556175"/>
                </a:solidFill>
                <a:latin typeface="맑은 고딕"/>
                <a:ea typeface="맑은 고딕"/>
                <a:cs typeface="맑은 고딕"/>
              </a:rPr>
              <a:t>이어지면 경보를 낸다</a:t>
            </a:r>
          </a:p>
          <a:p>
            <a:pPr algn="ctr">
              <a:lnSpc>
                <a:spcPct val="110000"/>
              </a:lnSpc>
              <a:spcAft>
                <a:spcPts val="100"/>
              </a:spcAft>
            </a:pPr>
            <a:r>
              <a:rPr sz="1100" b="0">
                <a:solidFill>
                  <a:srgbClr val="556175"/>
                </a:solidFill>
                <a:latin typeface="맑은 고딕"/>
                <a:ea typeface="맑은 고딕"/>
                <a:cs typeface="맑은 고딕"/>
              </a:rPr>
              <a:t>조건: 유온 55 ℃ 초과, 냉각 효율</a:t>
            </a:r>
          </a:p>
          <a:p>
            <a:pPr algn="ctr">
              <a:lnSpc>
                <a:spcPct val="110000"/>
              </a:lnSpc>
              <a:spcAft>
                <a:spcPts val="100"/>
              </a:spcAft>
            </a:pPr>
            <a:r>
              <a:rPr sz="1100" b="0">
                <a:solidFill>
                  <a:srgbClr val="556175"/>
                </a:solidFill>
                <a:latin typeface="맑은 고딕"/>
                <a:ea typeface="맑은 고딕"/>
                <a:cs typeface="맑은 고딕"/>
              </a:rPr>
              <a:t>70 % 미만, 유온 상승 중</a:t>
            </a:r>
          </a:p>
        </p:txBody>
      </p:sp>
      <p:sp>
        <p:nvSpPr>
          <p:cNvPr id="10" name="TextBox 9"/>
          <p:cNvSpPr txBox="1"/>
          <p:nvPr/>
        </p:nvSpPr>
        <p:spPr>
          <a:xfrm>
            <a:off x="7186797" y="5466319"/>
            <a:ext cx="2727373"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TimescaleDB</a:t>
            </a:r>
          </a:p>
          <a:p>
            <a:pPr algn="ctr">
              <a:lnSpc>
                <a:spcPct val="110000"/>
              </a:lnSpc>
              <a:spcAft>
                <a:spcPts val="100"/>
              </a:spcAft>
            </a:pPr>
            <a:r>
              <a:rPr sz="1100" b="0">
                <a:solidFill>
                  <a:srgbClr val="556175"/>
                </a:solidFill>
                <a:latin typeface="맑은 고딕"/>
                <a:ea typeface="맑은 고딕"/>
                <a:cs typeface="맑은 고딕"/>
              </a:rPr>
              <a:t>시계열 데이터베이스 · 표 tag_1s</a:t>
            </a:r>
          </a:p>
          <a:p>
            <a:pPr algn="ctr">
              <a:lnSpc>
                <a:spcPct val="110000"/>
              </a:lnSpc>
              <a:spcAft>
                <a:spcPts val="100"/>
              </a:spcAft>
            </a:pPr>
            <a:r>
              <a:rPr sz="1100" b="0">
                <a:solidFill>
                  <a:srgbClr val="556175"/>
                </a:solidFill>
                <a:latin typeface="맑은 고딕"/>
                <a:ea typeface="맑은 고딕"/>
                <a:cs typeface="맑은 고딕"/>
              </a:rPr>
              <a:t>한 행: 시각 · HYD-01 · TS1 · 55.71</a:t>
            </a:r>
          </a:p>
        </p:txBody>
      </p:sp>
      <p:sp>
        <p:nvSpPr>
          <p:cNvPr id="11" name="TextBox 10"/>
          <p:cNvSpPr txBox="1"/>
          <p:nvPr/>
        </p:nvSpPr>
        <p:spPr>
          <a:xfrm>
            <a:off x="10077813" y="5466319"/>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분석 화면</a:t>
            </a:r>
          </a:p>
        </p:txBody>
      </p:sp>
      <p:sp>
        <p:nvSpPr>
          <p:cNvPr id="12" name="TextBox 11"/>
          <p:cNvSpPr txBox="1"/>
          <p:nvPr/>
        </p:nvSpPr>
        <p:spPr>
          <a:xfrm>
            <a:off x="3717577" y="5466319"/>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 화면</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TimescaleDB에 쌓인 값의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 tag_1s는 값 하나를 한 행으로 적어, 태그가 늘어도 표를 고치지 않고 행만 늘어나게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추세선</a:t>
            </a:r>
          </a:p>
          <a:p>
            <a:pPr algn="l">
              <a:lnSpc>
                <a:spcPct val="110000"/>
              </a:lnSpc>
              <a:spcAft>
                <a:spcPts val="400"/>
              </a:spcAft>
            </a:pPr>
            <a:r>
              <a:rPr sz="1400" b="0">
                <a:solidFill>
                  <a:srgbClr val="1F2A3A"/>
                </a:solidFill>
                <a:latin typeface="맑은 고딕"/>
                <a:ea typeface="맑은 고딕"/>
                <a:cs typeface="맑은 고딕"/>
              </a:rPr>
              <a:t>Grafana의 추세선은 이 행들을 시각 순서로 이은 것이다.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조건은 두 값과 추세를 함께 보고, 그 상태가 일정 시간 이어진 뒤에야 성립해 잠깐 튄 값을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FUXA와 Grafana: 실시간 운전 화면과 이력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서버가 멈춰도 보이도록 FUXA는 OT에서 지금의 값을, Grafana는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FUXA</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오픈소스 웹 SCADA · HMI(Human-Machine Interface) 도구이다</a:t>
            </a:r>
          </a:p>
          <a:p>
            <a:pPr algn="l">
              <a:lnSpc>
                <a:spcPct val="110000"/>
              </a:lnSpc>
              <a:spcAft>
                <a:spcPts val="600"/>
              </a:spcAft>
            </a:pPr>
            <a:r>
              <a:rPr sz="1450" b="0">
                <a:solidFill>
                  <a:srgbClr val="1F2A3A"/>
                </a:solidFill>
                <a:latin typeface="맑은 고딕"/>
                <a:ea typeface="맑은 고딕"/>
                <a:cs typeface="맑은 고딕"/>
              </a:rPr>
              <a:t>• OT에서 EMQX를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p:txBody>
      </p:sp>
      <p:sp>
        <p:nvSpPr>
          <p:cNvPr id="11" name="Rounded Rectangle 10"/>
          <p:cNvSpPr/>
          <p:nvPr/>
        </p:nvSpPr>
        <p:spPr>
          <a:xfrm>
            <a:off x="868680" y="5246433"/>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Grafana</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TimescaleDB를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p:txBody>
      </p:sp>
      <p:sp>
        <p:nvSpPr>
          <p:cNvPr id="18" name="Rounded Rectangle 17"/>
          <p:cNvSpPr/>
          <p:nvPr/>
        </p:nvSpPr>
        <p:spPr>
          <a:xfrm>
            <a:off x="6781647" y="5246433"/>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유온에 반응하는 세 가지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유온에 화면의 알람, detector의 경보, PLC의 인터록이 서로 다른 기준과 목적으로 반응한다.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bell" descr="bel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FUXA의 알람</a:t>
            </a:r>
          </a:p>
          <a:p>
            <a:pPr algn="l">
              <a:lnSpc>
                <a:spcPct val="110000"/>
              </a:lnSpc>
              <a:spcAft>
                <a:spcPts val="400"/>
              </a:spcAft>
            </a:pPr>
            <a:r>
              <a:rPr sz="1400" b="0">
                <a:solidFill>
                  <a:srgbClr val="1F2A3A"/>
                </a:solidFill>
                <a:latin typeface="맑은 고딕"/>
                <a:ea typeface="맑은 고딕"/>
                <a:cs typeface="맑은 고딕"/>
              </a:rPr>
              <a:t>• 유온 하나가 60 ℃를 넘으면 화면에 띄운다</a:t>
            </a:r>
          </a:p>
          <a:p>
            <a:pPr algn="l">
              <a:lnSpc>
                <a:spcPct val="110000"/>
              </a:lnSpc>
              <a:spcAft>
                <a:spcPts val="400"/>
              </a:spcAft>
            </a:pPr>
            <a:r>
              <a:rPr sz="1400" b="0">
                <a:solidFill>
                  <a:srgbClr val="1F2A3A"/>
                </a:solidFill>
                <a:latin typeface="맑은 고딕"/>
                <a:ea typeface="맑은 고딕"/>
                <a:cs typeface="맑은 고딕"/>
              </a:rPr>
              <a:t>• 운전원에게 지금의 상태를 알린다</a:t>
            </a:r>
          </a:p>
        </p:txBody>
      </p:sp>
      <p:sp>
        <p:nvSpPr>
          <p:cNvPr id="10" name="Rounded Rectangle 9"/>
          <p:cNvSpPr/>
          <p:nvPr/>
        </p:nvSpPr>
        <p:spPr>
          <a:xfrm>
            <a:off x="777240" y="5258308"/>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 하나의 기준</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radar" descr="radar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detector의 경보</a:t>
            </a:r>
          </a:p>
          <a:p>
            <a:pPr algn="l">
              <a:lnSpc>
                <a:spcPct val="110000"/>
              </a:lnSpc>
              <a:spcAft>
                <a:spcPts val="400"/>
              </a:spcAft>
            </a:pPr>
            <a:r>
              <a:rPr sz="1400" b="0">
                <a:solidFill>
                  <a:srgbClr val="1F2A3A"/>
                </a:solidFill>
                <a:latin typeface="맑은 고딕"/>
                <a:ea typeface="맑은 고딕"/>
                <a:cs typeface="맑은 고딕"/>
              </a:rPr>
              <a:t>• 유온 55 ℃ 초과, 냉각 효율 70 % 미만, 상승 추세가 함께 이어질 때 낸다</a:t>
            </a:r>
          </a:p>
          <a:p>
            <a:pPr algn="l">
              <a:lnSpc>
                <a:spcPct val="110000"/>
              </a:lnSpc>
              <a:spcAft>
                <a:spcPts val="400"/>
              </a:spcAft>
            </a:pPr>
            <a:r>
              <a:rPr sz="1400" b="0">
                <a:solidFill>
                  <a:srgbClr val="1F2A3A"/>
                </a:solidFill>
                <a:latin typeface="맑은 고딕"/>
                <a:ea typeface="맑은 고딕"/>
                <a:cs typeface="맑은 고딕"/>
              </a:rPr>
              <a:t>• 이후의 원인 진단과 조치 흐름을 시작시킨다</a:t>
            </a:r>
          </a:p>
        </p:txBody>
      </p:sp>
      <p:sp>
        <p:nvSpPr>
          <p:cNvPr id="16" name="Rounded Rectangle 15"/>
          <p:cNvSpPr/>
          <p:nvPr/>
        </p:nvSpPr>
        <p:spPr>
          <a:xfrm>
            <a:off x="4566818" y="5258308"/>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값과 추세</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PLC의 인터록</a:t>
            </a:r>
          </a:p>
          <a:p>
            <a:pPr algn="l">
              <a:lnSpc>
                <a:spcPct val="110000"/>
              </a:lnSpc>
              <a:spcAft>
                <a:spcPts val="400"/>
              </a:spcAft>
            </a:pPr>
            <a:r>
              <a:rPr sz="1400" b="0">
                <a:solidFill>
                  <a:srgbClr val="1F2A3A"/>
                </a:solidFill>
                <a:latin typeface="맑은 고딕"/>
                <a:ea typeface="맑은 고딕"/>
                <a:cs typeface="맑은 고딕"/>
              </a:rPr>
              <a:t>• 유온이 65 ℃를 넘으면 설비를 세운다</a:t>
            </a:r>
          </a:p>
          <a:p>
            <a:pPr algn="l">
              <a:lnSpc>
                <a:spcPct val="110000"/>
              </a:lnSpc>
              <a:spcAft>
                <a:spcPts val="400"/>
              </a:spcAft>
            </a:pPr>
            <a:r>
              <a:rPr sz="1400" b="0">
                <a:solidFill>
                  <a:srgbClr val="1F2A3A"/>
                </a:solidFill>
                <a:latin typeface="맑은 고딕"/>
                <a:ea typeface="맑은 고딕"/>
                <a:cs typeface="맑은 고딕"/>
              </a:rPr>
              <a:t>• 알리는 것이 아니라 설비를 보호한다</a:t>
            </a:r>
          </a:p>
        </p:txBody>
      </p:sp>
      <p:sp>
        <p:nvSpPr>
          <p:cNvPr id="22" name="Rounded Rectangle 21"/>
          <p:cNvSpPr/>
          <p:nvPr/>
        </p:nvSpPr>
        <p:spPr>
          <a:xfrm>
            <a:off x="8356396" y="5258308"/>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보호 정지</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기준의 순서와 인터록의 리셋: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℃의 경보가 먼저 반응하므로,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detector의 경보</a:t>
            </a:r>
          </a:p>
          <a:p>
            <a:pPr algn="ctr">
              <a:lnSpc>
                <a:spcPct val="110000"/>
              </a:lnSpc>
              <a:spcAft>
                <a:spcPts val="400"/>
              </a:spcAft>
            </a:pPr>
            <a:r>
              <a:rPr sz="1350" b="0">
                <a:solidFill>
                  <a:srgbClr val="1F2A3A"/>
                </a:solidFill>
                <a:latin typeface="맑은 고딕"/>
                <a:ea typeface="맑은 고딕"/>
                <a:cs typeface="맑은 고딕"/>
              </a:rPr>
              <a:t>가장 먼저 반응한다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FUXA의 알람</a:t>
            </a:r>
          </a:p>
          <a:p>
            <a:pPr algn="ctr">
              <a:lnSpc>
                <a:spcPct val="110000"/>
              </a:lnSpc>
              <a:spcAft>
                <a:spcPts val="400"/>
              </a:spcAft>
            </a:pPr>
            <a:r>
              <a:rPr sz="1350" b="0">
                <a:solidFill>
                  <a:srgbClr val="1F2A3A"/>
                </a:solidFill>
                <a:latin typeface="맑은 고딕"/>
                <a:ea typeface="맑은 고딕"/>
                <a:cs typeface="맑은 고딕"/>
              </a:rPr>
              <a:t>인터록보다 먼저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상태가 TRIP이 되고 자동으로 풀리지 않는다</a:t>
            </a:r>
          </a:p>
          <a:p>
            <a:pPr algn="ctr">
              <a:lnSpc>
                <a:spcPct val="110000"/>
              </a:lnSpc>
              <a:spcAft>
                <a:spcPts val="400"/>
              </a:spcAft>
            </a:pPr>
            <a:r>
              <a:rPr sz="1350" b="0">
                <a:solidFill>
                  <a:srgbClr val="1F2A3A"/>
                </a:solidFill>
                <a:latin typeface="맑은 고딕"/>
                <a:ea typeface="맑은 고딕"/>
                <a:cs typeface="맑은 고딕"/>
              </a:rPr>
              <a:t>유온이 55 ℃ 아래로 내려온 뒤</a:t>
            </a:r>
          </a:p>
          <a:p>
            <a:pPr algn="ctr">
              <a:lnSpc>
                <a:spcPct val="110000"/>
              </a:lnSpc>
              <a:spcAft>
                <a:spcPts val="400"/>
              </a:spcAft>
            </a:pPr>
            <a:r>
              <a:rPr sz="1350" b="0">
                <a:solidFill>
                  <a:srgbClr val="1F2A3A"/>
                </a:solidFill>
                <a:latin typeface="맑은 고딕"/>
                <a:ea typeface="맑은 고딕"/>
                <a:cs typeface="맑은 고딕"/>
              </a:rPr>
              <a:t>사람이 다시 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값까지 되짚을 수 있게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MQTT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connect-ingest와</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Redpanda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detector가 계산한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재료로 계산해 낸 값으로, detector는 최근 유온 값들에서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detector이다. 기울기가 0보다 크면 유온이 오르는 중이다.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이벤트의 예: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일어난 일의 기록이며, 나중에도 왜 울렸는지 알 수 있게 그때의 근거 값을 함께 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근거가 경보에 붙어 다닌다.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cmd-gateway가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process</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Redpanda</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쌓인다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cmd-gateway</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EMQX</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책임을 밝히는 승인자와 늦은 실행을 막는 유효 시간이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버려진다.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cmd-gateway와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cmd-gateway는 명령서를, PLC는 지금의 설비를 보므로 명령은 두 번 검사를 받는다.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cmd-gateway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911096"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91109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모두 맞는 명령만 OT로</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26492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2649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한 번 더 검사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관문과 PLC의 검사는 1초 안에 끝났으며, 경보에서 승인까지 108초가 걸린 곳은 내려가는 길이 아니라 판단이었다.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설비를 움직이는 결정은 책임질 사람이 내려야 하므로, 에이전트는 추천까지만 하고 명령은 승인 뒤에 process만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149850"/>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process</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14985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영역별 구성요소: OT · DMZ · IT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구성요소를 영역별로 묶으면 OT와 IT가 맡는 일이 갈리고, 두 영역에 함께 닿는 것은 DMZ의 두 서비스뿐임이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87346"/>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OT</a:t>
            </a:r>
          </a:p>
          <a:p>
            <a:pPr algn="l">
              <a:lnSpc>
                <a:spcPct val="110000"/>
              </a:lnSpc>
              <a:spcAft>
                <a:spcPts val="400"/>
              </a:spcAft>
            </a:pPr>
            <a:r>
              <a:rPr sz="1400" b="0">
                <a:solidFill>
                  <a:srgbClr val="1F2A3A"/>
                </a:solidFill>
                <a:latin typeface="맑은 고딕"/>
                <a:ea typeface="맑은 고딕"/>
                <a:cs typeface="맑은 고딕"/>
              </a:rPr>
              <a:t>• 설비 · PLC, 브로커 EMQX, 운전 화면 FUXA</a:t>
            </a:r>
          </a:p>
          <a:p>
            <a:pPr algn="l">
              <a:lnSpc>
                <a:spcPct val="110000"/>
              </a:lnSpc>
              <a:spcAft>
                <a:spcPts val="400"/>
              </a:spcAft>
            </a:pPr>
            <a:r>
              <a:rPr sz="1400" b="0">
                <a:solidFill>
                  <a:srgbClr val="1F2A3A"/>
                </a:solidFill>
                <a:latin typeface="맑은 고딕"/>
                <a:ea typeface="맑은 고딕"/>
                <a:cs typeface="맑은 고딕"/>
              </a:rPr>
              <a:t>• 설비를 직접 감시 · 제어한다</a:t>
            </a:r>
          </a:p>
          <a:p>
            <a:pPr algn="l">
              <a:lnSpc>
                <a:spcPct val="110000"/>
              </a:lnSpc>
              <a:spcAft>
                <a:spcPts val="400"/>
              </a:spcAft>
            </a:pPr>
            <a:r>
              <a:rPr sz="1400" b="0">
                <a:solidFill>
                  <a:srgbClr val="1F2A3A"/>
                </a:solidFill>
                <a:latin typeface="맑은 고딕"/>
                <a:ea typeface="맑은 고딕"/>
                <a:cs typeface="맑은 고딕"/>
              </a:rPr>
              <a:t>• 먼저 지키는 것: 가용성, 안전, 실시간성</a:t>
            </a:r>
          </a:p>
        </p:txBody>
      </p:sp>
      <p:sp>
        <p:nvSpPr>
          <p:cNvPr id="10" name="Rounded Rectangle 9"/>
          <p:cNvSpPr/>
          <p:nvPr/>
        </p:nvSpPr>
        <p:spPr>
          <a:xfrm>
            <a:off x="777240" y="5366766"/>
            <a:ext cx="1219199"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36676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감시 · 제어</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arrows-up-down" descr="arrows-up-down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DMZ</a:t>
            </a:r>
          </a:p>
          <a:p>
            <a:pPr algn="l">
              <a:lnSpc>
                <a:spcPct val="110000"/>
              </a:lnSpc>
              <a:spcAft>
                <a:spcPts val="400"/>
              </a:spcAft>
            </a:pPr>
            <a:r>
              <a:rPr sz="1400" b="0">
                <a:solidFill>
                  <a:srgbClr val="1F2A3A"/>
                </a:solidFill>
                <a:latin typeface="맑은 고딕"/>
                <a:ea typeface="맑은 고딕"/>
                <a:cs typeface="맑은 고딕"/>
              </a:rPr>
              <a:t>• 올라가는 길 connect-ingest: OT의 계측값을 IT로 옮기고 OT 쪽으로는 아무것도 쓰지 않는다</a:t>
            </a:r>
          </a:p>
          <a:p>
            <a:pPr algn="l">
              <a:lnSpc>
                <a:spcPct val="110000"/>
              </a:lnSpc>
              <a:spcAft>
                <a:spcPts val="400"/>
              </a:spcAft>
            </a:pPr>
            <a:r>
              <a:rPr sz="1400" b="0">
                <a:solidFill>
                  <a:srgbClr val="1F2A3A"/>
                </a:solidFill>
                <a:latin typeface="맑은 고딕"/>
                <a:ea typeface="맑은 고딕"/>
                <a:cs typeface="맑은 고딕"/>
              </a:rPr>
              <a:t>• 내려가는 길 cmd-gateway: IT의 명령을 검사해 OT로 내보내고 통과하지 못한 명령은 버린다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서비스만</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IT</a:t>
            </a:r>
          </a:p>
          <a:p>
            <a:pPr algn="l">
              <a:lnSpc>
                <a:spcPct val="110000"/>
              </a:lnSpc>
              <a:spcAft>
                <a:spcPts val="400"/>
              </a:spcAft>
            </a:pPr>
            <a:r>
              <a:rPr sz="1400" b="0">
                <a:solidFill>
                  <a:srgbClr val="1F2A3A"/>
                </a:solidFill>
                <a:latin typeface="맑은 고딕"/>
                <a:ea typeface="맑은 고딕"/>
                <a:cs typeface="맑은 고딕"/>
              </a:rPr>
              <a:t>• Redpanda: 순서대로 보관</a:t>
            </a:r>
          </a:p>
          <a:p>
            <a:pPr algn="l">
              <a:lnSpc>
                <a:spcPct val="110000"/>
              </a:lnSpc>
              <a:spcAft>
                <a:spcPts val="400"/>
              </a:spcAft>
            </a:pPr>
            <a:r>
              <a:rPr sz="1400" b="0">
                <a:solidFill>
                  <a:srgbClr val="1F2A3A"/>
                </a:solidFill>
                <a:latin typeface="맑은 고딕"/>
                <a:ea typeface="맑은 고딕"/>
                <a:cs typeface="맑은 고딕"/>
              </a:rPr>
              <a:t>• TimescaleDB: 시각과 함께 저장</a:t>
            </a:r>
          </a:p>
          <a:p>
            <a:pPr algn="l">
              <a:lnSpc>
                <a:spcPct val="110000"/>
              </a:lnSpc>
              <a:spcAft>
                <a:spcPts val="400"/>
              </a:spcAft>
            </a:pPr>
            <a:r>
              <a:rPr sz="1400" b="0">
                <a:solidFill>
                  <a:srgbClr val="1F2A3A"/>
                </a:solidFill>
                <a:latin typeface="맑은 고딕"/>
                <a:ea typeface="맑은 고딕"/>
                <a:cs typeface="맑은 고딕"/>
              </a:rPr>
              <a:t>• detector: 이상 감지</a:t>
            </a:r>
          </a:p>
          <a:p>
            <a:pPr algn="l">
              <a:lnSpc>
                <a:spcPct val="110000"/>
              </a:lnSpc>
              <a:spcAft>
                <a:spcPts val="400"/>
              </a:spcAft>
            </a:pPr>
            <a:r>
              <a:rPr sz="1400" b="0">
                <a:solidFill>
                  <a:srgbClr val="1F2A3A"/>
                </a:solidFill>
                <a:latin typeface="맑은 고딕"/>
                <a:ea typeface="맑은 고딕"/>
                <a:cs typeface="맑은 고딕"/>
              </a:rPr>
              <a:t>• Grafana: 이력과 추세</a:t>
            </a:r>
          </a:p>
        </p:txBody>
      </p:sp>
      <p:sp>
        <p:nvSpPr>
          <p:cNvPr id="22" name="Rounded Rectangle 21"/>
          <p:cNvSpPr/>
          <p:nvPr/>
        </p:nvSpPr>
        <p:spPr>
          <a:xfrm>
            <a:off x="8356396" y="5366766"/>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 · 분석 · 판단</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1~6: 값을 모아 이상을 알리는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Layer 1~6은 값을 재고 전달하고 저장하고 보여 주며, 기준을 벗어나면 알리는 데까지를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삽화:계층_L1-6.svg" descr="illust_457175501599046635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1841144" y="2029465"/>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a:p>
            <a:pPr algn="ctr">
              <a:lnSpc>
                <a:spcPct val="110000"/>
              </a:lnSpc>
              <a:spcAft>
                <a:spcPts val="100"/>
              </a:spcAft>
            </a:pPr>
            <a:r>
              <a:rPr sz="1300" b="0">
                <a:solidFill>
                  <a:srgbClr val="556175"/>
                </a:solidFill>
                <a:latin typeface="맑은 고딕"/>
                <a:ea typeface="맑은 고딕"/>
                <a:cs typeface="맑은 고딕"/>
              </a:rPr>
              <a:t>FUXA는 지금의 값과 조작, Grafana는 이력과 추세</a:t>
            </a:r>
          </a:p>
        </p:txBody>
      </p:sp>
      <p:sp>
        <p:nvSpPr>
          <p:cNvPr id="11" name="TextBox 10"/>
          <p:cNvSpPr txBox="1"/>
          <p:nvPr/>
        </p:nvSpPr>
        <p:spPr>
          <a:xfrm>
            <a:off x="1841144" y="274803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a:p>
            <a:pPr algn="ctr">
              <a:lnSpc>
                <a:spcPct val="110000"/>
              </a:lnSpc>
              <a:spcAft>
                <a:spcPts val="100"/>
              </a:spcAft>
            </a:pPr>
            <a:r>
              <a:rPr sz="1300" b="0">
                <a:solidFill>
                  <a:srgbClr val="556175"/>
                </a:solidFill>
                <a:latin typeface="맑은 고딕"/>
                <a:ea typeface="맑은 고딕"/>
                <a:cs typeface="맑은 고딕"/>
              </a:rPr>
              <a:t>TimescaleDB가 값을 시각과 함께 보관한다</a:t>
            </a:r>
          </a:p>
        </p:txBody>
      </p:sp>
      <p:sp>
        <p:nvSpPr>
          <p:cNvPr id="12" name="TextBox 11"/>
          <p:cNvSpPr txBox="1"/>
          <p:nvPr/>
        </p:nvSpPr>
        <p:spPr>
          <a:xfrm>
            <a:off x="1841144" y="3471336"/>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a:p>
            <a:pPr algn="ctr">
              <a:lnSpc>
                <a:spcPct val="110000"/>
              </a:lnSpc>
              <a:spcAft>
                <a:spcPts val="100"/>
              </a:spcAft>
            </a:pPr>
            <a:r>
              <a:rPr sz="1300" b="0">
                <a:solidFill>
                  <a:srgbClr val="556175"/>
                </a:solidFill>
                <a:latin typeface="맑은 고딕"/>
                <a:ea typeface="맑은 고딕"/>
                <a:cs typeface="맑은 고딕"/>
              </a:rPr>
              <a:t>detector가 조건이 이어지면 경보를 낸다</a:t>
            </a:r>
          </a:p>
        </p:txBody>
      </p:sp>
      <p:sp>
        <p:nvSpPr>
          <p:cNvPr id="13" name="TextBox 12"/>
          <p:cNvSpPr txBox="1"/>
          <p:nvPr/>
        </p:nvSpPr>
        <p:spPr>
          <a:xfrm>
            <a:off x="1841144" y="4189908"/>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a:p>
            <a:pPr algn="ctr">
              <a:lnSpc>
                <a:spcPct val="110000"/>
              </a:lnSpc>
              <a:spcAft>
                <a:spcPts val="100"/>
              </a:spcAft>
            </a:pPr>
            <a:r>
              <a:rPr sz="1300" b="0">
                <a:solidFill>
                  <a:srgbClr val="556175"/>
                </a:solidFill>
                <a:latin typeface="맑은 고딕"/>
                <a:ea typeface="맑은 고딕"/>
                <a:cs typeface="맑은 고딕"/>
              </a:rPr>
              <a:t>connect-ingest, cmd-gateway, Redpanda</a:t>
            </a:r>
          </a:p>
        </p:txBody>
      </p:sp>
      <p:sp>
        <p:nvSpPr>
          <p:cNvPr id="14" name="TextBox 13"/>
          <p:cNvSpPr txBox="1"/>
          <p:nvPr/>
        </p:nvSpPr>
        <p:spPr>
          <a:xfrm>
            <a:off x="1841144" y="4908480"/>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a:t>
            </a:r>
          </a:p>
          <a:p>
            <a:pPr algn="ctr">
              <a:lnSpc>
                <a:spcPct val="110000"/>
              </a:lnSpc>
              <a:spcAft>
                <a:spcPts val="100"/>
              </a:spcAft>
            </a:pPr>
            <a:r>
              <a:rPr sz="1300" b="0">
                <a:solidFill>
                  <a:srgbClr val="556175"/>
                </a:solidFill>
                <a:latin typeface="맑은 고딕"/>
                <a:ea typeface="맑은 고딕"/>
                <a:cs typeface="맑은 고딕"/>
              </a:rPr>
              <a:t>엣지 게이트웨이가 값에 이름을 붙이고, 브로커 EMQX가 중개한다</a:t>
            </a:r>
          </a:p>
        </p:txBody>
      </p:sp>
      <p:sp>
        <p:nvSpPr>
          <p:cNvPr id="15" name="TextBox 14"/>
          <p:cNvSpPr txBox="1"/>
          <p:nvPr/>
        </p:nvSpPr>
        <p:spPr>
          <a:xfrm>
            <a:off x="1841144" y="563650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a:p>
            <a:pPr algn="ctr">
              <a:lnSpc>
                <a:spcPct val="110000"/>
              </a:lnSpc>
              <a:spcAft>
                <a:spcPts val="100"/>
              </a:spcAft>
            </a:pPr>
            <a:r>
              <a:rPr sz="1300" b="0">
                <a:solidFill>
                  <a:srgbClr val="556175"/>
                </a:solidFill>
                <a:latin typeface="맑은 고딕"/>
                <a:ea typeface="맑은 고딕"/>
                <a:cs typeface="맑은 고딕"/>
              </a:rPr>
              <a:t>유압 파워팩 3기와 PLC</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1~5가 받는 것과 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계층이 낸 것을 다음 계층이 받으며, Layer 5까지는 값을 모으고 이상을 알릴 뿐 원인을 가리지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계층</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받는 것과 내는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1 · 센서 네트워크 · 설비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설비의 물리량과 PLC가 받아들인 설정값</a:t>
            </a:r>
          </a:p>
          <a:p>
            <a:pPr algn="l">
              <a:lnSpc>
                <a:spcPct val="110000"/>
              </a:lnSpc>
            </a:pPr>
            <a:r>
              <a:rPr sz="1400" b="0">
                <a:solidFill>
                  <a:srgbClr val="1F2A3A"/>
                </a:solidFill>
                <a:latin typeface="맑은 고딕"/>
                <a:ea typeface="맑은 고딕"/>
                <a:cs typeface="맑은 고딕"/>
              </a:rPr>
              <a:t>내는 것: 태그 값과 운전 상태</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값이 생긴다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2 · IoT 미들웨어 · MQTT</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태그 값과 운전 상태</a:t>
            </a:r>
          </a:p>
          <a:p>
            <a:pPr algn="l">
              <a:lnSpc>
                <a:spcPct val="110000"/>
              </a:lnSpc>
            </a:pPr>
            <a:r>
              <a:rPr sz="1400" b="0">
                <a:solidFill>
                  <a:srgbClr val="1F2A3A"/>
                </a:solidFill>
                <a:latin typeface="맑은 고딕"/>
                <a:ea typeface="맑은 고딕"/>
                <a:cs typeface="맑은 고딕"/>
              </a:rPr>
              <a:t>내는 것: 토픽에 실린 MQTT 메시지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메시지가 된다</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3 · 이벤트 백본</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올린다: connect-ingest가 MQTT 메시지를 레코드로 옮긴다</a:t>
            </a:r>
          </a:p>
          <a:p>
            <a:pPr algn="l">
              <a:lnSpc>
                <a:spcPct val="110000"/>
              </a:lnSpc>
            </a:pPr>
            <a:r>
              <a:rPr sz="1400" b="0">
                <a:solidFill>
                  <a:srgbClr val="1F2A3A"/>
                </a:solidFill>
                <a:latin typeface="맑은 고딕"/>
                <a:ea typeface="맑은 고딕"/>
                <a:cs typeface="맑은 고딕"/>
              </a:rPr>
              <a:t>기록한다: Redpanda가 레코드를 순서대로 보관한다</a:t>
            </a:r>
          </a:p>
          <a:p>
            <a:pPr algn="l">
              <a:lnSpc>
                <a:spcPct val="110000"/>
              </a:lnSpc>
            </a:pPr>
            <a:r>
              <a:rPr sz="1400" b="0">
                <a:solidFill>
                  <a:srgbClr val="1F2A3A"/>
                </a:solidFill>
                <a:latin typeface="맑은 고딕"/>
                <a:ea typeface="맑은 고딕"/>
                <a:cs typeface="맑은 고딕"/>
              </a:rPr>
              <a:t>내린다: cmd-gateway가 검사한 명령만 내보낸다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DMZ와 IT에</a:t>
            </a:r>
          </a:p>
          <a:p>
            <a:pPr algn="l">
              <a:lnSpc>
                <a:spcPct val="110000"/>
              </a:lnSpc>
            </a:pPr>
            <a:r>
              <a:rPr sz="1250" b="1">
                <a:solidFill>
                  <a:srgbClr val="1A6FC4"/>
                </a:solidFill>
                <a:latin typeface="맑은 고딕"/>
                <a:ea typeface="맑은 고딕"/>
                <a:cs typeface="맑은 고딕"/>
              </a:rPr>
              <a:t>걸친다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4 · 스트림 처리</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a:t>
            </a:r>
          </a:p>
          <a:p>
            <a:pPr algn="l">
              <a:lnSpc>
                <a:spcPct val="110000"/>
              </a:lnSpc>
            </a:pPr>
            <a:r>
              <a:rPr sz="1400" b="0">
                <a:solidFill>
                  <a:srgbClr val="1F2A3A"/>
                </a:solidFill>
                <a:latin typeface="맑은 고딕"/>
                <a:ea typeface="맑은 고딕"/>
                <a:cs typeface="맑은 고딕"/>
              </a:rPr>
              <a:t>내는 것: 기울기 같은 가공 데이터와 경보</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detector</a:t>
            </a:r>
          </a:p>
          <a:p>
            <a:pPr algn="l">
              <a:lnSpc>
                <a:spcPct val="110000"/>
              </a:lnSpc>
            </a:pPr>
            <a:r>
              <a:rPr sz="1250" b="1">
                <a:solidFill>
                  <a:srgbClr val="556175"/>
                </a:solidFill>
                <a:latin typeface="맑은 고딕"/>
                <a:ea typeface="맑은 고딕"/>
                <a:cs typeface="맑은 고딕"/>
              </a:rPr>
              <a:t>원인을 가리지는</a:t>
            </a:r>
          </a:p>
          <a:p>
            <a:pPr algn="l">
              <a:lnSpc>
                <a:spcPct val="110000"/>
              </a:lnSpc>
            </a:pPr>
            <a:r>
              <a:rPr sz="1250" b="1">
                <a:solidFill>
                  <a:srgbClr val="556175"/>
                </a:solidFill>
                <a:latin typeface="맑은 고딕"/>
                <a:ea typeface="맑은 고딕"/>
                <a:cs typeface="맑은 고딕"/>
              </a:rPr>
              <a:t>않는다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5 · 시계열 저장소</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값과 경보</a:t>
            </a:r>
          </a:p>
          <a:p>
            <a:pPr algn="l">
              <a:lnSpc>
                <a:spcPct val="110000"/>
              </a:lnSpc>
            </a:pPr>
            <a:r>
              <a:rPr sz="1400" b="0">
                <a:solidFill>
                  <a:srgbClr val="1F2A3A"/>
                </a:solidFill>
                <a:latin typeface="맑은 고딕"/>
                <a:ea typeface="맑은 고딕"/>
                <a:cs typeface="맑은 고딕"/>
              </a:rPr>
              <a:t>내는 것: 시각으로 조회할 수 있는 표</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TimescaleDB</a:t>
            </a:r>
          </a:p>
          <a:p>
            <a:pPr algn="l">
              <a:lnSpc>
                <a:spcPct val="110000"/>
              </a:lnSpc>
            </a:pPr>
            <a:r>
              <a:rPr sz="1250" b="1">
                <a:solidFill>
                  <a:srgbClr val="556175"/>
                </a:solidFill>
                <a:latin typeface="맑은 고딕"/>
                <a:ea typeface="맑은 고딕"/>
                <a:cs typeface="맑은 고딕"/>
              </a:rPr>
              <a:t>판정은</a:t>
            </a:r>
          </a:p>
          <a:p>
            <a:pPr algn="l">
              <a:lnSpc>
                <a:spcPct val="110000"/>
              </a:lnSpc>
            </a:pPr>
            <a:r>
              <a:rPr sz="1250" b="1">
                <a:solidFill>
                  <a:srgbClr val="556175"/>
                </a:solidFill>
                <a:latin typeface="맑은 고딕"/>
                <a:ea typeface="맑은 고딕"/>
                <a:cs typeface="맑은 고딕"/>
              </a:rPr>
              <a:t>하지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과정은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계층_L7-9.svg" descr="illust_731028299992399423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process와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Neo4j</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값은 OT에서 DMZ를 거쳐 IT로 올라가 기록되고 감지되며, 승인된 명령만 DMZ의 검사를 거쳐 OT로 내려간다.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EMQX</a:t>
            </a:r>
          </a:p>
          <a:p>
            <a:pPr algn="ctr">
              <a:lnSpc>
                <a:spcPct val="110000"/>
              </a:lnSpc>
              <a:spcAft>
                <a:spcPts val="100"/>
              </a:spcAft>
            </a:pPr>
            <a:r>
              <a:rPr sz="1150" b="0">
                <a:solidFill>
                  <a:srgbClr val="556175"/>
                </a:solidFill>
                <a:latin typeface="맑은 고딕"/>
                <a:ea typeface="맑은 고딕"/>
                <a:cs typeface="맑은 고딕"/>
              </a:rPr>
              <a:t>MQTT 브로커</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connect-ingest</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cmd-gateway</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Redpanda</a:t>
            </a:r>
          </a:p>
          <a:p>
            <a:pPr algn="ctr">
              <a:lnSpc>
                <a:spcPct val="110000"/>
              </a:lnSpc>
              <a:spcAft>
                <a:spcPts val="100"/>
              </a:spcAft>
            </a:pPr>
            <a:r>
              <a:rPr sz="1150" b="0">
                <a:solidFill>
                  <a:srgbClr val="556175"/>
                </a:solidFill>
                <a:latin typeface="맑은 고딕"/>
                <a:ea typeface="맑은 고딕"/>
                <a:cs typeface="맑은 고딕"/>
              </a:rPr>
              <a:t>순서대로 보관 · detector가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process</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경보는 바로 울렸는데 승인까지 왜 108초가 걸렸는가</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detector의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108초의 내역: 판단에 94초, 승인 대기에 13초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대부분은 원인을 가리고 조치안을 비교하는 데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728468"/>
            <a:ext cx="5410047"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가리기와 조치안 비교</a:t>
            </a:r>
          </a:p>
          <a:p>
            <a:pPr algn="l">
              <a:lnSpc>
                <a:spcPct val="110000"/>
              </a:lnSpc>
              <a:spcAft>
                <a:spcPts val="400"/>
              </a:spcAft>
            </a:pPr>
            <a:r>
              <a:rPr sz="1400" b="0">
                <a:solidFill>
                  <a:srgbClr val="1F2A3A"/>
                </a:solidFill>
                <a:latin typeface="맑은 고딕"/>
                <a:ea typeface="맑은 고딕"/>
                <a:cs typeface="맑은 고딕"/>
              </a:rPr>
              <a:t>에이전트가 지식과 값을 조회해 원인을 가리고 조치안을 냈다</a:t>
            </a:r>
          </a:p>
        </p:txBody>
      </p:sp>
      <p:sp>
        <p:nvSpPr>
          <p:cNvPr id="10" name="Rounded Rectangle 9"/>
          <p:cNvSpPr/>
          <p:nvPr/>
        </p:nvSpPr>
        <p:spPr>
          <a:xfrm>
            <a:off x="777240" y="4824476"/>
            <a:ext cx="905256"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94초</a:t>
            </a:r>
          </a:p>
        </p:txBody>
      </p:sp>
      <p:sp>
        <p:nvSpPr>
          <p:cNvPr id="12" name="Rounded Rectangle 11"/>
          <p:cNvSpPr/>
          <p:nvPr/>
        </p:nvSpPr>
        <p:spPr>
          <a:xfrm>
            <a:off x="6233007" y="2728468"/>
            <a:ext cx="5410047"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6461607" y="292963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6615226" y="3083255"/>
            <a:ext cx="424281" cy="424281"/>
          </a:xfrm>
          <a:prstGeom prst="rect">
            <a:avLst/>
          </a:prstGeom>
        </p:spPr>
      </p:pic>
      <p:sp>
        <p:nvSpPr>
          <p:cNvPr id="15" name="TextBox 14"/>
          <p:cNvSpPr txBox="1"/>
          <p:nvPr/>
        </p:nvSpPr>
        <p:spPr>
          <a:xfrm>
            <a:off x="6397599"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a:t>
            </a:r>
          </a:p>
          <a:p>
            <a:pPr algn="l">
              <a:lnSpc>
                <a:spcPct val="110000"/>
              </a:lnSpc>
              <a:spcAft>
                <a:spcPts val="400"/>
              </a:spcAft>
            </a:pPr>
            <a:r>
              <a:rPr sz="1400" b="0">
                <a:solidFill>
                  <a:srgbClr val="1F2A3A"/>
                </a:solidFill>
                <a:latin typeface="맑은 고딕"/>
                <a:ea typeface="맑은 고딕"/>
                <a:cs typeface="맑은 고딕"/>
              </a:rPr>
              <a:t>담당자가 추천과 근거를 보고 승인했다</a:t>
            </a:r>
          </a:p>
        </p:txBody>
      </p:sp>
      <p:sp>
        <p:nvSpPr>
          <p:cNvPr id="16" name="Rounded Rectangle 15"/>
          <p:cNvSpPr/>
          <p:nvPr/>
        </p:nvSpPr>
        <p:spPr>
          <a:xfrm>
            <a:off x="6461607" y="4824476"/>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13초</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원인후보.svg" descr="illust_665241256894389273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연습: 같은 사건의 데이터, 정보,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흩어진정보.svg" descr="illust_133241655355992296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TimescaleDB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HYD는 Neo4j를 쓴다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Neo4j에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pic>
        <p:nvPicPr>
          <p:cNvPr id="6" name="삽화:노드관계.svg" descr="illust_835146548132885416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pic>
        <p:nvPicPr>
          <p:cNvPr id="6" name="삽화:관계.svg" descr="illust_97736958788018513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pic>
        <p:nvPicPr>
          <p:cNvPr id="6" name="삽화:경로_1.svg" descr="illust_128339074108103057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pic>
        <p:nvPicPr>
          <p:cNvPr id="6" name="삽화:경로_2.svg" descr="illust_390823568701140159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pic>
        <p:nvPicPr>
          <p:cNvPr id="6" name="삽화:경로_3.svg" descr="illust_143582385305593073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있고</a:t>
            </a:r>
          </a:p>
          <a:p>
            <a:pPr algn="ctr">
              <a:lnSpc>
                <a:spcPct val="110000"/>
              </a:lnSpc>
              <a:spcAft>
                <a:spcPts val="100"/>
              </a:spcAft>
            </a:pPr>
            <a:r>
              <a:rPr sz="1300" b="0">
                <a:solidFill>
                  <a:srgbClr val="556175"/>
                </a:solidFill>
                <a:latin typeface="맑은 고딕"/>
                <a:ea typeface="맑은 고딕"/>
                <a:cs typeface="맑은 고딕"/>
              </a:rPr>
              <a:t>잰 값은 TimescaleDB에서 읽는다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사건으로 본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pic>
        <p:nvPicPr>
          <p:cNvPr id="6" name="삽화:연결_설비쪽.svg" descr="illust_5731919066425449304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진단과 조치 쪽에는 증상, 고장 유형, 원인, 조치 방법과 그 조치의 근거 문서가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pic>
        <p:nvPicPr>
          <p:cNvPr id="6" name="삽화:연결_진단쪽.svg" descr="illust_3195370381493371295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처음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FUXA의 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