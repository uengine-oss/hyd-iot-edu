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갖추고,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그러나 읽기 쉬운 형태로 바뀌었을 뿐, 그 내용이 머릿속에 들어온 것은 아닙니다. 더 큰 문제는 착각입니다. 잘 정리된 문서를 손에 쥐면 그 내용을 내가 안다고 여기게 됩니다. 자료를 덮고 백지에 직접 써 보면 그제야 무엇을 알고 무엇을 모르는지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내용을 써 봅니다. 타이핑해도 되고 말로 풀어 받아 적게 해도 되며, 처음에는 한 가지를 깊이 파기보다 아는 내용을 넓게 훑으며 쭉 써 봅니다. 그러면 틀린 곳, 횡설수설한 곳, 막혀서 더 쓰지 못하는 곳이 드러나는데, 바로 그 부분이 공부할 범위입니다. 순서가 중요합니다. 틀린 곳과 횡설수설한 곳을 먼저 바로잡아 전체의 줄기를 잡은 다음, 막힌 곳을 하나씩 골라 깊이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곳만 집요하게 팝니다. 모르는 용어가 있으면 그 뜻을 묻고, 설명에 또 모르는 말이 나오면 다시 묻습니다. 초등학생도 알아들을 수 있게 설명해 달라고 해도 괜찮습니다. 더 내려갈 곳이 없으면 거기서부터 하나씩 이어 붙이며 처음의 용어로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 문장을 그대로 외울 필요는 없습니다. 원리에서 벗어나지 않는다면 같은 뜻의 쉬운 말로 이해해도 되고, 내 말로 풀어낼 수 있어야 다른 말로 물어도 답할 수 있습니다. 앞으로 배우는 내용은 모두 이 방법으로 정리합니다. 넓게 써 보고 고친 다음 막힌 곳을 깊이 파고, 그렇게 내 말로 풀어 쓴 기록을 개인 학습노트에 쌓아 가면 그 기록이 이 과정에서 만드는 지식 자산이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앞으로의 기록을 담을 틀을 만듭니다. 과정 홈과 세 구획, 학습노트 데이터베이스를 만들고, 앞에서 살펴본 방법대로 개념 하나를 내 말로 써서 첫 기록을 남깁니다. 노션을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짚어 보겠습니다. 센서는 설비에서 생기는 물리량을 재고, PLC는 그 계측값을 읽어 설비를 제어하며, 관제 화면은 계측값을 보여 주고 조작을 받습니다. 이 단원에서는 그다음을 다룹니다. 그 데이터를 모으고 판단해 조치로 잇는 시스템의 구조, 그리고 그 구조를 따라 데이터가 흐르는 길을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단원에서 예로 드는 계측값은 쿨러로 들어가기 직전의 작동유 온도인 유온 TS1과, 쿨러가 열을 내보내는 정도를 나타내는 냉각 효율 CE입니다. 냉각 효율은 센서로 직접 재지 않고 다른 계측값으로 계산하는 가상 센서(Virtual Sensor)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Layer 1, 센서 네트워크와 설비입니다. 센서가 잰 계측값을 가장 먼저 받는 것은 설비 옆의 PLC입니다. PLC는 입력을 읽고 프로그램을 실행해 출력을 쓰는 스캔 주기를 1초에도 수십 번씩 되풀이합니다. 같은 판단을 서버에 맡기면 오가는 데만 1초 안팎이 걸리고, 그사이 통신이 끊길 수도 있습니다. 그래서 설비를 지키는 판단만큼은 설비 옆의 PLC가 인터록으로 끝냅니다.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2.0은 뒤에서 다시 나옵니다. 세 조건 모두 그대로 두면 설비가 손상되는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주고받는 현장 통신은 사무 통신과 요구 조건이 다릅니다. 사무 통신은 평균 지연이 짧으면 되지만, 현장 통신은 최악의 경우에도 정해진 시간 안에 도착해야 하며, 이를 결정성(Determinism)이라고 합니다. PLC가 1초에도 수십 번씩 판단을 마치려면 그사이에 오가는 신호도 매번 제시간에 도착해야 하므로, 지연의 흔들림을 나타내는 지터(Jitter)가 작아야 합니다. 여기에 쓰이는 Modbus 같은 전통 규약에는 암호화와 인증이 없어, 보안은 망의 구조와 상위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계측값은 레지스터 주소에 담긴 원시 값이라 그 자체로는 무엇을 잰 것인지 알 수 없습니다. 엣지 게이트웨이는 현장 규약으로 이 값을 읽어 태그 이름과 시각을 붙이고, 태그 값과 운전 상태 메시지로 올려 보냅니다. 위쪽의 유온 TS1과 냉각 효율 CE는 이 단원에서 계속 예로 들고,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데이터를 받아야 할 곳은 운전 화면과 수집 서비스 두 군데이며, 앞으로 더 늘어날 수 있습니다. 송신 측이 수신 측과 하나하나 직접 연결하는 방식을 점대점(Point-to-Point) 연결이라고 합니다. 이 방식에서는 수신 측이 늘 때마다 설비 쪽 프로그램을 고쳐야 합니다. 한쪽을 바꿀 때 다른 쪽도 고쳐야 하는 이 관계를 강한 결합(Tight Coupling)이라고 합니다. 가운데에 메시지 브로커를 두면 서로를 몰라도 되는 느슨한 결합(Loose Coupling)이 되고, 이 방식으로 주고받는 규약이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MQTT(Message Queuing Telemetry Transport)는 작은 장치와 불안정한 네트워크를 위해 만든 가벼운 발행 · 구독(Publish/Subscribe) 규약이며, 가운데 있는 메시지 브로커를 줄여 브로커라고 합니다. 먼저 운전 화면과 수집 서비스가 메시지를 받을 토픽을 브로커에 구독해 둡니다. 엣지 게이트웨이가 유온 값을 토픽 plant/hyd01/tag/TS1로 발행하면, 브로커는 그 순간 이 토픽을 구독하고 있는 모든 구독자에게 메시지를 전달합니다. 이 계측 메시지는 그 순간의 전달에 쓰이므로, 나중에 연결한 구독자는 지나간 값을 받지 못합니다. 발행자는 구독자가 누구인지 몰라도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나누어 보면 네 칸입니다. 공장, 설비, 종류, 태그 이름입니다. HYD에는 같은 구조의 유압 파워팩이 세 대 있어 설비 자리만 hyd01, hyd02, hyd03으로 바뀝니다. 구독자는 이 주소를 보고 필요한 데이터만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연결되지 않습니다. 설비를 다루는 OT는 멈추지 않는 가용성과 안전이 우선입니다. 업무 데이터를 다루는 IT는 외부와 연결되어 침해될 수 있어 기밀성과 무결성을 먼저 지킵니다. 그래서 두 영역의 망을 나누는 망 분리(Network Segmentation)를 하고, 사이에 구역을 하나 둡니다. 앞에서 설비를 지키는 판단을 PLC에 맡긴 것도 IT 쪽 서버를 거치지 않기 위해서였습니다.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완충 구역을 DMZ(Demilitarized Zone)라고 합니다. DMZ의 수집 서비스는 브로커를 구독해 받은 메시지를 IT의 이벤트 로그로 옮깁니다. 이렇게 한쪽으로만 복사하는 것을 단방향 복제(One-way Replication)라고 합니다. 수집 서비스는 OT 쪽으로 아무것도 발행하지 않습니다. 현장 통신 규약이 막지 못하는 위험을, 들어오는 길을 좁힌 이 구조가 막습니다.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데이터를 옮기는 곳은 Layer 3, 이벤트 백본의 이벤트 로그입니다. 위쪽은 브로커가 전달한 메시지이고 아래쪽은 이벤트 로그에 남은 레코드인데, 설비와 태그 이름이 토픽 경로에서 페이로드 안으로 옮겨져 레코드 한 건만으로도 출처를 알 수 있습니다. 이벤트 로그는 받은 순서대로 덧붙이기만 하는 추가 전용 로그이며, 기록을 쓰는 쪽을 생산자, 읽는 쪽을 소비자라고 합니다. 계측 메시지는 그 순간의 구독자에게 전달되고 끝나지만, 이벤트 로그에는 기록이 남아 소비자가 오프셋을 기준으로 각자의 속도에 맞춰 읽고 필요하면 다시 읽을 수 있습니다. IT의 모든 서비스는 설비가 아니라 이 기록에서 데이터를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데이터를 저장소에 모아 두었다가 주기적으로 한꺼번에 처리하는 방식을 배치 처리(Batch Processing)라고 합니다. 이 방식에서는 이상이 생긴 시점과 알아차리는 시점 사이에 지연이 생깁니다. 감지 서비스는 데이터가 기록되는 대로 하나씩 받아 조건과 비교합니다. 끊임없이 도착하는 데이터를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세 가지 조건을 봅니다. 유온이 55 ℃를 넘고, 냉각 효율이 70 % 아래이며, 유온이 오르는 중이어야 쿨러 성능 저하로 봅니다. 이처럼 값 하나의 임계치가 아니라 여러 값의 조합과 추세, 지속 시간으로 판정하는 방식을 복합 이벤트 처리(CEP, Complex Event Processing)라고 합니다. 그래프에서 유온이 55 ℃를 넘은 11시 13분 4초와 경보가 난 11시 13분 8초를 차례로 짚어 봅니다. 경보가 성립하려면 조건이 이어져야 하는 시간을 유지 시간이라고 하며, 값이 잠깐 튀었다가 돌아오는 경우에는 경보가 울리지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계측값이 아니라 어떤 일이 일어났는지를 남긴 기록입니다. 식별자는 이 경보 한 건을 가리키고, 패턴은 쿨러 성능 저하 조건이 성립했음을 나타냅니다. 계측값은 계속 바뀌므로, 경보가 발생한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이상 감지는 흐르는 데이터에서 하지만, 지나간 데이터를 시각으로 찾아보려면 저장해 두어야 합니다. 계측값 하나가 시각, 설비, 태그 이름, 값으로 이루어진 한 행에 들어갑니다. 가운데 행의 55.71이 경보가 발생한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계층은 Layer 6, 관제입니다. 화면은 두 가지입니다. 운전 화면은 OT에서 브로커를 직접 구독해 현재 데이터를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울리고, 60 ℃에서는 운전 화면의 알람이, 65 ℃에서는 PLC의 인터록이 반응합니다. 경보와 알람은 상황을 알리고, 인터록은 설비를 세웁니다. 인터록은 사람이 리셋해야 풀리므로, 55 ℃에서 먼저 울리는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9까지가 맡습니다. Layer 7은 증상, 원인, 조치의 관계를 지식으로 보관하며, 이 역할에는 Neo4j 같은 그래프 DB를 씁니다. Layer 8의 에이전트는 그 지식과 데이터를 조회해 원인을 진단하고 조치안을 추천하지만, 설비에 명령을 보낼 수단은 없습니다. Layer 9에서는 담당자가 추천과 근거를 보고 승인하거나 거절하며, 사람의 판단을 거치는 이 구조를 HITL(Human-in-the-Loop)이라고 합니다. 프로세스 엔진은 승인된 조치만 명령으로 만들어 내려보내고 결과를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엔진이 만든 명령은 이벤트 로그에 기록되고, DMZ의 명령 관문이 이를 읽어 스키마, 허용 목록, 만료, 승인 기록, 운전 모드를 검사합니다. 검사를 통과한 명령만 OT의 브로커를 거쳐 PLC에 도착하고, PLC는 설정값이 범위 안에 있는지, 현재 트립 상태는 아닌지를 다시 확인한 뒤 설정값을 바꿉니다. 명령서에 문제가 없어도 설비가 명령을 받을 수 없는 상태라면 PLC가 거부하며, 이렇게 여러 겹으로 막는 구조를 심층 방어(Defense in Depth)라고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건과 그 응답입니다. 할 일은 팬 속도를 100 %로 올리는 것이며, 승인한 사람과 유효 시간이 함께 적혀 있고, 명령 식별자 cmdId는 같은 명령이 두 번 실행되지 않게 합니다. 운전원은 11시 14분 56초에 승인했고, 명령은 57초에 나갔으며, PLC의 응답은 58초에 돌아왔습니다. 응답 ACK는 명령을 받아 처리했다는 확인이며, 결과는 실행 완료를 뜻하는 DONE, 인터록은 걸리지 않았음을 뜻하는 PASS입니다.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지나며 데이터가 어떻게 바뀌어 왔는지 한 줄로 펼쳐 놓은 것이 데이터 리니지입니다. 센서가 잰 유온 계측값이 원천 데이터이고, 감지 서비스가 그 값들로 계산한 평균과 기울기가 가공 데이터입니다. 기울기가 0보다 크다는 것이 경보 조건의 세 번째 항목이며, 조건이 성립하자 이상 이벤트인 경보가 기록되었고 이를 바탕으로 판단 결과가 나왔습니다. 설비를 움직인 판단이 어떤 계측값에서 비롯되었는지 거꾸로 되짚을 수 있어야 그 판단을 믿을 수 있으며, 이 성질을 추적성(Traceability)이라고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경보에서 나온 것인지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데이터는 수집 서비스를 거쳐 위로만 올라가고, 명령은 사람의 승인, 명령 관문의 검사, PLC의 검사를 모두 거친 것만 내려옵니다. 이렇게 길을 나눈 구조가 현장 통신 규약 자체로는 막지 못하는 위험을 막습니다.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사용하는 도구는 VS Code, GitHub Copilot, Python, Docker입니다. GitHub Copilot에 말로 요청하고 AI가 쓴 코드를 실행해 보며 고쳐 가는 방식을 바이브 코딩이라고 하며, 이후 랩의 코드는 이 방식으로 만듭니다. 이번에는 Docker Compose로 서비스를 올리고 포털이 열리는지 확인하는 데까지 진행합니다.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처리해 봅니다. 화면의 다섯 단계를 살펴보겠습니다. 단계마다 어떤 정보가 쓰이고 무엇이 다음 단계로 넘어가는지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값으로 쿨러 사건을 살펴보겠습니다. 위쪽은 유온, 아래쪽은 냉각 효율입니다. 경보는 11시 13분 8초에 났지만 조치는 108초 뒤에 승인되었고, 그동안 유온은 61.8 ℃까지 올랐습니다. 경보는 조건을 벗어났다는 사실만 알려 주기 때문입니다. 체온계의 고열 표시와 비슷합니다. 열이 난다는 사실은 바로 알지만 어떤 병인지는 진찰해야 안다는 점은 같고,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사건의 판단을 네 가지 질문으로 나누고, 같은 사건을 설명하는 문장 다섯 개로 살펴보겠습니다. 46.2만으로는 무엇을 잰 값인지, 단위와 기준이 무엇인지 알 수 없어 어느 질문에도 답하지 못합니다. 대상과 단위가 붙으면 「지금 얼마인가」에, 기준이 붙으면 「벗어났는가」에 답할 수 있으며, 태그 이름과 경보 조건이 이 역할을 합니다. 아래 두 줄처럼 정보가 원인으로, 원인이 조치로 이어진 지식만이 「왜 벗어났는가」와 「무엇을 할 것인가」에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매뉴얼은 같은 증상에 대해 원인 후보 세 가지를 제시합니다. 쿨러 핀 오염은 핀에 먼지나 유막이 끼어 막히는 것이고, 팬 구동 불량은 팬이 제 속도로 돌지 못하는 것이며, 주변 온도 상승은 설비 주변의 공기가 더운 것입니다. 유온만으로는 셋을 구분할 수 없으므로 후보마다 정해진 값과 기준에 측정값을 대조하는데, 이때 확인할 값과 기준을 증거라고 부릅니다. 이 사건에서는 냉각 효율 46.2 %와 팬 진동 0.575가 핀 오염의 기준에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원인에 따라 조치가 달라지기 때문입니다. 핀이 막혔으면 세척하고, 팬에 문제가 있으면 벨트를 점검하며, 주변 공기가 더우면 환기를 보강합니다. 원인에 맞지 않는 조치를 하면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 속도를 올려도 핀은 여전히 막혀 있어 냉각 효율은 기준 아래에 머물렀습니다. 원인을 없애는 근본 조치는 핀 세척이며,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멈춥니다. 유온이 오르면 팬 속도를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 보겠습니다. 센서 값, 운전 상태, 매뉴얼, 생산 일정이 서로 다른 곳에 있습니다. 센서 값과 운전 상태는 매초 바뀌는 값이고, 생산 계획과 실적을 관리하는 MES에는 긴급 오더의 납기까지 약 6시간이 남았다고 기록되어 있었습니다. 그림의 점선은 이들이 연결되어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가지를 보겠습니다. 이 경보가 났을 때 매뉴얼의 어느 대목을 보아야 하는지, 그 대목의 기준을 어느 태그의 값과 비교해야 하는지, 그 원인에는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흩어진 정보를 연결해 온 것은 사람입니다. 숙련자는 증상을 읽고, 고장 유형을 짐작하고, 원인 후보를 꼽고, 증거를 대조한 다음 조치를 고릅니다. 상자 사이의 화살표 하나하나가 그 사람의 머릿속에 있는 지식입니다. 이 방식에는 한계가 세 가지 있습니다. 같은 경보를 보고도 떠올리는 후보와 순서가 사람마다 다릅니다. 숙련자가 없으면 판단이 늦어지는데, 이 사건에서는 경보가 난 뒤 2분도 되지 않아 유온이 61.8 ℃까지 올랐습니다. 또 연결이 적혀 있지 않아 프로그램이나 AI가 같은 길을 따라갈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것은 표와 문서, 그리고 프로그램 코드입니다. 표에서는 고장 유형 하나에 원인이 셋이고 핀 오염에는 확인할 값이 둘이어서 같은 고장 유형이 네 줄에 반복되며, 문서는 사람이 읽고 해석해야 쓸 수 있습니다. 판별 기준을 코드로 짜면 컴퓨터가 바로 실행할 수 있지만, 기준이 바뀔 때마다 개발자가 코드를 고쳐야 하고 왜 그 원인으로 판단했는지 근거가 남지 않습니다. 그래서 대상과 관계를 적어 둔 지식이 필요합니다. 사람이 검토하고 컴퓨터가 따라갈 수 있으며, 프로그램과 별개로 고칠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하지만 AI는 이 설비의 매뉴얼과 현재 값을 알지 못하므로 답의 근거를 확인할 수 없습니다. 적어 둔 지식을 조회하게 하면 무엇을 근거로 판단했는지 기록이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사람과 컴퓨터가 함께 읽도록 대상과 관계를 정의해 둔 지식 모델이 온톨로지이며, 머릿속의 지식을 정해진 형식으로 적어 두었기 때문에 둘이 같은 정의를 씁니다. HYD의 온톨로지는 대상의 종류를 설비 쪽, 진단 쪽, 조치 쪽으로 나누고, 유온이라는 대상에는 단위, 정상값, 한계가 속성으로 적혀 있습니다. 같은 고장 유형에서 조치로 이어지는 선이라도 MITIGATED_BY는 우선 완화한다는 뜻이고, REMEDIED_BY는 근본적으로 없앤다는 뜻입니다. 제약은 CAUSES를 원인에서 고장 유형으로만 잇도록 해 증상에서 조치로 그은 연결을 걸러 내며, 관계 그림과 온톨로지를 구분하는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어떤 사람은 온도 상승이라고 하고, 어떤 사람은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 도구이며, 지식 그래프는 온톨로지의 정의에 맞춰 실제 대상을 채워 그래프 DB에 저장한 것입니다. 지식 그래프에는 값을 읽는 방법이 들어 있고, 계속 바뀌는 센서 값은 시계열 저장소에서 읽습니다. 온톨로지는 원인 후보와 근거를 찾도록 해 줄 뿐이며,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그래프는 노드와 관계로 이루어집니다. 동그라미는 대상 하나를 나타내는 노드이고, 화살표는 이름과 방향을 가진 관계입니다. 관계는 문장으로 읽는데, 화살표가 나가는 쪽이 주어, 관계 이름이 서술어, 들어가는 쪽이 목적어입니다. 그림을 읽으면 「쿨러 핀 오염은 쿨러 냉각 성능 상실을 일으킨다」가 되며, 이렇게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그래프를 한 장에 모은 지도이며, 왼쪽 위의 설비부터 읽어 보겠습니다. 설비 HYD-01은 오일 쿨러를 구성 요소로 갖고, 오일 쿨러는 유온 센서 TS1로 계측되며, 이 센서에서 유온 상승이라는 증상이 관측됩니다. 증상인 유온 상승과 원인인 쿨러 핀 오염은 모두 쿨러 냉각 성능 상실이라는 고장 유형으로 이어지고, 이 고장 유형은 오일 쿨러에서 발생하며 팬 최대 운전으로 완화됩니다. 조치 방법은 단계(Step)를 거쳐 매뉴얼 HM-8.5를 근거로 가리키는데, 지도에서는 그 단계를 줄여 화살표 하나로 나타냈습니다. 증상, 원인, 조치가 모두 고장 유형에 연결되어 있으므로 원인을 확인하기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 따라 정해집니다. CAUSES는 원인이 고장 유형을 일으킨다는 뜻이므로 원인에서 고장 유형으로 저장됩니다. 그런데 경보에서 출발하면 고장 유형에 먼저 도착하므로, 컴퓨터는 고장 유형으로 들어오는 CAUSES를 거슬러 원인 후보를 찾습니다. 이때 반대 방향의 관계를 새로 만드는 것이 아니라 저장된 관계를 거슬러 따라가는 것이며, 잘못된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두 걸음으로 나누어 보겠습니다. 출발점은 경보이며, 경보에는 쿨러 성능 저하라는 이상 패턴의 이름인 COOLER_DEGRADATION이 실려 옵니다. 이상 패턴은 DETECTS로 유온 상승이라는 증상을 감지하고, 증상은 INDICATES로 쿨러 냉각 성능 상실이라는 고장 유형을 가리킵니다. 지도에 없던 이상 패턴이 경보와 지식 그래프를 잇는 입구입니다.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 셋을 모읍니다. 원인마다 EVIDENCED_BY로 증거가 연결되어 있고, 증거에는 어떤 값을 어느 기준과 비교할지 적혀 있어 해당 값을 시계열 저장소에서 읽어 대조합니다. 냉각 효율 46.2 %와 팬 진동 0.575가 기준에 맞아 원인은 쿨러 핀 오염으로 확인되고, 나머지 둘은 배제됩니다. 조치는 고장 유형에서 MITIGATED_BY를 따라 팬 최대 운전을 찾으며, 판별 기준은 지식 그래프에 두고 계속 바뀌는 값은 저장소에서 읽습니다. 이것이 숙련자가 머릿속에서 연결하던 화살표입니다.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다섯 걸음으로 정리하겠습니다. 경보는 조건을 벗어났다는 사실만 알리고 판단에 필요한 정보는 흩어져 있으므로, 대상과 관계를 온톨로지로 정의해 둡니다. 컴퓨터는 그 관계를 따라 원인 후보와 증거를 찾고, 에이전트는 값을 대조해 조치를 추천합니다. 담당자가 조치를 승인한 뒤에만 프로세스 엔진이 명령으로 만들어 내려보내며, 온톨로지가 조치를 결정하지는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 방향을 직접 정해 보는 것입니다. 쿨러 사건의 설비, 센서, 증상, 원인, 조치를 노드로 배치하고 관계를 연결해 이름을 붙입니다. 다 그린 뒤에는 화살표를 하나씩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설명했으므로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사실과 원인 판단을 구분하는 문항입니다. 화면의 값을 판별 기준과 대조해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읽었을 때 뜻이 통하는지 확인하는 문항입니다. 보기를 하나씩 문장으로 읽어 보면 답을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 묻는 문항입니다. 시연에서 에이전트가 한 일과 담당자의 승인 뒤에 일어난 일을 떠올려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구분할 수 있는지 봅니다. 둘째 문항의 2번에서 INDICATES는 증상에서 고장 유형으로 이어지는 관계이므로, 원인을 주어로 두면 양 끝의 종류가 맞지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6.png"/><Relationship Id="rId4" Type="http://schemas.openxmlformats.org/officeDocument/2006/relationships/image" Target="../media/image22.png"/><Relationship Id="rId5"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9.png"/><Relationship Id="rId4" Type="http://schemas.openxmlformats.org/officeDocument/2006/relationships/image" Target="../media/image3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0.png"/><Relationship Id="rId4" Type="http://schemas.openxmlformats.org/officeDocument/2006/relationships/image" Target="../media/image3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5.png"/><Relationship Id="rId4" Type="http://schemas.openxmlformats.org/officeDocument/2006/relationships/image" Target="../media/image3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3.png"/><Relationship Id="rId4" Type="http://schemas.openxmlformats.org/officeDocument/2006/relationships/image" Target="../media/image37.png"/><Relationship Id="rId5" Type="http://schemas.openxmlformats.org/officeDocument/2006/relationships/image" Target="../media/image3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38.png"/><Relationship Id="rId6" Type="http://schemas.openxmlformats.org/officeDocument/2006/relationships/image" Target="../media/image30.png"/><Relationship Id="rId7"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2.png"/><Relationship Id="rId4" Type="http://schemas.openxmlformats.org/officeDocument/2006/relationships/image" Target="../media/image44.png"/><Relationship Id="rId5" Type="http://schemas.openxmlformats.org/officeDocument/2006/relationships/image" Target="../media/image52.png"/><Relationship Id="rId6" Type="http://schemas.openxmlformats.org/officeDocument/2006/relationships/image" Target="../media/image40.png"/><Relationship Id="rId7"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7.png"/><Relationship Id="rId4" Type="http://schemas.openxmlformats.org/officeDocument/2006/relationships/image" Target="../media/image4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9.png"/><Relationship Id="rId4" Type="http://schemas.openxmlformats.org/officeDocument/2006/relationships/image" Target="../media/image6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6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62.png"/><Relationship Id="rId4" Type="http://schemas.openxmlformats.org/officeDocument/2006/relationships/image" Target="../media/image60.png"/><Relationship Id="rId5" Type="http://schemas.openxmlformats.org/officeDocument/2006/relationships/image" Target="../media/image63.png"/><Relationship Id="rId6" Type="http://schemas.openxmlformats.org/officeDocument/2006/relationships/image" Target="../media/image53.png"/><Relationship Id="rId7" Type="http://schemas.openxmlformats.org/officeDocument/2006/relationships/image" Target="../media/image5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4.png"/><Relationship Id="rId4" Type="http://schemas.openxmlformats.org/officeDocument/2006/relationships/image" Target="../media/image6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26.png"/><Relationship Id="rId4" Type="http://schemas.openxmlformats.org/officeDocument/2006/relationships/image" Target="../media/image58.png"/><Relationship Id="rId5" Type="http://schemas.openxmlformats.org/officeDocument/2006/relationships/image" Target="../media/image2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 Id="rId4" Type="http://schemas.openxmlformats.org/officeDocument/2006/relationships/image" Target="../media/image69.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7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7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8.png"/><Relationship Id="rId4" Type="http://schemas.openxmlformats.org/officeDocument/2006/relationships/image" Target="../media/image72.png"/><Relationship Id="rId5" Type="http://schemas.openxmlformats.org/officeDocument/2006/relationships/image" Target="../media/image44.png"/><Relationship Id="rId6" Type="http://schemas.openxmlformats.org/officeDocument/2006/relationships/image" Target="../media/image52.png"/><Relationship Id="rId7" Type="http://schemas.openxmlformats.org/officeDocument/2006/relationships/image" Target="../media/image4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살펴보며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a:lnSpc>
                <a:spcPct val="110000"/>
              </a:lnSpc>
              <a:spcAft>
                <a:spcPts val="400"/>
              </a:spcAft>
            </a:pPr>
            <a:r>
              <a:rPr sz="1750" b="1">
                <a:solidFill>
                  <a:srgbClr val="13294B"/>
                </a:solidFill>
                <a:latin typeface="맑은 고딕"/>
                <a:ea typeface="맑은 고딕"/>
                <a:cs typeface="맑은 고딕"/>
              </a:rPr>
              <a:t>지식 자산화</a:t>
            </a:r>
          </a:p>
          <a:p>
            <a:pPr algn="l" marL="154305" indent="-154305">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marL="154305" indent="-154305">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340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a:lnSpc>
                <a:spcPct val="110000"/>
              </a:lnSpc>
              <a:spcAft>
                <a:spcPts val="400"/>
              </a:spcAft>
            </a:pPr>
            <a:r>
              <a:rPr sz="1750" b="1">
                <a:solidFill>
                  <a:srgbClr val="13294B"/>
                </a:solidFill>
                <a:latin typeface="맑은 고딕"/>
                <a:ea typeface="맑은 고딕"/>
                <a:cs typeface="맑은 고딕"/>
              </a:rPr>
              <a:t>시스템 아키텍처와 계층</a:t>
            </a:r>
          </a:p>
          <a:p>
            <a:pPr algn="l" marL="154305" indent="-154305">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marL="154305" indent="-154305">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34088"/>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a:lnSpc>
                <a:spcPct val="110000"/>
              </a:lnSpc>
              <a:spcAft>
                <a:spcPts val="400"/>
              </a:spcAft>
            </a:pPr>
            <a:r>
              <a:rPr sz="1750" b="1">
                <a:solidFill>
                  <a:srgbClr val="13294B"/>
                </a:solidFill>
                <a:latin typeface="맑은 고딕"/>
                <a:ea typeface="맑은 고딕"/>
                <a:cs typeface="맑은 고딕"/>
              </a:rPr>
              <a:t>전체 흐름의 실행</a:t>
            </a:r>
          </a:p>
          <a:p>
            <a:pPr algn="l" marL="154305" indent="-154305">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marL="154305" indent="-154305">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34088"/>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a:lnSpc>
                <a:spcPct val="110000"/>
              </a:lnSpc>
              <a:spcAft>
                <a:spcPts val="400"/>
              </a:spcAft>
            </a:pPr>
            <a:r>
              <a:rPr sz="1750" b="1">
                <a:solidFill>
                  <a:srgbClr val="13294B"/>
                </a:solidFill>
                <a:latin typeface="맑은 고딕"/>
                <a:ea typeface="맑은 고딕"/>
                <a:cs typeface="맑은 고딕"/>
              </a:rPr>
              <a:t>온톨로지의 필요성</a:t>
            </a:r>
          </a:p>
          <a:p>
            <a:pPr algn="l" marL="154305" indent="-154305">
              <a:lnSpc>
                <a:spcPct val="110000"/>
              </a:lnSpc>
              <a:spcAft>
                <a:spcPts val="400"/>
              </a:spcAft>
            </a:pPr>
            <a:r>
              <a:rPr sz="1350" b="0">
                <a:solidFill>
                  <a:srgbClr val="1F2A3A"/>
                </a:solidFill>
                <a:latin typeface="맑은 고딕"/>
                <a:ea typeface="맑은 고딕"/>
                <a:cs typeface="맑은 고딕"/>
              </a:rPr>
              <a:t>• 이 시스템이 원인을 가려내고 조치를 고르려면 왜 온톨로지가 바탕이 되어야 하는지 설명한다</a:t>
            </a:r>
          </a:p>
          <a:p>
            <a:pPr algn="l" marL="154305" indent="-154305">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34088"/>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수치만으로 조치를 정할 수 없는 이유</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판단 근거의 연결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온톨로지의 정의와 관계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자료를 넘겨 만든 문서는 읽기 좋아졌을 뿐인데도, 그 내용을 내가 안다고 착각하게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291903"/>
            <a:ext cx="4632807" cy="1901825"/>
          </a:xfrm>
          <a:prstGeom prst="rect">
            <a:avLst/>
          </a:prstGeom>
          <a:noFill/>
        </p:spPr>
        <p:txBody>
          <a:bodyPr wrap="square" anchor="t"/>
          <a:lstStyle/>
          <a:p>
            <a:pPr algn="l" marL="177165" indent="-177165">
              <a:lnSpc>
                <a:spcPct val="110000"/>
              </a:lnSpc>
              <a:spcAft>
                <a:spcPts val="600"/>
              </a:spcAft>
            </a:pPr>
            <a:r>
              <a:rPr sz="1550" b="0">
                <a:solidFill>
                  <a:srgbClr val="1F2A3A"/>
                </a:solidFill>
                <a:latin typeface="맑은 고딕"/>
                <a:ea typeface="맑은 고딕"/>
                <a:cs typeface="맑은 고딕"/>
              </a:rPr>
              <a:t>• 필기와 강의 자료를 넘기면 보기 좋게 정리해 준다</a:t>
            </a:r>
          </a:p>
          <a:p>
            <a:pPr algn="l" marL="177165" indent="-177165">
              <a:lnSpc>
                <a:spcPct val="110000"/>
              </a:lnSpc>
              <a:spcAft>
                <a:spcPts val="600"/>
              </a:spcAft>
            </a:pPr>
            <a:r>
              <a:rPr sz="1550" b="0">
                <a:solidFill>
                  <a:srgbClr val="1F2A3A"/>
                </a:solidFill>
                <a:latin typeface="맑은 고딕"/>
                <a:ea typeface="맑은 고딕"/>
                <a:cs typeface="맑은 고딕"/>
              </a:rPr>
              <a:t>• 읽기 쉬운 형태로 바뀔 뿐이다</a:t>
            </a:r>
          </a:p>
          <a:p>
            <a:pPr algn="l" marL="177165" indent="-177165">
              <a:lnSpc>
                <a:spcPct val="110000"/>
              </a:lnSpc>
              <a:spcAft>
                <a:spcPts val="600"/>
              </a:spcAft>
            </a:pPr>
            <a:r>
              <a:rPr sz="1550" b="0">
                <a:solidFill>
                  <a:srgbClr val="1F2A3A"/>
                </a:solidFill>
                <a:latin typeface="맑은 고딕"/>
                <a:ea typeface="맑은 고딕"/>
                <a:cs typeface="맑은 고딕"/>
              </a:rPr>
              <a:t>• 정리된 문서를 보면 그 내용을 안다고 착각한다</a:t>
            </a:r>
          </a:p>
          <a:p>
            <a:pPr algn="l" marL="177165" indent="-177165">
              <a:lnSpc>
                <a:spcPct val="110000"/>
              </a:lnSpc>
              <a:spcAft>
                <a:spcPts val="600"/>
              </a:spcAft>
            </a:pPr>
            <a:r>
              <a:rPr sz="15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285168"/>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291903"/>
            <a:ext cx="4632807" cy="1901825"/>
          </a:xfrm>
          <a:prstGeom prst="rect">
            <a:avLst/>
          </a:prstGeom>
          <a:noFill/>
        </p:spPr>
        <p:txBody>
          <a:bodyPr wrap="square" anchor="t"/>
          <a:lstStyle/>
          <a:p>
            <a:pPr algn="l" marL="177165" indent="-177165">
              <a:lnSpc>
                <a:spcPct val="110000"/>
              </a:lnSpc>
              <a:spcAft>
                <a:spcPts val="600"/>
              </a:spcAft>
            </a:pPr>
            <a:r>
              <a:rPr sz="1550" b="0">
                <a:solidFill>
                  <a:srgbClr val="1F2A3A"/>
                </a:solidFill>
                <a:latin typeface="맑은 고딕"/>
                <a:ea typeface="맑은 고딕"/>
                <a:cs typeface="맑은 고딕"/>
              </a:rPr>
              <a:t>• 자료를 덮고 이해한 만큼 형식에 얽매이지 않고 써 본다</a:t>
            </a:r>
          </a:p>
          <a:p>
            <a:pPr algn="l" marL="177165" indent="-177165">
              <a:lnSpc>
                <a:spcPct val="110000"/>
              </a:lnSpc>
              <a:spcAft>
                <a:spcPts val="600"/>
              </a:spcAft>
            </a:pPr>
            <a:r>
              <a:rPr sz="1550" b="0">
                <a:solidFill>
                  <a:srgbClr val="1F2A3A"/>
                </a:solidFill>
                <a:latin typeface="맑은 고딕"/>
                <a:ea typeface="맑은 고딕"/>
                <a:cs typeface="맑은 고딕"/>
              </a:rPr>
              <a:t>• 쓰다가 막히는 곳에서 모르는 부분이 드러난다</a:t>
            </a:r>
          </a:p>
          <a:p>
            <a:pPr algn="l" marL="177165" indent="-177165">
              <a:lnSpc>
                <a:spcPct val="110000"/>
              </a:lnSpc>
              <a:spcAft>
                <a:spcPts val="600"/>
              </a:spcAft>
            </a:pPr>
            <a:r>
              <a:rPr sz="15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285168"/>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백지에 넓게 써 보고, 너비부터 고친다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넓게 써 보면 틀린 곳, 횡설수설한 곳, 막힌 곳이 드러나므로, 앞의 둘을 먼저 고친 뒤 막힌 곳을 깊이 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a:lnSpc>
                <a:spcPct val="110000"/>
              </a:lnSpc>
              <a:spcAft>
                <a:spcPts val="400"/>
              </a:spcAft>
            </a:pPr>
            <a:r>
              <a:rPr sz="2200" b="1">
                <a:solidFill>
                  <a:srgbClr val="13294B"/>
                </a:solidFill>
                <a:latin typeface="맑은 고딕"/>
                <a:ea typeface="맑은 고딕"/>
                <a:cs typeface="맑은 고딕"/>
              </a:rPr>
              <a:t>틀린 곳</a:t>
            </a:r>
          </a:p>
          <a:p>
            <a:pPr algn="l" marL="205740" indent="-205740">
              <a:lnSpc>
                <a:spcPct val="110000"/>
              </a:lnSpc>
              <a:spcAft>
                <a:spcPts val="400"/>
              </a:spcAft>
            </a:pPr>
            <a:r>
              <a:rPr sz="1800" b="0">
                <a:solidFill>
                  <a:srgbClr val="1F2A3A"/>
                </a:solidFill>
                <a:latin typeface="맑은 고딕"/>
                <a:ea typeface="맑은 고딕"/>
                <a:cs typeface="맑은 고딕"/>
              </a:rPr>
              <a:t>• 사실과 다르게 쓴 문장</a:t>
            </a:r>
          </a:p>
          <a:p>
            <a:pPr algn="l"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0" name="Rounded Rectangle 9"/>
          <p:cNvSpPr/>
          <p:nvPr/>
        </p:nvSpPr>
        <p:spPr>
          <a:xfrm>
            <a:off x="777240" y="511962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a:lnSpc>
                <a:spcPct val="110000"/>
              </a:lnSpc>
              <a:spcAft>
                <a:spcPts val="400"/>
              </a:spcAft>
            </a:pPr>
            <a:r>
              <a:rPr sz="2200" b="1">
                <a:solidFill>
                  <a:srgbClr val="13294B"/>
                </a:solidFill>
                <a:latin typeface="맑은 고딕"/>
                <a:ea typeface="맑은 고딕"/>
                <a:cs typeface="맑은 고딕"/>
              </a:rPr>
              <a:t>횡설수설한 곳</a:t>
            </a:r>
          </a:p>
          <a:p>
            <a:pPr algn="l" marL="205740" indent="-205740">
              <a:lnSpc>
                <a:spcPct val="110000"/>
              </a:lnSpc>
              <a:spcAft>
                <a:spcPts val="400"/>
              </a:spcAft>
            </a:pPr>
            <a:r>
              <a:rPr sz="1800" b="0">
                <a:solidFill>
                  <a:srgbClr val="1F2A3A"/>
                </a:solidFill>
                <a:latin typeface="맑은 고딕"/>
                <a:ea typeface="맑은 고딕"/>
                <a:cs typeface="맑은 고딕"/>
              </a:rPr>
              <a:t>• 말은 이어지지만 뜻이 분명하지 않은 문장</a:t>
            </a:r>
          </a:p>
          <a:p>
            <a:pPr algn="l"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6" name="Rounded Rectangle 15"/>
          <p:cNvSpPr/>
          <p:nvPr/>
        </p:nvSpPr>
        <p:spPr>
          <a:xfrm>
            <a:off x="4566818" y="511962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a:lnSpc>
                <a:spcPct val="110000"/>
              </a:lnSpc>
              <a:spcAft>
                <a:spcPts val="400"/>
              </a:spcAft>
            </a:pPr>
            <a:r>
              <a:rPr sz="2200" b="1">
                <a:solidFill>
                  <a:srgbClr val="13294B"/>
                </a:solidFill>
                <a:latin typeface="맑은 고딕"/>
                <a:ea typeface="맑은 고딕"/>
                <a:cs typeface="맑은 고딕"/>
              </a:rPr>
              <a:t>막힌 곳</a:t>
            </a:r>
          </a:p>
          <a:p>
            <a:pPr algn="l" marL="205740" indent="-205740">
              <a:lnSpc>
                <a:spcPct val="110000"/>
              </a:lnSpc>
              <a:spcAft>
                <a:spcPts val="400"/>
              </a:spcAft>
            </a:pPr>
            <a:r>
              <a:rPr sz="1800" b="0">
                <a:solidFill>
                  <a:srgbClr val="1F2A3A"/>
                </a:solidFill>
                <a:latin typeface="맑은 고딕"/>
                <a:ea typeface="맑은 고딕"/>
                <a:cs typeface="맑은 고딕"/>
              </a:rPr>
              <a:t>• 더 쓰지 못하고 멈춘 자리</a:t>
            </a:r>
          </a:p>
          <a:p>
            <a:pPr algn="l" marL="205740" indent="-205740">
              <a:lnSpc>
                <a:spcPct val="110000"/>
              </a:lnSpc>
              <a:spcAft>
                <a:spcPts val="400"/>
              </a:spcAft>
            </a:pPr>
            <a:r>
              <a:rPr sz="1800" b="0">
                <a:solidFill>
                  <a:srgbClr val="1F2A3A"/>
                </a:solidFill>
                <a:latin typeface="맑은 고딕"/>
                <a:ea typeface="맑은 고딕"/>
                <a:cs typeface="맑은 고딕"/>
              </a:rPr>
              <a:t>• 줄기를 잡은 뒤 하나씩 깊이 판다</a:t>
            </a:r>
          </a:p>
        </p:txBody>
      </p:sp>
      <p:sp>
        <p:nvSpPr>
          <p:cNvPr id="22" name="Rounded Rectangle 21"/>
          <p:cNvSpPr/>
          <p:nvPr/>
        </p:nvSpPr>
        <p:spPr>
          <a:xfrm>
            <a:off x="8356396" y="511962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모르는 말은 뜻을 계속 물으며 바닥까지 내려간 뒤, 다시 올라오며 차곡차곡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32203"/>
            <a:ext cx="2485567" cy="371830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315083"/>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468702"/>
            <a:ext cx="424281" cy="424281"/>
          </a:xfrm>
          <a:prstGeom prst="rect">
            <a:avLst/>
          </a:prstGeom>
        </p:spPr>
      </p:pic>
      <p:sp>
        <p:nvSpPr>
          <p:cNvPr id="9" name="TextBox 8"/>
          <p:cNvSpPr txBox="1"/>
          <p:nvPr/>
        </p:nvSpPr>
        <p:spPr>
          <a:xfrm>
            <a:off x="621792" y="3119755"/>
            <a:ext cx="2339263" cy="2657601"/>
          </a:xfrm>
          <a:prstGeom prst="rect">
            <a:avLst/>
          </a:prstGeom>
          <a:noFill/>
        </p:spPr>
        <p:txBody>
          <a:bodyPr wrap="square" anchor="t"/>
          <a:lstStyle/>
          <a:p>
            <a:pPr algn="ctr">
              <a:lnSpc>
                <a:spcPct val="110000"/>
              </a:lnSpc>
              <a:spcAft>
                <a:spcPts val="400"/>
              </a:spcAft>
            </a:pPr>
            <a:r>
              <a:rPr sz="2000" b="1">
                <a:solidFill>
                  <a:srgbClr val="13294B"/>
                </a:solidFill>
                <a:latin typeface="맑은 고딕"/>
                <a:ea typeface="맑은 고딕"/>
                <a:cs typeface="맑은 고딕"/>
              </a:rPr>
              <a:t>막힌 용어</a:t>
            </a:r>
          </a:p>
          <a:p>
            <a:pPr algn="ctr">
              <a:lnSpc>
                <a:spcPct val="110000"/>
              </a:lnSpc>
              <a:spcAft>
                <a:spcPts val="400"/>
              </a:spcAft>
            </a:pPr>
            <a:r>
              <a:rPr sz="1650" b="0">
                <a:solidFill>
                  <a:srgbClr val="1F2A3A"/>
                </a:solidFill>
                <a:latin typeface="맑은 고딕"/>
                <a:ea typeface="맑은 고딕"/>
                <a:cs typeface="맑은 고딕"/>
              </a:rPr>
              <a:t>공부할 범위에서</a:t>
            </a:r>
          </a:p>
          <a:p>
            <a:pPr algn="ctr">
              <a:lnSpc>
                <a:spcPct val="110000"/>
              </a:lnSpc>
              <a:spcAft>
                <a:spcPts val="400"/>
              </a:spcAft>
            </a:pPr>
            <a:r>
              <a:rPr sz="1650" b="0">
                <a:solidFill>
                  <a:srgbClr val="1F2A3A"/>
                </a:solidFill>
                <a:latin typeface="맑은 고딕"/>
                <a:ea typeface="맑은 고딕"/>
                <a:cs typeface="맑은 고딕"/>
              </a:rPr>
              <a:t>모르는 용어를</a:t>
            </a:r>
          </a:p>
          <a:p>
            <a:pPr algn="ctr">
              <a:lnSpc>
                <a:spcPct val="110000"/>
              </a:lnSpc>
              <a:spcAft>
                <a:spcPts val="400"/>
              </a:spcAft>
            </a:pPr>
            <a:r>
              <a:rPr sz="165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132203"/>
            <a:ext cx="2485567" cy="371830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315083"/>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468702"/>
            <a:ext cx="424281" cy="424281"/>
          </a:xfrm>
          <a:prstGeom prst="rect">
            <a:avLst/>
          </a:prstGeom>
        </p:spPr>
      </p:pic>
      <p:sp>
        <p:nvSpPr>
          <p:cNvPr id="14" name="TextBox 13"/>
          <p:cNvSpPr txBox="1"/>
          <p:nvPr/>
        </p:nvSpPr>
        <p:spPr>
          <a:xfrm>
            <a:off x="3491407" y="3119755"/>
            <a:ext cx="2339263" cy="2657601"/>
          </a:xfrm>
          <a:prstGeom prst="rect">
            <a:avLst/>
          </a:prstGeom>
          <a:noFill/>
        </p:spPr>
        <p:txBody>
          <a:bodyPr wrap="square" anchor="t"/>
          <a:lstStyle/>
          <a:p>
            <a:pPr algn="ctr">
              <a:lnSpc>
                <a:spcPct val="110000"/>
              </a:lnSpc>
              <a:spcAft>
                <a:spcPts val="400"/>
              </a:spcAft>
            </a:pPr>
            <a:r>
              <a:rPr sz="2000" b="1">
                <a:solidFill>
                  <a:srgbClr val="13294B"/>
                </a:solidFill>
                <a:latin typeface="맑은 고딕"/>
                <a:ea typeface="맑은 고딕"/>
                <a:cs typeface="맑은 고딕"/>
              </a:rPr>
              <a:t>뜻을 묻는다</a:t>
            </a:r>
          </a:p>
          <a:p>
            <a:pPr algn="ctr">
              <a:lnSpc>
                <a:spcPct val="110000"/>
              </a:lnSpc>
              <a:spcAft>
                <a:spcPts val="400"/>
              </a:spcAft>
            </a:pPr>
            <a:r>
              <a:rPr sz="1650" b="0">
                <a:solidFill>
                  <a:srgbClr val="1F2A3A"/>
                </a:solidFill>
                <a:latin typeface="맑은 고딕"/>
                <a:ea typeface="맑은 고딕"/>
                <a:cs typeface="맑은 고딕"/>
              </a:rPr>
              <a:t>그 용어가</a:t>
            </a:r>
          </a:p>
          <a:p>
            <a:pPr algn="ctr">
              <a:lnSpc>
                <a:spcPct val="110000"/>
              </a:lnSpc>
              <a:spcAft>
                <a:spcPts val="400"/>
              </a:spcAft>
            </a:pPr>
            <a:r>
              <a:rPr sz="1650" b="0">
                <a:solidFill>
                  <a:srgbClr val="1F2A3A"/>
                </a:solidFill>
                <a:latin typeface="맑은 고딕"/>
                <a:ea typeface="맑은 고딕"/>
                <a:cs typeface="맑은 고딕"/>
              </a:rPr>
              <a:t>무엇을 뜻하는지</a:t>
            </a:r>
          </a:p>
          <a:p>
            <a:pPr algn="ctr">
              <a:lnSpc>
                <a:spcPct val="110000"/>
              </a:lnSpc>
              <a:spcAft>
                <a:spcPts val="400"/>
              </a:spcAft>
            </a:pPr>
            <a:r>
              <a:rPr sz="165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132203"/>
            <a:ext cx="2485567" cy="371830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315083"/>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468702"/>
            <a:ext cx="424281" cy="424281"/>
          </a:xfrm>
          <a:prstGeom prst="rect">
            <a:avLst/>
          </a:prstGeom>
        </p:spPr>
      </p:pic>
      <p:sp>
        <p:nvSpPr>
          <p:cNvPr id="19" name="TextBox 18"/>
          <p:cNvSpPr txBox="1"/>
          <p:nvPr/>
        </p:nvSpPr>
        <p:spPr>
          <a:xfrm>
            <a:off x="6361023" y="3119755"/>
            <a:ext cx="2339263" cy="2657601"/>
          </a:xfrm>
          <a:prstGeom prst="rect">
            <a:avLst/>
          </a:prstGeom>
          <a:noFill/>
        </p:spPr>
        <p:txBody>
          <a:bodyPr wrap="square" anchor="t"/>
          <a:lstStyle/>
          <a:p>
            <a:pPr algn="ctr">
              <a:lnSpc>
                <a:spcPct val="110000"/>
              </a:lnSpc>
              <a:spcAft>
                <a:spcPts val="400"/>
              </a:spcAft>
            </a:pPr>
            <a:r>
              <a:rPr sz="2000" b="1">
                <a:solidFill>
                  <a:srgbClr val="13294B"/>
                </a:solidFill>
                <a:latin typeface="맑은 고딕"/>
                <a:ea typeface="맑은 고딕"/>
                <a:cs typeface="맑은 고딕"/>
              </a:rPr>
              <a:t>계속 내려간다</a:t>
            </a:r>
          </a:p>
          <a:p>
            <a:pPr algn="ctr">
              <a:lnSpc>
                <a:spcPct val="110000"/>
              </a:lnSpc>
              <a:spcAft>
                <a:spcPts val="400"/>
              </a:spcAft>
            </a:pPr>
            <a:r>
              <a:rPr sz="1650" b="0">
                <a:solidFill>
                  <a:srgbClr val="1F2A3A"/>
                </a:solidFill>
                <a:latin typeface="맑은 고딕"/>
                <a:ea typeface="맑은 고딕"/>
                <a:cs typeface="맑은 고딕"/>
              </a:rPr>
              <a:t>설명 속에 또 모르는 말이</a:t>
            </a:r>
          </a:p>
          <a:p>
            <a:pPr algn="ctr">
              <a:lnSpc>
                <a:spcPct val="110000"/>
              </a:lnSpc>
              <a:spcAft>
                <a:spcPts val="400"/>
              </a:spcAft>
            </a:pPr>
            <a:r>
              <a:rPr sz="1650" b="0">
                <a:solidFill>
                  <a:srgbClr val="1F2A3A"/>
                </a:solidFill>
                <a:latin typeface="맑은 고딕"/>
                <a:ea typeface="맑은 고딕"/>
                <a:cs typeface="맑은 고딕"/>
              </a:rPr>
              <a:t>있으면 다시 묻는다</a:t>
            </a:r>
          </a:p>
          <a:p>
            <a:pPr algn="ctr">
              <a:lnSpc>
                <a:spcPct val="110000"/>
              </a:lnSpc>
              <a:spcAft>
                <a:spcPts val="400"/>
              </a:spcAft>
            </a:pPr>
            <a:r>
              <a:rPr sz="1650" b="0">
                <a:solidFill>
                  <a:srgbClr val="1F2A3A"/>
                </a:solidFill>
                <a:latin typeface="맑은 고딕"/>
                <a:ea typeface="맑은 고딕"/>
                <a:cs typeface="맑은 고딕"/>
              </a:rPr>
              <a:t>초등학생에게 설명하듯</a:t>
            </a:r>
          </a:p>
          <a:p>
            <a:pPr algn="ctr">
              <a:lnSpc>
                <a:spcPct val="110000"/>
              </a:lnSpc>
              <a:spcAft>
                <a:spcPts val="400"/>
              </a:spcAft>
            </a:pPr>
            <a:r>
              <a:rPr sz="165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132203"/>
            <a:ext cx="2485567" cy="371830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315083"/>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468702"/>
            <a:ext cx="424281" cy="424281"/>
          </a:xfrm>
          <a:prstGeom prst="rect">
            <a:avLst/>
          </a:prstGeom>
        </p:spPr>
      </p:pic>
      <p:sp>
        <p:nvSpPr>
          <p:cNvPr id="24" name="TextBox 23"/>
          <p:cNvSpPr txBox="1"/>
          <p:nvPr/>
        </p:nvSpPr>
        <p:spPr>
          <a:xfrm>
            <a:off x="9230639" y="3119755"/>
            <a:ext cx="2339263" cy="2657601"/>
          </a:xfrm>
          <a:prstGeom prst="rect">
            <a:avLst/>
          </a:prstGeom>
          <a:noFill/>
        </p:spPr>
        <p:txBody>
          <a:bodyPr wrap="square" anchor="t"/>
          <a:lstStyle/>
          <a:p>
            <a:pPr algn="ctr">
              <a:lnSpc>
                <a:spcPct val="110000"/>
              </a:lnSpc>
              <a:spcAft>
                <a:spcPts val="400"/>
              </a:spcAft>
            </a:pPr>
            <a:r>
              <a:rPr sz="2000" b="1">
                <a:solidFill>
                  <a:srgbClr val="13294B"/>
                </a:solidFill>
                <a:latin typeface="맑은 고딕"/>
                <a:ea typeface="맑은 고딕"/>
                <a:cs typeface="맑은 고딕"/>
              </a:rPr>
              <a:t>올라온다</a:t>
            </a:r>
          </a:p>
          <a:p>
            <a:pPr algn="ctr">
              <a:lnSpc>
                <a:spcPct val="110000"/>
              </a:lnSpc>
              <a:spcAft>
                <a:spcPts val="400"/>
              </a:spcAft>
            </a:pPr>
            <a:r>
              <a:rPr sz="1650" b="0">
                <a:solidFill>
                  <a:srgbClr val="1F2A3A"/>
                </a:solidFill>
                <a:latin typeface="맑은 고딕"/>
                <a:ea typeface="맑은 고딕"/>
                <a:cs typeface="맑은 고딕"/>
              </a:rPr>
              <a:t>바닥에서부터</a:t>
            </a:r>
          </a:p>
          <a:p>
            <a:pPr algn="ctr">
              <a:lnSpc>
                <a:spcPct val="110000"/>
              </a:lnSpc>
              <a:spcAft>
                <a:spcPts val="400"/>
              </a:spcAft>
            </a:pPr>
            <a:r>
              <a:rPr sz="1650" b="0">
                <a:solidFill>
                  <a:srgbClr val="1F2A3A"/>
                </a:solidFill>
                <a:latin typeface="맑은 고딕"/>
                <a:ea typeface="맑은 고딕"/>
                <a:cs typeface="맑은 고딕"/>
              </a:rPr>
              <a:t>하나씩 이어 붙이며</a:t>
            </a:r>
          </a:p>
          <a:p>
            <a:pPr algn="ctr">
              <a:lnSpc>
                <a:spcPct val="110000"/>
              </a:lnSpc>
              <a:spcAft>
                <a:spcPts val="400"/>
              </a:spcAft>
            </a:pPr>
            <a:r>
              <a:rPr sz="1650" b="0">
                <a:solidFill>
                  <a:srgbClr val="1F2A3A"/>
                </a:solidFill>
                <a:latin typeface="맑은 고딕"/>
                <a:ea typeface="맑은 고딕"/>
                <a:cs typeface="맑은 고딕"/>
              </a:rPr>
              <a:t>처음의 용어로</a:t>
            </a:r>
          </a:p>
          <a:p>
            <a:pPr algn="ctr">
              <a:lnSpc>
                <a:spcPct val="110000"/>
              </a:lnSpc>
              <a:spcAft>
                <a:spcPts val="400"/>
              </a:spcAft>
            </a:pPr>
            <a:r>
              <a:rPr sz="1650" b="0">
                <a:solidFill>
                  <a:srgbClr val="1F2A3A"/>
                </a:solidFill>
                <a:latin typeface="맑은 고딕"/>
                <a:ea typeface="맑은 고딕"/>
                <a:cs typeface="맑은 고딕"/>
              </a:rPr>
              <a:t>돌아온다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뜻을 내 말로 옮겨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정의를 외우는 대신 뜻을 내 말로 풀어 쓴 기록을 학습노트에 쌓아 가면, 그 기록이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195065"/>
            <a:ext cx="4632807" cy="2095500"/>
          </a:xfrm>
          <a:prstGeom prst="rect">
            <a:avLst/>
          </a:prstGeom>
          <a:noFill/>
        </p:spPr>
        <p:txBody>
          <a:bodyPr wrap="square" anchor="t"/>
          <a:lstStyle/>
          <a:p>
            <a:pPr algn="l" marL="205740" indent="-205740">
              <a:lnSpc>
                <a:spcPct val="110000"/>
              </a:lnSpc>
              <a:spcAft>
                <a:spcPts val="600"/>
              </a:spcAft>
            </a:pPr>
            <a:r>
              <a:rPr sz="1800" b="0">
                <a:solidFill>
                  <a:srgbClr val="1F2A3A"/>
                </a:solidFill>
                <a:latin typeface="맑은 고딕"/>
                <a:ea typeface="맑은 고딕"/>
                <a:cs typeface="맑은 고딕"/>
              </a:rPr>
              <a:t>• 문장은 기억하지만 다른 말로 물으면 답하지 못한다</a:t>
            </a:r>
          </a:p>
          <a:p>
            <a:pPr algn="l" marL="205740" indent="-205740">
              <a:lnSpc>
                <a:spcPct val="110000"/>
              </a:lnSpc>
              <a:spcAft>
                <a:spcPts val="600"/>
              </a:spcAft>
            </a:pPr>
            <a:r>
              <a:rPr sz="180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notebook" descr="notebook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내 말로 옮겨 쌓는다</a:t>
            </a:r>
          </a:p>
        </p:txBody>
      </p:sp>
      <p:sp>
        <p:nvSpPr>
          <p:cNvPr id="17" name="TextBox 16"/>
          <p:cNvSpPr txBox="1"/>
          <p:nvPr/>
        </p:nvSpPr>
        <p:spPr>
          <a:xfrm>
            <a:off x="6735927" y="3195065"/>
            <a:ext cx="4632807" cy="2095500"/>
          </a:xfrm>
          <a:prstGeom prst="rect">
            <a:avLst/>
          </a:prstGeom>
          <a:noFill/>
        </p:spPr>
        <p:txBody>
          <a:bodyPr wrap="square" anchor="t"/>
          <a:lstStyle/>
          <a:p>
            <a:pPr algn="l" marL="205740" indent="-205740">
              <a:lnSpc>
                <a:spcPct val="110000"/>
              </a:lnSpc>
              <a:spcAft>
                <a:spcPts val="600"/>
              </a:spcAft>
            </a:pPr>
            <a:r>
              <a:rPr sz="1800" b="0">
                <a:solidFill>
                  <a:srgbClr val="1F2A3A"/>
                </a:solidFill>
                <a:latin typeface="맑은 고딕"/>
                <a:ea typeface="맑은 고딕"/>
                <a:cs typeface="맑은 고딕"/>
              </a:rPr>
              <a:t>• 원리는 그대로 두고 표현만 쉽게 바꾼다</a:t>
            </a:r>
          </a:p>
          <a:p>
            <a:pPr algn="l" marL="205740" indent="-205740">
              <a:lnSpc>
                <a:spcPct val="110000"/>
              </a:lnSpc>
              <a:spcAft>
                <a:spcPts val="600"/>
              </a:spcAft>
            </a:pPr>
            <a:r>
              <a:rPr sz="1800" b="0">
                <a:solidFill>
                  <a:srgbClr val="1F2A3A"/>
                </a:solidFill>
                <a:latin typeface="맑은 고딕"/>
                <a:ea typeface="맑은 고딕"/>
                <a:cs typeface="맑은 고딕"/>
              </a:rPr>
              <a:t>• 다른 말로 물어도 답하고 남에게 설명할 수 있다</a:t>
            </a:r>
          </a:p>
          <a:p>
            <a:pPr algn="l" marL="205740" indent="-205740">
              <a:lnSpc>
                <a:spcPct val="110000"/>
              </a:lnSpc>
              <a:spcAft>
                <a:spcPts val="600"/>
              </a:spcAft>
            </a:pPr>
            <a:r>
              <a:rPr sz="1800" b="0">
                <a:solidFill>
                  <a:srgbClr val="1F2A3A"/>
                </a:solidFill>
                <a:latin typeface="맑은 고딕"/>
                <a:ea typeface="맑은 고딕"/>
                <a:cs typeface="맑은 고딕"/>
              </a:rPr>
              <a:t>• 이렇게 쓴 기록을 개인 학습노트에 모은다</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쌓이는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a:lnSpc>
                <a:spcPct val="110000"/>
              </a:lnSpc>
              <a:spcAft>
                <a:spcPts val="400"/>
              </a:spcAft>
            </a:pPr>
            <a:r>
              <a:rPr sz="2000" b="1">
                <a:solidFill>
                  <a:srgbClr val="13294B"/>
                </a:solidFill>
                <a:latin typeface="맑은 고딕"/>
                <a:ea typeface="맑은 고딕"/>
                <a:cs typeface="맑은 고딕"/>
              </a:rPr>
              <a:t>과정 홈</a:t>
            </a:r>
          </a:p>
          <a:p>
            <a:pPr algn="l" marL="182880" indent="-182880">
              <a:lnSpc>
                <a:spcPct val="110000"/>
              </a:lnSpc>
              <a:spcAft>
                <a:spcPts val="400"/>
              </a:spcAft>
            </a:pPr>
            <a:r>
              <a:rPr sz="1600" b="0">
                <a:solidFill>
                  <a:srgbClr val="1F2A3A"/>
                </a:solidFill>
                <a:latin typeface="맑은 고딕"/>
                <a:ea typeface="맑은 고딕"/>
                <a:cs typeface="맑은 고딕"/>
              </a:rPr>
              <a:t>• 과정 전체로 들어가는 첫 페이지이다</a:t>
            </a:r>
          </a:p>
          <a:p>
            <a:pPr algn="l" marL="182880" indent="-182880">
              <a:lnSpc>
                <a:spcPct val="110000"/>
              </a:lnSpc>
              <a:spcAft>
                <a:spcPts val="400"/>
              </a:spcAft>
            </a:pPr>
            <a:r>
              <a:rPr sz="1600" b="0">
                <a:solidFill>
                  <a:srgbClr val="1F2A3A"/>
                </a:solidFill>
                <a:latin typeface="맑은 고딕"/>
                <a:ea typeface="맑은 고딕"/>
                <a:cs typeface="맑은 고딕"/>
              </a:rPr>
              <a:t>• 노트 작성 규칙을 몇 줄로 적어 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a:lnSpc>
                <a:spcPct val="110000"/>
              </a:lnSpc>
              <a:spcAft>
                <a:spcPts val="400"/>
              </a:spcAft>
            </a:pPr>
            <a:r>
              <a:rPr sz="2000" b="1">
                <a:solidFill>
                  <a:srgbClr val="13294B"/>
                </a:solidFill>
                <a:latin typeface="맑은 고딕"/>
                <a:ea typeface="맑은 고딕"/>
                <a:cs typeface="맑은 고딕"/>
              </a:rPr>
              <a:t>세 구획</a:t>
            </a:r>
          </a:p>
          <a:p>
            <a:pPr algn="l" marL="182880" indent="-182880">
              <a:lnSpc>
                <a:spcPct val="110000"/>
              </a:lnSpc>
              <a:spcAft>
                <a:spcPts val="400"/>
              </a:spcAft>
            </a:pPr>
            <a:r>
              <a:rPr sz="1600" b="0">
                <a:solidFill>
                  <a:srgbClr val="1F2A3A"/>
                </a:solidFill>
                <a:latin typeface="맑은 고딕"/>
                <a:ea typeface="맑은 고딕"/>
                <a:cs typeface="맑은 고딕"/>
              </a:rPr>
              <a:t>• 본문을 개념 정리, 참고 자료, 실습 결과로 나눈다</a:t>
            </a:r>
          </a:p>
          <a:p>
            <a:pPr algn="l" marL="182880" indent="-182880">
              <a:lnSpc>
                <a:spcPct val="110000"/>
              </a:lnSpc>
              <a:spcAft>
                <a:spcPts val="400"/>
              </a:spcAft>
            </a:pPr>
            <a:r>
              <a:rPr sz="1600" b="0">
                <a:solidFill>
                  <a:srgbClr val="1F2A3A"/>
                </a:solidFill>
                <a:latin typeface="맑은 고딕"/>
                <a:ea typeface="맑은 고딕"/>
                <a:cs typeface="맑은 고딕"/>
              </a:rPr>
              <a:t>• 각 기록이 놓일 자리가 정해진다</a:t>
            </a:r>
          </a:p>
        </p:txBody>
      </p:sp>
      <p:sp>
        <p:nvSpPr>
          <p:cNvPr id="16" name="Rounded Rectangle 15"/>
          <p:cNvSpPr/>
          <p:nvPr/>
        </p:nvSpPr>
        <p:spPr>
          <a:xfrm>
            <a:off x="4566818"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a:lnSpc>
                <a:spcPct val="110000"/>
              </a:lnSpc>
              <a:spcAft>
                <a:spcPts val="400"/>
              </a:spcAft>
            </a:pPr>
            <a:r>
              <a:rPr sz="2000" b="1">
                <a:solidFill>
                  <a:srgbClr val="13294B"/>
                </a:solidFill>
                <a:latin typeface="맑은 고딕"/>
                <a:ea typeface="맑은 고딕"/>
                <a:cs typeface="맑은 고딕"/>
              </a:rPr>
              <a:t>학습노트 데이터베이스</a:t>
            </a:r>
          </a:p>
          <a:p>
            <a:pPr algn="l" marL="182880" indent="-182880">
              <a:lnSpc>
                <a:spcPct val="110000"/>
              </a:lnSpc>
              <a:spcAft>
                <a:spcPts val="400"/>
              </a:spcAft>
            </a:pPr>
            <a:r>
              <a:rPr sz="1600" b="0">
                <a:solidFill>
                  <a:srgbClr val="1F2A3A"/>
                </a:solidFill>
                <a:latin typeface="맑은 고딕"/>
                <a:ea typeface="맑은 고딕"/>
                <a:cs typeface="맑은 고딕"/>
              </a:rPr>
              <a:t>• 각 기록에 분야, 이해도, 작성일을 붙인다</a:t>
            </a:r>
          </a:p>
          <a:p>
            <a:pPr algn="l" marL="182880" indent="-182880">
              <a:lnSpc>
                <a:spcPct val="110000"/>
              </a:lnSpc>
              <a:spcAft>
                <a:spcPts val="400"/>
              </a:spcAft>
            </a:pPr>
            <a:r>
              <a:rPr sz="1600" b="0">
                <a:solidFill>
                  <a:srgbClr val="1F2A3A"/>
                </a:solidFill>
                <a:latin typeface="맑은 고딕"/>
                <a:ea typeface="맑은 고딕"/>
                <a:cs typeface="맑은 고딕"/>
              </a:rPr>
              <a:t>• 이해도가 낮은 기록만 모아 다시 볼 수 있게 한다</a:t>
            </a:r>
          </a:p>
          <a:p>
            <a:pPr algn="l" marL="182880" indent="-182880">
              <a:lnSpc>
                <a:spcPct val="110000"/>
              </a:lnSpc>
              <a:spcAft>
                <a:spcPts val="400"/>
              </a:spcAft>
            </a:pPr>
            <a:r>
              <a:rPr sz="1600" b="0">
                <a:solidFill>
                  <a:srgbClr val="1F2A3A"/>
                </a:solidFill>
                <a:latin typeface="맑은 고딕"/>
                <a:ea typeface="맑은 고딕"/>
                <a:cs typeface="맑은 고딕"/>
              </a:rPr>
              <a:t>• 첫 기록으로 개념 하나를 내 말로 쓴다</a:t>
            </a:r>
          </a:p>
        </p:txBody>
      </p:sp>
      <p:sp>
        <p:nvSpPr>
          <p:cNvPr id="22" name="Rounded Rectangle 21"/>
          <p:cNvSpPr/>
          <p:nvPr/>
        </p:nvSpPr>
        <p:spPr>
          <a:xfrm>
            <a:off x="8356396" y="5429504"/>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단원에서는 그 데이터를 판단과 조치로 잇는 구조를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공정에서 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전기 신호로 바꿔</a:t>
            </a:r>
          </a:p>
          <a:p>
            <a:pPr algn="ctr">
              <a:lnSpc>
                <a:spcPct val="110000"/>
              </a:lnSpc>
              <a:spcAft>
                <a:spcPts val="400"/>
              </a:spcAft>
            </a:pPr>
            <a:r>
              <a:rPr sz="1300" b="0">
                <a:solidFill>
                  <a:srgbClr val="1F2A3A"/>
                </a:solidFill>
                <a:latin typeface="맑은 고딕"/>
                <a:ea typeface="맑은 고딕"/>
                <a:cs typeface="맑은 고딕"/>
              </a:rPr>
              <a:t>계측값으로 내놓는다</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계측값과 상태</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계측값을 읽어 설비를 제어한다</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계측값을 보여 주고 조작을 받는다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설비_유압파워팩.svg" descr="illust_662648920079691053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빼내는 정도</a:t>
            </a:r>
          </a:p>
          <a:p>
            <a:pPr algn="ctr">
              <a:lnSpc>
                <a:spcPct val="110000"/>
              </a:lnSpc>
              <a:spcAft>
                <a:spcPts val="100"/>
              </a:spcAft>
            </a:pPr>
            <a:r>
              <a:rPr sz="1100" b="0">
                <a:solidFill>
                  <a:srgbClr val="556175"/>
                </a:solidFill>
                <a:latin typeface="맑은 고딕"/>
                <a:ea typeface="맑은 고딕"/>
                <a:cs typeface="맑은 고딕"/>
              </a:rPr>
              <a:t>다른 값 기반 가상센서값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 판단을 기다리다 손상될 수 있어, 위험 수준이면 설비 옆 PLC가 즉시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입력 읽기 → 프로그램 실행 → 출력 쓰기를 짧은 스캔 주기(Scan Cycle)로 되풀이한다.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설정값(SP)을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조건에 이르면 다른 명령보다 우선해 설비를 안전한 상태로 전환하는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트립(Trip, 보호 정지)시킨다.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제어</a:t>
            </a:r>
          </a:p>
          <a:p>
            <a:pPr algn="l">
              <a:lnSpc>
                <a:spcPct val="110000"/>
              </a:lnSpc>
              <a:spcAft>
                <a:spcPts val="200"/>
              </a:spcAft>
            </a:pPr>
            <a:r>
              <a:rPr sz="1150" b="0">
                <a:solidFill>
                  <a:srgbClr val="556175"/>
                </a:solidFill>
                <a:latin typeface="맑은 고딕"/>
                <a:ea typeface="맑은 고딕"/>
                <a:cs typeface="맑은 고딕"/>
              </a:rPr>
              <a:t>실시간성</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PLC는 1초에도 수십 번씩 계측값을 읽고 판단한다.</a:t>
            </a:r>
          </a:p>
          <a:p>
            <a:pPr algn="l">
              <a:lnSpc>
                <a:spcPct val="110000"/>
              </a:lnSpc>
              <a:spcAft>
                <a:spcPts val="300"/>
              </a:spcAft>
            </a:pPr>
            <a:r>
              <a:rPr sz="1400" b="0">
                <a:solidFill>
                  <a:srgbClr val="1F2A3A"/>
                </a:solidFill>
                <a:latin typeface="맑은 고딕"/>
                <a:ea typeface="맑은 고딕"/>
                <a:cs typeface="맑은 고딕"/>
              </a:rPr>
              <a:t>서버를 오가는 데는 1초 안팎이 걸리고, 통신이 끊길 수도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손상되는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49504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a:lnSpc>
                <a:spcPct val="110000"/>
              </a:lnSpc>
              <a:spcAft>
                <a:spcPts val="400"/>
              </a:spcAft>
            </a:pPr>
            <a:r>
              <a:rPr sz="2200" b="1">
                <a:solidFill>
                  <a:srgbClr val="13294B"/>
                </a:solidFill>
                <a:latin typeface="맑은 고딕"/>
                <a:ea typeface="맑은 고딕"/>
                <a:cs typeface="맑은 고딕"/>
              </a:rPr>
              <a:t>유온 TS1</a:t>
            </a:r>
          </a:p>
          <a:p>
            <a:pPr algn="l" marL="205740" indent="-205740">
              <a:lnSpc>
                <a:spcPct val="110000"/>
              </a:lnSpc>
              <a:spcAft>
                <a:spcPts val="400"/>
              </a:spcAft>
            </a:pPr>
            <a:r>
              <a:rPr sz="1800" b="0">
                <a:solidFill>
                  <a:srgbClr val="1F2A3A"/>
                </a:solidFill>
                <a:latin typeface="맑은 고딕"/>
                <a:ea typeface="맑은 고딕"/>
                <a:cs typeface="맑은 고딕"/>
              </a:rPr>
              <a:t>• 65 ℃를 넘으면 트립된다</a:t>
            </a:r>
          </a:p>
          <a:p>
            <a:pPr algn="l" marL="205740" indent="-205740">
              <a:lnSpc>
                <a:spcPct val="110000"/>
              </a:lnSpc>
              <a:spcAft>
                <a:spcPts val="400"/>
              </a:spcAft>
            </a:pPr>
            <a:r>
              <a:rPr sz="18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25907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a:lnSpc>
                <a:spcPct val="110000"/>
              </a:lnSpc>
              <a:spcAft>
                <a:spcPts val="400"/>
              </a:spcAft>
            </a:pPr>
            <a:r>
              <a:rPr sz="2200" b="1">
                <a:solidFill>
                  <a:srgbClr val="13294B"/>
                </a:solidFill>
                <a:latin typeface="맑은 고딕"/>
                <a:ea typeface="맑은 고딕"/>
                <a:cs typeface="맑은 고딕"/>
              </a:rPr>
              <a:t>토출 압력 PS1</a:t>
            </a:r>
          </a:p>
          <a:p>
            <a:pPr algn="l" marL="205740" indent="-205740">
              <a:lnSpc>
                <a:spcPct val="110000"/>
              </a:lnSpc>
              <a:spcAft>
                <a:spcPts val="400"/>
              </a:spcAft>
            </a:pPr>
            <a:r>
              <a:rPr sz="1800" b="0">
                <a:solidFill>
                  <a:srgbClr val="1F2A3A"/>
                </a:solidFill>
                <a:latin typeface="맑은 고딕"/>
                <a:ea typeface="맑은 고딕"/>
                <a:cs typeface="맑은 고딕"/>
              </a:rPr>
              <a:t>• 130 bar 아래로 내려가면 트립된다</a:t>
            </a:r>
          </a:p>
          <a:p>
            <a:pPr algn="l" marL="205740" indent="-205740">
              <a:lnSpc>
                <a:spcPct val="110000"/>
              </a:lnSpc>
              <a:spcAft>
                <a:spcPts val="400"/>
              </a:spcAft>
            </a:pPr>
            <a:r>
              <a:rPr sz="1800" b="0">
                <a:solidFill>
                  <a:srgbClr val="1F2A3A"/>
                </a:solidFill>
                <a:latin typeface="맑은 고딕"/>
                <a:ea typeface="맑은 고딕"/>
                <a:cs typeface="맑은 고딕"/>
              </a:rPr>
              <a:t>• 펌프 마모나 내부 누설을 뜻한다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a:lnSpc>
                <a:spcPct val="110000"/>
              </a:lnSpc>
              <a:spcAft>
                <a:spcPts val="400"/>
              </a:spcAft>
            </a:pPr>
            <a:r>
              <a:rPr sz="2200" b="1">
                <a:solidFill>
                  <a:srgbClr val="13294B"/>
                </a:solidFill>
                <a:latin typeface="맑은 고딕"/>
                <a:ea typeface="맑은 고딕"/>
                <a:cs typeface="맑은 고딕"/>
              </a:rPr>
              <a:t>팬 진동 VS1</a:t>
            </a:r>
          </a:p>
          <a:p>
            <a:pPr algn="l" marL="205740" indent="-205740">
              <a:lnSpc>
                <a:spcPct val="110000"/>
              </a:lnSpc>
              <a:spcAft>
                <a:spcPts val="400"/>
              </a:spcAft>
            </a:pPr>
            <a:r>
              <a:rPr sz="1800" b="0">
                <a:solidFill>
                  <a:srgbClr val="1F2A3A"/>
                </a:solidFill>
                <a:latin typeface="맑은 고딕"/>
                <a:ea typeface="맑은 고딕"/>
                <a:cs typeface="맑은 고딕"/>
              </a:rPr>
              <a:t>• 2.0 mm/s 이상이면 트립된다</a:t>
            </a:r>
          </a:p>
          <a:p>
            <a:pPr algn="l" marL="205740" indent="-205740">
              <a:lnSpc>
                <a:spcPct val="110000"/>
              </a:lnSpc>
              <a:spcAft>
                <a:spcPts val="400"/>
              </a:spcAft>
            </a:pPr>
            <a:r>
              <a:rPr sz="18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25907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통신의 결정성과 지연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평균 속도보다 정해진 시간 안에 도착하는 것이 중요하며, 보안은 망의 구조와 상위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272536"/>
            <a:ext cx="4632807" cy="1940560"/>
          </a:xfrm>
          <a:prstGeom prst="rect">
            <a:avLst/>
          </a:prstGeom>
          <a:noFill/>
        </p:spPr>
        <p:txBody>
          <a:bodyPr wrap="square" anchor="t"/>
          <a:lstStyle/>
          <a:p>
            <a:pPr algn="l" marL="182880" indent="-182880">
              <a:lnSpc>
                <a:spcPct val="110000"/>
              </a:lnSpc>
              <a:spcAft>
                <a:spcPts val="600"/>
              </a:spcAft>
            </a:pPr>
            <a:r>
              <a:rPr sz="1600" b="0">
                <a:solidFill>
                  <a:srgbClr val="1F2A3A"/>
                </a:solidFill>
                <a:latin typeface="맑은 고딕"/>
                <a:ea typeface="맑은 고딕"/>
                <a:cs typeface="맑은 고딕"/>
              </a:rPr>
              <a:t>• 평균 지연(Latency)과 처리량이 중요하다</a:t>
            </a:r>
          </a:p>
          <a:p>
            <a:pPr algn="l" marL="182880" indent="-182880">
              <a:lnSpc>
                <a:spcPct val="110000"/>
              </a:lnSpc>
              <a:spcAft>
                <a:spcPts val="600"/>
              </a:spcAft>
            </a:pPr>
            <a:r>
              <a:rPr sz="1600" b="0">
                <a:solidFill>
                  <a:srgbClr val="1F2A3A"/>
                </a:solidFill>
                <a:latin typeface="맑은 고딕"/>
                <a:ea typeface="맑은 고딕"/>
                <a:cs typeface="맑은 고딕"/>
              </a:rPr>
              <a:t>• 암호화와 인증으로 기밀성과 무결성을 지킨다</a:t>
            </a:r>
          </a:p>
          <a:p>
            <a:pPr algn="l" marL="182880" indent="-182880">
              <a:lnSpc>
                <a:spcPct val="110000"/>
              </a:lnSpc>
              <a:spcAft>
                <a:spcPts val="600"/>
              </a:spcAft>
            </a:pPr>
            <a:r>
              <a:rPr sz="1600" b="0">
                <a:solidFill>
                  <a:srgbClr val="1F2A3A"/>
                </a:solidFill>
                <a:latin typeface="맑은 고딕"/>
                <a:ea typeface="맑은 고딕"/>
                <a:cs typeface="맑은 고딕"/>
              </a:rPr>
              <a:t>• 지연이 매번 달라져도 된다</a:t>
            </a:r>
          </a:p>
        </p:txBody>
      </p:sp>
      <p:sp>
        <p:nvSpPr>
          <p:cNvPr id="11" name="Rounded Rectangle 10"/>
          <p:cNvSpPr/>
          <p:nvPr/>
        </p:nvSpPr>
        <p:spPr>
          <a:xfrm>
            <a:off x="868680" y="530453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성능</a:t>
            </a:r>
          </a:p>
        </p:txBody>
      </p:sp>
      <p:sp>
        <p:nvSpPr>
          <p:cNvPr id="13" name="Rounded Rectangle 12"/>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22144"/>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272536"/>
            <a:ext cx="4632807" cy="1940560"/>
          </a:xfrm>
          <a:prstGeom prst="rect">
            <a:avLst/>
          </a:prstGeom>
          <a:noFill/>
        </p:spPr>
        <p:txBody>
          <a:bodyPr wrap="square" anchor="t"/>
          <a:lstStyle/>
          <a:p>
            <a:pPr algn="l" marL="182880" indent="-182880">
              <a:lnSpc>
                <a:spcPct val="110000"/>
              </a:lnSpc>
              <a:spcAft>
                <a:spcPts val="600"/>
              </a:spcAft>
            </a:pPr>
            <a:r>
              <a:rPr sz="1600" b="0">
                <a:solidFill>
                  <a:srgbClr val="1F2A3A"/>
                </a:solidFill>
                <a:latin typeface="맑은 고딕"/>
                <a:ea typeface="맑은 고딕"/>
                <a:cs typeface="맑은 고딕"/>
              </a:rPr>
              <a:t>• 최악의 경우에도 정해진 시간 안에 도착해야 한다</a:t>
            </a:r>
          </a:p>
          <a:p>
            <a:pPr algn="l" marL="182880" indent="-182880">
              <a:lnSpc>
                <a:spcPct val="110000"/>
              </a:lnSpc>
              <a:spcAft>
                <a:spcPts val="600"/>
              </a:spcAft>
            </a:pPr>
            <a:r>
              <a:rPr sz="1600" b="0">
                <a:solidFill>
                  <a:srgbClr val="1F2A3A"/>
                </a:solidFill>
                <a:latin typeface="맑은 고딕"/>
                <a:ea typeface="맑은 고딕"/>
                <a:cs typeface="맑은 고딕"/>
              </a:rPr>
              <a:t>• 지연의 흔들림인 지터(Jitter)가 작아야 한다</a:t>
            </a:r>
          </a:p>
          <a:p>
            <a:pPr algn="l" marL="182880" indent="-182880">
              <a:lnSpc>
                <a:spcPct val="110000"/>
              </a:lnSpc>
              <a:spcAft>
                <a:spcPts val="600"/>
              </a:spcAft>
            </a:pPr>
            <a:r>
              <a:rPr sz="1600" b="0">
                <a:solidFill>
                  <a:srgbClr val="1F2A3A"/>
                </a:solidFill>
                <a:latin typeface="맑은 고딕"/>
                <a:ea typeface="맑은 고딕"/>
                <a:cs typeface="맑은 고딕"/>
              </a:rPr>
              <a:t>• 여기에 쓰이는 Modbus 같은 전통 규약에는 암호화와 인증이 없다</a:t>
            </a:r>
          </a:p>
        </p:txBody>
      </p:sp>
      <p:sp>
        <p:nvSpPr>
          <p:cNvPr id="18" name="Rounded Rectangle 17"/>
          <p:cNvSpPr/>
          <p:nvPr/>
        </p:nvSpPr>
        <p:spPr>
          <a:xfrm>
            <a:off x="6781647" y="5304536"/>
            <a:ext cx="186842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04536"/>
            <a:ext cx="186842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결정성(Determinism)</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원시 값에 맥락을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엣지 게이트웨이는 레지스터의 원시 값에 태그 이름과 시각을 붙여, 태그 값과 운전 상태 메시지로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항목</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원시 값을 이름과 시각을 갖춘 메시지로 바꾸는 프로토콜 변환의 자리이다. 이 역할에는 EdgeX Foundry 같은 것이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점대점 연결의 한계: 강한 결합과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점대점은 송신 측이 각 수신 측을 알고 직접 연결해, 수신 측이 늘면 설비를 고쳐야 하는 강한 결합이다.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점대점 연결</a:t>
            </a:r>
          </a:p>
        </p:txBody>
      </p:sp>
      <p:sp>
        <p:nvSpPr>
          <p:cNvPr id="10" name="TextBox 9"/>
          <p:cNvSpPr txBox="1"/>
          <p:nvPr/>
        </p:nvSpPr>
        <p:spPr>
          <a:xfrm>
            <a:off x="822959" y="3372611"/>
            <a:ext cx="4632807" cy="1740408"/>
          </a:xfrm>
          <a:prstGeom prst="rect">
            <a:avLst/>
          </a:prstGeom>
          <a:noFill/>
        </p:spPr>
        <p:txBody>
          <a:bodyPr wrap="square" anchor="t"/>
          <a:lstStyle/>
          <a:p>
            <a:pPr algn="l" marL="205740" indent="-205740">
              <a:lnSpc>
                <a:spcPct val="110000"/>
              </a:lnSpc>
              <a:spcAft>
                <a:spcPts val="600"/>
              </a:spcAft>
            </a:pPr>
            <a:r>
              <a:rPr sz="1800" b="0">
                <a:solidFill>
                  <a:srgbClr val="1F2A3A"/>
                </a:solidFill>
                <a:latin typeface="맑은 고딕"/>
                <a:ea typeface="맑은 고딕"/>
                <a:cs typeface="맑은 고딕"/>
              </a:rPr>
              <a:t>• 송신 측이 수신 측의 주소를 모두 안다</a:t>
            </a:r>
          </a:p>
          <a:p>
            <a:pPr algn="l" marL="205740" indent="-205740">
              <a:lnSpc>
                <a:spcPct val="110000"/>
              </a:lnSpc>
              <a:spcAft>
                <a:spcPts val="600"/>
              </a:spcAft>
            </a:pPr>
            <a:r>
              <a:rPr sz="1800" b="0">
                <a:solidFill>
                  <a:srgbClr val="1F2A3A"/>
                </a:solidFill>
                <a:latin typeface="맑은 고딕"/>
                <a:ea typeface="맑은 고딕"/>
                <a:cs typeface="맑은 고딕"/>
              </a:rPr>
              <a:t>• 수신 측이 하나 늘면 설비 쪽 프로그램을 고친다</a:t>
            </a:r>
          </a:p>
        </p:txBody>
      </p:sp>
      <p:sp>
        <p:nvSpPr>
          <p:cNvPr id="11" name="Rounded Rectangle 10"/>
          <p:cNvSpPr/>
          <p:nvPr/>
        </p:nvSpPr>
        <p:spPr>
          <a:xfrm>
            <a:off x="868680" y="520446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강한 결합</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메시지 브로커</a:t>
            </a:r>
          </a:p>
        </p:txBody>
      </p:sp>
      <p:sp>
        <p:nvSpPr>
          <p:cNvPr id="17" name="TextBox 16"/>
          <p:cNvSpPr txBox="1"/>
          <p:nvPr/>
        </p:nvSpPr>
        <p:spPr>
          <a:xfrm>
            <a:off x="6735927" y="3372611"/>
            <a:ext cx="4632807" cy="1740408"/>
          </a:xfrm>
          <a:prstGeom prst="rect">
            <a:avLst/>
          </a:prstGeom>
          <a:noFill/>
        </p:spPr>
        <p:txBody>
          <a:bodyPr wrap="square" anchor="t"/>
          <a:lstStyle/>
          <a:p>
            <a:pPr algn="l" marL="205740" indent="-205740">
              <a:lnSpc>
                <a:spcPct val="110000"/>
              </a:lnSpc>
              <a:spcAft>
                <a:spcPts val="600"/>
              </a:spcAft>
            </a:pPr>
            <a:r>
              <a:rPr sz="1800" b="0">
                <a:solidFill>
                  <a:srgbClr val="1F2A3A"/>
                </a:solidFill>
                <a:latin typeface="맑은 고딕"/>
                <a:ea typeface="맑은 고딕"/>
                <a:cs typeface="맑은 고딕"/>
              </a:rPr>
              <a:t>• 송신 측은 브로커에만 보낸다</a:t>
            </a:r>
          </a:p>
          <a:p>
            <a:pPr algn="l" marL="205740" indent="-205740">
              <a:lnSpc>
                <a:spcPct val="110000"/>
              </a:lnSpc>
              <a:spcAft>
                <a:spcPts val="600"/>
              </a:spcAft>
            </a:pPr>
            <a:r>
              <a:rPr sz="1800" b="0">
                <a:solidFill>
                  <a:srgbClr val="1F2A3A"/>
                </a:solidFill>
                <a:latin typeface="맑은 고딕"/>
                <a:ea typeface="맑은 고딕"/>
                <a:cs typeface="맑은 고딕"/>
              </a:rPr>
              <a:t>• 수신 측은 받을 주제를 브로커에 등록한다</a:t>
            </a:r>
          </a:p>
          <a:p>
            <a:pPr algn="l" marL="205740" indent="-205740">
              <a:lnSpc>
                <a:spcPct val="110000"/>
              </a:lnSpc>
              <a:spcAft>
                <a:spcPts val="600"/>
              </a:spcAft>
            </a:pPr>
            <a:r>
              <a:rPr sz="1800" b="0">
                <a:solidFill>
                  <a:srgbClr val="1F2A3A"/>
                </a:solidFill>
                <a:latin typeface="맑은 고딕"/>
                <a:ea typeface="맑은 고딕"/>
                <a:cs typeface="맑은 고딕"/>
              </a:rPr>
              <a:t>• 수신 측이 늘어도 설비 쪽은 그대로이다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느슨한 결합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발행자와 구독자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전달하는 발행 · 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리니지_1_MQTT.svg" descr="illust_7686471050269531263_1791978726.png"/>
          <p:cNvPicPr>
            <a:picLocks noChangeAspect="1"/>
          </p:cNvPicPr>
          <p:nvPr/>
        </p:nvPicPr>
        <p:blipFill>
          <a:blip r:embed="rId3"/>
          <a:stretch>
            <a:fillRect/>
          </a:stretch>
        </p:blipFill>
        <p:spPr>
          <a:xfrm>
            <a:off x="895655" y="1627632"/>
            <a:ext cx="10400385" cy="4727448"/>
          </a:xfrm>
          <a:prstGeom prst="rect">
            <a:avLst/>
          </a:prstGeom>
        </p:spPr>
      </p:pic>
      <p:sp>
        <p:nvSpPr>
          <p:cNvPr id="7" name="TextBox 6"/>
          <p:cNvSpPr txBox="1"/>
          <p:nvPr/>
        </p:nvSpPr>
        <p:spPr>
          <a:xfrm>
            <a:off x="1155664" y="4156816"/>
            <a:ext cx="1560057"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a:t>
            </a:r>
          </a:p>
        </p:txBody>
      </p:sp>
      <p:sp>
        <p:nvSpPr>
          <p:cNvPr id="8" name="TextBox 7"/>
          <p:cNvSpPr txBox="1"/>
          <p:nvPr/>
        </p:nvSpPr>
        <p:spPr>
          <a:xfrm>
            <a:off x="3214940" y="4156816"/>
            <a:ext cx="197607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발행자(Publisher)</a:t>
            </a:r>
          </a:p>
          <a:p>
            <a:pPr algn="ctr">
              <a:lnSpc>
                <a:spcPct val="110000"/>
              </a:lnSpc>
              <a:spcAft>
                <a:spcPts val="100"/>
              </a:spcAft>
            </a:pPr>
            <a:r>
              <a:rPr sz="1100" b="0">
                <a:solidFill>
                  <a:srgbClr val="556175"/>
                </a:solidFill>
                <a:latin typeface="맑은 고딕"/>
                <a:ea typeface="맑은 고딕"/>
                <a:cs typeface="맑은 고딕"/>
              </a:rPr>
              <a:t>엣지 게이트웨이</a:t>
            </a:r>
          </a:p>
        </p:txBody>
      </p:sp>
      <p:sp>
        <p:nvSpPr>
          <p:cNvPr id="9" name="TextBox 8"/>
          <p:cNvSpPr txBox="1"/>
          <p:nvPr/>
        </p:nvSpPr>
        <p:spPr>
          <a:xfrm>
            <a:off x="5024607" y="2289474"/>
            <a:ext cx="1768065"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토픽(Topic)</a:t>
            </a:r>
          </a:p>
          <a:p>
            <a:pPr algn="ctr">
              <a:lnSpc>
                <a:spcPct val="110000"/>
              </a:lnSpc>
              <a:spcAft>
                <a:spcPts val="100"/>
              </a:spcAft>
            </a:pPr>
            <a:r>
              <a:rPr sz="1100" b="0">
                <a:solidFill>
                  <a:srgbClr val="556175"/>
                </a:solidFill>
                <a:latin typeface="맑은 고딕"/>
                <a:ea typeface="맑은 고딕"/>
                <a:cs typeface="맑은 고딕"/>
              </a:rPr>
              <a:t>plant/hyd01/tag/TS1</a:t>
            </a:r>
          </a:p>
        </p:txBody>
      </p:sp>
      <p:sp>
        <p:nvSpPr>
          <p:cNvPr id="10" name="TextBox 9"/>
          <p:cNvSpPr txBox="1"/>
          <p:nvPr/>
        </p:nvSpPr>
        <p:spPr>
          <a:xfrm>
            <a:off x="6771872" y="1958553"/>
            <a:ext cx="1664061"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브로커(Broker)</a:t>
            </a:r>
          </a:p>
        </p:txBody>
      </p:sp>
      <p:sp>
        <p:nvSpPr>
          <p:cNvPr id="11" name="TextBox 10"/>
          <p:cNvSpPr txBox="1"/>
          <p:nvPr/>
        </p:nvSpPr>
        <p:spPr>
          <a:xfrm>
            <a:off x="6615866" y="5598688"/>
            <a:ext cx="197607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9174361" y="4156816"/>
            <a:ext cx="197607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연결된 IT가 침해되어도 설비 사고로 번지지 않도록, 망 분리로 두 영역을 직접 연결하지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195065"/>
            <a:ext cx="4632807" cy="2095500"/>
          </a:xfrm>
          <a:prstGeom prst="rect">
            <a:avLst/>
          </a:prstGeom>
          <a:noFill/>
        </p:spPr>
        <p:txBody>
          <a:bodyPr wrap="square" anchor="t"/>
          <a:lstStyle/>
          <a:p>
            <a:pPr algn="l" marL="205740" indent="-205740">
              <a:lnSpc>
                <a:spcPct val="110000"/>
              </a:lnSpc>
              <a:spcAft>
                <a:spcPts val="600"/>
              </a:spcAft>
            </a:pPr>
            <a:r>
              <a:rPr sz="1800" b="0">
                <a:solidFill>
                  <a:srgbClr val="1F2A3A"/>
                </a:solidFill>
                <a:latin typeface="맑은 고딕"/>
                <a:ea typeface="맑은 고딕"/>
                <a:cs typeface="맑은 고딕"/>
              </a:rPr>
              <a:t>• Operational Technology</a:t>
            </a:r>
          </a:p>
          <a:p>
            <a:pPr algn="l" marL="205740" indent="-205740">
              <a:lnSpc>
                <a:spcPct val="110000"/>
              </a:lnSpc>
              <a:spcAft>
                <a:spcPts val="600"/>
              </a:spcAft>
            </a:pPr>
            <a:r>
              <a:rPr sz="1800" b="0">
                <a:solidFill>
                  <a:srgbClr val="1F2A3A"/>
                </a:solidFill>
                <a:latin typeface="맑은 고딕"/>
                <a:ea typeface="맑은 고딕"/>
                <a:cs typeface="맑은 고딕"/>
              </a:rPr>
              <a:t>• 설비를 직접 감시 · 제어한다</a:t>
            </a:r>
          </a:p>
          <a:p>
            <a:pPr algn="l" marL="205740" indent="-205740">
              <a:lnSpc>
                <a:spcPct val="110000"/>
              </a:lnSpc>
              <a:spcAft>
                <a:spcPts val="600"/>
              </a:spcAft>
            </a:pPr>
            <a:r>
              <a:rPr sz="1800" b="0">
                <a:solidFill>
                  <a:srgbClr val="1F2A3A"/>
                </a:solidFill>
                <a:latin typeface="맑은 고딕"/>
                <a:ea typeface="맑은 고딕"/>
                <a:cs typeface="맑은 고딕"/>
              </a:rPr>
              <a:t>• 가용성과 안전이 최우선이다</a:t>
            </a:r>
          </a:p>
          <a:p>
            <a:pPr algn="l" marL="205740" indent="-205740">
              <a:lnSpc>
                <a:spcPct val="110000"/>
              </a:lnSpc>
              <a:spcAft>
                <a:spcPts val="600"/>
              </a:spcAft>
            </a:pPr>
            <a:r>
              <a:rPr sz="180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38200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143505"/>
            <a:ext cx="5181447" cy="369570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344674"/>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195065"/>
            <a:ext cx="4632807" cy="2095500"/>
          </a:xfrm>
          <a:prstGeom prst="rect">
            <a:avLst/>
          </a:prstGeom>
          <a:noFill/>
        </p:spPr>
        <p:txBody>
          <a:bodyPr wrap="square" anchor="t"/>
          <a:lstStyle/>
          <a:p>
            <a:pPr algn="l" marL="205740" indent="-205740">
              <a:lnSpc>
                <a:spcPct val="110000"/>
              </a:lnSpc>
              <a:spcAft>
                <a:spcPts val="600"/>
              </a:spcAft>
            </a:pPr>
            <a:r>
              <a:rPr sz="1800" b="0">
                <a:solidFill>
                  <a:srgbClr val="1F2A3A"/>
                </a:solidFill>
                <a:latin typeface="맑은 고딕"/>
                <a:ea typeface="맑은 고딕"/>
                <a:cs typeface="맑은 고딕"/>
              </a:rPr>
              <a:t>• Information Technology</a:t>
            </a:r>
          </a:p>
          <a:p>
            <a:pPr algn="l" marL="205740" indent="-205740">
              <a:lnSpc>
                <a:spcPct val="110000"/>
              </a:lnSpc>
              <a:spcAft>
                <a:spcPts val="600"/>
              </a:spcAft>
            </a:pPr>
            <a:r>
              <a:rPr sz="1800" b="0">
                <a:solidFill>
                  <a:srgbClr val="1F2A3A"/>
                </a:solidFill>
                <a:latin typeface="맑은 고딕"/>
                <a:ea typeface="맑은 고딕"/>
                <a:cs typeface="맑은 고딕"/>
              </a:rPr>
              <a:t>• 업무 데이터를 다룬다</a:t>
            </a:r>
          </a:p>
          <a:p>
            <a:pPr algn="l" marL="205740" indent="-205740">
              <a:lnSpc>
                <a:spcPct val="110000"/>
              </a:lnSpc>
              <a:spcAft>
                <a:spcPts val="600"/>
              </a:spcAft>
            </a:pPr>
            <a:r>
              <a:rPr sz="1800" b="0">
                <a:solidFill>
                  <a:srgbClr val="1F2A3A"/>
                </a:solidFill>
                <a:latin typeface="맑은 고딕"/>
                <a:ea typeface="맑은 고딕"/>
                <a:cs typeface="맑은 고딕"/>
              </a:rPr>
              <a:t>• 사무망 · 인터넷과 연결되어 침해에 노출된다</a:t>
            </a:r>
          </a:p>
          <a:p>
            <a:pPr algn="l" marL="205740" indent="-205740">
              <a:lnSpc>
                <a:spcPct val="110000"/>
              </a:lnSpc>
              <a:spcAft>
                <a:spcPts val="600"/>
              </a:spcAft>
            </a:pPr>
            <a:r>
              <a:rPr sz="1800" b="0">
                <a:solidFill>
                  <a:srgbClr val="1F2A3A"/>
                </a:solidFill>
                <a:latin typeface="맑은 고딕"/>
                <a:ea typeface="맑은 고딕"/>
                <a:cs typeface="맑은 고딕"/>
              </a:rPr>
              <a:t>• 기밀성과 무결성이 최우선이다</a:t>
            </a:r>
          </a:p>
        </p:txBody>
      </p:sp>
      <p:sp>
        <p:nvSpPr>
          <p:cNvPr id="18" name="Rounded Rectangle 17"/>
          <p:cNvSpPr/>
          <p:nvPr/>
        </p:nvSpPr>
        <p:spPr>
          <a:xfrm>
            <a:off x="6781647" y="538200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8200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 사이의 완충 구역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서비스는 데이터를 OT에서 IT로 단방향 복제만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리니지_2_DMZ.svg" descr="illust_8959277460162519376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45493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이벤트 로그로</a:t>
            </a:r>
          </a:p>
          <a:p>
            <a:pPr algn="ctr">
              <a:lnSpc>
                <a:spcPct val="110000"/>
              </a:lnSpc>
              <a:spcAft>
                <a:spcPts val="100"/>
              </a:spcAft>
            </a:pPr>
            <a:r>
              <a:rPr sz="1300" b="0">
                <a:solidFill>
                  <a:srgbClr val="556175"/>
                </a:solidFill>
                <a:latin typeface="맑은 고딕"/>
                <a:ea typeface="맑은 고딕"/>
                <a:cs typeface="맑은 고딕"/>
              </a:rPr>
              <a:t>단방향 복제한다</a:t>
            </a:r>
          </a:p>
          <a:p>
            <a:pPr algn="ctr">
              <a:lnSpc>
                <a:spcPct val="110000"/>
              </a:lnSpc>
              <a:spcAft>
                <a:spcPts val="100"/>
              </a:spcAft>
            </a:pPr>
            <a:r>
              <a:rPr sz="1300" b="0">
                <a:solidFill>
                  <a:srgbClr val="556175"/>
                </a:solidFill>
                <a:latin typeface="맑은 고딕"/>
                <a:ea typeface="맑은 고딕"/>
                <a:cs typeface="맑은 고딕"/>
              </a:rPr>
              <a:t>OT로는 발행하지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추가 전용 기록과 재처리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서비스가 메시지를 레코드로 바꿔 이벤트 로그에 덧붙이면, 각 소비자는 오프셋을 기준으로 읽고 다시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추가 전용 로그(Append-only Log)</a:t>
            </a:r>
          </a:p>
          <a:p>
            <a:pPr algn="l">
              <a:lnSpc>
                <a:spcPct val="110000"/>
              </a:lnSpc>
              <a:spcAft>
                <a:spcPts val="400"/>
              </a:spcAft>
            </a:pPr>
            <a:r>
              <a:rPr sz="1400" b="0">
                <a:solidFill>
                  <a:srgbClr val="1F2A3A"/>
                </a:solidFill>
                <a:latin typeface="맑은 고딕"/>
                <a:ea typeface="맑은 고딕"/>
                <a:cs typeface="맑은 고딕"/>
              </a:rPr>
              <a:t>생산자(Producer)가 쓴 레코드를 받은 순서대로 뒤에 덧붙이기만 한다. 이 역할에는 Kafka 같은 것이 있다.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오프셋(Offset)</a:t>
            </a:r>
          </a:p>
          <a:p>
            <a:pPr algn="l">
              <a:lnSpc>
                <a:spcPct val="110000"/>
              </a:lnSpc>
              <a:spcAft>
                <a:spcPts val="400"/>
              </a:spcAft>
            </a:pPr>
            <a:r>
              <a:rPr sz="1400" b="0">
                <a:solidFill>
                  <a:srgbClr val="1F2A3A"/>
                </a:solidFill>
                <a:latin typeface="맑은 고딕"/>
                <a:ea typeface="맑은 고딕"/>
                <a:cs typeface="맑은 고딕"/>
              </a:rPr>
              <a:t>소비자(Consumer)마다 어디까지 읽었는지의 위치이다. 되돌리면 처음부터 다시 읽는다(재처리).</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페이로드(본문) 안으로 들어왔다.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레코드를 한 줄로 모아 잰 순서대로 읽히게 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데이터가 쌓인 뒤에 살피면 늦으므로, 감지 서비스는 이벤트 로그에 흐르는 데이터를 그 자리에서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배치 처리</a:t>
            </a:r>
          </a:p>
        </p:txBody>
      </p:sp>
      <p:sp>
        <p:nvSpPr>
          <p:cNvPr id="10" name="TextBox 9"/>
          <p:cNvSpPr txBox="1"/>
          <p:nvPr/>
        </p:nvSpPr>
        <p:spPr>
          <a:xfrm>
            <a:off x="822959" y="3156966"/>
            <a:ext cx="4632807" cy="2171700"/>
          </a:xfrm>
          <a:prstGeom prst="rect">
            <a:avLst/>
          </a:prstGeom>
          <a:noFill/>
        </p:spPr>
        <p:txBody>
          <a:bodyPr wrap="square" anchor="t"/>
          <a:lstStyle/>
          <a:p>
            <a:pPr algn="l" marL="171450" indent="-171450">
              <a:lnSpc>
                <a:spcPct val="110000"/>
              </a:lnSpc>
              <a:spcAft>
                <a:spcPts val="600"/>
              </a:spcAft>
            </a:pPr>
            <a:r>
              <a:rPr sz="1500" b="0">
                <a:solidFill>
                  <a:srgbClr val="1F2A3A"/>
                </a:solidFill>
                <a:latin typeface="맑은 고딕"/>
                <a:ea typeface="맑은 고딕"/>
                <a:cs typeface="맑은 고딕"/>
              </a:rPr>
              <a:t>• 데이터를 저장소에 쌓은 뒤 주기적으로 질의한다</a:t>
            </a:r>
          </a:p>
          <a:p>
            <a:pPr algn="l" marL="171450" indent="-171450">
              <a:lnSpc>
                <a:spcPct val="110000"/>
              </a:lnSpc>
              <a:spcAft>
                <a:spcPts val="600"/>
              </a:spcAft>
            </a:pPr>
            <a:r>
              <a:rPr sz="150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4201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스트림 처리</a:t>
            </a:r>
          </a:p>
        </p:txBody>
      </p:sp>
      <p:sp>
        <p:nvSpPr>
          <p:cNvPr id="17" name="TextBox 16"/>
          <p:cNvSpPr txBox="1"/>
          <p:nvPr/>
        </p:nvSpPr>
        <p:spPr>
          <a:xfrm>
            <a:off x="6735927" y="3156966"/>
            <a:ext cx="4632807" cy="2171700"/>
          </a:xfrm>
          <a:prstGeom prst="rect">
            <a:avLst/>
          </a:prstGeom>
          <a:noFill/>
        </p:spPr>
        <p:txBody>
          <a:bodyPr wrap="square" anchor="t"/>
          <a:lstStyle/>
          <a:p>
            <a:pPr algn="l" marL="171450" indent="-171450">
              <a:lnSpc>
                <a:spcPct val="110000"/>
              </a:lnSpc>
              <a:spcAft>
                <a:spcPts val="600"/>
              </a:spcAft>
            </a:pPr>
            <a:r>
              <a:rPr sz="1500" b="0">
                <a:solidFill>
                  <a:srgbClr val="1F2A3A"/>
                </a:solidFill>
                <a:latin typeface="맑은 고딕"/>
                <a:ea typeface="맑은 고딕"/>
                <a:cs typeface="맑은 고딕"/>
              </a:rPr>
              <a:t>• 데이터가 기록되는 대로 하나씩 받아 조건과 비교한다</a:t>
            </a:r>
          </a:p>
          <a:p>
            <a:pPr algn="l" marL="171450" indent="-171450">
              <a:lnSpc>
                <a:spcPct val="110000"/>
              </a:lnSpc>
              <a:spcAft>
                <a:spcPts val="600"/>
              </a:spcAft>
            </a:pPr>
            <a:r>
              <a:rPr sz="1500" b="0">
                <a:solidFill>
                  <a:srgbClr val="1F2A3A"/>
                </a:solidFill>
                <a:latin typeface="맑은 고딕"/>
                <a:ea typeface="맑은 고딕"/>
                <a:cs typeface="맑은 고딕"/>
              </a:rPr>
              <a:t>• 끊임없이 도착하는 데이터를 그 자리에서 처리하는 방식이 스트림 처리(Stream Processing)이다</a:t>
            </a:r>
          </a:p>
          <a:p>
            <a:pPr algn="l" marL="171450" indent="-171450">
              <a:lnSpc>
                <a:spcPct val="110000"/>
              </a:lnSpc>
              <a:spcAft>
                <a:spcPts val="600"/>
              </a:spcAft>
            </a:pPr>
            <a:r>
              <a:rPr sz="150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없으므로, 두 값과 추세에 대한 조건이 유지 시간 동안 이어져야 경보가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세 조건 모두 충족</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 기울기 &gt; 0 (상승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기준을 넘은 첫 관측 시점에서 4.0초 뒤에 경보가 울렸다.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시간(Hold Time)</a:t>
            </a:r>
          </a:p>
          <a:p>
            <a:pPr algn="l">
              <a:lnSpc>
                <a:spcPct val="110000"/>
              </a:lnSpc>
              <a:spcAft>
                <a:spcPts val="400"/>
              </a:spcAft>
            </a:pPr>
            <a:r>
              <a:rPr sz="1400" b="0">
                <a:solidFill>
                  <a:srgbClr val="1F2A3A"/>
                </a:solidFill>
                <a:latin typeface="맑은 고딕"/>
                <a:ea typeface="맑은 고딕"/>
                <a:cs typeface="맑은 고딕"/>
              </a:rPr>
              <a:t>조건이 정해진 시간 동안 이어져야 경보가 성립한다. 값이 잠깐 튀는 것만으로는 울리지 않는다.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계측값이 아니라 어떤 일이 일어났는지를 남긴 기록이며, 경보에는 식별자와 당시의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판정 당시의 근거 값(evidence)이다. 계측값은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시계열 저장소는 과거 데이터를 시각으로 찾을 수 있도록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OT에서 현재 상태를 보여 주고,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marL="165735" indent="-165735">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marL="165735" indent="-165735">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marL="165735" indent="-165735">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marL="165735" indent="-165735">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marL="165735" indent="-165735">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marL="165735" indent="-165735">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marL="165735" indent="-165735">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marL="165735" indent="-165735">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marL="165735" indent="-165735">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marL="165735" indent="-165735">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리셋해야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260028"/>
            <a:ext cx="3442106" cy="346265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442908"/>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596527"/>
            <a:ext cx="424281" cy="424281"/>
          </a:xfrm>
          <a:prstGeom prst="rect">
            <a:avLst/>
          </a:prstGeom>
        </p:spPr>
      </p:pic>
      <p:sp>
        <p:nvSpPr>
          <p:cNvPr id="9" name="TextBox 8"/>
          <p:cNvSpPr txBox="1"/>
          <p:nvPr/>
        </p:nvSpPr>
        <p:spPr>
          <a:xfrm>
            <a:off x="621792" y="3247580"/>
            <a:ext cx="3295802" cy="2401951"/>
          </a:xfrm>
          <a:prstGeom prst="rect">
            <a:avLst/>
          </a:prstGeom>
          <a:noFill/>
        </p:spPr>
        <p:txBody>
          <a:bodyPr wrap="square" anchor="t"/>
          <a:lstStyle/>
          <a:p>
            <a:pPr algn="ctr">
              <a:lnSpc>
                <a:spcPct val="110000"/>
              </a:lnSpc>
              <a:spcAft>
                <a:spcPts val="400"/>
              </a:spcAft>
            </a:pPr>
            <a:r>
              <a:rPr sz="2000" b="1">
                <a:solidFill>
                  <a:srgbClr val="13294B"/>
                </a:solidFill>
                <a:latin typeface="맑은 고딕"/>
                <a:ea typeface="맑은 고딕"/>
                <a:cs typeface="맑은 고딕"/>
              </a:rPr>
              <a:t>55 ℃</a:t>
            </a:r>
          </a:p>
          <a:p>
            <a:pPr algn="ctr">
              <a:lnSpc>
                <a:spcPct val="110000"/>
              </a:lnSpc>
              <a:spcAft>
                <a:spcPts val="400"/>
              </a:spcAft>
            </a:pPr>
            <a:r>
              <a:rPr sz="1650" b="0">
                <a:solidFill>
                  <a:srgbClr val="1F2A3A"/>
                </a:solidFill>
                <a:latin typeface="맑은 고딕"/>
                <a:ea typeface="맑은 고딕"/>
                <a:cs typeface="맑은 고딕"/>
              </a:rPr>
              <a:t>감지 서비스의 경보</a:t>
            </a:r>
          </a:p>
          <a:p>
            <a:pPr algn="ctr">
              <a:lnSpc>
                <a:spcPct val="110000"/>
              </a:lnSpc>
              <a:spcAft>
                <a:spcPts val="400"/>
              </a:spcAft>
            </a:pPr>
            <a:r>
              <a:rPr sz="1650" b="0">
                <a:solidFill>
                  <a:srgbClr val="1F2A3A"/>
                </a:solidFill>
                <a:latin typeface="맑은 고딕"/>
                <a:ea typeface="맑은 고딕"/>
                <a:cs typeface="맑은 고딕"/>
              </a:rPr>
              <a:t>여러 값과 추세를 함께 보는 복합 조건</a:t>
            </a:r>
          </a:p>
          <a:p>
            <a:pPr algn="ctr">
              <a:lnSpc>
                <a:spcPct val="110000"/>
              </a:lnSpc>
              <a:spcAft>
                <a:spcPts val="400"/>
              </a:spcAft>
            </a:pPr>
            <a:r>
              <a:rPr sz="16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260028"/>
            <a:ext cx="3442106" cy="346265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442908"/>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596527"/>
            <a:ext cx="424281" cy="424281"/>
          </a:xfrm>
          <a:prstGeom prst="rect">
            <a:avLst/>
          </a:prstGeom>
        </p:spPr>
      </p:pic>
      <p:sp>
        <p:nvSpPr>
          <p:cNvPr id="14" name="TextBox 13"/>
          <p:cNvSpPr txBox="1"/>
          <p:nvPr/>
        </p:nvSpPr>
        <p:spPr>
          <a:xfrm>
            <a:off x="4447946" y="3247580"/>
            <a:ext cx="3295802" cy="2401951"/>
          </a:xfrm>
          <a:prstGeom prst="rect">
            <a:avLst/>
          </a:prstGeom>
          <a:noFill/>
        </p:spPr>
        <p:txBody>
          <a:bodyPr wrap="square" anchor="t"/>
          <a:lstStyle/>
          <a:p>
            <a:pPr algn="ctr">
              <a:lnSpc>
                <a:spcPct val="110000"/>
              </a:lnSpc>
              <a:spcAft>
                <a:spcPts val="400"/>
              </a:spcAft>
            </a:pPr>
            <a:r>
              <a:rPr sz="2000" b="1">
                <a:solidFill>
                  <a:srgbClr val="13294B"/>
                </a:solidFill>
                <a:latin typeface="맑은 고딕"/>
                <a:ea typeface="맑은 고딕"/>
                <a:cs typeface="맑은 고딕"/>
              </a:rPr>
              <a:t>60 ℃</a:t>
            </a:r>
          </a:p>
          <a:p>
            <a:pPr algn="ctr">
              <a:lnSpc>
                <a:spcPct val="110000"/>
              </a:lnSpc>
              <a:spcAft>
                <a:spcPts val="400"/>
              </a:spcAft>
            </a:pPr>
            <a:r>
              <a:rPr sz="1650" b="0">
                <a:solidFill>
                  <a:srgbClr val="1F2A3A"/>
                </a:solidFill>
                <a:latin typeface="맑은 고딕"/>
                <a:ea typeface="맑은 고딕"/>
                <a:cs typeface="맑은 고딕"/>
              </a:rPr>
              <a:t>운전 화면의 알람</a:t>
            </a:r>
          </a:p>
          <a:p>
            <a:pPr algn="ctr">
              <a:lnSpc>
                <a:spcPct val="110000"/>
              </a:lnSpc>
              <a:spcAft>
                <a:spcPts val="400"/>
              </a:spcAft>
            </a:pPr>
            <a:r>
              <a:rPr sz="1650" b="0">
                <a:solidFill>
                  <a:srgbClr val="1F2A3A"/>
                </a:solidFill>
                <a:latin typeface="맑은 고딕"/>
                <a:ea typeface="맑은 고딕"/>
                <a:cs typeface="맑은 고딕"/>
              </a:rPr>
              <a:t>값 하나의 단일 임계치(Threshold)</a:t>
            </a:r>
          </a:p>
          <a:p>
            <a:pPr algn="ctr">
              <a:lnSpc>
                <a:spcPct val="110000"/>
              </a:lnSpc>
              <a:spcAft>
                <a:spcPts val="400"/>
              </a:spcAft>
            </a:pPr>
            <a:r>
              <a:rPr sz="16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260028"/>
            <a:ext cx="3442106" cy="346265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442908"/>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596527"/>
            <a:ext cx="424281" cy="424281"/>
          </a:xfrm>
          <a:prstGeom prst="rect">
            <a:avLst/>
          </a:prstGeom>
        </p:spPr>
      </p:pic>
      <p:sp>
        <p:nvSpPr>
          <p:cNvPr id="19" name="TextBox 18"/>
          <p:cNvSpPr txBox="1"/>
          <p:nvPr/>
        </p:nvSpPr>
        <p:spPr>
          <a:xfrm>
            <a:off x="8274100" y="3247580"/>
            <a:ext cx="3295802" cy="2401951"/>
          </a:xfrm>
          <a:prstGeom prst="rect">
            <a:avLst/>
          </a:prstGeom>
          <a:noFill/>
        </p:spPr>
        <p:txBody>
          <a:bodyPr wrap="square" anchor="t"/>
          <a:lstStyle/>
          <a:p>
            <a:pPr algn="ctr">
              <a:lnSpc>
                <a:spcPct val="110000"/>
              </a:lnSpc>
              <a:spcAft>
                <a:spcPts val="400"/>
              </a:spcAft>
            </a:pPr>
            <a:r>
              <a:rPr sz="2000" b="1">
                <a:solidFill>
                  <a:srgbClr val="13294B"/>
                </a:solidFill>
                <a:latin typeface="맑은 고딕"/>
                <a:ea typeface="맑은 고딕"/>
                <a:cs typeface="맑은 고딕"/>
              </a:rPr>
              <a:t>65 ℃</a:t>
            </a:r>
          </a:p>
          <a:p>
            <a:pPr algn="ctr">
              <a:lnSpc>
                <a:spcPct val="110000"/>
              </a:lnSpc>
              <a:spcAft>
                <a:spcPts val="400"/>
              </a:spcAft>
            </a:pPr>
            <a:r>
              <a:rPr sz="1650" b="0">
                <a:solidFill>
                  <a:srgbClr val="1F2A3A"/>
                </a:solidFill>
                <a:latin typeface="맑은 고딕"/>
                <a:ea typeface="맑은 고딕"/>
                <a:cs typeface="맑은 고딕"/>
              </a:rPr>
              <a:t>PLC의 인터록</a:t>
            </a:r>
          </a:p>
          <a:p>
            <a:pPr algn="ctr">
              <a:lnSpc>
                <a:spcPct val="110000"/>
              </a:lnSpc>
              <a:spcAft>
                <a:spcPts val="400"/>
              </a:spcAft>
            </a:pPr>
            <a:r>
              <a:rPr sz="1650" b="0">
                <a:solidFill>
                  <a:srgbClr val="1F2A3A"/>
                </a:solidFill>
                <a:latin typeface="맑은 고딕"/>
                <a:ea typeface="맑은 고딕"/>
                <a:cs typeface="맑은 고딕"/>
              </a:rPr>
              <a:t>알리지 않고 설비를 트립시킨다</a:t>
            </a:r>
          </a:p>
          <a:p>
            <a:pPr algn="ctr">
              <a:lnSpc>
                <a:spcPct val="110000"/>
              </a:lnSpc>
              <a:spcAft>
                <a:spcPts val="400"/>
              </a:spcAft>
            </a:pPr>
            <a:r>
              <a:rPr sz="1650" b="0">
                <a:solidFill>
                  <a:srgbClr val="1F2A3A"/>
                </a:solidFill>
                <a:latin typeface="맑은 고딕"/>
                <a:ea typeface="맑은 고딕"/>
                <a:cs typeface="맑은 고딕"/>
              </a:rPr>
              <a:t>자동 복귀하지 않으며, 유온이 55 ℃ 아래로</a:t>
            </a:r>
          </a:p>
          <a:p>
            <a:pPr algn="ctr">
              <a:lnSpc>
                <a:spcPct val="110000"/>
              </a:lnSpc>
              <a:spcAft>
                <a:spcPts val="400"/>
              </a:spcAft>
            </a:pPr>
            <a:r>
              <a:rPr sz="16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이후의 일은 Layer 7~9가 맡으며, 에이전트는 추천까지만 하고 설비 명령은 담당자가 승인한 뒤에만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계층_L7-9.svg" descr="illust_374503452664679420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담당자의 승인 · 거절(HITL: Human-in-the-Loop), 프로세스 엔진의 실행</a:t>
            </a:r>
          </a:p>
        </p:txBody>
      </p:sp>
      <p:sp>
        <p:nvSpPr>
          <p:cNvPr id="11" name="TextBox 10"/>
          <p:cNvSpPr txBox="1"/>
          <p:nvPr/>
        </p:nvSpPr>
        <p:spPr>
          <a:xfrm>
            <a:off x="2277524" y="3660434"/>
            <a:ext cx="720026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원인 진단과 조치 추천, 설비 명령 권한 없음</a:t>
            </a:r>
          </a:p>
        </p:txBody>
      </p:sp>
      <p:sp>
        <p:nvSpPr>
          <p:cNvPr id="12" name="TextBox 11"/>
          <p:cNvSpPr txBox="1"/>
          <p:nvPr/>
        </p:nvSpPr>
        <p:spPr>
          <a:xfrm>
            <a:off x="2277524" y="5102306"/>
            <a:ext cx="720026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 원인 · 조치의 관계, 그래프 DB</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명령의 하행 경로와 두 단계 검사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관문이 명령서를, PLC가 설비 상태를 검사하는 </a:t>
            </a:r>
            <a:r>
              <a:rPr sz="1600" b="1">
                <a:solidFill>
                  <a:srgbClr val="1A6FC4"/>
                </a:solidFill>
                <a:latin typeface="맑은 고딕"/>
                <a:ea typeface="맑은 고딕"/>
                <a:cs typeface="맑은 고딕"/>
              </a:rPr>
              <a:t>심층 방어</a:t>
            </a:r>
            <a:r>
              <a:rPr sz="1600" b="0">
                <a:solidFill>
                  <a:srgbClr val="556175"/>
                </a:solidFill>
                <a:latin typeface="맑은 고딕"/>
                <a:ea typeface="맑은 고딕"/>
                <a:cs typeface="맑은 고딕"/>
              </a:rPr>
              <a:t>(Defense in Depth)를 거쳐야 설정값이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612647" y="1827263"/>
            <a:ext cx="4309750" cy="432818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1882127"/>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1827263"/>
            <a:ext cx="2090867" cy="432818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1882127"/>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1827263"/>
            <a:ext cx="4309750" cy="432818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1882127"/>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245421"/>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135693"/>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2788221"/>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2741663"/>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018580"/>
            <a:ext cx="599985" cy="599985"/>
          </a:xfrm>
          <a:prstGeom prst="rect">
            <a:avLst/>
          </a:prstGeom>
        </p:spPr>
      </p:pic>
      <p:sp>
        <p:nvSpPr>
          <p:cNvPr id="17" name="TextBox 16"/>
          <p:cNvSpPr txBox="1"/>
          <p:nvPr/>
        </p:nvSpPr>
        <p:spPr>
          <a:xfrm>
            <a:off x="640079" y="4032643"/>
            <a:ext cx="2036003" cy="193992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135693"/>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2788221"/>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2741663"/>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018580"/>
            <a:ext cx="599985" cy="599985"/>
          </a:xfrm>
          <a:prstGeom prst="rect">
            <a:avLst/>
          </a:prstGeom>
        </p:spPr>
      </p:pic>
      <p:sp>
        <p:nvSpPr>
          <p:cNvPr id="22" name="TextBox 21"/>
          <p:cNvSpPr txBox="1"/>
          <p:nvPr/>
        </p:nvSpPr>
        <p:spPr>
          <a:xfrm>
            <a:off x="2858963" y="4032643"/>
            <a:ext cx="2036003" cy="193992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기록된다</a:t>
            </a:r>
          </a:p>
        </p:txBody>
      </p:sp>
      <p:sp>
        <p:nvSpPr>
          <p:cNvPr id="23" name="Chevron 22"/>
          <p:cNvSpPr/>
          <p:nvPr/>
        </p:nvSpPr>
        <p:spPr>
          <a:xfrm>
            <a:off x="7086417" y="3135693"/>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2788221"/>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2741663"/>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018580"/>
            <a:ext cx="599985" cy="599985"/>
          </a:xfrm>
          <a:prstGeom prst="rect">
            <a:avLst/>
          </a:prstGeom>
        </p:spPr>
      </p:pic>
      <p:sp>
        <p:nvSpPr>
          <p:cNvPr id="27" name="TextBox 26"/>
          <p:cNvSpPr txBox="1"/>
          <p:nvPr/>
        </p:nvSpPr>
        <p:spPr>
          <a:xfrm>
            <a:off x="5077846" y="4032643"/>
            <a:ext cx="2036003" cy="193992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명령 게이트웨이(Command Gateway)</a:t>
            </a:r>
          </a:p>
          <a:p>
            <a:pPr algn="ctr">
              <a:lnSpc>
                <a:spcPct val="110000"/>
              </a:lnSpc>
              <a:spcAft>
                <a:spcPts val="400"/>
              </a:spcAft>
            </a:pPr>
            <a:r>
              <a:rPr sz="1300" b="0">
                <a:solidFill>
                  <a:srgbClr val="1F2A3A"/>
                </a:solidFill>
                <a:latin typeface="맑은 고딕"/>
                <a:ea typeface="맑은 고딕"/>
                <a:cs typeface="맑은 고딕"/>
              </a:rPr>
              <a:t>스키마 · 허용 목록(Whitelist) ·</a:t>
            </a:r>
          </a:p>
          <a:p>
            <a:pPr algn="ctr">
              <a:lnSpc>
                <a:spcPct val="110000"/>
              </a:lnSpc>
              <a:spcAft>
                <a:spcPts val="400"/>
              </a:spcAft>
            </a:pPr>
            <a:r>
              <a:rPr sz="1300" b="0">
                <a:solidFill>
                  <a:srgbClr val="1F2A3A"/>
                </a:solidFill>
                <a:latin typeface="맑은 고딕"/>
                <a:ea typeface="맑은 고딕"/>
                <a:cs typeface="맑은 고딕"/>
              </a:rPr>
              <a:t>만료 · 승인 기록 · 운전 모드</a:t>
            </a:r>
          </a:p>
        </p:txBody>
      </p:sp>
      <p:sp>
        <p:nvSpPr>
          <p:cNvPr id="28" name="Chevron 27"/>
          <p:cNvSpPr/>
          <p:nvPr/>
        </p:nvSpPr>
        <p:spPr>
          <a:xfrm>
            <a:off x="9305300" y="3135693"/>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2788221"/>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2741663"/>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018580"/>
            <a:ext cx="599985" cy="599985"/>
          </a:xfrm>
          <a:prstGeom prst="rect">
            <a:avLst/>
          </a:prstGeom>
        </p:spPr>
      </p:pic>
      <p:sp>
        <p:nvSpPr>
          <p:cNvPr id="32" name="TextBox 31"/>
          <p:cNvSpPr txBox="1"/>
          <p:nvPr/>
        </p:nvSpPr>
        <p:spPr>
          <a:xfrm>
            <a:off x="7296729" y="4032643"/>
            <a:ext cx="2036003" cy="193992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2741663"/>
            <a:ext cx="1153819" cy="1153819"/>
          </a:xfrm>
          <a:prstGeom prst="ellipse">
            <a:avLst/>
          </a:prstGeom>
          <a:solidFill>
            <a:srgbClr val="5CB8F2"/>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018580"/>
            <a:ext cx="599985" cy="599985"/>
          </a:xfrm>
          <a:prstGeom prst="rect">
            <a:avLst/>
          </a:prstGeom>
        </p:spPr>
      </p:pic>
      <p:sp>
        <p:nvSpPr>
          <p:cNvPr id="35" name="TextBox 34"/>
          <p:cNvSpPr txBox="1"/>
          <p:nvPr/>
        </p:nvSpPr>
        <p:spPr>
          <a:xfrm>
            <a:off x="9515612" y="4032643"/>
            <a:ext cx="2036003" cy="193992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설정값의 범위와</a:t>
            </a:r>
          </a:p>
          <a:p>
            <a:pPr algn="ctr">
              <a:lnSpc>
                <a:spcPct val="110000"/>
              </a:lnSpc>
              <a:spcAft>
                <a:spcPts val="400"/>
              </a:spcAft>
            </a:pPr>
            <a:r>
              <a:rPr sz="1300" b="0">
                <a:solidFill>
                  <a:srgbClr val="1F2A3A"/>
                </a:solidFill>
                <a:latin typeface="맑은 고딕"/>
                <a:ea typeface="맑은 고딕"/>
                <a:cs typeface="맑은 고딕"/>
              </a:rPr>
              <a:t>인터록을 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건과 실행 응답 ACK</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승인자, 유효 시각이 실리고, PLC는 처리 결과를 확인 응답 </a:t>
            </a:r>
            <a:r>
              <a:rPr sz="1600" b="1">
                <a:solidFill>
                  <a:srgbClr val="1A6FC4"/>
                </a:solidFill>
                <a:latin typeface="맑은 고딕"/>
                <a:ea typeface="맑은 고딕"/>
                <a:cs typeface="맑은 고딕"/>
              </a:rPr>
              <a:t>ACK</a:t>
            </a:r>
            <a:r>
              <a:rPr sz="1600" b="0">
                <a:solidFill>
                  <a:srgbClr val="556175"/>
                </a:solidFill>
                <a:latin typeface="맑은 고딕"/>
                <a:ea typeface="맑은 고딕"/>
                <a:cs typeface="맑은 고딕"/>
              </a:rPr>
              <a:t>로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PLC</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응답</a:t>
            </a:r>
            <a:r>
              <a:rPr sz="1300" b="0">
                <a:solidFill>
                  <a:srgbClr val="E8EEF6"/>
                </a:solidFill>
                <a:latin typeface="Consolas"/>
                <a:ea typeface="맑은 고딕"/>
                <a:cs typeface="맑은 고딕"/>
              </a:rPr>
              <a:t>(ACK)  11:14:58</a:t>
            </a:r>
          </a:p>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result      DONE</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않고, 누가 책임지는지가 남는다.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만료 시각이다. 지난 명령은 버려져 달라진 상황에서 늦게 실행되지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ACK(Acknowledgement)</a:t>
            </a:r>
          </a:p>
          <a:p>
            <a:pPr algn="l">
              <a:lnSpc>
                <a:spcPct val="110000"/>
              </a:lnSpc>
              <a:spcAft>
                <a:spcPts val="400"/>
              </a:spcAft>
            </a:pPr>
            <a:r>
              <a:rPr sz="1400" b="0">
                <a:solidFill>
                  <a:srgbClr val="1F2A3A"/>
                </a:solidFill>
                <a:latin typeface="맑은 고딕"/>
                <a:ea typeface="맑은 고딕"/>
                <a:cs typeface="맑은 고딕"/>
              </a:rPr>
              <a:t>PLC가 명령을 받아 처리했다는 확인 응답이다. 실행 완료 DONE과 인터록 상태 PASS를 돌려준다.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원천 데이터에서 판단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판단 결과에서 원천 계측값까지 되짚을 수 있도록 남긴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feat_1s)</a:t>
            </a:r>
          </a:p>
          <a:p>
            <a:pPr algn="l">
              <a:lnSpc>
                <a:spcPct val="110000"/>
              </a:lnSpc>
              <a:spcAft>
                <a:spcPts val="200"/>
              </a:spcAft>
            </a:pPr>
            <a:r>
              <a:rPr sz="1300" b="0">
                <a:solidFill>
                  <a:srgbClr val="E8EEF6"/>
                </a:solidFill>
                <a:latin typeface="Consolas"/>
                <a:ea typeface="맑은 고딕"/>
                <a:cs typeface="맑은 고딕"/>
              </a:rPr>
              <a:t>11:13:08   mean 55.71   slope </a:t>
            </a:r>
            <a:r>
              <a:rPr sz="1300" b="0">
                <a:solidFill>
                  <a:srgbClr val="E8EEF6"/>
                </a:solidFill>
                <a:latin typeface="맑은 고딕"/>
                <a:ea typeface="맑은 고딕"/>
                <a:cs typeface="맑은 고딕"/>
              </a:rPr>
              <a:t>양수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a:p>
            <a:pPr algn="l">
              <a:lnSpc>
                <a:spcPct val="110000"/>
              </a:lnSpc>
              <a:spcAft>
                <a:spcPts val="200"/>
              </a:spcAft>
            </a:pPr>
            <a:r>
              <a:rPr sz="1300" b="0">
                <a:solidFill>
                  <a:srgbClr val="E8EEF6"/>
                </a:solidFill>
                <a:latin typeface="Consolas"/>
                <a:ea typeface="맑은 고딕"/>
                <a:cs typeface="맑은 고딕"/>
              </a:rPr>
              <a:t>ALT-hyd01-0014-e0a1   COOLER_DEGRADATION</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원천 데이터</a:t>
            </a:r>
          </a:p>
          <a:p>
            <a:pPr algn="l">
              <a:lnSpc>
                <a:spcPct val="110000"/>
              </a:lnSpc>
              <a:spcAft>
                <a:spcPts val="400"/>
              </a:spcAft>
            </a:pPr>
            <a:r>
              <a:rPr sz="1400" b="0">
                <a:solidFill>
                  <a:srgbClr val="1F2A3A"/>
                </a:solidFill>
                <a:latin typeface="맑은 고딕"/>
                <a:ea typeface="맑은 고딕"/>
                <a:cs typeface="맑은 고딕"/>
              </a:rPr>
              <a:t>센서와 PLC가 만들고 브로커가 전달한 계측값이다.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가공 데이터</a:t>
            </a:r>
          </a:p>
          <a:p>
            <a:pPr algn="l">
              <a:lnSpc>
                <a:spcPct val="110000"/>
              </a:lnSpc>
              <a:spcAft>
                <a:spcPts val="400"/>
              </a:spcAft>
            </a:pPr>
            <a:r>
              <a:rPr sz="1400" b="0">
                <a:solidFill>
                  <a:srgbClr val="1F2A3A"/>
                </a:solidFill>
                <a:latin typeface="맑은 고딕"/>
                <a:ea typeface="맑은 고딕"/>
                <a:cs typeface="맑은 고딕"/>
              </a:rPr>
              <a:t>감지 서비스가 원천 데이터로 계산한 값이다. 기울기가 0보다 크면 유온이 오르는 중이다.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이상 이벤트</a:t>
            </a:r>
          </a:p>
          <a:p>
            <a:pPr algn="l">
              <a:lnSpc>
                <a:spcPct val="110000"/>
              </a:lnSpc>
              <a:spcAft>
                <a:spcPts val="400"/>
              </a:spcAft>
            </a:pPr>
            <a:r>
              <a:rPr sz="1400" b="0">
                <a:solidFill>
                  <a:srgbClr val="1F2A3A"/>
                </a:solidFill>
                <a:latin typeface="맑은 고딕"/>
                <a:ea typeface="맑은 고딕"/>
                <a:cs typeface="맑은 고딕"/>
              </a:rPr>
              <a:t>조건이 성립했을 때 감지 서비스가 남긴 경보이다.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판단 결과</a:t>
            </a:r>
          </a:p>
          <a:p>
            <a:pPr algn="l">
              <a:lnSpc>
                <a:spcPct val="110000"/>
              </a:lnSpc>
              <a:spcAft>
                <a:spcPts val="400"/>
              </a:spcAft>
            </a:pPr>
            <a:r>
              <a:rPr sz="1400" b="0">
                <a:solidFill>
                  <a:srgbClr val="1F2A3A"/>
                </a:solidFill>
                <a:latin typeface="맑은 고딕"/>
                <a:ea typeface="맑은 고딕"/>
                <a:cs typeface="맑은 고딕"/>
              </a:rPr>
              <a:t>에이전트의 진단 · 추천과 담당자의 승인 기록이다.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이어져 있어, 결과에서 최초 계측값까지 거슬러 올라가는 추적성이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670619"/>
            <a:ext cx="1911644" cy="264147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53499"/>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07118"/>
            <a:ext cx="424281" cy="424281"/>
          </a:xfrm>
          <a:prstGeom prst="rect">
            <a:avLst/>
          </a:prstGeom>
        </p:spPr>
      </p:pic>
      <p:sp>
        <p:nvSpPr>
          <p:cNvPr id="9" name="TextBox 8"/>
          <p:cNvSpPr txBox="1"/>
          <p:nvPr/>
        </p:nvSpPr>
        <p:spPr>
          <a:xfrm>
            <a:off x="621792" y="3658171"/>
            <a:ext cx="1765340" cy="1580768"/>
          </a:xfrm>
          <a:prstGeom prst="rect">
            <a:avLst/>
          </a:prstGeom>
          <a:noFill/>
        </p:spPr>
        <p:txBody>
          <a:bodyPr wrap="square" anchor="t"/>
          <a:lstStyle/>
          <a:p>
            <a:pPr algn="ctr">
              <a:lnSpc>
                <a:spcPct val="110000"/>
              </a:lnSpc>
              <a:spcAft>
                <a:spcPts val="400"/>
              </a:spcAft>
            </a:pPr>
            <a:r>
              <a:rPr sz="1850" b="1">
                <a:solidFill>
                  <a:srgbClr val="13294B"/>
                </a:solidFill>
                <a:latin typeface="맑은 고딕"/>
                <a:ea typeface="맑은 고딕"/>
                <a:cs typeface="맑은 고딕"/>
              </a:rPr>
              <a:t>경보</a:t>
            </a:r>
          </a:p>
          <a:p>
            <a:pPr algn="ctr">
              <a:lnSpc>
                <a:spcPct val="110000"/>
              </a:lnSpc>
              <a:spcAft>
                <a:spcPts val="400"/>
              </a:spcAft>
            </a:pPr>
            <a:r>
              <a:rPr sz="1550" b="0">
                <a:solidFill>
                  <a:srgbClr val="1F2A3A"/>
                </a:solidFill>
                <a:latin typeface="맑은 고딕"/>
                <a:ea typeface="맑은 고딕"/>
                <a:cs typeface="맑은 고딕"/>
              </a:rPr>
              <a:t>ALT-</a:t>
            </a:r>
          </a:p>
          <a:p>
            <a:pPr algn="ctr">
              <a:lnSpc>
                <a:spcPct val="110000"/>
              </a:lnSpc>
              <a:spcAft>
                <a:spcPts val="400"/>
              </a:spcAft>
            </a:pPr>
            <a:r>
              <a:rPr sz="15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70619"/>
            <a:ext cx="1911644" cy="264147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53499"/>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07118"/>
            <a:ext cx="424281" cy="424281"/>
          </a:xfrm>
          <a:prstGeom prst="rect">
            <a:avLst/>
          </a:prstGeom>
        </p:spPr>
      </p:pic>
      <p:sp>
        <p:nvSpPr>
          <p:cNvPr id="14" name="TextBox 13"/>
          <p:cNvSpPr txBox="1"/>
          <p:nvPr/>
        </p:nvSpPr>
        <p:spPr>
          <a:xfrm>
            <a:off x="2917484" y="3658171"/>
            <a:ext cx="1765340" cy="1580768"/>
          </a:xfrm>
          <a:prstGeom prst="rect">
            <a:avLst/>
          </a:prstGeom>
          <a:noFill/>
        </p:spPr>
        <p:txBody>
          <a:bodyPr wrap="square" anchor="t"/>
          <a:lstStyle/>
          <a:p>
            <a:pPr algn="ctr">
              <a:lnSpc>
                <a:spcPct val="110000"/>
              </a:lnSpc>
              <a:spcAft>
                <a:spcPts val="400"/>
              </a:spcAft>
            </a:pPr>
            <a:r>
              <a:rPr sz="1850" b="1">
                <a:solidFill>
                  <a:srgbClr val="13294B"/>
                </a:solidFill>
                <a:latin typeface="맑은 고딕"/>
                <a:ea typeface="맑은 고딕"/>
                <a:cs typeface="맑은 고딕"/>
              </a:rPr>
              <a:t>사건</a:t>
            </a:r>
          </a:p>
          <a:p>
            <a:pPr algn="ctr">
              <a:lnSpc>
                <a:spcPct val="110000"/>
              </a:lnSpc>
              <a:spcAft>
                <a:spcPts val="400"/>
              </a:spcAft>
            </a:pPr>
            <a:r>
              <a:rPr sz="1550" b="0">
                <a:solidFill>
                  <a:srgbClr val="1F2A3A"/>
                </a:solidFill>
                <a:latin typeface="맑은 고딕"/>
                <a:ea typeface="맑은 고딕"/>
                <a:cs typeface="맑은 고딕"/>
              </a:rPr>
              <a:t>INC-</a:t>
            </a:r>
          </a:p>
          <a:p>
            <a:pPr algn="ctr">
              <a:lnSpc>
                <a:spcPct val="110000"/>
              </a:lnSpc>
              <a:spcAft>
                <a:spcPts val="400"/>
              </a:spcAft>
            </a:pPr>
            <a:r>
              <a:rPr sz="15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70619"/>
            <a:ext cx="1911644" cy="264147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853499"/>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07118"/>
            <a:ext cx="424281" cy="424281"/>
          </a:xfrm>
          <a:prstGeom prst="rect">
            <a:avLst/>
          </a:prstGeom>
        </p:spPr>
      </p:pic>
      <p:sp>
        <p:nvSpPr>
          <p:cNvPr id="19" name="TextBox 18"/>
          <p:cNvSpPr txBox="1"/>
          <p:nvPr/>
        </p:nvSpPr>
        <p:spPr>
          <a:xfrm>
            <a:off x="5213177" y="3658171"/>
            <a:ext cx="1765340" cy="1580768"/>
          </a:xfrm>
          <a:prstGeom prst="rect">
            <a:avLst/>
          </a:prstGeom>
          <a:noFill/>
        </p:spPr>
        <p:txBody>
          <a:bodyPr wrap="square" anchor="t"/>
          <a:lstStyle/>
          <a:p>
            <a:pPr algn="ctr">
              <a:lnSpc>
                <a:spcPct val="110000"/>
              </a:lnSpc>
              <a:spcAft>
                <a:spcPts val="400"/>
              </a:spcAft>
            </a:pPr>
            <a:r>
              <a:rPr sz="1850" b="1">
                <a:solidFill>
                  <a:srgbClr val="13294B"/>
                </a:solidFill>
                <a:latin typeface="맑은 고딕"/>
                <a:ea typeface="맑은 고딕"/>
                <a:cs typeface="맑은 고딕"/>
              </a:rPr>
              <a:t>판단</a:t>
            </a:r>
          </a:p>
          <a:p>
            <a:pPr algn="ctr">
              <a:lnSpc>
                <a:spcPct val="110000"/>
              </a:lnSpc>
              <a:spcAft>
                <a:spcPts val="400"/>
              </a:spcAft>
            </a:pPr>
            <a:r>
              <a:rPr sz="1550" b="0">
                <a:solidFill>
                  <a:srgbClr val="1F2A3A"/>
                </a:solidFill>
                <a:latin typeface="맑은 고딕"/>
                <a:ea typeface="맑은 고딕"/>
                <a:cs typeface="맑은 고딕"/>
              </a:rPr>
              <a:t>DEC-</a:t>
            </a:r>
          </a:p>
          <a:p>
            <a:pPr algn="ctr">
              <a:lnSpc>
                <a:spcPct val="110000"/>
              </a:lnSpc>
              <a:spcAft>
                <a:spcPts val="400"/>
              </a:spcAft>
            </a:pPr>
            <a:r>
              <a:rPr sz="15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70619"/>
            <a:ext cx="1911644" cy="264147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53499"/>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07118"/>
            <a:ext cx="424281" cy="424281"/>
          </a:xfrm>
          <a:prstGeom prst="rect">
            <a:avLst/>
          </a:prstGeom>
        </p:spPr>
      </p:pic>
      <p:sp>
        <p:nvSpPr>
          <p:cNvPr id="24" name="TextBox 23"/>
          <p:cNvSpPr txBox="1"/>
          <p:nvPr/>
        </p:nvSpPr>
        <p:spPr>
          <a:xfrm>
            <a:off x="7508869" y="3658171"/>
            <a:ext cx="1765340" cy="1580768"/>
          </a:xfrm>
          <a:prstGeom prst="rect">
            <a:avLst/>
          </a:prstGeom>
          <a:noFill/>
        </p:spPr>
        <p:txBody>
          <a:bodyPr wrap="square" anchor="t"/>
          <a:lstStyle/>
          <a:p>
            <a:pPr algn="ctr">
              <a:lnSpc>
                <a:spcPct val="110000"/>
              </a:lnSpc>
              <a:spcAft>
                <a:spcPts val="400"/>
              </a:spcAft>
            </a:pPr>
            <a:r>
              <a:rPr sz="1850" b="1">
                <a:solidFill>
                  <a:srgbClr val="13294B"/>
                </a:solidFill>
                <a:latin typeface="맑은 고딕"/>
                <a:ea typeface="맑은 고딕"/>
                <a:cs typeface="맑은 고딕"/>
              </a:rPr>
              <a:t>명령</a:t>
            </a:r>
          </a:p>
          <a:p>
            <a:pPr algn="ctr">
              <a:lnSpc>
                <a:spcPct val="110000"/>
              </a:lnSpc>
              <a:spcAft>
                <a:spcPts val="400"/>
              </a:spcAft>
            </a:pPr>
            <a:r>
              <a:rPr sz="1550" b="0">
                <a:solidFill>
                  <a:srgbClr val="1F2A3A"/>
                </a:solidFill>
                <a:latin typeface="맑은 고딕"/>
                <a:ea typeface="맑은 고딕"/>
                <a:cs typeface="맑은 고딕"/>
              </a:rPr>
              <a:t>CMD-</a:t>
            </a:r>
          </a:p>
          <a:p>
            <a:pPr algn="ctr">
              <a:lnSpc>
                <a:spcPct val="110000"/>
              </a:lnSpc>
              <a:spcAft>
                <a:spcPts val="400"/>
              </a:spcAft>
            </a:pPr>
            <a:r>
              <a:rPr sz="15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70619"/>
            <a:ext cx="1911644" cy="2641473"/>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853499"/>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07118"/>
            <a:ext cx="424281" cy="424281"/>
          </a:xfrm>
          <a:prstGeom prst="rect">
            <a:avLst/>
          </a:prstGeom>
        </p:spPr>
      </p:pic>
      <p:sp>
        <p:nvSpPr>
          <p:cNvPr id="29" name="TextBox 28"/>
          <p:cNvSpPr txBox="1"/>
          <p:nvPr/>
        </p:nvSpPr>
        <p:spPr>
          <a:xfrm>
            <a:off x="9804562" y="3658171"/>
            <a:ext cx="1765340" cy="1580768"/>
          </a:xfrm>
          <a:prstGeom prst="rect">
            <a:avLst/>
          </a:prstGeom>
          <a:noFill/>
        </p:spPr>
        <p:txBody>
          <a:bodyPr wrap="square" anchor="t"/>
          <a:lstStyle/>
          <a:p>
            <a:pPr algn="ctr">
              <a:lnSpc>
                <a:spcPct val="110000"/>
              </a:lnSpc>
              <a:spcAft>
                <a:spcPts val="400"/>
              </a:spcAft>
            </a:pPr>
            <a:r>
              <a:rPr sz="1850" b="1">
                <a:solidFill>
                  <a:srgbClr val="13294B"/>
                </a:solidFill>
                <a:latin typeface="맑은 고딕"/>
                <a:ea typeface="맑은 고딕"/>
                <a:cs typeface="맑은 고딕"/>
              </a:rPr>
              <a:t>작업지시</a:t>
            </a:r>
          </a:p>
          <a:p>
            <a:pPr algn="ctr">
              <a:lnSpc>
                <a:spcPct val="110000"/>
              </a:lnSpc>
              <a:spcAft>
                <a:spcPts val="400"/>
              </a:spcAft>
            </a:pPr>
            <a:r>
              <a:rPr sz="1550" b="0">
                <a:solidFill>
                  <a:srgbClr val="1F2A3A"/>
                </a:solidFill>
                <a:latin typeface="맑은 고딕"/>
                <a:ea typeface="맑은 고딕"/>
                <a:cs typeface="맑은 고딕"/>
              </a:rPr>
              <a:t>WO-</a:t>
            </a:r>
          </a:p>
          <a:p>
            <a:pPr algn="ctr">
              <a:lnSpc>
                <a:spcPct val="110000"/>
              </a:lnSpc>
              <a:spcAft>
                <a:spcPts val="400"/>
              </a:spcAft>
            </a:pPr>
            <a:r>
              <a:rPr sz="1550" b="0">
                <a:solidFill>
                  <a:srgbClr val="1F2A3A"/>
                </a:solidFill>
                <a:latin typeface="맑은 고딕"/>
                <a:ea typeface="맑은 고딕"/>
                <a:cs typeface="맑은 고딕"/>
              </a:rPr>
              <a:t>1010-C058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거쳐 온 자리를 하는 일에 따라 나누면 아홉 기능 계층이고, 놓인 망에 따라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삽화:계층_0_전체.svg" descr="illust_666014538679585398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데이터가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데이터가 올라가는 길과 승인된 명령만 내려가는 길을 나누어, 현장 통신이 막지 못하는 위험으로부터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데이터와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계측값을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데이터를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이상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열리는지 확인한다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실행되고 포털에 접속할 수 있는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049843"/>
            <a:ext cx="2567863" cy="388302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51011"/>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404630"/>
            <a:ext cx="424281" cy="424281"/>
          </a:xfrm>
          <a:prstGeom prst="rect">
            <a:avLst/>
          </a:prstGeom>
        </p:spPr>
      </p:pic>
      <p:sp>
        <p:nvSpPr>
          <p:cNvPr id="9" name="TextBox 8"/>
          <p:cNvSpPr txBox="1"/>
          <p:nvPr/>
        </p:nvSpPr>
        <p:spPr>
          <a:xfrm>
            <a:off x="713232" y="3073971"/>
            <a:ext cx="2238679" cy="2355977"/>
          </a:xfrm>
          <a:prstGeom prst="rect">
            <a:avLst/>
          </a:prstGeom>
          <a:noFill/>
        </p:spPr>
        <p:txBody>
          <a:bodyPr wrap="square" anchor="t"/>
          <a:lstStyle/>
          <a:p>
            <a:pPr algn="l">
              <a:lnSpc>
                <a:spcPct val="110000"/>
              </a:lnSpc>
              <a:spcAft>
                <a:spcPts val="400"/>
              </a:spcAft>
            </a:pPr>
            <a:r>
              <a:rPr sz="1750" b="1">
                <a:solidFill>
                  <a:srgbClr val="13294B"/>
                </a:solidFill>
                <a:latin typeface="맑은 고딕"/>
                <a:ea typeface="맑은 고딕"/>
                <a:cs typeface="맑은 고딕"/>
              </a:rPr>
              <a:t>VS Code</a:t>
            </a:r>
          </a:p>
          <a:p>
            <a:pPr algn="l" marL="154305" indent="-154305">
              <a:lnSpc>
                <a:spcPct val="110000"/>
              </a:lnSpc>
              <a:spcAft>
                <a:spcPts val="400"/>
              </a:spcAft>
            </a:pPr>
            <a:r>
              <a:rPr sz="1350" b="0">
                <a:solidFill>
                  <a:srgbClr val="1F2A3A"/>
                </a:solidFill>
                <a:latin typeface="맑은 고딕"/>
                <a:ea typeface="맑은 고딕"/>
                <a:cs typeface="맑은 고딕"/>
              </a:rPr>
              <a:t>• 파일 편집기이자 터미널이다</a:t>
            </a:r>
          </a:p>
          <a:p>
            <a:pPr algn="l" marL="154305" indent="-154305">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0310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0310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49843"/>
            <a:ext cx="2567863" cy="388302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51011"/>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404630"/>
            <a:ext cx="424281" cy="424281"/>
          </a:xfrm>
          <a:prstGeom prst="rect">
            <a:avLst/>
          </a:prstGeom>
        </p:spPr>
      </p:pic>
      <p:sp>
        <p:nvSpPr>
          <p:cNvPr id="15" name="TextBox 14"/>
          <p:cNvSpPr txBox="1"/>
          <p:nvPr/>
        </p:nvSpPr>
        <p:spPr>
          <a:xfrm>
            <a:off x="3555415" y="3073971"/>
            <a:ext cx="2238679" cy="2355977"/>
          </a:xfrm>
          <a:prstGeom prst="rect">
            <a:avLst/>
          </a:prstGeom>
          <a:noFill/>
        </p:spPr>
        <p:txBody>
          <a:bodyPr wrap="square" anchor="t"/>
          <a:lstStyle/>
          <a:p>
            <a:pPr algn="l">
              <a:lnSpc>
                <a:spcPct val="110000"/>
              </a:lnSpc>
              <a:spcAft>
                <a:spcPts val="400"/>
              </a:spcAft>
            </a:pPr>
            <a:r>
              <a:rPr sz="1750" b="1">
                <a:solidFill>
                  <a:srgbClr val="13294B"/>
                </a:solidFill>
                <a:latin typeface="맑은 고딕"/>
                <a:ea typeface="맑은 고딕"/>
                <a:cs typeface="맑은 고딕"/>
              </a:rPr>
              <a:t>GitHub Copilot</a:t>
            </a:r>
          </a:p>
          <a:p>
            <a:pPr algn="l" marL="154305" indent="-154305">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marL="154305" indent="-154305">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03100"/>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03100"/>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49843"/>
            <a:ext cx="2567863" cy="388302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51011"/>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404630"/>
            <a:ext cx="424281" cy="424281"/>
          </a:xfrm>
          <a:prstGeom prst="rect">
            <a:avLst/>
          </a:prstGeom>
        </p:spPr>
      </p:pic>
      <p:sp>
        <p:nvSpPr>
          <p:cNvPr id="21" name="TextBox 20"/>
          <p:cNvSpPr txBox="1"/>
          <p:nvPr/>
        </p:nvSpPr>
        <p:spPr>
          <a:xfrm>
            <a:off x="6397599" y="3073971"/>
            <a:ext cx="2238679" cy="2355977"/>
          </a:xfrm>
          <a:prstGeom prst="rect">
            <a:avLst/>
          </a:prstGeom>
          <a:noFill/>
        </p:spPr>
        <p:txBody>
          <a:bodyPr wrap="square" anchor="t"/>
          <a:lstStyle/>
          <a:p>
            <a:pPr algn="l">
              <a:lnSpc>
                <a:spcPct val="110000"/>
              </a:lnSpc>
              <a:spcAft>
                <a:spcPts val="400"/>
              </a:spcAft>
            </a:pPr>
            <a:r>
              <a:rPr sz="175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 서비스와 랩 코드를 작성하는 프로그래밍 언어이다</a:t>
            </a:r>
          </a:p>
        </p:txBody>
      </p:sp>
      <p:sp>
        <p:nvSpPr>
          <p:cNvPr id="22" name="Rounded Rectangle 21"/>
          <p:cNvSpPr/>
          <p:nvPr/>
        </p:nvSpPr>
        <p:spPr>
          <a:xfrm>
            <a:off x="6461607" y="550310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0310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49843"/>
            <a:ext cx="2567863" cy="388302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51011"/>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404630"/>
            <a:ext cx="424281" cy="424281"/>
          </a:xfrm>
          <a:prstGeom prst="rect">
            <a:avLst/>
          </a:prstGeom>
        </p:spPr>
      </p:pic>
      <p:sp>
        <p:nvSpPr>
          <p:cNvPr id="27" name="TextBox 26"/>
          <p:cNvSpPr txBox="1"/>
          <p:nvPr/>
        </p:nvSpPr>
        <p:spPr>
          <a:xfrm>
            <a:off x="9239783" y="3073971"/>
            <a:ext cx="2238679" cy="2355977"/>
          </a:xfrm>
          <a:prstGeom prst="rect">
            <a:avLst/>
          </a:prstGeom>
          <a:noFill/>
        </p:spPr>
        <p:txBody>
          <a:bodyPr wrap="square" anchor="t"/>
          <a:lstStyle/>
          <a:p>
            <a:pPr algn="l">
              <a:lnSpc>
                <a:spcPct val="110000"/>
              </a:lnSpc>
              <a:spcAft>
                <a:spcPts val="400"/>
              </a:spcAft>
            </a:pPr>
            <a:r>
              <a:rPr sz="1750" b="1">
                <a:solidFill>
                  <a:srgbClr val="13294B"/>
                </a:solidFill>
                <a:latin typeface="맑은 고딕"/>
                <a:ea typeface="맑은 고딕"/>
                <a:cs typeface="맑은 고딕"/>
              </a:rPr>
              <a:t>Docker</a:t>
            </a:r>
          </a:p>
          <a:p>
            <a:pPr algn="l" marL="154305" indent="-154305">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marL="154305" indent="-154305">
              <a:lnSpc>
                <a:spcPct val="110000"/>
              </a:lnSpc>
              <a:spcAft>
                <a:spcPts val="400"/>
              </a:spcAft>
            </a:pPr>
            <a:r>
              <a:rPr sz="1350" b="0">
                <a:solidFill>
                  <a:srgbClr val="1F2A3A"/>
                </a:solidFill>
                <a:latin typeface="맑은 고딕"/>
                <a:ea typeface="맑은 고딕"/>
                <a:cs typeface="맑은 고딕"/>
              </a:rPr>
              <a:t>• Docker Compose는 한 파일에 정의된 HYD 서비스 전체를 실행한다</a:t>
            </a:r>
          </a:p>
        </p:txBody>
      </p:sp>
      <p:sp>
        <p:nvSpPr>
          <p:cNvPr id="28" name="Rounded Rectangle 27"/>
          <p:cNvSpPr/>
          <p:nvPr/>
        </p:nvSpPr>
        <p:spPr>
          <a:xfrm>
            <a:off x="9303791" y="5503100"/>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0310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이어지는 과정을 확인한다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마무리되는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a:lnSpc>
                <a:spcPct val="110000"/>
              </a:lnSpc>
              <a:spcAft>
                <a:spcPts val="400"/>
              </a:spcAft>
            </a:pPr>
            <a:r>
              <a:rPr sz="1850" b="1">
                <a:solidFill>
                  <a:srgbClr val="13294B"/>
                </a:solidFill>
                <a:latin typeface="맑은 고딕"/>
                <a:ea typeface="맑은 고딕"/>
                <a:cs typeface="맑은 고딕"/>
              </a:rPr>
              <a:t>경보</a:t>
            </a:r>
          </a:p>
          <a:p>
            <a:pPr algn="ctr">
              <a:lnSpc>
                <a:spcPct val="110000"/>
              </a:lnSpc>
              <a:spcAft>
                <a:spcPts val="400"/>
              </a:spcAft>
            </a:pPr>
            <a:r>
              <a:rPr sz="1550" b="0">
                <a:solidFill>
                  <a:srgbClr val="1F2A3A"/>
                </a:solidFill>
                <a:latin typeface="맑은 고딕"/>
                <a:ea typeface="맑은 고딕"/>
                <a:cs typeface="맑은 고딕"/>
              </a:rPr>
              <a:t>유온과 냉각 효율이</a:t>
            </a:r>
          </a:p>
          <a:p>
            <a:pPr algn="ctr">
              <a:lnSpc>
                <a:spcPct val="110000"/>
              </a:lnSpc>
              <a:spcAft>
                <a:spcPts val="400"/>
              </a:spcAft>
            </a:pPr>
            <a:r>
              <a:rPr sz="1550" b="0">
                <a:solidFill>
                  <a:srgbClr val="1F2A3A"/>
                </a:solidFill>
                <a:latin typeface="맑은 고딕"/>
                <a:ea typeface="맑은 고딕"/>
                <a:cs typeface="맑은 고딕"/>
              </a:rPr>
              <a:t>조건을 벗어나</a:t>
            </a:r>
          </a:p>
          <a:p>
            <a:pPr algn="ctr">
              <a:lnSpc>
                <a:spcPct val="110000"/>
              </a:lnSpc>
              <a:spcAft>
                <a:spcPts val="400"/>
              </a:spcAft>
            </a:pPr>
            <a:r>
              <a:rPr sz="15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a:lnSpc>
                <a:spcPct val="110000"/>
              </a:lnSpc>
              <a:spcAft>
                <a:spcPts val="400"/>
              </a:spcAft>
            </a:pPr>
            <a:r>
              <a:rPr sz="1850" b="1">
                <a:solidFill>
                  <a:srgbClr val="13294B"/>
                </a:solidFill>
                <a:latin typeface="맑은 고딕"/>
                <a:ea typeface="맑은 고딕"/>
                <a:cs typeface="맑은 고딕"/>
              </a:rPr>
              <a:t>원인 분석과 추천</a:t>
            </a:r>
          </a:p>
          <a:p>
            <a:pPr algn="ctr">
              <a:lnSpc>
                <a:spcPct val="110000"/>
              </a:lnSpc>
              <a:spcAft>
                <a:spcPts val="400"/>
              </a:spcAft>
            </a:pPr>
            <a:r>
              <a:rPr sz="1550" b="0">
                <a:solidFill>
                  <a:srgbClr val="1F2A3A"/>
                </a:solidFill>
                <a:latin typeface="맑은 고딕"/>
                <a:ea typeface="맑은 고딕"/>
                <a:cs typeface="맑은 고딕"/>
              </a:rPr>
              <a:t>에이전트가</a:t>
            </a:r>
          </a:p>
          <a:p>
            <a:pPr algn="ctr">
              <a:lnSpc>
                <a:spcPct val="110000"/>
              </a:lnSpc>
              <a:spcAft>
                <a:spcPts val="400"/>
              </a:spcAft>
            </a:pPr>
            <a:r>
              <a:rPr sz="1550" b="0">
                <a:solidFill>
                  <a:srgbClr val="1F2A3A"/>
                </a:solidFill>
                <a:latin typeface="맑은 고딕"/>
                <a:ea typeface="맑은 고딕"/>
                <a:cs typeface="맑은 고딕"/>
              </a:rPr>
              <a:t>지식과 값을 조회해</a:t>
            </a:r>
          </a:p>
          <a:p>
            <a:pPr algn="ctr">
              <a:lnSpc>
                <a:spcPct val="110000"/>
              </a:lnSpc>
              <a:spcAft>
                <a:spcPts val="400"/>
              </a:spcAft>
            </a:pPr>
            <a:r>
              <a:rPr sz="1550" b="0">
                <a:solidFill>
                  <a:srgbClr val="1F2A3A"/>
                </a:solidFill>
                <a:latin typeface="맑은 고딕"/>
                <a:ea typeface="맑은 고딕"/>
                <a:cs typeface="맑은 고딕"/>
              </a:rPr>
              <a:t>원인을 가리고</a:t>
            </a:r>
          </a:p>
          <a:p>
            <a:pPr algn="ctr">
              <a:lnSpc>
                <a:spcPct val="110000"/>
              </a:lnSpc>
              <a:spcAft>
                <a:spcPts val="400"/>
              </a:spcAft>
            </a:pPr>
            <a:r>
              <a:rPr sz="15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349944"/>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a:lnSpc>
                <a:spcPct val="110000"/>
              </a:lnSpc>
              <a:spcAft>
                <a:spcPts val="400"/>
              </a:spcAft>
            </a:pPr>
            <a:r>
              <a:rPr sz="1850" b="1">
                <a:solidFill>
                  <a:srgbClr val="13294B"/>
                </a:solidFill>
                <a:latin typeface="맑은 고딕"/>
                <a:ea typeface="맑은 고딕"/>
                <a:cs typeface="맑은 고딕"/>
              </a:rPr>
              <a:t>승인 또는 거절</a:t>
            </a:r>
          </a:p>
          <a:p>
            <a:pPr algn="ctr">
              <a:lnSpc>
                <a:spcPct val="110000"/>
              </a:lnSpc>
              <a:spcAft>
                <a:spcPts val="400"/>
              </a:spcAft>
            </a:pPr>
            <a:r>
              <a:rPr sz="1550" b="0">
                <a:solidFill>
                  <a:srgbClr val="1F2A3A"/>
                </a:solidFill>
                <a:latin typeface="맑은 고딕"/>
                <a:ea typeface="맑은 고딕"/>
                <a:cs typeface="맑은 고딕"/>
              </a:rPr>
              <a:t>HITL</a:t>
            </a:r>
          </a:p>
          <a:p>
            <a:pPr algn="ctr">
              <a:lnSpc>
                <a:spcPct val="110000"/>
              </a:lnSpc>
              <a:spcAft>
                <a:spcPts val="400"/>
              </a:spcAft>
            </a:pPr>
            <a:r>
              <a:rPr sz="1550" b="0">
                <a:solidFill>
                  <a:srgbClr val="1F2A3A"/>
                </a:solidFill>
                <a:latin typeface="맑은 고딕"/>
                <a:ea typeface="맑은 고딕"/>
                <a:cs typeface="맑은 고딕"/>
              </a:rPr>
              <a:t>담당자가 판단한다</a:t>
            </a:r>
          </a:p>
          <a:p>
            <a:pPr algn="ctr">
              <a:lnSpc>
                <a:spcPct val="110000"/>
              </a:lnSpc>
              <a:spcAft>
                <a:spcPts val="400"/>
              </a:spcAft>
            </a:pPr>
            <a:r>
              <a:rPr sz="1550" b="0">
                <a:solidFill>
                  <a:srgbClr val="1F2A3A"/>
                </a:solidFill>
                <a:latin typeface="맑은 고딕"/>
                <a:ea typeface="맑은 고딕"/>
                <a:cs typeface="맑은 고딕"/>
              </a:rPr>
              <a:t>승인 전에는</a:t>
            </a:r>
          </a:p>
          <a:p>
            <a:pPr algn="ctr">
              <a:lnSpc>
                <a:spcPct val="110000"/>
              </a:lnSpc>
              <a:spcAft>
                <a:spcPts val="400"/>
              </a:spcAft>
            </a:pPr>
            <a:r>
              <a:rPr sz="15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a:lnSpc>
                <a:spcPct val="110000"/>
              </a:lnSpc>
              <a:spcAft>
                <a:spcPts val="400"/>
              </a:spcAft>
            </a:pPr>
            <a:r>
              <a:rPr sz="1850" b="1">
                <a:solidFill>
                  <a:srgbClr val="13294B"/>
                </a:solidFill>
                <a:latin typeface="맑은 고딕"/>
                <a:ea typeface="맑은 고딕"/>
                <a:cs typeface="맑은 고딕"/>
              </a:rPr>
              <a:t>조치</a:t>
            </a:r>
          </a:p>
          <a:p>
            <a:pPr algn="ctr">
              <a:lnSpc>
                <a:spcPct val="110000"/>
              </a:lnSpc>
              <a:spcAft>
                <a:spcPts val="400"/>
              </a:spcAft>
            </a:pPr>
            <a:r>
              <a:rPr sz="1550" b="0">
                <a:solidFill>
                  <a:srgbClr val="1F2A3A"/>
                </a:solidFill>
                <a:latin typeface="맑은 고딕"/>
                <a:ea typeface="맑은 고딕"/>
                <a:cs typeface="맑은 고딕"/>
              </a:rPr>
              <a:t>승인된 조치만</a:t>
            </a:r>
          </a:p>
          <a:p>
            <a:pPr algn="ctr">
              <a:lnSpc>
                <a:spcPct val="110000"/>
              </a:lnSpc>
              <a:spcAft>
                <a:spcPts val="400"/>
              </a:spcAft>
            </a:pPr>
            <a:r>
              <a:rPr sz="1550" b="0">
                <a:solidFill>
                  <a:srgbClr val="1F2A3A"/>
                </a:solidFill>
                <a:latin typeface="맑은 고딕"/>
                <a:ea typeface="맑은 고딕"/>
                <a:cs typeface="맑은 고딕"/>
              </a:rPr>
              <a:t>명령이 되어</a:t>
            </a:r>
          </a:p>
          <a:p>
            <a:pPr algn="ctr">
              <a:lnSpc>
                <a:spcPct val="110000"/>
              </a:lnSpc>
              <a:spcAft>
                <a:spcPts val="400"/>
              </a:spcAft>
            </a:pPr>
            <a:r>
              <a:rPr sz="15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349944"/>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a:lnSpc>
                <a:spcPct val="110000"/>
              </a:lnSpc>
              <a:spcAft>
                <a:spcPts val="400"/>
              </a:spcAft>
            </a:pPr>
            <a:r>
              <a:rPr sz="1850" b="1">
                <a:solidFill>
                  <a:srgbClr val="13294B"/>
                </a:solidFill>
                <a:latin typeface="맑은 고딕"/>
                <a:ea typeface="맑은 고딕"/>
                <a:cs typeface="맑은 고딕"/>
              </a:rPr>
              <a:t>재관측과 결과</a:t>
            </a:r>
          </a:p>
          <a:p>
            <a:pPr algn="ctr">
              <a:lnSpc>
                <a:spcPct val="110000"/>
              </a:lnSpc>
              <a:spcAft>
                <a:spcPts val="400"/>
              </a:spcAft>
            </a:pPr>
            <a:r>
              <a:rPr sz="1550" b="0">
                <a:solidFill>
                  <a:srgbClr val="1F2A3A"/>
                </a:solidFill>
                <a:latin typeface="맑은 고딕"/>
                <a:ea typeface="맑은 고딕"/>
                <a:cs typeface="맑은 고딕"/>
              </a:rPr>
              <a:t>유온을 다시 읽어</a:t>
            </a:r>
          </a:p>
          <a:p>
            <a:pPr algn="ctr">
              <a:lnSpc>
                <a:spcPct val="110000"/>
              </a:lnSpc>
              <a:spcAft>
                <a:spcPts val="400"/>
              </a:spcAft>
            </a:pPr>
            <a:r>
              <a:rPr sz="1550" b="0">
                <a:solidFill>
                  <a:srgbClr val="1F2A3A"/>
                </a:solidFill>
                <a:latin typeface="맑은 고딕"/>
                <a:ea typeface="맑은 고딕"/>
                <a:cs typeface="맑은 고딕"/>
              </a:rPr>
              <a:t>회복을 확인하고</a:t>
            </a:r>
          </a:p>
          <a:p>
            <a:pPr algn="ctr">
              <a:lnSpc>
                <a:spcPct val="110000"/>
              </a:lnSpc>
              <a:spcAft>
                <a:spcPts val="400"/>
              </a:spcAft>
            </a:pPr>
            <a:r>
              <a:rPr sz="1550" b="0">
                <a:solidFill>
                  <a:srgbClr val="1F2A3A"/>
                </a:solidFill>
                <a:latin typeface="맑은 고딕"/>
                <a:ea typeface="맑은 고딕"/>
                <a:cs typeface="맑은 고딕"/>
              </a:rPr>
              <a:t>결과를 보고한다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수치만으로 조치를 정할 수 없는 이유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같은 경보라도 원인에 따라 조치가 달라지는 까닭</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승인을 기다리는 데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지식과 판단의 네 질문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재고 이상을 알리는 데는 정보로 충분하지만, 원인을 가리고 조치를 정하려면 </a:t>
            </a:r>
            <a:r>
              <a:rPr sz="1600" b="1">
                <a:solidFill>
                  <a:srgbClr val="1A6FC4"/>
                </a:solidFill>
                <a:latin typeface="맑은 고딕"/>
                <a:ea typeface="맑은 고딕"/>
                <a:cs typeface="맑은 고딕"/>
              </a:rPr>
              <a:t>지식</a:t>
            </a:r>
            <a:r>
              <a:rPr sz="1600" b="0">
                <a:solidFill>
                  <a:srgbClr val="556175"/>
                </a:solidFill>
                <a:latin typeface="맑은 고딕"/>
                <a:ea typeface="맑은 고딕"/>
                <a:cs typeface="맑은 고딕"/>
              </a:rPr>
              <a:t>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같은 사건의 문장</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질문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단위와 기준이 무엇인지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답할 수 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a:p>
            <a:pPr algn="l">
              <a:lnSpc>
                <a:spcPct val="110000"/>
              </a:lnSpc>
            </a:pPr>
            <a:r>
              <a:rPr sz="1250" b="1">
                <a:solidFill>
                  <a:srgbClr val="556175"/>
                </a:solidFill>
                <a:latin typeface="맑은 고딕"/>
                <a:ea typeface="맑은 고딕"/>
                <a:cs typeface="맑은 고딕"/>
              </a:rPr>
              <a:t>계측값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a:p>
            <a:pPr algn="l">
              <a:lnSpc>
                <a:spcPct val="110000"/>
              </a:lnSpc>
            </a:pPr>
            <a:r>
              <a:rPr sz="1250" b="1">
                <a:solidFill>
                  <a:srgbClr val="556175"/>
                </a:solidFill>
                <a:latin typeface="맑은 고딕"/>
                <a:ea typeface="맑은 고딕"/>
                <a:cs typeface="맑은 고딕"/>
              </a:rPr>
              <a:t>이상 감지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a:p>
            <a:pPr algn="l">
              <a:lnSpc>
                <a:spcPct val="110000"/>
              </a:lnSpc>
            </a:pPr>
            <a:r>
              <a:rPr sz="1250" b="1">
                <a:solidFill>
                  <a:srgbClr val="1A6FC4"/>
                </a:solidFill>
                <a:latin typeface="맑은 고딕"/>
                <a:ea typeface="맑은 고딕"/>
                <a:cs typeface="맑은 고딕"/>
              </a:rPr>
              <a:t>고장 진단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a:p>
            <a:pPr algn="l">
              <a:lnSpc>
                <a:spcPct val="110000"/>
              </a:lnSpc>
            </a:pPr>
            <a:r>
              <a:rPr sz="1250" b="1">
                <a:solidFill>
                  <a:srgbClr val="1A6FC4"/>
                </a:solidFill>
                <a:latin typeface="맑은 고딕"/>
                <a:ea typeface="맑은 고딕"/>
                <a:cs typeface="맑은 고딕"/>
              </a:rPr>
              <a:t>조치 판단</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경보에 원인 후보는 셋이며, 후보마다 정해진 값과 기준인 </a:t>
            </a:r>
            <a:r>
              <a:rPr sz="1600" b="1">
                <a:solidFill>
                  <a:srgbClr val="1A6FC4"/>
                </a:solidFill>
                <a:latin typeface="맑은 고딕"/>
                <a:ea typeface="맑은 고딕"/>
                <a:cs typeface="맑은 고딕"/>
              </a:rPr>
              <a:t>증거</a:t>
            </a:r>
            <a:r>
              <a:rPr sz="1600" b="0">
                <a:solidFill>
                  <a:srgbClr val="556175"/>
                </a:solidFill>
                <a:latin typeface="맑은 고딕"/>
                <a:ea typeface="맑은 고딕"/>
                <a:cs typeface="맑은 고딕"/>
              </a:rPr>
              <a:t>(Evidence)에 측정값을 대조해 원인을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pic>
        <p:nvPicPr>
          <p:cNvPr id="6" name="삽화:원인후보.svg" descr="illust_575696792991261473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경보의 증상</a:t>
            </a:r>
          </a:p>
        </p:txBody>
      </p:sp>
      <p:sp>
        <p:nvSpPr>
          <p:cNvPr id="8" name="TextBox 7"/>
          <p:cNvSpPr txBox="1"/>
          <p:nvPr/>
        </p:nvSpPr>
        <p:spPr>
          <a:xfrm>
            <a:off x="3995769" y="162763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 → 해당</a:t>
            </a:r>
          </a:p>
        </p:txBody>
      </p:sp>
      <p:sp>
        <p:nvSpPr>
          <p:cNvPr id="12" name="TextBox 11"/>
          <p:cNvSpPr txBox="1"/>
          <p:nvPr/>
        </p:nvSpPr>
        <p:spPr>
          <a:xfrm>
            <a:off x="7394077" y="3627342"/>
            <a:ext cx="403651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 → 해당 없음</a:t>
            </a:r>
          </a:p>
        </p:txBody>
      </p:sp>
      <p:sp>
        <p:nvSpPr>
          <p:cNvPr id="13" name="TextBox 12"/>
          <p:cNvSpPr txBox="1"/>
          <p:nvPr/>
        </p:nvSpPr>
        <p:spPr>
          <a:xfrm>
            <a:off x="7394077" y="5102306"/>
            <a:ext cx="403651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 → 해당 없음</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이를 없애는 조치가 달라지므로, 원인을 가려야 조치를 정할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a:lnSpc>
                <a:spcPct val="110000"/>
              </a:lnSpc>
              <a:spcAft>
                <a:spcPts val="400"/>
              </a:spcAft>
            </a:pPr>
            <a:r>
              <a:rPr sz="2200" b="1">
                <a:solidFill>
                  <a:srgbClr val="13294B"/>
                </a:solidFill>
                <a:latin typeface="맑은 고딕"/>
                <a:ea typeface="맑은 고딕"/>
                <a:cs typeface="맑은 고딕"/>
              </a:rPr>
              <a:t>쿨러 핀 오염</a:t>
            </a:r>
          </a:p>
          <a:p>
            <a:pPr algn="l" marL="205740" indent="-205740">
              <a:lnSpc>
                <a:spcPct val="110000"/>
              </a:lnSpc>
              <a:spcAft>
                <a:spcPts val="400"/>
              </a:spcAft>
            </a:pPr>
            <a:r>
              <a:rPr sz="1800" b="0">
                <a:solidFill>
                  <a:srgbClr val="1F2A3A"/>
                </a:solidFill>
                <a:latin typeface="맑은 고딕"/>
                <a:ea typeface="맑은 고딕"/>
                <a:cs typeface="맑은 고딕"/>
              </a:rPr>
              <a:t>• 쿨러의 핀을 세척한다</a:t>
            </a:r>
          </a:p>
          <a:p>
            <a:pPr algn="l" marL="205740" indent="-205740">
              <a:lnSpc>
                <a:spcPct val="110000"/>
              </a:lnSpc>
              <a:spcAft>
                <a:spcPts val="400"/>
              </a:spcAft>
            </a:pPr>
            <a:r>
              <a:rPr sz="1800" b="0">
                <a:solidFill>
                  <a:srgbClr val="1F2A3A"/>
                </a:solidFill>
                <a:latin typeface="맑은 고딕"/>
                <a:ea typeface="맑은 고딕"/>
                <a:cs typeface="맑은 고딕"/>
              </a:rPr>
              <a:t>• 핀의 막힘이 해소되어 냉각 효율이 돌아온다</a:t>
            </a:r>
          </a:p>
        </p:txBody>
      </p:sp>
      <p:sp>
        <p:nvSpPr>
          <p:cNvPr id="10" name="Rounded Rectangle 9"/>
          <p:cNvSpPr/>
          <p:nvPr/>
        </p:nvSpPr>
        <p:spPr>
          <a:xfrm>
            <a:off x="777240" y="5259070"/>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a:lnSpc>
                <a:spcPct val="110000"/>
              </a:lnSpc>
              <a:spcAft>
                <a:spcPts val="400"/>
              </a:spcAft>
            </a:pPr>
            <a:r>
              <a:rPr sz="2200" b="1">
                <a:solidFill>
                  <a:srgbClr val="13294B"/>
                </a:solidFill>
                <a:latin typeface="맑은 고딕"/>
                <a:ea typeface="맑은 고딕"/>
                <a:cs typeface="맑은 고딕"/>
              </a:rPr>
              <a:t>팬 구동 불량</a:t>
            </a:r>
          </a:p>
          <a:p>
            <a:pPr algn="l" marL="205740" indent="-205740">
              <a:lnSpc>
                <a:spcPct val="110000"/>
              </a:lnSpc>
              <a:spcAft>
                <a:spcPts val="400"/>
              </a:spcAft>
            </a:pPr>
            <a:r>
              <a:rPr sz="1800" b="0">
                <a:solidFill>
                  <a:srgbClr val="1F2A3A"/>
                </a:solidFill>
                <a:latin typeface="맑은 고딕"/>
                <a:ea typeface="맑은 고딕"/>
                <a:cs typeface="맑은 고딕"/>
              </a:rPr>
              <a:t>• 쿨러 팬의 벨트를 점검한다</a:t>
            </a:r>
          </a:p>
          <a:p>
            <a:pPr algn="l" marL="205740" indent="-205740">
              <a:lnSpc>
                <a:spcPct val="110000"/>
              </a:lnSpc>
              <a:spcAft>
                <a:spcPts val="400"/>
              </a:spcAft>
            </a:pPr>
            <a:r>
              <a:rPr sz="1800" b="0">
                <a:solidFill>
                  <a:srgbClr val="1F2A3A"/>
                </a:solidFill>
                <a:latin typeface="맑은 고딕"/>
                <a:ea typeface="맑은 고딕"/>
                <a:cs typeface="맑은 고딕"/>
              </a:rPr>
              <a:t>• 팬이 제 속도로 돌아야 바람이 충분해진다</a:t>
            </a:r>
          </a:p>
        </p:txBody>
      </p:sp>
      <p:sp>
        <p:nvSpPr>
          <p:cNvPr id="16" name="Rounded Rectangle 15"/>
          <p:cNvSpPr/>
          <p:nvPr/>
        </p:nvSpPr>
        <p:spPr>
          <a:xfrm>
            <a:off x="4566818" y="5259070"/>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a:lnSpc>
                <a:spcPct val="110000"/>
              </a:lnSpc>
              <a:spcAft>
                <a:spcPts val="400"/>
              </a:spcAft>
            </a:pPr>
            <a:r>
              <a:rPr sz="2200" b="1">
                <a:solidFill>
                  <a:srgbClr val="13294B"/>
                </a:solidFill>
                <a:latin typeface="맑은 고딕"/>
                <a:ea typeface="맑은 고딕"/>
                <a:cs typeface="맑은 고딕"/>
              </a:rPr>
              <a:t>주변 온도 상승</a:t>
            </a:r>
          </a:p>
          <a:p>
            <a:pPr algn="l" marL="205740" indent="-205740">
              <a:lnSpc>
                <a:spcPct val="110000"/>
              </a:lnSpc>
              <a:spcAft>
                <a:spcPts val="400"/>
              </a:spcAft>
            </a:pPr>
            <a:r>
              <a:rPr sz="1800" b="0">
                <a:solidFill>
                  <a:srgbClr val="1F2A3A"/>
                </a:solidFill>
                <a:latin typeface="맑은 고딕"/>
                <a:ea typeface="맑은 고딕"/>
                <a:cs typeface="맑은 고딕"/>
              </a:rPr>
              <a:t>• 캐비닛의 환기를 보강한다</a:t>
            </a:r>
          </a:p>
          <a:p>
            <a:pPr algn="l" marL="205740" indent="-205740">
              <a:lnSpc>
                <a:spcPct val="110000"/>
              </a:lnSpc>
              <a:spcAft>
                <a:spcPts val="400"/>
              </a:spcAft>
            </a:pPr>
            <a:r>
              <a:rPr sz="18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259070"/>
            <a:ext cx="19537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19537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주변 공기가 더움</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낮추는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98598"/>
            <a:ext cx="5181447" cy="298551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99766"/>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853385"/>
            <a:ext cx="424281" cy="424281"/>
          </a:xfrm>
          <a:prstGeom prst="rect">
            <a:avLst/>
          </a:prstGeom>
        </p:spPr>
      </p:pic>
      <p:sp>
        <p:nvSpPr>
          <p:cNvPr id="9" name="TextBox 8"/>
          <p:cNvSpPr txBox="1"/>
          <p:nvPr/>
        </p:nvSpPr>
        <p:spPr>
          <a:xfrm>
            <a:off x="1691640" y="269976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550158"/>
            <a:ext cx="4632807" cy="1385316"/>
          </a:xfrm>
          <a:prstGeom prst="rect">
            <a:avLst/>
          </a:prstGeom>
          <a:noFill/>
        </p:spPr>
        <p:txBody>
          <a:bodyPr wrap="square" anchor="t"/>
          <a:lstStyle/>
          <a:p>
            <a:pPr algn="l" marL="205740" indent="-205740">
              <a:lnSpc>
                <a:spcPct val="110000"/>
              </a:lnSpc>
              <a:spcAft>
                <a:spcPts val="600"/>
              </a:spcAft>
            </a:pPr>
            <a:r>
              <a:rPr sz="1800" b="0">
                <a:solidFill>
                  <a:srgbClr val="1F2A3A"/>
                </a:solidFill>
                <a:latin typeface="맑은 고딕"/>
                <a:ea typeface="맑은 고딕"/>
                <a:cs typeface="맑은 고딕"/>
              </a:rPr>
              <a:t>• 팬을 최대로 돌려 유온을 우선 낮춘다</a:t>
            </a:r>
          </a:p>
          <a:p>
            <a:pPr algn="l" marL="205740" indent="-205740">
              <a:lnSpc>
                <a:spcPct val="110000"/>
              </a:lnSpc>
              <a:spcAft>
                <a:spcPts val="600"/>
              </a:spcAft>
            </a:pPr>
            <a:r>
              <a:rPr sz="1800" b="0">
                <a:solidFill>
                  <a:srgbClr val="1F2A3A"/>
                </a:solidFill>
                <a:latin typeface="맑은 고딕"/>
                <a:ea typeface="맑은 고딕"/>
                <a:cs typeface="맑은 고딕"/>
              </a:rPr>
              <a:t>• 쿨러의 핀은 여전히 막혀 있다</a:t>
            </a:r>
          </a:p>
          <a:p>
            <a:pPr algn="l" marL="205740" indent="-205740">
              <a:lnSpc>
                <a:spcPct val="110000"/>
              </a:lnSpc>
              <a:spcAft>
                <a:spcPts val="600"/>
              </a:spcAft>
            </a:pPr>
            <a:r>
              <a:rPr sz="1800" b="0">
                <a:solidFill>
                  <a:srgbClr val="1F2A3A"/>
                </a:solidFill>
                <a:latin typeface="맑은 고딕"/>
                <a:ea typeface="맑은 고딕"/>
                <a:cs typeface="맑은 고딕"/>
              </a:rPr>
              <a:t>• 냉각 효율은 55 %로 기준 아래에 머문다</a:t>
            </a:r>
          </a:p>
        </p:txBody>
      </p:sp>
      <p:sp>
        <p:nvSpPr>
          <p:cNvPr id="11" name="Rounded Rectangle 10"/>
          <p:cNvSpPr/>
          <p:nvPr/>
        </p:nvSpPr>
        <p:spPr>
          <a:xfrm>
            <a:off x="868680" y="5026914"/>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26914"/>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498598"/>
            <a:ext cx="5181447" cy="298551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99766"/>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853385"/>
            <a:ext cx="424281" cy="424281"/>
          </a:xfrm>
          <a:prstGeom prst="rect">
            <a:avLst/>
          </a:prstGeom>
        </p:spPr>
      </p:pic>
      <p:sp>
        <p:nvSpPr>
          <p:cNvPr id="16" name="TextBox 15"/>
          <p:cNvSpPr txBox="1"/>
          <p:nvPr/>
        </p:nvSpPr>
        <p:spPr>
          <a:xfrm>
            <a:off x="7604607" y="269976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550158"/>
            <a:ext cx="4632807" cy="1385316"/>
          </a:xfrm>
          <a:prstGeom prst="rect">
            <a:avLst/>
          </a:prstGeom>
          <a:noFill/>
        </p:spPr>
        <p:txBody>
          <a:bodyPr wrap="square" anchor="t"/>
          <a:lstStyle/>
          <a:p>
            <a:pPr algn="l" marL="205740" indent="-205740">
              <a:lnSpc>
                <a:spcPct val="110000"/>
              </a:lnSpc>
              <a:spcAft>
                <a:spcPts val="600"/>
              </a:spcAft>
            </a:pPr>
            <a:r>
              <a:rPr sz="1800" b="0">
                <a:solidFill>
                  <a:srgbClr val="1F2A3A"/>
                </a:solidFill>
                <a:latin typeface="맑은 고딕"/>
                <a:ea typeface="맑은 고딕"/>
                <a:cs typeface="맑은 고딕"/>
              </a:rPr>
              <a:t>• 막힌 핀을 세척해 원인을 없앤다</a:t>
            </a:r>
          </a:p>
          <a:p>
            <a:pPr algn="l" marL="205740" indent="-205740">
              <a:lnSpc>
                <a:spcPct val="110000"/>
              </a:lnSpc>
              <a:spcAft>
                <a:spcPts val="600"/>
              </a:spcAft>
            </a:pPr>
            <a:r>
              <a:rPr sz="1800" b="0">
                <a:solidFill>
                  <a:srgbClr val="1F2A3A"/>
                </a:solidFill>
                <a:latin typeface="맑은 고딕"/>
                <a:ea typeface="맑은 고딕"/>
                <a:cs typeface="맑은 고딕"/>
              </a:rPr>
              <a:t>• 설비를 멈추고 해야 하는 작업이다</a:t>
            </a:r>
          </a:p>
          <a:p>
            <a:pPr algn="l" marL="205740" indent="-205740">
              <a:lnSpc>
                <a:spcPct val="110000"/>
              </a:lnSpc>
              <a:spcAft>
                <a:spcPts val="600"/>
              </a:spcAft>
            </a:pPr>
            <a:r>
              <a:rPr sz="180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5026914"/>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26914"/>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 속도를 최대로 올린다는 한 줄의 규칙은 원인에 따라 설비를 멈추게 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372611"/>
            <a:ext cx="4632807" cy="1740408"/>
          </a:xfrm>
          <a:prstGeom prst="rect">
            <a:avLst/>
          </a:prstGeom>
          <a:noFill/>
        </p:spPr>
        <p:txBody>
          <a:bodyPr wrap="square" anchor="t"/>
          <a:lstStyle/>
          <a:p>
            <a:pPr algn="l" marL="205740" indent="-205740">
              <a:lnSpc>
                <a:spcPct val="110000"/>
              </a:lnSpc>
              <a:spcAft>
                <a:spcPts val="600"/>
              </a:spcAft>
            </a:pPr>
            <a:r>
              <a:rPr sz="1800" b="0">
                <a:solidFill>
                  <a:srgbClr val="1F2A3A"/>
                </a:solidFill>
                <a:latin typeface="맑은 고딕"/>
                <a:ea typeface="맑은 고딕"/>
                <a:cs typeface="맑은 고딕"/>
              </a:rPr>
              <a:t>• 팬 속도를 100 %로 올린다</a:t>
            </a:r>
          </a:p>
          <a:p>
            <a:pPr algn="l" marL="205740" indent="-205740">
              <a:lnSpc>
                <a:spcPct val="110000"/>
              </a:lnSpc>
              <a:spcAft>
                <a:spcPts val="600"/>
              </a:spcAft>
            </a:pPr>
            <a:r>
              <a:rPr sz="1800" b="0">
                <a:solidFill>
                  <a:srgbClr val="1F2A3A"/>
                </a:solidFill>
                <a:latin typeface="맑은 고딕"/>
                <a:ea typeface="맑은 고딕"/>
                <a:cs typeface="맑은 고딕"/>
              </a:rPr>
              <a:t>• 바람이 늘어 유온이 61.4 ℃에서 51.5 ℃로 내려간다</a:t>
            </a:r>
          </a:p>
          <a:p>
            <a:pPr algn="l" marL="205740" indent="-205740">
              <a:lnSpc>
                <a:spcPct val="110000"/>
              </a:lnSpc>
              <a:spcAft>
                <a:spcPts val="600"/>
              </a:spcAft>
            </a:pPr>
            <a:r>
              <a:rPr sz="1800" b="0">
                <a:solidFill>
                  <a:srgbClr val="1F2A3A"/>
                </a:solidFill>
                <a:latin typeface="맑은 고딕"/>
                <a:ea typeface="맑은 고딕"/>
                <a:cs typeface="맑은 고딕"/>
              </a:rPr>
              <a:t>• 경보가 해제된다</a:t>
            </a:r>
          </a:p>
        </p:txBody>
      </p:sp>
      <p:sp>
        <p:nvSpPr>
          <p:cNvPr id="11" name="Rounded Rectangle 10"/>
          <p:cNvSpPr/>
          <p:nvPr/>
        </p:nvSpPr>
        <p:spPr>
          <a:xfrm>
            <a:off x="868680" y="5204460"/>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효과를 낸다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372611"/>
            <a:ext cx="4632807" cy="1740408"/>
          </a:xfrm>
          <a:prstGeom prst="rect">
            <a:avLst/>
          </a:prstGeom>
          <a:noFill/>
        </p:spPr>
        <p:txBody>
          <a:bodyPr wrap="square" anchor="t"/>
          <a:lstStyle/>
          <a:p>
            <a:pPr algn="l" marL="205740" indent="-205740">
              <a:lnSpc>
                <a:spcPct val="110000"/>
              </a:lnSpc>
              <a:spcAft>
                <a:spcPts val="600"/>
              </a:spcAft>
            </a:pPr>
            <a:r>
              <a:rPr sz="1800" b="0">
                <a:solidFill>
                  <a:srgbClr val="1F2A3A"/>
                </a:solidFill>
                <a:latin typeface="맑은 고딕"/>
                <a:ea typeface="맑은 고딕"/>
                <a:cs typeface="맑은 고딕"/>
              </a:rPr>
              <a:t>• 같은 조치로 팬 속도를 100 %로 올린다</a:t>
            </a:r>
          </a:p>
          <a:p>
            <a:pPr algn="l" marL="205740" indent="-205740">
              <a:lnSpc>
                <a:spcPct val="110000"/>
              </a:lnSpc>
              <a:spcAft>
                <a:spcPts val="600"/>
              </a:spcAft>
            </a:pPr>
            <a:r>
              <a:rPr sz="1800" b="0">
                <a:solidFill>
                  <a:srgbClr val="1F2A3A"/>
                </a:solidFill>
                <a:latin typeface="맑은 고딕"/>
                <a:ea typeface="맑은 고딕"/>
                <a:cs typeface="맑은 고딕"/>
              </a:rPr>
              <a:t>• 팬 진동 VS1이 약 2.8 mm/s로 뛴다</a:t>
            </a:r>
          </a:p>
          <a:p>
            <a:pPr algn="l" marL="205740" indent="-205740">
              <a:lnSpc>
                <a:spcPct val="110000"/>
              </a:lnSpc>
              <a:spcAft>
                <a:spcPts val="600"/>
              </a:spcAft>
            </a:pPr>
            <a:r>
              <a:rPr sz="1800" b="0">
                <a:solidFill>
                  <a:srgbClr val="1F2A3A"/>
                </a:solidFill>
                <a:latin typeface="맑은 고딕"/>
                <a:ea typeface="맑은 고딕"/>
                <a:cs typeface="맑은 고딕"/>
              </a:rPr>
              <a:t>• 진동 인터록 2.0 mm/s에 걸려 PLC가 설비를 멈춘다</a:t>
            </a:r>
          </a:p>
        </p:txBody>
      </p:sp>
      <p:sp>
        <p:nvSpPr>
          <p:cNvPr id="18" name="Rounded Rectangle 17"/>
          <p:cNvSpPr/>
          <p:nvPr/>
        </p:nvSpPr>
        <p:spPr>
          <a:xfrm>
            <a:off x="6781647" y="520446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멈춘다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판단 근거의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판단에 필요한 정보가 흩어져 있을 때 무엇이 부족한가</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삽화:흩어진정보.svg" descr="illust_524640949095036525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현재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적혀 있지만, 이를 경보, 태그 값, 조치와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순서와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숙련자는 흩어진 정보를 머릿속에서 연결해 판단하지만, 그 연결은 사람마다 다르고 어디에도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190305"/>
            <a:ext cx="1911644" cy="3602101"/>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73185"/>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526804"/>
            <a:ext cx="424281" cy="424281"/>
          </a:xfrm>
          <a:prstGeom prst="rect">
            <a:avLst/>
          </a:prstGeom>
        </p:spPr>
      </p:pic>
      <p:sp>
        <p:nvSpPr>
          <p:cNvPr id="9" name="TextBox 8"/>
          <p:cNvSpPr txBox="1"/>
          <p:nvPr/>
        </p:nvSpPr>
        <p:spPr>
          <a:xfrm>
            <a:off x="621792" y="3177857"/>
            <a:ext cx="1765340" cy="2541396"/>
          </a:xfrm>
          <a:prstGeom prst="rect">
            <a:avLst/>
          </a:prstGeom>
          <a:noFill/>
        </p:spPr>
        <p:txBody>
          <a:bodyPr wrap="square" anchor="t"/>
          <a:lstStyle/>
          <a:p>
            <a:pPr algn="ctr">
              <a:lnSpc>
                <a:spcPct val="110000"/>
              </a:lnSpc>
              <a:spcAft>
                <a:spcPts val="400"/>
              </a:spcAft>
            </a:pPr>
            <a:r>
              <a:rPr sz="1850" b="1">
                <a:solidFill>
                  <a:srgbClr val="13294B"/>
                </a:solidFill>
                <a:latin typeface="맑은 고딕"/>
                <a:ea typeface="맑은 고딕"/>
                <a:cs typeface="맑은 고딕"/>
              </a:rPr>
              <a:t>증상 확인</a:t>
            </a:r>
          </a:p>
          <a:p>
            <a:pPr algn="ctr">
              <a:lnSpc>
                <a:spcPct val="110000"/>
              </a:lnSpc>
              <a:spcAft>
                <a:spcPts val="400"/>
              </a:spcAft>
            </a:pPr>
            <a:r>
              <a:rPr sz="1550" b="0">
                <a:solidFill>
                  <a:srgbClr val="1F2A3A"/>
                </a:solidFill>
                <a:latin typeface="맑은 고딕"/>
                <a:ea typeface="맑은 고딕"/>
                <a:cs typeface="맑은 고딕"/>
              </a:rPr>
              <a:t>경보와 화면에서</a:t>
            </a:r>
          </a:p>
          <a:p>
            <a:pPr algn="ctr">
              <a:lnSpc>
                <a:spcPct val="110000"/>
              </a:lnSpc>
              <a:spcAft>
                <a:spcPts val="400"/>
              </a:spcAft>
            </a:pPr>
            <a:r>
              <a:rPr sz="1550" b="0">
                <a:solidFill>
                  <a:srgbClr val="1F2A3A"/>
                </a:solidFill>
                <a:latin typeface="맑은 고딕"/>
                <a:ea typeface="맑은 고딕"/>
                <a:cs typeface="맑은 고딕"/>
              </a:rPr>
              <a:t>유온이 오르고</a:t>
            </a:r>
          </a:p>
          <a:p>
            <a:pPr algn="ctr">
              <a:lnSpc>
                <a:spcPct val="110000"/>
              </a:lnSpc>
              <a:spcAft>
                <a:spcPts val="400"/>
              </a:spcAft>
            </a:pPr>
            <a:r>
              <a:rPr sz="1550" b="0">
                <a:solidFill>
                  <a:srgbClr val="1F2A3A"/>
                </a:solidFill>
                <a:latin typeface="맑은 고딕"/>
                <a:ea typeface="맑은 고딕"/>
                <a:cs typeface="맑은 고딕"/>
              </a:rPr>
              <a:t>냉각 효율이</a:t>
            </a:r>
          </a:p>
          <a:p>
            <a:pPr algn="ctr">
              <a:lnSpc>
                <a:spcPct val="110000"/>
              </a:lnSpc>
              <a:spcAft>
                <a:spcPts val="400"/>
              </a:spcAft>
            </a:pPr>
            <a:r>
              <a:rPr sz="15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90305"/>
            <a:ext cx="1911644" cy="3602101"/>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73185"/>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526804"/>
            <a:ext cx="424281" cy="424281"/>
          </a:xfrm>
          <a:prstGeom prst="rect">
            <a:avLst/>
          </a:prstGeom>
        </p:spPr>
      </p:pic>
      <p:sp>
        <p:nvSpPr>
          <p:cNvPr id="14" name="TextBox 13"/>
          <p:cNvSpPr txBox="1"/>
          <p:nvPr/>
        </p:nvSpPr>
        <p:spPr>
          <a:xfrm>
            <a:off x="2917484" y="3177857"/>
            <a:ext cx="1765340" cy="2541396"/>
          </a:xfrm>
          <a:prstGeom prst="rect">
            <a:avLst/>
          </a:prstGeom>
          <a:noFill/>
        </p:spPr>
        <p:txBody>
          <a:bodyPr wrap="square" anchor="t"/>
          <a:lstStyle/>
          <a:p>
            <a:pPr algn="ctr">
              <a:lnSpc>
                <a:spcPct val="110000"/>
              </a:lnSpc>
              <a:spcAft>
                <a:spcPts val="400"/>
              </a:spcAft>
            </a:pPr>
            <a:r>
              <a:rPr sz="1850" b="1">
                <a:solidFill>
                  <a:srgbClr val="13294B"/>
                </a:solidFill>
                <a:latin typeface="맑은 고딕"/>
                <a:ea typeface="맑은 고딕"/>
                <a:cs typeface="맑은 고딕"/>
              </a:rPr>
              <a:t>고장 유형 짐작</a:t>
            </a:r>
          </a:p>
          <a:p>
            <a:pPr algn="ctr">
              <a:lnSpc>
                <a:spcPct val="110000"/>
              </a:lnSpc>
              <a:spcAft>
                <a:spcPts val="400"/>
              </a:spcAft>
            </a:pPr>
            <a:r>
              <a:rPr sz="1550" b="0">
                <a:solidFill>
                  <a:srgbClr val="1F2A3A"/>
                </a:solidFill>
                <a:latin typeface="맑은 고딕"/>
                <a:ea typeface="맑은 고딕"/>
                <a:cs typeface="맑은 고딕"/>
              </a:rPr>
              <a:t>이 증상이면</a:t>
            </a:r>
          </a:p>
          <a:p>
            <a:pPr algn="ctr">
              <a:lnSpc>
                <a:spcPct val="110000"/>
              </a:lnSpc>
              <a:spcAft>
                <a:spcPts val="400"/>
              </a:spcAft>
            </a:pPr>
            <a:r>
              <a:rPr sz="1550" b="0">
                <a:solidFill>
                  <a:srgbClr val="1F2A3A"/>
                </a:solidFill>
                <a:latin typeface="맑은 고딕"/>
                <a:ea typeface="맑은 고딕"/>
                <a:cs typeface="맑은 고딕"/>
              </a:rPr>
              <a:t>쿨러가 냉각</a:t>
            </a:r>
          </a:p>
          <a:p>
            <a:pPr algn="ctr">
              <a:lnSpc>
                <a:spcPct val="110000"/>
              </a:lnSpc>
              <a:spcAft>
                <a:spcPts val="400"/>
              </a:spcAft>
            </a:pPr>
            <a:r>
              <a:rPr sz="1550" b="0">
                <a:solidFill>
                  <a:srgbClr val="1F2A3A"/>
                </a:solidFill>
                <a:latin typeface="맑은 고딕"/>
                <a:ea typeface="맑은 고딕"/>
                <a:cs typeface="맑은 고딕"/>
              </a:rPr>
              <a:t>능력을 잃은</a:t>
            </a:r>
          </a:p>
          <a:p>
            <a:pPr algn="ctr">
              <a:lnSpc>
                <a:spcPct val="110000"/>
              </a:lnSpc>
              <a:spcAft>
                <a:spcPts val="400"/>
              </a:spcAft>
            </a:pPr>
            <a:r>
              <a:rPr sz="1550" b="0">
                <a:solidFill>
                  <a:srgbClr val="1F2A3A"/>
                </a:solidFill>
                <a:latin typeface="맑은 고딕"/>
                <a:ea typeface="맑은 고딕"/>
                <a:cs typeface="맑은 고딕"/>
              </a:rPr>
              <a:t>것으로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90305"/>
            <a:ext cx="1911644" cy="3602101"/>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73185"/>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526804"/>
            <a:ext cx="424281" cy="424281"/>
          </a:xfrm>
          <a:prstGeom prst="rect">
            <a:avLst/>
          </a:prstGeom>
        </p:spPr>
      </p:pic>
      <p:sp>
        <p:nvSpPr>
          <p:cNvPr id="19" name="TextBox 18"/>
          <p:cNvSpPr txBox="1"/>
          <p:nvPr/>
        </p:nvSpPr>
        <p:spPr>
          <a:xfrm>
            <a:off x="5213177" y="3177857"/>
            <a:ext cx="1765340" cy="2541396"/>
          </a:xfrm>
          <a:prstGeom prst="rect">
            <a:avLst/>
          </a:prstGeom>
          <a:noFill/>
        </p:spPr>
        <p:txBody>
          <a:bodyPr wrap="square" anchor="t"/>
          <a:lstStyle/>
          <a:p>
            <a:pPr algn="ctr">
              <a:lnSpc>
                <a:spcPct val="110000"/>
              </a:lnSpc>
              <a:spcAft>
                <a:spcPts val="400"/>
              </a:spcAft>
            </a:pPr>
            <a:r>
              <a:rPr sz="1850" b="1">
                <a:solidFill>
                  <a:srgbClr val="13294B"/>
                </a:solidFill>
                <a:latin typeface="맑은 고딕"/>
                <a:ea typeface="맑은 고딕"/>
                <a:cs typeface="맑은 고딕"/>
              </a:rPr>
              <a:t>원인 후보</a:t>
            </a:r>
          </a:p>
          <a:p>
            <a:pPr algn="ctr">
              <a:lnSpc>
                <a:spcPct val="110000"/>
              </a:lnSpc>
              <a:spcAft>
                <a:spcPts val="400"/>
              </a:spcAft>
            </a:pPr>
            <a:r>
              <a:rPr sz="1550" b="0">
                <a:solidFill>
                  <a:srgbClr val="1F2A3A"/>
                </a:solidFill>
                <a:latin typeface="맑은 고딕"/>
                <a:ea typeface="맑은 고딕"/>
                <a:cs typeface="맑은 고딕"/>
              </a:rPr>
              <a:t>경험과 매뉴얼에서</a:t>
            </a:r>
          </a:p>
          <a:p>
            <a:pPr algn="ctr">
              <a:lnSpc>
                <a:spcPct val="110000"/>
              </a:lnSpc>
              <a:spcAft>
                <a:spcPts val="400"/>
              </a:spcAft>
            </a:pPr>
            <a:r>
              <a:rPr sz="1550" b="0">
                <a:solidFill>
                  <a:srgbClr val="1F2A3A"/>
                </a:solidFill>
                <a:latin typeface="맑은 고딕"/>
                <a:ea typeface="맑은 고딕"/>
                <a:cs typeface="맑은 고딕"/>
              </a:rPr>
              <a:t>핀 오염,</a:t>
            </a:r>
          </a:p>
          <a:p>
            <a:pPr algn="ctr">
              <a:lnSpc>
                <a:spcPct val="110000"/>
              </a:lnSpc>
              <a:spcAft>
                <a:spcPts val="400"/>
              </a:spcAft>
            </a:pPr>
            <a:r>
              <a:rPr sz="1550" b="0">
                <a:solidFill>
                  <a:srgbClr val="1F2A3A"/>
                </a:solidFill>
                <a:latin typeface="맑은 고딕"/>
                <a:ea typeface="맑은 고딕"/>
                <a:cs typeface="맑은 고딕"/>
              </a:rPr>
              <a:t>팬 구동 불량,</a:t>
            </a:r>
          </a:p>
          <a:p>
            <a:pPr algn="ctr">
              <a:lnSpc>
                <a:spcPct val="110000"/>
              </a:lnSpc>
              <a:spcAft>
                <a:spcPts val="400"/>
              </a:spcAft>
            </a:pPr>
            <a:r>
              <a:rPr sz="15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90305"/>
            <a:ext cx="1911644" cy="3602101"/>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73185"/>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526804"/>
            <a:ext cx="424281" cy="424281"/>
          </a:xfrm>
          <a:prstGeom prst="rect">
            <a:avLst/>
          </a:prstGeom>
        </p:spPr>
      </p:pic>
      <p:sp>
        <p:nvSpPr>
          <p:cNvPr id="24" name="TextBox 23"/>
          <p:cNvSpPr txBox="1"/>
          <p:nvPr/>
        </p:nvSpPr>
        <p:spPr>
          <a:xfrm>
            <a:off x="7508869" y="3177857"/>
            <a:ext cx="1765340" cy="2541396"/>
          </a:xfrm>
          <a:prstGeom prst="rect">
            <a:avLst/>
          </a:prstGeom>
          <a:noFill/>
        </p:spPr>
        <p:txBody>
          <a:bodyPr wrap="square" anchor="t"/>
          <a:lstStyle/>
          <a:p>
            <a:pPr algn="ctr">
              <a:lnSpc>
                <a:spcPct val="110000"/>
              </a:lnSpc>
              <a:spcAft>
                <a:spcPts val="400"/>
              </a:spcAft>
            </a:pPr>
            <a:r>
              <a:rPr sz="1850" b="1">
                <a:solidFill>
                  <a:srgbClr val="13294B"/>
                </a:solidFill>
                <a:latin typeface="맑은 고딕"/>
                <a:ea typeface="맑은 고딕"/>
                <a:cs typeface="맑은 고딕"/>
              </a:rPr>
              <a:t>증거 대조</a:t>
            </a:r>
          </a:p>
          <a:p>
            <a:pPr algn="ctr">
              <a:lnSpc>
                <a:spcPct val="110000"/>
              </a:lnSpc>
              <a:spcAft>
                <a:spcPts val="400"/>
              </a:spcAft>
            </a:pPr>
            <a:r>
              <a:rPr sz="1550" b="0">
                <a:solidFill>
                  <a:srgbClr val="1F2A3A"/>
                </a:solidFill>
                <a:latin typeface="맑은 고딕"/>
                <a:ea typeface="맑은 고딕"/>
                <a:cs typeface="맑은 고딕"/>
              </a:rPr>
              <a:t>후보마다 어떤</a:t>
            </a:r>
          </a:p>
          <a:p>
            <a:pPr algn="ctr">
              <a:lnSpc>
                <a:spcPct val="110000"/>
              </a:lnSpc>
              <a:spcAft>
                <a:spcPts val="400"/>
              </a:spcAft>
            </a:pPr>
            <a:r>
              <a:rPr sz="1550" b="0">
                <a:solidFill>
                  <a:srgbClr val="1F2A3A"/>
                </a:solidFill>
                <a:latin typeface="맑은 고딕"/>
                <a:ea typeface="맑은 고딕"/>
                <a:cs typeface="맑은 고딕"/>
              </a:rPr>
              <a:t>센서를 볼지 알고</a:t>
            </a:r>
          </a:p>
          <a:p>
            <a:pPr algn="ctr">
              <a:lnSpc>
                <a:spcPct val="110000"/>
              </a:lnSpc>
              <a:spcAft>
                <a:spcPts val="400"/>
              </a:spcAft>
            </a:pPr>
            <a:r>
              <a:rPr sz="1550" b="0">
                <a:solidFill>
                  <a:srgbClr val="1F2A3A"/>
                </a:solidFill>
                <a:latin typeface="맑은 고딕"/>
                <a:ea typeface="맑은 고딕"/>
                <a:cs typeface="맑은 고딕"/>
              </a:rPr>
              <a:t>값을 찾아</a:t>
            </a:r>
          </a:p>
          <a:p>
            <a:pPr algn="ctr">
              <a:lnSpc>
                <a:spcPct val="110000"/>
              </a:lnSpc>
              <a:spcAft>
                <a:spcPts val="400"/>
              </a:spcAft>
            </a:pPr>
            <a:r>
              <a:rPr sz="15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90305"/>
            <a:ext cx="1911644" cy="3602101"/>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73185"/>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526804"/>
            <a:ext cx="424281" cy="424281"/>
          </a:xfrm>
          <a:prstGeom prst="rect">
            <a:avLst/>
          </a:prstGeom>
        </p:spPr>
      </p:pic>
      <p:sp>
        <p:nvSpPr>
          <p:cNvPr id="29" name="TextBox 28"/>
          <p:cNvSpPr txBox="1"/>
          <p:nvPr/>
        </p:nvSpPr>
        <p:spPr>
          <a:xfrm>
            <a:off x="9804562" y="3177857"/>
            <a:ext cx="1765340" cy="2541396"/>
          </a:xfrm>
          <a:prstGeom prst="rect">
            <a:avLst/>
          </a:prstGeom>
          <a:noFill/>
        </p:spPr>
        <p:txBody>
          <a:bodyPr wrap="square" anchor="t"/>
          <a:lstStyle/>
          <a:p>
            <a:pPr algn="ctr">
              <a:lnSpc>
                <a:spcPct val="110000"/>
              </a:lnSpc>
              <a:spcAft>
                <a:spcPts val="400"/>
              </a:spcAft>
            </a:pPr>
            <a:r>
              <a:rPr sz="1850" b="1">
                <a:solidFill>
                  <a:srgbClr val="13294B"/>
                </a:solidFill>
                <a:latin typeface="맑은 고딕"/>
                <a:ea typeface="맑은 고딕"/>
                <a:cs typeface="맑은 고딕"/>
              </a:rPr>
              <a:t>조치 선택</a:t>
            </a:r>
          </a:p>
          <a:p>
            <a:pPr algn="ctr">
              <a:lnSpc>
                <a:spcPct val="110000"/>
              </a:lnSpc>
              <a:spcAft>
                <a:spcPts val="400"/>
              </a:spcAft>
            </a:pPr>
            <a:r>
              <a:rPr sz="1550" b="0">
                <a:solidFill>
                  <a:srgbClr val="1F2A3A"/>
                </a:solidFill>
                <a:latin typeface="맑은 고딕"/>
                <a:ea typeface="맑은 고딕"/>
                <a:cs typeface="맑은 고딕"/>
              </a:rPr>
              <a:t>원인에 맞는</a:t>
            </a:r>
          </a:p>
          <a:p>
            <a:pPr algn="ctr">
              <a:lnSpc>
                <a:spcPct val="110000"/>
              </a:lnSpc>
              <a:spcAft>
                <a:spcPts val="400"/>
              </a:spcAft>
            </a:pPr>
            <a:r>
              <a:rPr sz="1550" b="0">
                <a:solidFill>
                  <a:srgbClr val="1F2A3A"/>
                </a:solidFill>
                <a:latin typeface="맑은 고딕"/>
                <a:ea typeface="맑은 고딕"/>
                <a:cs typeface="맑은 고딕"/>
              </a:rPr>
              <a:t>조치를 고르고</a:t>
            </a:r>
          </a:p>
          <a:p>
            <a:pPr algn="ctr">
              <a:lnSpc>
                <a:spcPct val="110000"/>
              </a:lnSpc>
              <a:spcAft>
                <a:spcPts val="400"/>
              </a:spcAft>
            </a:pPr>
            <a:r>
              <a:rPr sz="1550" b="0">
                <a:solidFill>
                  <a:srgbClr val="1F2A3A"/>
                </a:solidFill>
                <a:latin typeface="맑은 고딕"/>
                <a:ea typeface="맑은 고딕"/>
                <a:cs typeface="맑은 고딕"/>
              </a:rPr>
              <a:t>생산 일정도</a:t>
            </a:r>
          </a:p>
          <a:p>
            <a:pPr algn="ctr">
              <a:lnSpc>
                <a:spcPct val="110000"/>
              </a:lnSpc>
              <a:spcAft>
                <a:spcPts val="400"/>
              </a:spcAft>
            </a:pPr>
            <a:r>
              <a:rPr sz="1550" b="0">
                <a:solidFill>
                  <a:srgbClr val="1F2A3A"/>
                </a:solidFill>
                <a:latin typeface="맑은 고딕"/>
                <a:ea typeface="맑은 고딕"/>
                <a:cs typeface="맑은 고딕"/>
              </a:rPr>
              <a:t>함께 고려한다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 · 문서 · 코드로 적어 둔 판단 기준의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표·문서는 컴퓨터가 못 따르고 코드엔 지식이 묻혀, 사람과 컴퓨터가 함께 쓸 관계 기록이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적는 방식</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한계</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되는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원인과 증거가 여럿이면 같은 고장 유형이 여러 줄에 반복된다</a:t>
            </a:r>
          </a:p>
          <a:p>
            <a:pPr algn="l">
              <a:lnSpc>
                <a:spcPct val="110000"/>
              </a:lnSpc>
            </a:pPr>
            <a:r>
              <a:rPr sz="1400" b="0">
                <a:solidFill>
                  <a:srgbClr val="1F2A3A"/>
                </a:solidFill>
                <a:latin typeface="맑은 고딕"/>
                <a:ea typeface="맑은 고딕"/>
                <a:cs typeface="맑은 고딕"/>
              </a:rPr>
              <a:t>표 사이의 연결은 다시 사람의 몫이다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사람이 읽는다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문서</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매뉴얼 HM-8처럼 사람이 읽고 해석해야 판단에 쓸 수 있다</a:t>
            </a:r>
          </a:p>
          <a:p>
            <a:pPr algn="l">
              <a:lnSpc>
                <a:spcPct val="110000"/>
              </a:lnSpc>
            </a:pPr>
            <a:r>
              <a:rPr sz="1400" b="0">
                <a:solidFill>
                  <a:srgbClr val="1F2A3A"/>
                </a:solidFill>
                <a:latin typeface="맑은 고딕"/>
                <a:ea typeface="맑은 고딕"/>
                <a:cs typeface="맑은 고딕"/>
              </a:rPr>
              <a:t>같은 대상을 문서마다 다른 말로 부르기도 한다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사람이 읽는다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프로그램 코드</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기준이 바뀔 때마다 개발자가 코드를 고친다</a:t>
            </a:r>
          </a:p>
          <a:p>
            <a:pPr algn="l">
              <a:lnSpc>
                <a:spcPct val="110000"/>
              </a:lnSpc>
            </a:pPr>
            <a:r>
              <a:rPr sz="1400" b="0">
                <a:solidFill>
                  <a:srgbClr val="1F2A3A"/>
                </a:solidFill>
                <a:latin typeface="맑은 고딕"/>
                <a:ea typeface="맑은 고딕"/>
                <a:cs typeface="맑은 고딕"/>
              </a:rPr>
              <a:t>왜 그 원인으로 판단했는지, 근거가 어디에 있는지 남지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컴퓨터가 실행한다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필요한 것</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사람이 검토하고 컴퓨터가 따라갈 수 있도록 대상과 관계를 적는다</a:t>
            </a:r>
          </a:p>
          <a:p>
            <a:pPr algn="l">
              <a:lnSpc>
                <a:spcPct val="110000"/>
              </a:lnSpc>
            </a:pPr>
            <a:r>
              <a:rPr sz="1400" b="0">
                <a:solidFill>
                  <a:srgbClr val="1F2A3A"/>
                </a:solidFill>
                <a:latin typeface="맑은 고딕"/>
                <a:ea typeface="맑은 고딕"/>
                <a:cs typeface="맑은 고딕"/>
              </a:rPr>
              <a:t>지식을 프로그램과 별개로 고친다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둘 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현재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60879"/>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11271"/>
            <a:ext cx="4632807" cy="1863090"/>
          </a:xfrm>
          <a:prstGeom prst="rect">
            <a:avLst/>
          </a:prstGeom>
          <a:noFill/>
        </p:spPr>
        <p:txBody>
          <a:bodyPr wrap="square" anchor="t"/>
          <a:lstStyle/>
          <a:p>
            <a:pPr algn="l" marL="171450" indent="-171450">
              <a:lnSpc>
                <a:spcPct val="110000"/>
              </a:lnSpc>
              <a:spcAft>
                <a:spcPts val="600"/>
              </a:spcAft>
            </a:pPr>
            <a:r>
              <a:rPr sz="1500" b="0">
                <a:solidFill>
                  <a:srgbClr val="1F2A3A"/>
                </a:solidFill>
                <a:latin typeface="맑은 고딕"/>
                <a:ea typeface="맑은 고딕"/>
                <a:cs typeface="맑은 고딕"/>
              </a:rPr>
              <a:t>• 일반적인 유압 설비 지식으로 그럴듯한 답을 낸다</a:t>
            </a:r>
          </a:p>
          <a:p>
            <a:pPr algn="l" marL="171450" indent="-171450">
              <a:lnSpc>
                <a:spcPct val="110000"/>
              </a:lnSpc>
              <a:spcAft>
                <a:spcPts val="600"/>
              </a:spcAft>
            </a:pPr>
            <a:r>
              <a:rPr sz="1500" b="0">
                <a:solidFill>
                  <a:srgbClr val="1F2A3A"/>
                </a:solidFill>
                <a:latin typeface="맑은 고딕"/>
                <a:ea typeface="맑은 고딕"/>
                <a:cs typeface="맑은 고딕"/>
              </a:rPr>
              <a:t>• 이 설비의 매뉴얼과 판별 기준을 알지 못한다</a:t>
            </a:r>
          </a:p>
          <a:p>
            <a:pPr algn="l" marL="171450" indent="-171450">
              <a:lnSpc>
                <a:spcPct val="110000"/>
              </a:lnSpc>
              <a:spcAft>
                <a:spcPts val="600"/>
              </a:spcAft>
            </a:pPr>
            <a:r>
              <a:rPr sz="1500" b="0">
                <a:solidFill>
                  <a:srgbClr val="1F2A3A"/>
                </a:solidFill>
                <a:latin typeface="맑은 고딕"/>
                <a:ea typeface="맑은 고딕"/>
                <a:cs typeface="맑은 고딕"/>
              </a:rPr>
              <a:t>• 현재 센서 값을 보지 못한다</a:t>
            </a:r>
          </a:p>
          <a:p>
            <a:pPr algn="l" marL="171450" indent="-171450">
              <a:lnSpc>
                <a:spcPct val="110000"/>
              </a:lnSpc>
              <a:spcAft>
                <a:spcPts val="600"/>
              </a:spcAft>
            </a:pPr>
            <a:r>
              <a:rPr sz="150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65801"/>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65801"/>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60879"/>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11271"/>
            <a:ext cx="4632807" cy="1863090"/>
          </a:xfrm>
          <a:prstGeom prst="rect">
            <a:avLst/>
          </a:prstGeom>
          <a:noFill/>
        </p:spPr>
        <p:txBody>
          <a:bodyPr wrap="square" anchor="t"/>
          <a:lstStyle/>
          <a:p>
            <a:pPr algn="l" marL="171450" indent="-171450">
              <a:lnSpc>
                <a:spcPct val="110000"/>
              </a:lnSpc>
              <a:spcAft>
                <a:spcPts val="600"/>
              </a:spcAft>
            </a:pPr>
            <a:r>
              <a:rPr sz="1500" b="0">
                <a:solidFill>
                  <a:srgbClr val="1F2A3A"/>
                </a:solidFill>
                <a:latin typeface="맑은 고딕"/>
                <a:ea typeface="맑은 고딕"/>
                <a:cs typeface="맑은 고딕"/>
              </a:rPr>
              <a:t>• 적어 둔 관계를 따라 원인 후보와 판별 기준을 찾는다</a:t>
            </a:r>
          </a:p>
          <a:p>
            <a:pPr algn="l" marL="171450" indent="-171450">
              <a:lnSpc>
                <a:spcPct val="110000"/>
              </a:lnSpc>
              <a:spcAft>
                <a:spcPts val="600"/>
              </a:spcAft>
            </a:pPr>
            <a:r>
              <a:rPr sz="1500" b="0">
                <a:solidFill>
                  <a:srgbClr val="1F2A3A"/>
                </a:solidFill>
                <a:latin typeface="맑은 고딕"/>
                <a:ea typeface="맑은 고딕"/>
                <a:cs typeface="맑은 고딕"/>
              </a:rPr>
              <a:t>• 기준에 적힌 값을 저장소에서 읽어 대조한다</a:t>
            </a:r>
          </a:p>
          <a:p>
            <a:pPr algn="l" marL="171450" indent="-171450">
              <a:lnSpc>
                <a:spcPct val="110000"/>
              </a:lnSpc>
              <a:spcAft>
                <a:spcPts val="600"/>
              </a:spcAft>
            </a:pPr>
            <a:r>
              <a:rPr sz="1500" b="0">
                <a:solidFill>
                  <a:srgbClr val="1F2A3A"/>
                </a:solidFill>
                <a:latin typeface="맑은 고딕"/>
                <a:ea typeface="맑은 고딕"/>
                <a:cs typeface="맑은 고딕"/>
              </a:rPr>
              <a:t>• 값이 오래되었거나 비어 있으면 판정을 보류한다</a:t>
            </a:r>
          </a:p>
          <a:p>
            <a:pPr algn="l" marL="171450" indent="-171450">
              <a:lnSpc>
                <a:spcPct val="110000"/>
              </a:lnSpc>
              <a:spcAft>
                <a:spcPts val="600"/>
              </a:spcAft>
            </a:pPr>
            <a:r>
              <a:rPr sz="1500" b="0">
                <a:solidFill>
                  <a:srgbClr val="1F2A3A"/>
                </a:solidFill>
                <a:latin typeface="맑은 고딕"/>
                <a:ea typeface="맑은 고딕"/>
                <a:cs typeface="맑은 고딕"/>
              </a:rPr>
              <a:t>• 어떤 지식과 값으로 판단했는지 기록에 남는다</a:t>
            </a:r>
          </a:p>
        </p:txBody>
      </p:sp>
      <p:sp>
        <p:nvSpPr>
          <p:cNvPr id="18" name="Rounded Rectangle 17"/>
          <p:cNvSpPr/>
          <p:nvPr/>
        </p:nvSpPr>
        <p:spPr>
          <a:xfrm>
            <a:off x="6781647" y="5265801"/>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65801"/>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온톨로지의 정의와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대상의 종류, 속성, 관계, 제약을 정의해 사람과 컴퓨터가 같은 뜻으로 쓰게 하는 방법</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55064"/>
            <a:ext cx="11094415" cy="890625"/>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945489"/>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627632"/>
            <a:ext cx="7528255" cy="945489"/>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분야의 대상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하나의 정의를 쓰므로 「쿨러 핀 오염」 같은 말이 사람에게도 컴퓨터에게도 같은 뜻이 된다.</a:t>
            </a:r>
          </a:p>
        </p:txBody>
      </p:sp>
      <p:sp>
        <p:nvSpPr>
          <p:cNvPr id="9" name="Rectangle 8"/>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573121"/>
            <a:ext cx="3291839" cy="945489"/>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11" name="TextBox 10"/>
          <p:cNvSpPr txBox="1"/>
          <p:nvPr/>
        </p:nvSpPr>
        <p:spPr>
          <a:xfrm>
            <a:off x="4023359" y="2573121"/>
            <a:ext cx="7528255" cy="945489"/>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쪽: 설비, 구성 요소, 센서</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a:t>
            </a:r>
          </a:p>
          <a:p>
            <a:pPr algn="l">
              <a:lnSpc>
                <a:spcPct val="110000"/>
              </a:lnSpc>
              <a:spcAft>
                <a:spcPts val="300"/>
              </a:spcAft>
            </a:pPr>
            <a:r>
              <a:rPr sz="1400" b="0">
                <a:solidFill>
                  <a:srgbClr val="1F2A3A"/>
                </a:solidFill>
                <a:latin typeface="맑은 고딕"/>
                <a:ea typeface="맑은 고딕"/>
                <a:cs typeface="맑은 고딕"/>
              </a:rPr>
              <a:t>조치 쪽: 조치 방법, 근거 문서</a:t>
            </a:r>
          </a:p>
        </p:txBody>
      </p:sp>
      <p:sp>
        <p:nvSpPr>
          <p:cNvPr id="12" name="Rectangle 11"/>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518611"/>
            <a:ext cx="3291839" cy="945489"/>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값의 칸</a:t>
            </a:r>
          </a:p>
        </p:txBody>
      </p:sp>
      <p:sp>
        <p:nvSpPr>
          <p:cNvPr id="14" name="TextBox 13"/>
          <p:cNvSpPr txBox="1"/>
          <p:nvPr/>
        </p:nvSpPr>
        <p:spPr>
          <a:xfrm>
            <a:off x="4023359" y="3518611"/>
            <a:ext cx="7528255" cy="945489"/>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같은 종류의 대상이 갖는 값을 담는 칸이다.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a:t>
            </a:r>
          </a:p>
        </p:txBody>
      </p:sp>
      <p:sp>
        <p:nvSpPr>
          <p:cNvPr id="15" name="Rectangle 14"/>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4464100"/>
            <a:ext cx="3291839" cy="945489"/>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이름과 방향</a:t>
            </a:r>
          </a:p>
        </p:txBody>
      </p:sp>
      <p:sp>
        <p:nvSpPr>
          <p:cNvPr id="17" name="TextBox 16"/>
          <p:cNvSpPr txBox="1"/>
          <p:nvPr/>
        </p:nvSpPr>
        <p:spPr>
          <a:xfrm>
            <a:off x="4023359" y="4464100"/>
            <a:ext cx="7528255" cy="945489"/>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a:t>
            </a:r>
          </a:p>
          <a:p>
            <a:pPr algn="l">
              <a:lnSpc>
                <a:spcPct val="110000"/>
              </a:lnSpc>
              <a:spcAft>
                <a:spcPts val="300"/>
              </a:spcAft>
            </a:pPr>
            <a:r>
              <a:rPr sz="1400" b="0">
                <a:solidFill>
                  <a:srgbClr val="1F2A3A"/>
                </a:solidFill>
                <a:latin typeface="맑은 고딕"/>
                <a:ea typeface="맑은 고딕"/>
                <a:cs typeface="맑은 고딕"/>
              </a:rPr>
              <a:t>MITIGATED_BY → 팬 최대 운전(우선 완화), REMEDIED_BY → 쿨러 핀 세척(근본 조치)</a:t>
            </a:r>
          </a:p>
        </p:txBody>
      </p:sp>
      <p:sp>
        <p:nvSpPr>
          <p:cNvPr id="18" name="Rectangle 17"/>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20" name="TextBox 19"/>
          <p:cNvSpPr txBox="1"/>
          <p:nvPr/>
        </p:nvSpPr>
        <p:spPr>
          <a:xfrm>
            <a:off x="4023359" y="5409590"/>
            <a:ext cx="7528255" cy="945489"/>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관계로 이을 수 있는 양 끝의 종류를 정해 어긋난 연결을 걸러 낸다.</a:t>
            </a:r>
          </a:p>
          <a:p>
            <a:pPr algn="l">
              <a:lnSpc>
                <a:spcPct val="110000"/>
              </a:lnSpc>
              <a:spcAft>
                <a:spcPts val="300"/>
              </a:spcAft>
            </a:pPr>
            <a:r>
              <a:rPr sz="1400" b="0">
                <a:solidFill>
                  <a:srgbClr val="1F2A3A"/>
                </a:solidFill>
                <a:latin typeface="맑은 고딕"/>
                <a:ea typeface="맑은 고딕"/>
                <a:cs typeface="맑은 고딕"/>
              </a:rPr>
              <a:t>CAUSES는 원인에서 고장 유형으로만 잇는다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572766"/>
            <a:ext cx="3515258" cy="28371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73934"/>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27553"/>
            <a:ext cx="424281" cy="424281"/>
          </a:xfrm>
          <a:prstGeom prst="rect">
            <a:avLst/>
          </a:prstGeom>
        </p:spPr>
      </p:pic>
      <p:sp>
        <p:nvSpPr>
          <p:cNvPr id="9" name="TextBox 8"/>
          <p:cNvSpPr txBox="1"/>
          <p:nvPr/>
        </p:nvSpPr>
        <p:spPr>
          <a:xfrm>
            <a:off x="713232" y="3596894"/>
            <a:ext cx="3186074" cy="1310132"/>
          </a:xfrm>
          <a:prstGeom prst="rect">
            <a:avLst/>
          </a:prstGeom>
          <a:noFill/>
        </p:spPr>
        <p:txBody>
          <a:bodyPr wrap="square" anchor="t"/>
          <a:lstStyle/>
          <a:p>
            <a:pPr algn="l">
              <a:lnSpc>
                <a:spcPct val="110000"/>
              </a:lnSpc>
              <a:spcAft>
                <a:spcPts val="400"/>
              </a:spcAft>
            </a:pPr>
            <a:r>
              <a:rPr sz="2200" b="1">
                <a:solidFill>
                  <a:srgbClr val="13294B"/>
                </a:solidFill>
                <a:latin typeface="맑은 고딕"/>
                <a:ea typeface="맑은 고딕"/>
                <a:cs typeface="맑은 고딕"/>
              </a:rPr>
              <a:t>유온 상승</a:t>
            </a:r>
          </a:p>
          <a:p>
            <a:pPr algn="l">
              <a:lnSpc>
                <a:spcPct val="110000"/>
              </a:lnSpc>
              <a:spcAft>
                <a:spcPts val="400"/>
              </a:spcAft>
            </a:pPr>
            <a:r>
              <a:rPr sz="18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80178"/>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8017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572766"/>
            <a:ext cx="3515258" cy="28371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73934"/>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27553"/>
            <a:ext cx="424281" cy="424281"/>
          </a:xfrm>
          <a:prstGeom prst="rect">
            <a:avLst/>
          </a:prstGeom>
        </p:spPr>
      </p:pic>
      <p:sp>
        <p:nvSpPr>
          <p:cNvPr id="15" name="TextBox 14"/>
          <p:cNvSpPr txBox="1"/>
          <p:nvPr/>
        </p:nvSpPr>
        <p:spPr>
          <a:xfrm>
            <a:off x="4502810" y="3596894"/>
            <a:ext cx="3186074" cy="1310132"/>
          </a:xfrm>
          <a:prstGeom prst="rect">
            <a:avLst/>
          </a:prstGeom>
          <a:noFill/>
        </p:spPr>
        <p:txBody>
          <a:bodyPr wrap="square" anchor="t"/>
          <a:lstStyle/>
          <a:p>
            <a:pPr algn="l">
              <a:lnSpc>
                <a:spcPct val="110000"/>
              </a:lnSpc>
              <a:spcAft>
                <a:spcPts val="400"/>
              </a:spcAft>
            </a:pPr>
            <a:r>
              <a:rPr sz="2200" b="1">
                <a:solidFill>
                  <a:srgbClr val="13294B"/>
                </a:solidFill>
                <a:latin typeface="맑은 고딕"/>
                <a:ea typeface="맑은 고딕"/>
                <a:cs typeface="맑은 고딕"/>
              </a:rPr>
              <a:t>냉각 효율 저하</a:t>
            </a:r>
          </a:p>
          <a:p>
            <a:pPr algn="l">
              <a:lnSpc>
                <a:spcPct val="110000"/>
              </a:lnSpc>
              <a:spcAft>
                <a:spcPts val="400"/>
              </a:spcAft>
            </a:pPr>
            <a:r>
              <a:rPr sz="18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8017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8017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572766"/>
            <a:ext cx="3515258" cy="28371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73934"/>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27553"/>
            <a:ext cx="424281" cy="424281"/>
          </a:xfrm>
          <a:prstGeom prst="rect">
            <a:avLst/>
          </a:prstGeom>
        </p:spPr>
      </p:pic>
      <p:sp>
        <p:nvSpPr>
          <p:cNvPr id="21" name="TextBox 20"/>
          <p:cNvSpPr txBox="1"/>
          <p:nvPr/>
        </p:nvSpPr>
        <p:spPr>
          <a:xfrm>
            <a:off x="8292388" y="3596894"/>
            <a:ext cx="3186074" cy="1310132"/>
          </a:xfrm>
          <a:prstGeom prst="rect">
            <a:avLst/>
          </a:prstGeom>
          <a:noFill/>
        </p:spPr>
        <p:txBody>
          <a:bodyPr wrap="square" anchor="t"/>
          <a:lstStyle/>
          <a:p>
            <a:pPr algn="l">
              <a:lnSpc>
                <a:spcPct val="110000"/>
              </a:lnSpc>
              <a:spcAft>
                <a:spcPts val="400"/>
              </a:spcAft>
            </a:pPr>
            <a:r>
              <a:rPr sz="2200" b="1">
                <a:solidFill>
                  <a:srgbClr val="13294B"/>
                </a:solidFill>
                <a:latin typeface="맑은 고딕"/>
                <a:ea typeface="맑은 고딕"/>
                <a:cs typeface="맑은 고딕"/>
              </a:rPr>
              <a:t>진동 증가</a:t>
            </a:r>
          </a:p>
          <a:p>
            <a:pPr algn="l">
              <a:lnSpc>
                <a:spcPct val="110000"/>
              </a:lnSpc>
              <a:spcAft>
                <a:spcPts val="400"/>
              </a:spcAft>
            </a:pPr>
            <a:r>
              <a:rPr sz="18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80178"/>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8017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온톨로지와 혼동하기 쉬운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 그래프 DB는 저장 도구, 지식 그래프는 실제 대상을 채운 결과, 온톨로지는 공통 정의다.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하는 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하지 않는 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관계 그림</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사람이 볼 수 있도록 대상과 선으로 나타낸 표현이다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뜻이 맞는지 검사하지 않는다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그래프 DB</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대상과 관계를 저장하고 조회한다</a:t>
            </a:r>
          </a:p>
          <a:p>
            <a:pPr algn="l">
              <a:lnSpc>
                <a:spcPct val="110000"/>
              </a:lnSpc>
            </a:pPr>
            <a:r>
              <a:rPr sz="1400" b="0">
                <a:solidFill>
                  <a:srgbClr val="1F2A3A"/>
                </a:solidFill>
                <a:latin typeface="맑은 고딕"/>
                <a:ea typeface="맑은 고딕"/>
                <a:cs typeface="맑은 고딕"/>
              </a:rPr>
              <a:t>Neo4j 등이 이 역할을 한다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넣을지 정하지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온톨로지에 맞춰 실제 대상을 채워 그래프 DB에 저장한 것이다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계속 바뀌는 센서 값은 담지 않는다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어떤 종류의 대상과 관계가 있을 수 있는지 정의한다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조치를 결정하지 않는다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노드와 관계, 그리고 관계를 문장으로 읽는 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관계는 화살표가 나가는 노드를 주어, 관계 이름을 서술어, 들어가는 노드를 목적어로 읽었을 때 뜻이 통해야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노드관계.svg" descr="illust_94059924195886784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8" name="TextBox 7"/>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CAUSES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 지도: 설비 쪽과 진단 · 조치 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 · 원인 · 조치 · 구성 요소는 모두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 직접 연결되고, 설비 · 센서 · 매뉴얼은 그 바깥에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삽화:지식그래프_지도.svg" descr="illust_5858496420511257484_1791978726.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72060" y="2303657"/>
            <a:ext cx="1030067"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a:t>
            </a:r>
          </a:p>
          <a:p>
            <a:pPr algn="ctr">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568466" y="2303657"/>
            <a:ext cx="1168117"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구성 요소</a:t>
            </a:r>
          </a:p>
          <a:p>
            <a:pPr algn="ctr">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1587976" y="5281949"/>
            <a:ext cx="1030067"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센서</a:t>
            </a:r>
          </a:p>
          <a:p>
            <a:pPr algn="ctr">
              <a:lnSpc>
                <a:spcPct val="110000"/>
              </a:lnSpc>
              <a:spcAft>
                <a:spcPts val="100"/>
              </a:spcAft>
            </a:pPr>
            <a:r>
              <a:rPr sz="1100" b="0">
                <a:solidFill>
                  <a:srgbClr val="556175"/>
                </a:solidFill>
                <a:latin typeface="맑은 고딕"/>
                <a:ea typeface="맑은 고딕"/>
                <a:cs typeface="맑은 고딕"/>
              </a:rPr>
              <a:t>(Sensor)</a:t>
            </a:r>
          </a:p>
        </p:txBody>
      </p:sp>
      <p:sp>
        <p:nvSpPr>
          <p:cNvPr id="10" name="TextBox 9"/>
          <p:cNvSpPr txBox="1"/>
          <p:nvPr/>
        </p:nvSpPr>
        <p:spPr>
          <a:xfrm>
            <a:off x="4343671" y="5281949"/>
            <a:ext cx="1104401"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증상</a:t>
            </a:r>
          </a:p>
          <a:p>
            <a:pPr algn="ctr">
              <a:lnSpc>
                <a:spcPct val="110000"/>
              </a:lnSpc>
              <a:spcAft>
                <a:spcPts val="100"/>
              </a:spcAft>
            </a:pPr>
            <a:r>
              <a:rPr sz="1100" b="0">
                <a:solidFill>
                  <a:srgbClr val="556175"/>
                </a:solidFill>
                <a:latin typeface="맑은 고딕"/>
                <a:ea typeface="맑은 고딕"/>
                <a:cs typeface="맑은 고딕"/>
              </a:rPr>
              <a:t>(Symptom)</a:t>
            </a:r>
          </a:p>
        </p:txBody>
      </p:sp>
      <p:sp>
        <p:nvSpPr>
          <p:cNvPr id="11" name="TextBox 10"/>
          <p:cNvSpPr txBox="1"/>
          <p:nvPr/>
        </p:nvSpPr>
        <p:spPr>
          <a:xfrm>
            <a:off x="6223278" y="3721891"/>
            <a:ext cx="1380502"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고장 유형</a:t>
            </a:r>
          </a:p>
          <a:p>
            <a:pPr algn="ctr">
              <a:lnSpc>
                <a:spcPct val="110000"/>
              </a:lnSpc>
              <a:spcAft>
                <a:spcPts val="100"/>
              </a:spcAft>
            </a:pPr>
            <a:r>
              <a:rPr sz="1100" b="0">
                <a:solidFill>
                  <a:srgbClr val="556175"/>
                </a:solidFill>
                <a:latin typeface="맑은 고딕"/>
                <a:ea typeface="맑은 고딕"/>
                <a:cs typeface="맑은 고딕"/>
              </a:rPr>
              <a:t>(FailureMode)</a:t>
            </a:r>
          </a:p>
        </p:txBody>
      </p:sp>
      <p:sp>
        <p:nvSpPr>
          <p:cNvPr id="12" name="TextBox 11"/>
          <p:cNvSpPr txBox="1"/>
          <p:nvPr/>
        </p:nvSpPr>
        <p:spPr>
          <a:xfrm>
            <a:off x="8809065" y="2199653"/>
            <a:ext cx="1030067"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a:t>
            </a:r>
          </a:p>
          <a:p>
            <a:pPr algn="ctr">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8336508" y="5367043"/>
            <a:ext cx="1104401"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조치 방법</a:t>
            </a:r>
          </a:p>
          <a:p>
            <a:pPr algn="ctr">
              <a:lnSpc>
                <a:spcPct val="110000"/>
              </a:lnSpc>
              <a:spcAft>
                <a:spcPts val="100"/>
              </a:spcAft>
            </a:pPr>
            <a:r>
              <a:rPr sz="1100" b="0">
                <a:solidFill>
                  <a:srgbClr val="556175"/>
                </a:solidFill>
                <a:latin typeface="맑은 고딕"/>
                <a:ea typeface="맑은 고딕"/>
                <a:cs typeface="맑은 고딕"/>
              </a:rPr>
              <a:t>(Skill)</a:t>
            </a:r>
          </a:p>
        </p:txBody>
      </p:sp>
      <p:sp>
        <p:nvSpPr>
          <p:cNvPr id="14" name="TextBox 13"/>
          <p:cNvSpPr txBox="1"/>
          <p:nvPr/>
        </p:nvSpPr>
        <p:spPr>
          <a:xfrm>
            <a:off x="9934705" y="3721891"/>
            <a:ext cx="1454836"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매뉴얼 절</a:t>
            </a:r>
          </a:p>
          <a:p>
            <a:pPr algn="ctr">
              <a:lnSpc>
                <a:spcPct val="110000"/>
              </a:lnSpc>
              <a:spcAft>
                <a:spcPts val="100"/>
              </a:spcAft>
            </a:pPr>
            <a:r>
              <a:rPr sz="1100" b="0">
                <a:solidFill>
                  <a:srgbClr val="556175"/>
                </a:solidFill>
                <a:latin typeface="맑은 고딕"/>
                <a:ea typeface="맑은 고딕"/>
                <a:cs typeface="맑은 고딕"/>
              </a:rPr>
              <a:t>(ManualSection)</a:t>
            </a:r>
          </a:p>
        </p:txBody>
      </p:sp>
      <p:sp>
        <p:nvSpPr>
          <p:cNvPr id="15" name="TextBox 14"/>
          <p:cNvSpPr txBox="1"/>
          <p:nvPr/>
        </p:nvSpPr>
        <p:spPr>
          <a:xfrm>
            <a:off x="1975579" y="2157106"/>
            <a:ext cx="1592887" cy="298450"/>
          </a:xfrm>
          <a:prstGeom prst="rect">
            <a:avLst/>
          </a:prstGeom>
          <a:noFill/>
        </p:spPr>
        <p:txBody>
          <a:bodyPr wrap="square" anchor="t"/>
          <a:lstStyle/>
          <a:p>
            <a:pPr algn="ctr">
              <a:lnSpc>
                <a:spcPct val="110000"/>
              </a:lnSpc>
              <a:spcAft>
                <a:spcPts val="100"/>
              </a:spcAft>
            </a:pPr>
            <a:r>
              <a:rPr sz="1100" b="0">
                <a:solidFill>
                  <a:srgbClr val="13294B"/>
                </a:solidFill>
                <a:latin typeface="맑은 고딕"/>
                <a:ea typeface="맑은 고딕"/>
                <a:cs typeface="맑은 고딕"/>
              </a:rPr>
              <a:t>HAS_COMPONENT</a:t>
            </a:r>
          </a:p>
        </p:txBody>
      </p:sp>
      <p:sp>
        <p:nvSpPr>
          <p:cNvPr id="16" name="TextBox 15"/>
          <p:cNvSpPr txBox="1"/>
          <p:nvPr/>
        </p:nvSpPr>
        <p:spPr>
          <a:xfrm>
            <a:off x="1880006" y="3546975"/>
            <a:ext cx="1507933" cy="298450"/>
          </a:xfrm>
          <a:prstGeom prst="rect">
            <a:avLst/>
          </a:prstGeom>
          <a:noFill/>
        </p:spPr>
        <p:txBody>
          <a:bodyPr wrap="square" anchor="t"/>
          <a:lstStyle/>
          <a:p>
            <a:pPr algn="ctr">
              <a:lnSpc>
                <a:spcPct val="110000"/>
              </a:lnSpc>
              <a:spcAft>
                <a:spcPts val="100"/>
              </a:spcAft>
            </a:pPr>
            <a:r>
              <a:rPr sz="1100" b="0">
                <a:solidFill>
                  <a:srgbClr val="13294B"/>
                </a:solidFill>
                <a:latin typeface="맑은 고딕"/>
                <a:ea typeface="맑은 고딕"/>
                <a:cs typeface="맑은 고딕"/>
              </a:rPr>
              <a:t>MONITORED_BY</a:t>
            </a:r>
          </a:p>
        </p:txBody>
      </p:sp>
      <p:sp>
        <p:nvSpPr>
          <p:cNvPr id="17" name="TextBox 16"/>
          <p:cNvSpPr txBox="1"/>
          <p:nvPr/>
        </p:nvSpPr>
        <p:spPr>
          <a:xfrm>
            <a:off x="2793261" y="5575051"/>
            <a:ext cx="1422979" cy="298450"/>
          </a:xfrm>
          <a:prstGeom prst="rect">
            <a:avLst/>
          </a:prstGeom>
          <a:noFill/>
        </p:spPr>
        <p:txBody>
          <a:bodyPr wrap="square" anchor="t"/>
          <a:lstStyle/>
          <a:p>
            <a:pPr algn="ctr">
              <a:lnSpc>
                <a:spcPct val="110000"/>
              </a:lnSpc>
              <a:spcAft>
                <a:spcPts val="100"/>
              </a:spcAft>
            </a:pPr>
            <a:r>
              <a:rPr sz="1100" b="0">
                <a:solidFill>
                  <a:srgbClr val="13294B"/>
                </a:solidFill>
                <a:latin typeface="맑은 고딕"/>
                <a:ea typeface="맑은 고딕"/>
                <a:cs typeface="맑은 고딕"/>
              </a:rPr>
              <a:t>OBSERVED_BY</a:t>
            </a:r>
          </a:p>
        </p:txBody>
      </p:sp>
      <p:sp>
        <p:nvSpPr>
          <p:cNvPr id="18" name="TextBox 17"/>
          <p:cNvSpPr txBox="1"/>
          <p:nvPr/>
        </p:nvSpPr>
        <p:spPr>
          <a:xfrm>
            <a:off x="5469311" y="4969937"/>
            <a:ext cx="1274309" cy="298450"/>
          </a:xfrm>
          <a:prstGeom prst="rect">
            <a:avLst/>
          </a:prstGeom>
          <a:noFill/>
        </p:spPr>
        <p:txBody>
          <a:bodyPr wrap="square" anchor="t"/>
          <a:lstStyle/>
          <a:p>
            <a:pPr algn="ctr">
              <a:lnSpc>
                <a:spcPct val="110000"/>
              </a:lnSpc>
              <a:spcAft>
                <a:spcPts val="100"/>
              </a:spcAft>
            </a:pPr>
            <a:r>
              <a:rPr sz="1100" b="0">
                <a:solidFill>
                  <a:srgbClr val="13294B"/>
                </a:solidFill>
                <a:latin typeface="맑은 고딕"/>
                <a:ea typeface="맑은 고딕"/>
                <a:cs typeface="맑은 고딕"/>
              </a:rPr>
              <a:t>INDICATES</a:t>
            </a:r>
          </a:p>
        </p:txBody>
      </p:sp>
      <p:sp>
        <p:nvSpPr>
          <p:cNvPr id="19" name="TextBox 18"/>
          <p:cNvSpPr txBox="1"/>
          <p:nvPr/>
        </p:nvSpPr>
        <p:spPr>
          <a:xfrm>
            <a:off x="7879881" y="3268056"/>
            <a:ext cx="1019447" cy="298450"/>
          </a:xfrm>
          <a:prstGeom prst="rect">
            <a:avLst/>
          </a:prstGeom>
          <a:noFill/>
        </p:spPr>
        <p:txBody>
          <a:bodyPr wrap="square" anchor="t"/>
          <a:lstStyle/>
          <a:p>
            <a:pPr algn="ctr">
              <a:lnSpc>
                <a:spcPct val="110000"/>
              </a:lnSpc>
              <a:spcAft>
                <a:spcPts val="100"/>
              </a:spcAft>
            </a:pPr>
            <a:r>
              <a:rPr sz="1100" b="0">
                <a:solidFill>
                  <a:srgbClr val="13294B"/>
                </a:solidFill>
                <a:latin typeface="맑은 고딕"/>
                <a:ea typeface="맑은 고딕"/>
                <a:cs typeface="맑은 고딕"/>
              </a:rPr>
              <a:t>CAUSES</a:t>
            </a:r>
          </a:p>
        </p:txBody>
      </p:sp>
      <p:sp>
        <p:nvSpPr>
          <p:cNvPr id="20" name="TextBox 19"/>
          <p:cNvSpPr txBox="1"/>
          <p:nvPr/>
        </p:nvSpPr>
        <p:spPr>
          <a:xfrm>
            <a:off x="5055161" y="2733854"/>
            <a:ext cx="1253071" cy="298450"/>
          </a:xfrm>
          <a:prstGeom prst="rect">
            <a:avLst/>
          </a:prstGeom>
          <a:noFill/>
        </p:spPr>
        <p:txBody>
          <a:bodyPr wrap="square" anchor="t"/>
          <a:lstStyle/>
          <a:p>
            <a:pPr algn="ctr">
              <a:lnSpc>
                <a:spcPct val="110000"/>
              </a:lnSpc>
              <a:spcAft>
                <a:spcPts val="100"/>
              </a:spcAft>
            </a:pPr>
            <a:r>
              <a:rPr sz="1100" b="0">
                <a:solidFill>
                  <a:srgbClr val="13294B"/>
                </a:solidFill>
                <a:latin typeface="맑은 고딕"/>
                <a:ea typeface="맑은 고딕"/>
                <a:cs typeface="맑은 고딕"/>
              </a:rPr>
              <a:t>OCCURS_IN</a:t>
            </a:r>
          </a:p>
        </p:txBody>
      </p:sp>
      <p:sp>
        <p:nvSpPr>
          <p:cNvPr id="21" name="TextBox 20"/>
          <p:cNvSpPr txBox="1"/>
          <p:nvPr/>
        </p:nvSpPr>
        <p:spPr>
          <a:xfrm>
            <a:off x="6849814" y="5050304"/>
            <a:ext cx="1507933" cy="298450"/>
          </a:xfrm>
          <a:prstGeom prst="rect">
            <a:avLst/>
          </a:prstGeom>
          <a:noFill/>
        </p:spPr>
        <p:txBody>
          <a:bodyPr wrap="square" anchor="t"/>
          <a:lstStyle/>
          <a:p>
            <a:pPr algn="ctr">
              <a:lnSpc>
                <a:spcPct val="110000"/>
              </a:lnSpc>
              <a:spcAft>
                <a:spcPts val="100"/>
              </a:spcAft>
            </a:pPr>
            <a:r>
              <a:rPr sz="1100" b="0">
                <a:solidFill>
                  <a:srgbClr val="13294B"/>
                </a:solidFill>
                <a:latin typeface="맑은 고딕"/>
                <a:ea typeface="맑은 고딕"/>
                <a:cs typeface="맑은 고딕"/>
              </a:rPr>
              <a:t>MITIGATED_BY</a:t>
            </a:r>
          </a:p>
        </p:txBody>
      </p:sp>
      <p:sp>
        <p:nvSpPr>
          <p:cNvPr id="22" name="TextBox 21"/>
          <p:cNvSpPr txBox="1"/>
          <p:nvPr/>
        </p:nvSpPr>
        <p:spPr>
          <a:xfrm>
            <a:off x="9393124" y="5003029"/>
            <a:ext cx="1348644" cy="468884"/>
          </a:xfrm>
          <a:prstGeom prst="rect">
            <a:avLst/>
          </a:prstGeom>
          <a:noFill/>
        </p:spPr>
        <p:txBody>
          <a:bodyPr wrap="square" anchor="t"/>
          <a:lstStyle/>
          <a:p>
            <a:pPr algn="ctr">
              <a:lnSpc>
                <a:spcPct val="110000"/>
              </a:lnSpc>
              <a:spcAft>
                <a:spcPts val="100"/>
              </a:spcAft>
            </a:pPr>
            <a:r>
              <a:rPr sz="1100" b="0">
                <a:solidFill>
                  <a:srgbClr val="13294B"/>
                </a:solidFill>
                <a:latin typeface="맑은 고딕"/>
                <a:ea typeface="맑은 고딕"/>
                <a:cs typeface="맑은 고딕"/>
              </a:rPr>
              <a:t>HAS_STEP ·</a:t>
            </a:r>
          </a:p>
          <a:p>
            <a:pPr algn="ctr">
              <a:lnSpc>
                <a:spcPct val="110000"/>
              </a:lnSpc>
              <a:spcAft>
                <a:spcPts val="100"/>
              </a:spcAft>
            </a:pPr>
            <a:r>
              <a:rPr sz="1100" b="0">
                <a:solidFill>
                  <a:srgbClr val="13294B"/>
                </a:solidFill>
                <a:latin typeface="맑은 고딕"/>
                <a:ea typeface="맑은 고딕"/>
                <a:cs typeface="맑은 고딕"/>
              </a:rPr>
              <a:t>REFERS_TO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방향: 저장된 방향과 따라가는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방향은 관계 이름의 뜻에 따라 정해지며, 조회할 때는 관계를 새로 만들지 않고 저장된 관계를 거슬러 따라가기도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arrow-right" descr="arrow-right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저장된 방향</a:t>
            </a:r>
          </a:p>
        </p:txBody>
      </p:sp>
      <p:sp>
        <p:nvSpPr>
          <p:cNvPr id="10" name="TextBox 9"/>
          <p:cNvSpPr txBox="1"/>
          <p:nvPr/>
        </p:nvSpPr>
        <p:spPr>
          <a:xfrm>
            <a:off x="822959" y="3156966"/>
            <a:ext cx="4632807" cy="2171700"/>
          </a:xfrm>
          <a:prstGeom prst="rect">
            <a:avLst/>
          </a:prstGeom>
          <a:noFill/>
        </p:spPr>
        <p:txBody>
          <a:bodyPr wrap="square" anchor="t"/>
          <a:lstStyle/>
          <a:p>
            <a:pPr algn="l" marL="171450" indent="-171450">
              <a:lnSpc>
                <a:spcPct val="110000"/>
              </a:lnSpc>
              <a:spcAft>
                <a:spcPts val="600"/>
              </a:spcAft>
            </a:pPr>
            <a:r>
              <a:rPr sz="1500" b="0">
                <a:solidFill>
                  <a:srgbClr val="1F2A3A"/>
                </a:solidFill>
                <a:latin typeface="맑은 고딕"/>
                <a:ea typeface="맑은 고딕"/>
                <a:cs typeface="맑은 고딕"/>
              </a:rPr>
              <a:t>• CAUSES: 쿨러 핀 오염 → 쿨러 냉각 성능 상실</a:t>
            </a:r>
          </a:p>
          <a:p>
            <a:pPr algn="l" marL="171450" indent="-171450">
              <a:lnSpc>
                <a:spcPct val="110000"/>
              </a:lnSpc>
              <a:spcAft>
                <a:spcPts val="600"/>
              </a:spcAft>
            </a:pPr>
            <a:r>
              <a:rPr sz="1500" b="0">
                <a:solidFill>
                  <a:srgbClr val="1F2A3A"/>
                </a:solidFill>
                <a:latin typeface="맑은 고딕"/>
                <a:ea typeface="맑은 고딕"/>
                <a:cs typeface="맑은 고딕"/>
              </a:rPr>
              <a:t>• 원인이 주어다: 「핀 오염은 냉각 성능 상실을 일으킨다」</a:t>
            </a:r>
          </a:p>
          <a:p>
            <a:pPr algn="l" marL="171450" indent="-171450">
              <a:lnSpc>
                <a:spcPct val="110000"/>
              </a:lnSpc>
              <a:spcAft>
                <a:spcPts val="600"/>
              </a:spcAft>
            </a:pPr>
            <a:r>
              <a:rPr sz="1500" b="0">
                <a:solidFill>
                  <a:srgbClr val="1F2A3A"/>
                </a:solidFill>
                <a:latin typeface="맑은 고딕"/>
                <a:ea typeface="맑은 고딕"/>
                <a:cs typeface="맑은 고딕"/>
              </a:rPr>
              <a:t>• 관계 이름의 뜻이 화살표의 방향을 정한다</a:t>
            </a:r>
          </a:p>
        </p:txBody>
      </p:sp>
      <p:sp>
        <p:nvSpPr>
          <p:cNvPr id="11" name="Rounded Rectangle 10"/>
          <p:cNvSpPr/>
          <p:nvPr/>
        </p:nvSpPr>
        <p:spPr>
          <a:xfrm>
            <a:off x="868680" y="5420106"/>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arrow-back-up" descr="arrow-back-up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따라가는 방향</a:t>
            </a:r>
          </a:p>
        </p:txBody>
      </p:sp>
      <p:sp>
        <p:nvSpPr>
          <p:cNvPr id="17" name="TextBox 16"/>
          <p:cNvSpPr txBox="1"/>
          <p:nvPr/>
        </p:nvSpPr>
        <p:spPr>
          <a:xfrm>
            <a:off x="6735927" y="3156966"/>
            <a:ext cx="4632807" cy="2171700"/>
          </a:xfrm>
          <a:prstGeom prst="rect">
            <a:avLst/>
          </a:prstGeom>
          <a:noFill/>
        </p:spPr>
        <p:txBody>
          <a:bodyPr wrap="square" anchor="t"/>
          <a:lstStyle/>
          <a:p>
            <a:pPr algn="l" marL="171450" indent="-171450">
              <a:lnSpc>
                <a:spcPct val="110000"/>
              </a:lnSpc>
              <a:spcAft>
                <a:spcPts val="600"/>
              </a:spcAft>
            </a:pPr>
            <a:r>
              <a:rPr sz="1500" b="0">
                <a:solidFill>
                  <a:srgbClr val="1F2A3A"/>
                </a:solidFill>
                <a:latin typeface="맑은 고딕"/>
                <a:ea typeface="맑은 고딕"/>
                <a:cs typeface="맑은 고딕"/>
              </a:rPr>
              <a:t>• 고장 유형으로 들어오는 CAUSES를 거슬러 원인 후보를 찾는다</a:t>
            </a:r>
          </a:p>
          <a:p>
            <a:pPr algn="l" marL="171450" indent="-171450">
              <a:lnSpc>
                <a:spcPct val="110000"/>
              </a:lnSpc>
              <a:spcAft>
                <a:spcPts val="600"/>
              </a:spcAft>
            </a:pPr>
            <a:r>
              <a:rPr sz="1500" b="0">
                <a:solidFill>
                  <a:srgbClr val="1F2A3A"/>
                </a:solidFill>
                <a:latin typeface="맑은 고딕"/>
                <a:ea typeface="맑은 고딕"/>
                <a:cs typeface="맑은 고딕"/>
              </a:rPr>
              <a:t>• 저장된 관계를 그대로 쓰며, 반대 뜻의 이름을 가진 관계를 따로 두지 않는다</a:t>
            </a:r>
          </a:p>
          <a:p>
            <a:pPr algn="l" marL="171450" indent="-171450">
              <a:lnSpc>
                <a:spcPct val="110000"/>
              </a:lnSpc>
              <a:spcAft>
                <a:spcPts val="600"/>
              </a:spcAft>
            </a:pPr>
            <a:r>
              <a:rPr sz="1500" b="0">
                <a:solidFill>
                  <a:srgbClr val="1F2A3A"/>
                </a:solidFill>
                <a:latin typeface="맑은 고딕"/>
                <a:ea typeface="맑은 고딕"/>
                <a:cs typeface="맑은 고딕"/>
              </a:rPr>
              <a:t>• 화살표는 한쪽으로만 다녀야 하는 통행 방향이 아니다</a:t>
            </a:r>
          </a:p>
        </p:txBody>
      </p:sp>
      <p:sp>
        <p:nvSpPr>
          <p:cNvPr id="18" name="Rounded Rectangle 17"/>
          <p:cNvSpPr/>
          <p:nvPr/>
        </p:nvSpPr>
        <p:spPr>
          <a:xfrm>
            <a:off x="6781647" y="5420106"/>
            <a:ext cx="23317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2331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유형에서 원인을 찾는다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이상 패턴에서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pic>
        <p:nvPicPr>
          <p:cNvPr id="6" name="삽화:경로2_1.svg" descr="illust_5449330595985239789_179198559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379296"/>
            <a:ext cx="1327406"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이상 패턴</a:t>
            </a:r>
          </a:p>
          <a:p>
            <a:pPr algn="ctr">
              <a:lnSpc>
                <a:spcPct val="110000"/>
              </a:lnSpc>
              <a:spcAft>
                <a:spcPts val="100"/>
              </a:spcAft>
            </a:pPr>
            <a:r>
              <a:rPr sz="1100" b="0">
                <a:solidFill>
                  <a:srgbClr val="556175"/>
                </a:solidFill>
                <a:latin typeface="맑은 고딕"/>
                <a:ea typeface="맑은 고딕"/>
                <a:cs typeface="맑은 고딕"/>
              </a:rPr>
              <a:t>(AnomalyPattern)</a:t>
            </a:r>
          </a:p>
        </p:txBody>
      </p:sp>
      <p:sp>
        <p:nvSpPr>
          <p:cNvPr id="8" name="TextBox 7"/>
          <p:cNvSpPr txBox="1"/>
          <p:nvPr/>
        </p:nvSpPr>
        <p:spPr>
          <a:xfrm>
            <a:off x="2618043" y="5092851"/>
            <a:ext cx="966351"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증상</a:t>
            </a:r>
          </a:p>
          <a:p>
            <a:pPr algn="ctr">
              <a:lnSpc>
                <a:spcPct val="110000"/>
              </a:lnSpc>
              <a:spcAft>
                <a:spcPts val="100"/>
              </a:spcAft>
            </a:pPr>
            <a:r>
              <a:rPr sz="1100" b="0">
                <a:solidFill>
                  <a:srgbClr val="556175"/>
                </a:solidFill>
                <a:latin typeface="맑은 고딕"/>
                <a:ea typeface="맑은 고딕"/>
                <a:cs typeface="맑은 고딕"/>
              </a:rPr>
              <a:t>(Symptom)</a:t>
            </a:r>
          </a:p>
        </p:txBody>
      </p:sp>
      <p:sp>
        <p:nvSpPr>
          <p:cNvPr id="9" name="TextBox 8"/>
          <p:cNvSpPr txBox="1"/>
          <p:nvPr/>
        </p:nvSpPr>
        <p:spPr>
          <a:xfrm>
            <a:off x="4327742" y="3608432"/>
            <a:ext cx="1327406"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고장 유형</a:t>
            </a:r>
          </a:p>
          <a:p>
            <a:pPr algn="ctr">
              <a:lnSpc>
                <a:spcPct val="110000"/>
              </a:lnSpc>
              <a:spcAft>
                <a:spcPts val="100"/>
              </a:spcAft>
            </a:pPr>
            <a:r>
              <a:rPr sz="1100" b="0">
                <a:solidFill>
                  <a:srgbClr val="556175"/>
                </a:solidFill>
                <a:latin typeface="맑은 고딕"/>
                <a:ea typeface="맑은 고딕"/>
                <a:cs typeface="맑은 고딕"/>
              </a:rPr>
              <a:t>(FailureMode)</a:t>
            </a:r>
          </a:p>
        </p:txBody>
      </p:sp>
      <p:sp>
        <p:nvSpPr>
          <p:cNvPr id="10" name="TextBox 9"/>
          <p:cNvSpPr txBox="1"/>
          <p:nvPr/>
        </p:nvSpPr>
        <p:spPr>
          <a:xfrm>
            <a:off x="2676449" y="3726618"/>
            <a:ext cx="955732" cy="298450"/>
          </a:xfrm>
          <a:prstGeom prst="rect">
            <a:avLst/>
          </a:prstGeom>
          <a:noFill/>
        </p:spPr>
        <p:txBody>
          <a:bodyPr wrap="square" anchor="t"/>
          <a:lstStyle/>
          <a:p>
            <a:pPr algn="ctr">
              <a:lnSpc>
                <a:spcPct val="110000"/>
              </a:lnSpc>
              <a:spcAft>
                <a:spcPts val="100"/>
              </a:spcAft>
            </a:pPr>
            <a:r>
              <a:rPr sz="1100" b="0">
                <a:solidFill>
                  <a:srgbClr val="13294B"/>
                </a:solidFill>
                <a:latin typeface="맑은 고딕"/>
                <a:ea typeface="맑은 고딕"/>
                <a:cs typeface="맑은 고딕"/>
              </a:rPr>
              <a:t>DETECTS</a:t>
            </a:r>
          </a:p>
        </p:txBody>
      </p:sp>
      <p:sp>
        <p:nvSpPr>
          <p:cNvPr id="11" name="TextBox 10"/>
          <p:cNvSpPr txBox="1"/>
          <p:nvPr/>
        </p:nvSpPr>
        <p:spPr>
          <a:xfrm>
            <a:off x="3929521" y="4780839"/>
            <a:ext cx="1061924" cy="298450"/>
          </a:xfrm>
          <a:prstGeom prst="rect">
            <a:avLst/>
          </a:prstGeom>
          <a:noFill/>
        </p:spPr>
        <p:txBody>
          <a:bodyPr wrap="square" anchor="t"/>
          <a:lstStyle/>
          <a:p>
            <a:pPr algn="ctr">
              <a:lnSpc>
                <a:spcPct val="110000"/>
              </a:lnSpc>
              <a:spcAft>
                <a:spcPts val="100"/>
              </a:spcAft>
            </a:pPr>
            <a:r>
              <a:rPr sz="1100" b="0">
                <a:solidFill>
                  <a:srgbClr val="13294B"/>
                </a:solidFill>
                <a:latin typeface="맑은 고딕"/>
                <a:ea typeface="맑은 고딕"/>
                <a:cs typeface="맑은 고딕"/>
              </a:rPr>
              <a:t>INDICATES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 증거,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CAUSES를 거슬러 모은 원인 후보를 증거로 확인하고, 조치는 고장 유형에서 MITIGATED_BY를 따라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경로2_2.svg" descr="illust_230591787603696166_179198559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379296"/>
            <a:ext cx="1327406"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이상 패턴</a:t>
            </a:r>
          </a:p>
          <a:p>
            <a:pPr algn="ctr">
              <a:lnSpc>
                <a:spcPct val="110000"/>
              </a:lnSpc>
              <a:spcAft>
                <a:spcPts val="100"/>
              </a:spcAft>
            </a:pPr>
            <a:r>
              <a:rPr sz="1100" b="0">
                <a:solidFill>
                  <a:srgbClr val="556175"/>
                </a:solidFill>
                <a:latin typeface="맑은 고딕"/>
                <a:ea typeface="맑은 고딕"/>
                <a:cs typeface="맑은 고딕"/>
              </a:rPr>
              <a:t>(AnomalyPattern)</a:t>
            </a:r>
          </a:p>
        </p:txBody>
      </p:sp>
      <p:sp>
        <p:nvSpPr>
          <p:cNvPr id="8" name="TextBox 7"/>
          <p:cNvSpPr txBox="1"/>
          <p:nvPr/>
        </p:nvSpPr>
        <p:spPr>
          <a:xfrm>
            <a:off x="2618043" y="5092851"/>
            <a:ext cx="966351"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증상</a:t>
            </a:r>
          </a:p>
          <a:p>
            <a:pPr algn="ctr">
              <a:lnSpc>
                <a:spcPct val="110000"/>
              </a:lnSpc>
              <a:spcAft>
                <a:spcPts val="100"/>
              </a:spcAft>
            </a:pPr>
            <a:r>
              <a:rPr sz="1100" b="0">
                <a:solidFill>
                  <a:srgbClr val="556175"/>
                </a:solidFill>
                <a:latin typeface="맑은 고딕"/>
                <a:ea typeface="맑은 고딕"/>
                <a:cs typeface="맑은 고딕"/>
              </a:rPr>
              <a:t>(Symptom)</a:t>
            </a:r>
          </a:p>
        </p:txBody>
      </p:sp>
      <p:sp>
        <p:nvSpPr>
          <p:cNvPr id="9" name="TextBox 8"/>
          <p:cNvSpPr txBox="1"/>
          <p:nvPr/>
        </p:nvSpPr>
        <p:spPr>
          <a:xfrm>
            <a:off x="4327742" y="3608432"/>
            <a:ext cx="1327406"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고장 유형</a:t>
            </a:r>
          </a:p>
          <a:p>
            <a:pPr algn="ctr">
              <a:lnSpc>
                <a:spcPct val="110000"/>
              </a:lnSpc>
              <a:spcAft>
                <a:spcPts val="100"/>
              </a:spcAft>
            </a:pPr>
            <a:r>
              <a:rPr sz="1100" b="0">
                <a:solidFill>
                  <a:srgbClr val="556175"/>
                </a:solidFill>
                <a:latin typeface="맑은 고딕"/>
                <a:ea typeface="맑은 고딕"/>
                <a:cs typeface="맑은 고딕"/>
              </a:rPr>
              <a:t>(FailureMode)</a:t>
            </a:r>
          </a:p>
        </p:txBody>
      </p:sp>
      <p:sp>
        <p:nvSpPr>
          <p:cNvPr id="10" name="TextBox 9"/>
          <p:cNvSpPr txBox="1"/>
          <p:nvPr/>
        </p:nvSpPr>
        <p:spPr>
          <a:xfrm>
            <a:off x="5729483" y="5442682"/>
            <a:ext cx="966351"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조치 방법</a:t>
            </a:r>
          </a:p>
          <a:p>
            <a:pPr algn="ctr">
              <a:lnSpc>
                <a:spcPct val="110000"/>
              </a:lnSpc>
              <a:spcAft>
                <a:spcPts val="100"/>
              </a:spcAft>
            </a:pPr>
            <a:r>
              <a:rPr sz="1100" b="0">
                <a:solidFill>
                  <a:srgbClr val="556175"/>
                </a:solidFill>
                <a:latin typeface="맑은 고딕"/>
                <a:ea typeface="맑은 고딕"/>
                <a:cs typeface="맑은 고딕"/>
              </a:rPr>
              <a:t>(Skill)</a:t>
            </a:r>
          </a:p>
        </p:txBody>
      </p:sp>
      <p:sp>
        <p:nvSpPr>
          <p:cNvPr id="11" name="TextBox 10"/>
          <p:cNvSpPr txBox="1"/>
          <p:nvPr/>
        </p:nvSpPr>
        <p:spPr>
          <a:xfrm>
            <a:off x="6881671" y="2246927"/>
            <a:ext cx="12955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쿨러 핀 오염</a:t>
            </a:r>
          </a:p>
          <a:p>
            <a:pPr algn="ctr">
              <a:lnSpc>
                <a:spcPct val="110000"/>
              </a:lnSpc>
              <a:spcAft>
                <a:spcPts val="100"/>
              </a:spcAft>
            </a:pPr>
            <a:r>
              <a:rPr sz="1100" b="0">
                <a:solidFill>
                  <a:srgbClr val="556175"/>
                </a:solidFill>
                <a:latin typeface="맑은 고딕"/>
                <a:ea typeface="맑은 고딕"/>
                <a:cs typeface="맑은 고딕"/>
              </a:rPr>
              <a:t>(Cause)</a:t>
            </a:r>
          </a:p>
        </p:txBody>
      </p:sp>
      <p:sp>
        <p:nvSpPr>
          <p:cNvPr id="12" name="TextBox 11"/>
          <p:cNvSpPr txBox="1"/>
          <p:nvPr/>
        </p:nvSpPr>
        <p:spPr>
          <a:xfrm>
            <a:off x="7402015" y="3868442"/>
            <a:ext cx="129554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팬 구동 불량</a:t>
            </a:r>
          </a:p>
          <a:p>
            <a:pPr algn="ctr">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7147153" y="5400135"/>
            <a:ext cx="1295548"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주변 온도 상승</a:t>
            </a:r>
          </a:p>
          <a:p>
            <a:pPr algn="ctr">
              <a:lnSpc>
                <a:spcPct val="110000"/>
              </a:lnSpc>
              <a:spcAft>
                <a:spcPts val="100"/>
              </a:spcAft>
            </a:pPr>
            <a:r>
              <a:rPr sz="1100" b="0">
                <a:solidFill>
                  <a:srgbClr val="556175"/>
                </a:solidFill>
                <a:latin typeface="맑은 고딕"/>
                <a:ea typeface="맑은 고딕"/>
                <a:cs typeface="맑은 고딕"/>
              </a:rPr>
              <a:t>(Cause)</a:t>
            </a:r>
          </a:p>
        </p:txBody>
      </p:sp>
      <p:sp>
        <p:nvSpPr>
          <p:cNvPr id="14" name="TextBox 13"/>
          <p:cNvSpPr txBox="1"/>
          <p:nvPr/>
        </p:nvSpPr>
        <p:spPr>
          <a:xfrm>
            <a:off x="9663914" y="2246927"/>
            <a:ext cx="106192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 VS1</a:t>
            </a:r>
          </a:p>
          <a:p>
            <a:pPr algn="ctr">
              <a:lnSpc>
                <a:spcPct val="110000"/>
              </a:lnSpc>
              <a:spcAft>
                <a:spcPts val="100"/>
              </a:spcAft>
            </a:pPr>
            <a:r>
              <a:rPr sz="1100" b="0">
                <a:solidFill>
                  <a:srgbClr val="556175"/>
                </a:solidFill>
                <a:latin typeface="맑은 고딕"/>
                <a:ea typeface="맑은 고딕"/>
                <a:cs typeface="맑은 고딕"/>
              </a:rPr>
              <a:t>(Evidence)</a:t>
            </a:r>
          </a:p>
        </p:txBody>
      </p:sp>
      <p:sp>
        <p:nvSpPr>
          <p:cNvPr id="15" name="TextBox 14"/>
          <p:cNvSpPr txBox="1"/>
          <p:nvPr/>
        </p:nvSpPr>
        <p:spPr>
          <a:xfrm>
            <a:off x="10194877" y="3868442"/>
            <a:ext cx="10619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(Evidence)</a:t>
            </a:r>
          </a:p>
        </p:txBody>
      </p:sp>
      <p:sp>
        <p:nvSpPr>
          <p:cNvPr id="16" name="TextBox 15"/>
          <p:cNvSpPr txBox="1"/>
          <p:nvPr/>
        </p:nvSpPr>
        <p:spPr>
          <a:xfrm>
            <a:off x="9971873" y="5400135"/>
            <a:ext cx="10619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TS4</a:t>
            </a:r>
          </a:p>
          <a:p>
            <a:pPr algn="ctr">
              <a:lnSpc>
                <a:spcPct val="110000"/>
              </a:lnSpc>
              <a:spcAft>
                <a:spcPts val="100"/>
              </a:spcAft>
            </a:pPr>
            <a:r>
              <a:rPr sz="1100" b="0">
                <a:solidFill>
                  <a:srgbClr val="556175"/>
                </a:solidFill>
                <a:latin typeface="맑은 고딕"/>
                <a:ea typeface="맑은 고딕"/>
                <a:cs typeface="맑은 고딕"/>
              </a:rPr>
              <a:t>(Evidence)</a:t>
            </a:r>
          </a:p>
        </p:txBody>
      </p:sp>
      <p:sp>
        <p:nvSpPr>
          <p:cNvPr id="17" name="TextBox 16"/>
          <p:cNvSpPr txBox="1"/>
          <p:nvPr/>
        </p:nvSpPr>
        <p:spPr>
          <a:xfrm>
            <a:off x="6053370" y="3509156"/>
            <a:ext cx="849539" cy="298450"/>
          </a:xfrm>
          <a:prstGeom prst="rect">
            <a:avLst/>
          </a:prstGeom>
          <a:noFill/>
        </p:spPr>
        <p:txBody>
          <a:bodyPr wrap="square" anchor="t"/>
          <a:lstStyle/>
          <a:p>
            <a:pPr algn="ctr">
              <a:lnSpc>
                <a:spcPct val="110000"/>
              </a:lnSpc>
              <a:spcAft>
                <a:spcPts val="100"/>
              </a:spcAft>
            </a:pPr>
            <a:r>
              <a:rPr sz="1100" b="0">
                <a:solidFill>
                  <a:srgbClr val="13294B"/>
                </a:solidFill>
                <a:latin typeface="맑은 고딕"/>
                <a:ea typeface="맑은 고딕"/>
                <a:cs typeface="맑은 고딕"/>
              </a:rPr>
              <a:t>CAUSES</a:t>
            </a:r>
          </a:p>
        </p:txBody>
      </p:sp>
      <p:sp>
        <p:nvSpPr>
          <p:cNvPr id="18" name="TextBox 17"/>
          <p:cNvSpPr txBox="1"/>
          <p:nvPr/>
        </p:nvSpPr>
        <p:spPr>
          <a:xfrm>
            <a:off x="8272793" y="2133468"/>
            <a:ext cx="1274309" cy="298450"/>
          </a:xfrm>
          <a:prstGeom prst="rect">
            <a:avLst/>
          </a:prstGeom>
          <a:noFill/>
        </p:spPr>
        <p:txBody>
          <a:bodyPr wrap="square" anchor="t"/>
          <a:lstStyle/>
          <a:p>
            <a:pPr algn="ctr">
              <a:lnSpc>
                <a:spcPct val="110000"/>
              </a:lnSpc>
              <a:spcAft>
                <a:spcPts val="100"/>
              </a:spcAft>
            </a:pPr>
            <a:r>
              <a:rPr sz="1100" b="0">
                <a:solidFill>
                  <a:srgbClr val="13294B"/>
                </a:solidFill>
                <a:latin typeface="맑은 고딕"/>
                <a:ea typeface="맑은 고딕"/>
                <a:cs typeface="맑은 고딕"/>
              </a:rPr>
              <a:t>EVIDENCED_BY</a:t>
            </a:r>
          </a:p>
        </p:txBody>
      </p:sp>
      <p:sp>
        <p:nvSpPr>
          <p:cNvPr id="19" name="TextBox 18"/>
          <p:cNvSpPr txBox="1"/>
          <p:nvPr/>
        </p:nvSpPr>
        <p:spPr>
          <a:xfrm>
            <a:off x="4184382" y="4903753"/>
            <a:ext cx="1274309" cy="298450"/>
          </a:xfrm>
          <a:prstGeom prst="rect">
            <a:avLst/>
          </a:prstGeom>
          <a:noFill/>
        </p:spPr>
        <p:txBody>
          <a:bodyPr wrap="square" anchor="t"/>
          <a:lstStyle/>
          <a:p>
            <a:pPr algn="ctr">
              <a:lnSpc>
                <a:spcPct val="110000"/>
              </a:lnSpc>
              <a:spcAft>
                <a:spcPts val="100"/>
              </a:spcAft>
            </a:pPr>
            <a:r>
              <a:rPr sz="1100" b="0">
                <a:solidFill>
                  <a:srgbClr val="13294B"/>
                </a:solidFill>
                <a:latin typeface="맑은 고딕"/>
                <a:ea typeface="맑은 고딕"/>
                <a:cs typeface="맑은 고딕"/>
              </a:rPr>
              <a:t>MITIGATED_BY</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모델이 판단과 업무에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원인 후보와 근거를 찾는 바탕이며, 조치는 에이전트가 추천하고 사람이 승인한 뒤 프로세스가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10383"/>
            <a:ext cx="1911644" cy="336194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138702" y="2493264"/>
            <a:ext cx="731520" cy="731520"/>
          </a:xfrm>
          <a:prstGeom prst="ellipse">
            <a:avLst/>
          </a:prstGeom>
          <a:solidFill>
            <a:srgbClr val="5CB8F2"/>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646883"/>
            <a:ext cx="424281" cy="424281"/>
          </a:xfrm>
          <a:prstGeom prst="rect">
            <a:avLst/>
          </a:prstGeom>
        </p:spPr>
      </p:pic>
      <p:sp>
        <p:nvSpPr>
          <p:cNvPr id="9" name="TextBox 8"/>
          <p:cNvSpPr txBox="1"/>
          <p:nvPr/>
        </p:nvSpPr>
        <p:spPr>
          <a:xfrm>
            <a:off x="621792" y="3297936"/>
            <a:ext cx="1765340" cy="2301240"/>
          </a:xfrm>
          <a:prstGeom prst="rect">
            <a:avLst/>
          </a:prstGeom>
          <a:noFill/>
        </p:spPr>
        <p:txBody>
          <a:bodyPr wrap="square" anchor="t"/>
          <a:lstStyle/>
          <a:p>
            <a:pPr algn="ctr">
              <a:lnSpc>
                <a:spcPct val="110000"/>
              </a:lnSpc>
              <a:spcAft>
                <a:spcPts val="400"/>
              </a:spcAft>
            </a:pPr>
            <a:r>
              <a:rPr sz="1850" b="1">
                <a:solidFill>
                  <a:srgbClr val="13294B"/>
                </a:solidFill>
                <a:latin typeface="맑은 고딕"/>
                <a:ea typeface="맑은 고딕"/>
                <a:cs typeface="맑은 고딕"/>
              </a:rPr>
              <a:t>정의</a:t>
            </a:r>
          </a:p>
          <a:p>
            <a:pPr algn="ctr">
              <a:lnSpc>
                <a:spcPct val="110000"/>
              </a:lnSpc>
              <a:spcAft>
                <a:spcPts val="400"/>
              </a:spcAft>
            </a:pPr>
            <a:r>
              <a:rPr sz="1550" b="0">
                <a:solidFill>
                  <a:srgbClr val="1F2A3A"/>
                </a:solidFill>
                <a:latin typeface="맑은 고딕"/>
                <a:ea typeface="맑은 고딕"/>
                <a:cs typeface="맑은 고딕"/>
              </a:rPr>
              <a:t>온톨로지가</a:t>
            </a:r>
          </a:p>
          <a:p>
            <a:pPr algn="ctr">
              <a:lnSpc>
                <a:spcPct val="110000"/>
              </a:lnSpc>
              <a:spcAft>
                <a:spcPts val="400"/>
              </a:spcAft>
            </a:pPr>
            <a:r>
              <a:rPr sz="1550" b="0">
                <a:solidFill>
                  <a:srgbClr val="1F2A3A"/>
                </a:solidFill>
                <a:latin typeface="맑은 고딕"/>
                <a:ea typeface="맑은 고딕"/>
                <a:cs typeface="맑은 고딕"/>
              </a:rPr>
              <a:t>대상의 종류, 속성,</a:t>
            </a:r>
          </a:p>
          <a:p>
            <a:pPr algn="ctr">
              <a:lnSpc>
                <a:spcPct val="110000"/>
              </a:lnSpc>
              <a:spcAft>
                <a:spcPts val="400"/>
              </a:spcAft>
            </a:pPr>
            <a:r>
              <a:rPr sz="1550" b="0">
                <a:solidFill>
                  <a:srgbClr val="1F2A3A"/>
                </a:solidFill>
                <a:latin typeface="맑은 고딕"/>
                <a:ea typeface="맑은 고딕"/>
                <a:cs typeface="맑은 고딕"/>
              </a:rPr>
              <a:t>관계, 제약을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310383"/>
            <a:ext cx="1911644" cy="336194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493264"/>
            <a:ext cx="731520" cy="731520"/>
          </a:xfrm>
          <a:prstGeom prst="ellipse">
            <a:avLst/>
          </a:prstGeom>
          <a:solidFill>
            <a:srgbClr val="FFFFFF"/>
          </a:solidFill>
          <a:ln>
            <a:noFill/>
          </a:ln>
        </p:spPr>
        <p:txBody>
          <a:bodyPr rtlCol="0" anchor="ctr"/>
          <a:lstStyle/>
          <a:p>
            <a:pPr algn="ctr"/>
          </a:p>
        </p:txBody>
      </p:sp>
      <p:pic>
        <p:nvPicPr>
          <p:cNvPr id="13" name="아이콘:route" descr="route_13294B_1.6.png"/>
          <p:cNvPicPr>
            <a:picLocks noChangeAspect="1"/>
          </p:cNvPicPr>
          <p:nvPr/>
        </p:nvPicPr>
        <p:blipFill>
          <a:blip r:embed="rId4"/>
          <a:stretch>
            <a:fillRect/>
          </a:stretch>
        </p:blipFill>
        <p:spPr>
          <a:xfrm>
            <a:off x="3588014" y="2646883"/>
            <a:ext cx="424281" cy="424281"/>
          </a:xfrm>
          <a:prstGeom prst="rect">
            <a:avLst/>
          </a:prstGeom>
        </p:spPr>
      </p:pic>
      <p:sp>
        <p:nvSpPr>
          <p:cNvPr id="14" name="TextBox 13"/>
          <p:cNvSpPr txBox="1"/>
          <p:nvPr/>
        </p:nvSpPr>
        <p:spPr>
          <a:xfrm>
            <a:off x="2917484" y="3297936"/>
            <a:ext cx="1765340" cy="2301240"/>
          </a:xfrm>
          <a:prstGeom prst="rect">
            <a:avLst/>
          </a:prstGeom>
          <a:noFill/>
        </p:spPr>
        <p:txBody>
          <a:bodyPr wrap="square" anchor="t"/>
          <a:lstStyle/>
          <a:p>
            <a:pPr algn="ctr">
              <a:lnSpc>
                <a:spcPct val="110000"/>
              </a:lnSpc>
              <a:spcAft>
                <a:spcPts val="400"/>
              </a:spcAft>
            </a:pPr>
            <a:r>
              <a:rPr sz="1850" b="1">
                <a:solidFill>
                  <a:srgbClr val="13294B"/>
                </a:solidFill>
                <a:latin typeface="맑은 고딕"/>
                <a:ea typeface="맑은 고딕"/>
                <a:cs typeface="맑은 고딕"/>
              </a:rPr>
              <a:t>조회</a:t>
            </a:r>
          </a:p>
          <a:p>
            <a:pPr algn="ctr">
              <a:lnSpc>
                <a:spcPct val="110000"/>
              </a:lnSpc>
              <a:spcAft>
                <a:spcPts val="400"/>
              </a:spcAft>
            </a:pPr>
            <a:r>
              <a:rPr sz="1550" b="0">
                <a:solidFill>
                  <a:srgbClr val="1F2A3A"/>
                </a:solidFill>
                <a:latin typeface="맑은 고딕"/>
                <a:ea typeface="맑은 고딕"/>
                <a:cs typeface="맑은 고딕"/>
              </a:rPr>
              <a:t>경보에서 관계를 따라</a:t>
            </a:r>
          </a:p>
          <a:p>
            <a:pPr algn="ctr">
              <a:lnSpc>
                <a:spcPct val="110000"/>
              </a:lnSpc>
              <a:spcAft>
                <a:spcPts val="400"/>
              </a:spcAft>
            </a:pPr>
            <a:r>
              <a:rPr sz="1550" b="0">
                <a:solidFill>
                  <a:srgbClr val="1F2A3A"/>
                </a:solidFill>
                <a:latin typeface="맑은 고딕"/>
                <a:ea typeface="맑은 고딕"/>
                <a:cs typeface="맑은 고딕"/>
              </a:rPr>
              <a:t>원인 후보와</a:t>
            </a:r>
          </a:p>
          <a:p>
            <a:pPr algn="ctr">
              <a:lnSpc>
                <a:spcPct val="110000"/>
              </a:lnSpc>
              <a:spcAft>
                <a:spcPts val="400"/>
              </a:spcAft>
            </a:pPr>
            <a:r>
              <a:rPr sz="1550" b="0">
                <a:solidFill>
                  <a:srgbClr val="1F2A3A"/>
                </a:solidFill>
                <a:latin typeface="맑은 고딕"/>
                <a:ea typeface="맑은 고딕"/>
                <a:cs typeface="맑은 고딕"/>
              </a:rPr>
              <a:t>증거를 찾는다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310383"/>
            <a:ext cx="1911644" cy="336194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493264"/>
            <a:ext cx="731520" cy="731520"/>
          </a:xfrm>
          <a:prstGeom prst="ellipse">
            <a:avLst/>
          </a:prstGeom>
          <a:solidFill>
            <a:srgbClr val="FFFFFF"/>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2646883"/>
            <a:ext cx="424281" cy="424281"/>
          </a:xfrm>
          <a:prstGeom prst="rect">
            <a:avLst/>
          </a:prstGeom>
        </p:spPr>
      </p:pic>
      <p:sp>
        <p:nvSpPr>
          <p:cNvPr id="19" name="TextBox 18"/>
          <p:cNvSpPr txBox="1"/>
          <p:nvPr/>
        </p:nvSpPr>
        <p:spPr>
          <a:xfrm>
            <a:off x="5213177" y="3297936"/>
            <a:ext cx="1765340" cy="2301240"/>
          </a:xfrm>
          <a:prstGeom prst="rect">
            <a:avLst/>
          </a:prstGeom>
          <a:noFill/>
        </p:spPr>
        <p:txBody>
          <a:bodyPr wrap="square" anchor="t"/>
          <a:lstStyle/>
          <a:p>
            <a:pPr algn="ctr">
              <a:lnSpc>
                <a:spcPct val="110000"/>
              </a:lnSpc>
              <a:spcAft>
                <a:spcPts val="400"/>
              </a:spcAft>
            </a:pPr>
            <a:r>
              <a:rPr sz="1850" b="1">
                <a:solidFill>
                  <a:srgbClr val="13294B"/>
                </a:solidFill>
                <a:latin typeface="맑은 고딕"/>
                <a:ea typeface="맑은 고딕"/>
                <a:cs typeface="맑은 고딕"/>
              </a:rPr>
              <a:t>판단</a:t>
            </a:r>
          </a:p>
          <a:p>
            <a:pPr algn="ctr">
              <a:lnSpc>
                <a:spcPct val="110000"/>
              </a:lnSpc>
              <a:spcAft>
                <a:spcPts val="400"/>
              </a:spcAft>
            </a:pPr>
            <a:r>
              <a:rPr sz="1550" b="0">
                <a:solidFill>
                  <a:srgbClr val="1F2A3A"/>
                </a:solidFill>
                <a:latin typeface="맑은 고딕"/>
                <a:ea typeface="맑은 고딕"/>
                <a:cs typeface="맑은 고딕"/>
              </a:rPr>
              <a:t>에이전트가</a:t>
            </a:r>
          </a:p>
          <a:p>
            <a:pPr algn="ctr">
              <a:lnSpc>
                <a:spcPct val="110000"/>
              </a:lnSpc>
              <a:spcAft>
                <a:spcPts val="400"/>
              </a:spcAft>
            </a:pPr>
            <a:r>
              <a:rPr sz="1550" b="0">
                <a:solidFill>
                  <a:srgbClr val="1F2A3A"/>
                </a:solidFill>
                <a:latin typeface="맑은 고딕"/>
                <a:ea typeface="맑은 고딕"/>
                <a:cs typeface="맑은 고딕"/>
              </a:rPr>
              <a:t>값을 대조해</a:t>
            </a:r>
          </a:p>
          <a:p>
            <a:pPr algn="ctr">
              <a:lnSpc>
                <a:spcPct val="110000"/>
              </a:lnSpc>
              <a:spcAft>
                <a:spcPts val="400"/>
              </a:spcAft>
            </a:pPr>
            <a:r>
              <a:rPr sz="1550" b="0">
                <a:solidFill>
                  <a:srgbClr val="1F2A3A"/>
                </a:solidFill>
                <a:latin typeface="맑은 고딕"/>
                <a:ea typeface="맑은 고딕"/>
                <a:cs typeface="맑은 고딕"/>
              </a:rPr>
              <a:t>조치를 추천한다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310383"/>
            <a:ext cx="1911644" cy="336194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493264"/>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8179399" y="2646883"/>
            <a:ext cx="424281" cy="424281"/>
          </a:xfrm>
          <a:prstGeom prst="rect">
            <a:avLst/>
          </a:prstGeom>
        </p:spPr>
      </p:pic>
      <p:sp>
        <p:nvSpPr>
          <p:cNvPr id="24" name="TextBox 23"/>
          <p:cNvSpPr txBox="1"/>
          <p:nvPr/>
        </p:nvSpPr>
        <p:spPr>
          <a:xfrm>
            <a:off x="7508869" y="3297936"/>
            <a:ext cx="1765340" cy="2301240"/>
          </a:xfrm>
          <a:prstGeom prst="rect">
            <a:avLst/>
          </a:prstGeom>
          <a:noFill/>
        </p:spPr>
        <p:txBody>
          <a:bodyPr wrap="square" anchor="t"/>
          <a:lstStyle/>
          <a:p>
            <a:pPr algn="ctr">
              <a:lnSpc>
                <a:spcPct val="110000"/>
              </a:lnSpc>
              <a:spcAft>
                <a:spcPts val="400"/>
              </a:spcAft>
            </a:pPr>
            <a:r>
              <a:rPr sz="1850" b="1">
                <a:solidFill>
                  <a:srgbClr val="13294B"/>
                </a:solidFill>
                <a:latin typeface="맑은 고딕"/>
                <a:ea typeface="맑은 고딕"/>
                <a:cs typeface="맑은 고딕"/>
              </a:rPr>
              <a:t>승인</a:t>
            </a:r>
          </a:p>
          <a:p>
            <a:pPr algn="ctr">
              <a:lnSpc>
                <a:spcPct val="110000"/>
              </a:lnSpc>
              <a:spcAft>
                <a:spcPts val="400"/>
              </a:spcAft>
            </a:pPr>
            <a:r>
              <a:rPr sz="1550" b="0">
                <a:solidFill>
                  <a:srgbClr val="1F2A3A"/>
                </a:solidFill>
                <a:latin typeface="맑은 고딕"/>
                <a:ea typeface="맑은 고딕"/>
                <a:cs typeface="맑은 고딕"/>
              </a:rPr>
              <a:t>담당자가</a:t>
            </a:r>
          </a:p>
          <a:p>
            <a:pPr algn="ctr">
              <a:lnSpc>
                <a:spcPct val="110000"/>
              </a:lnSpc>
              <a:spcAft>
                <a:spcPts val="400"/>
              </a:spcAft>
            </a:pPr>
            <a:r>
              <a:rPr sz="1550" b="0">
                <a:solidFill>
                  <a:srgbClr val="1F2A3A"/>
                </a:solidFill>
                <a:latin typeface="맑은 고딕"/>
                <a:ea typeface="맑은 고딕"/>
                <a:cs typeface="맑은 고딕"/>
              </a:rPr>
              <a:t>추천과 근거를 보고</a:t>
            </a:r>
          </a:p>
          <a:p>
            <a:pPr algn="ctr">
              <a:lnSpc>
                <a:spcPct val="110000"/>
              </a:lnSpc>
              <a:spcAft>
                <a:spcPts val="400"/>
              </a:spcAft>
            </a:pPr>
            <a:r>
              <a:rPr sz="1550" b="0">
                <a:solidFill>
                  <a:srgbClr val="1F2A3A"/>
                </a:solidFill>
                <a:latin typeface="맑은 고딕"/>
                <a:ea typeface="맑은 고딕"/>
                <a:cs typeface="맑은 고딕"/>
              </a:rPr>
              <a:t>승인하거나 거절한다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310383"/>
            <a:ext cx="1911644" cy="3361944"/>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493264"/>
            <a:ext cx="731520" cy="731520"/>
          </a:xfrm>
          <a:prstGeom prst="ellipse">
            <a:avLst/>
          </a:prstGeom>
          <a:solidFill>
            <a:srgbClr val="FFFFFF"/>
          </a:solidFill>
          <a:ln>
            <a:noFill/>
          </a:ln>
        </p:spPr>
        <p:txBody>
          <a:bodyPr rtlCol="0" anchor="ctr"/>
          <a:lstStyle/>
          <a:p>
            <a:pPr algn="ctr"/>
          </a:p>
        </p:txBody>
      </p:sp>
      <p:pic>
        <p:nvPicPr>
          <p:cNvPr id="28" name="아이콘:settings-automation" descr="settings-automation_13294B_1.6.png"/>
          <p:cNvPicPr>
            <a:picLocks noChangeAspect="1"/>
          </p:cNvPicPr>
          <p:nvPr/>
        </p:nvPicPr>
        <p:blipFill>
          <a:blip r:embed="rId7"/>
          <a:stretch>
            <a:fillRect/>
          </a:stretch>
        </p:blipFill>
        <p:spPr>
          <a:xfrm>
            <a:off x="10475092" y="2646883"/>
            <a:ext cx="424281" cy="424281"/>
          </a:xfrm>
          <a:prstGeom prst="rect">
            <a:avLst/>
          </a:prstGeom>
        </p:spPr>
      </p:pic>
      <p:sp>
        <p:nvSpPr>
          <p:cNvPr id="29" name="TextBox 28"/>
          <p:cNvSpPr txBox="1"/>
          <p:nvPr/>
        </p:nvSpPr>
        <p:spPr>
          <a:xfrm>
            <a:off x="9804562" y="3297936"/>
            <a:ext cx="1765340" cy="2301240"/>
          </a:xfrm>
          <a:prstGeom prst="rect">
            <a:avLst/>
          </a:prstGeom>
          <a:noFill/>
        </p:spPr>
        <p:txBody>
          <a:bodyPr wrap="square" anchor="t"/>
          <a:lstStyle/>
          <a:p>
            <a:pPr algn="ctr">
              <a:lnSpc>
                <a:spcPct val="110000"/>
              </a:lnSpc>
              <a:spcAft>
                <a:spcPts val="400"/>
              </a:spcAft>
            </a:pPr>
            <a:r>
              <a:rPr sz="1850" b="1">
                <a:solidFill>
                  <a:srgbClr val="13294B"/>
                </a:solidFill>
                <a:latin typeface="맑은 고딕"/>
                <a:ea typeface="맑은 고딕"/>
                <a:cs typeface="맑은 고딕"/>
              </a:rPr>
              <a:t>실행</a:t>
            </a:r>
          </a:p>
          <a:p>
            <a:pPr algn="ctr">
              <a:lnSpc>
                <a:spcPct val="110000"/>
              </a:lnSpc>
              <a:spcAft>
                <a:spcPts val="400"/>
              </a:spcAft>
            </a:pPr>
            <a:r>
              <a:rPr sz="1550" b="0">
                <a:solidFill>
                  <a:srgbClr val="1F2A3A"/>
                </a:solidFill>
                <a:latin typeface="맑은 고딕"/>
                <a:ea typeface="맑은 고딕"/>
                <a:cs typeface="맑은 고딕"/>
              </a:rPr>
              <a:t>프로세스 엔진이</a:t>
            </a:r>
          </a:p>
          <a:p>
            <a:pPr algn="ctr">
              <a:lnSpc>
                <a:spcPct val="110000"/>
              </a:lnSpc>
              <a:spcAft>
                <a:spcPts val="400"/>
              </a:spcAft>
            </a:pPr>
            <a:r>
              <a:rPr sz="1550" b="0">
                <a:solidFill>
                  <a:srgbClr val="1F2A3A"/>
                </a:solidFill>
                <a:latin typeface="맑은 고딕"/>
                <a:ea typeface="맑은 고딕"/>
                <a:cs typeface="맑은 고딕"/>
              </a:rPr>
              <a:t>승인된 조치만</a:t>
            </a:r>
          </a:p>
          <a:p>
            <a:pPr algn="ctr">
              <a:lnSpc>
                <a:spcPct val="110000"/>
              </a:lnSpc>
              <a:spcAft>
                <a:spcPts val="400"/>
              </a:spcAft>
            </a:pPr>
            <a:r>
              <a:rPr sz="1550" b="0">
                <a:solidFill>
                  <a:srgbClr val="1F2A3A"/>
                </a:solidFill>
                <a:latin typeface="맑은 고딕"/>
                <a:ea typeface="맑은 고딕"/>
                <a:cs typeface="맑은 고딕"/>
              </a:rPr>
              <a:t>명령으로 내려보낸다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배치하고 이름과 방향을 정한다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연결한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a:lnSpc>
                <a:spcPct val="110000"/>
              </a:lnSpc>
              <a:spcAft>
                <a:spcPts val="400"/>
              </a:spcAft>
            </a:pPr>
            <a:r>
              <a:rPr sz="2200" b="1">
                <a:solidFill>
                  <a:srgbClr val="13294B"/>
                </a:solidFill>
                <a:latin typeface="맑은 고딕"/>
                <a:ea typeface="맑은 고딕"/>
                <a:cs typeface="맑은 고딕"/>
              </a:rPr>
              <a:t>노드를 놓는다</a:t>
            </a:r>
          </a:p>
          <a:p>
            <a:pPr algn="l" marL="205740" indent="-205740">
              <a:lnSpc>
                <a:spcPct val="110000"/>
              </a:lnSpc>
              <a:spcAft>
                <a:spcPts val="400"/>
              </a:spcAft>
            </a:pPr>
            <a:r>
              <a:rPr sz="1800" b="0">
                <a:solidFill>
                  <a:srgbClr val="1F2A3A"/>
                </a:solidFill>
                <a:latin typeface="맑은 고딕"/>
                <a:ea typeface="맑은 고딕"/>
                <a:cs typeface="맑은 고딕"/>
              </a:rPr>
              <a:t>• 설비, 센서, 증상, 원인, 조치를 노드로 만든다</a:t>
            </a:r>
          </a:p>
          <a:p>
            <a:pPr algn="l" marL="205740" indent="-205740">
              <a:lnSpc>
                <a:spcPct val="110000"/>
              </a:lnSpc>
              <a:spcAft>
                <a:spcPts val="400"/>
              </a:spcAft>
            </a:pPr>
            <a:r>
              <a:rPr sz="18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a:lnSpc>
                <a:spcPct val="110000"/>
              </a:lnSpc>
              <a:spcAft>
                <a:spcPts val="400"/>
              </a:spcAft>
            </a:pPr>
            <a:r>
              <a:rPr sz="2200" b="1">
                <a:solidFill>
                  <a:srgbClr val="13294B"/>
                </a:solidFill>
                <a:latin typeface="맑은 고딕"/>
                <a:ea typeface="맑은 고딕"/>
                <a:cs typeface="맑은 고딕"/>
              </a:rPr>
              <a:t>관계를 잇는다</a:t>
            </a:r>
          </a:p>
          <a:p>
            <a:pPr algn="l" marL="205740" indent="-205740">
              <a:lnSpc>
                <a:spcPct val="110000"/>
              </a:lnSpc>
              <a:spcAft>
                <a:spcPts val="400"/>
              </a:spcAft>
            </a:pPr>
            <a:r>
              <a:rPr sz="1800" b="0">
                <a:solidFill>
                  <a:srgbClr val="1F2A3A"/>
                </a:solidFill>
                <a:latin typeface="맑은 고딕"/>
                <a:ea typeface="맑은 고딕"/>
                <a:cs typeface="맑은 고딕"/>
              </a:rPr>
              <a:t>• 노드 사이에 화살표를 긋고 이름을 붙인다</a:t>
            </a:r>
          </a:p>
          <a:p>
            <a:pPr algn="l" marL="205740" indent="-205740">
              <a:lnSpc>
                <a:spcPct val="110000"/>
              </a:lnSpc>
              <a:spcAft>
                <a:spcPts val="400"/>
              </a:spcAft>
            </a:pPr>
            <a:r>
              <a:rPr sz="18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25907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a:lnSpc>
                <a:spcPct val="110000"/>
              </a:lnSpc>
              <a:spcAft>
                <a:spcPts val="400"/>
              </a:spcAft>
            </a:pPr>
            <a:r>
              <a:rPr sz="2200" b="1">
                <a:solidFill>
                  <a:srgbClr val="13294B"/>
                </a:solidFill>
                <a:latin typeface="맑은 고딕"/>
                <a:ea typeface="맑은 고딕"/>
                <a:cs typeface="맑은 고딕"/>
              </a:rPr>
              <a:t>문장으로 읽는다</a:t>
            </a:r>
          </a:p>
          <a:p>
            <a:pPr algn="l" marL="205740" indent="-205740">
              <a:lnSpc>
                <a:spcPct val="110000"/>
              </a:lnSpc>
              <a:spcAft>
                <a:spcPts val="400"/>
              </a:spcAft>
            </a:pPr>
            <a:r>
              <a:rPr sz="1800" b="0">
                <a:solidFill>
                  <a:srgbClr val="1F2A3A"/>
                </a:solidFill>
                <a:latin typeface="맑은 고딕"/>
                <a:ea typeface="맑은 고딕"/>
                <a:cs typeface="맑은 고딕"/>
              </a:rPr>
              <a:t>• 화살표를 하나씩 주어, 서술어, 목적어로 읽는다</a:t>
            </a:r>
          </a:p>
          <a:p>
            <a:pPr algn="l" marL="205740" indent="-205740">
              <a:lnSpc>
                <a:spcPct val="110000"/>
              </a:lnSpc>
              <a:spcAft>
                <a:spcPts val="400"/>
              </a:spcAft>
            </a:pPr>
            <a:r>
              <a:rPr sz="18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25907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 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당시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값을 바탕으로 내릴 수 있는 판단 중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 속도를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연결하려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관계의 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INDICATES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판단해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않았으며 승인을 기다린다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각각 값과 원인, 이름과 방향, 추천과 실행을 구분할 수 있는지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가린다.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읽었을 때 뜻이 통해야 한다. 「핀 오염은 냉각 성능 상실을 일으킨다」가 사실에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