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오늘의 목표는 네 가지입니다. 먼저 배운 내용을 남기는 기록 방법을 정합니다. 그다음에는 HYD-01의 유온이 오르는 사건 하나를 따라가며 값의 경로, 경보 이후의 판단, 관계의 표현을 차례로 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 필기를 넘겨 정리한 문서는 보기에는 좋아도 읽고 이해하는 일은 그대로 남습니다. 자료를 덮고 자신의 말로 써 보면 문장이 끊기는 자리가 드러나고, 그 자리가 공부할 범위입니다. 이렇게 쓴 기록을 분류해 두고 다시 찾아 쓰는 것이 지식 자산화입니다.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판정 기준은 둘입니다. 자료를 보지 않고 쓸 수 있는지, 말로 설명할 수 있는지입니다. 하나라도 막히면 그 자리가 아직 모르는 자리이고, 그 자리만 다시 공부해 고쳐 씁니다.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AI를 쓰지 말라는 것이 아니라 순서를 바꾸라는 것입니다. 먼저 물으면 답을 읽고 끝나서 자신의 문장이 남지 않습니다. 아는 범위를 먼저 써서 AI에 보여 주면 틀린 곳과 빠진 곳이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본 내용을 절차로 묶으면 네 단계입니다. 서술하고, 막힌 자리를 표시하고, 그 자리만 보완하고, 다시 확인합니다. 확인을 통과한 개념만 이해한 것으로 기록합니다.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과정에서 기록할 것은 네 가지입니다. 개념 정의와 동작 원리는 오늘부터 쌓이며, 참고한 자료와 출처를 함께 연결해 두어야 나중에 근거를 다시 확인할 수 있습니다. 실습 결과와 오류 해결 과정은 랩이 시작되면 늘어납니다. 오류의 원인과 해결 과정은 같은 문제를 다시 만났을 때 가장 먼저 찾게 되는 기록입니다.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노션에서 기록을 쌓는 단위는 데이터베이스입니다. 기록 한 건이 항목 하나이고, 모든 항목이 같은 속성 칸을 갖습니다. 학습 노트의 속성은 분야, 이해도, 생성 일시이며, 항목을 열면 본문을 가진 페이지가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데이터베이스는 저장된 내용과 보여 주는 모양이 나뉘어 있습니다. 표, 갤러리, 보드는 복사본이 아니라 같은 데이터를 보는 세 가지 방법입니다. 그래서 한 보기에서 고친 값이 다른 보기에도 그대로 반영됩니다.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템플릿은 새 항목을 만들 때 본문에 미리 채워지는 양식입니다. 왼쪽이 이 과정에서 쓸 양식의 한 예입니다. 양식을 한번 정하면 모든 기록에 같은 틀을 씁니다.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속성으로 분류해 둔 효과가 여기서 나옵니다. 이해도가 설명 가능이 아닌 항목만 남기는 필터를 걸면 다시 공부할 목록이 나옵니다. 확인을 통과해 이해도를 올린 항목은 그 목록에서 빠집니다.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공개 방식은 둘입니다. 공유는 지정한 사람에게만 권한을 주고, 게시는 링크만 있으면 누구나 볼 수 있게 합니다. 게시하면 페이지 안의 데이터베이스 항목도 함께 보이므로 접속 키와 계정 정보는 노트에 적지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 만드는 것은 내용이 아니라 내용이 들어갈 구조입니다. 과정 홈과 세 구획, 학습 노트 데이터베이스를 만들고 첫 기록 한 건을 넣습니다.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선행 교육에서 배운 내용을 먼저 되짚겠습니다. 설비에서 생긴 물리량을 센서가 재고, PLC가 그 값을 읽어 설비를 제어하며, 관제 화면이 값을 보여 주고 조작을 받습니다. 이 수업은 그다음, 곧 그 값이 어디에 쌓이고 판단과 조치로 어떻게 이어지는지를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 전체가 사건 하나를 따라갑니다. 유압 설비 HYD-01의 유온이 정상값 48 ℃에서 오르기 시작하는 사건입니다. 그 값이 어디서 생기고, 어디에 쌓이고, 누가 알아차리는지를 순서대로 보면서 자리마다 왜 그렇게 설계했는지를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TS1이 설비의 어느 자리에서 생기는 값인지 보겠습니다. 탱크, 펌프, 부하, 오일 쿨러, 팬이 있고 TS1은 쿨러로 들어가기 직전의 작동유 온도입니다. 이 그림에서 작동유가 도는 길과 열이 빠지는 자리를 이어서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탱크와 펌프를 봅니다. 탱크는 작동유를 담아 두고, 펌프가 그 작동유를 빨아올려 압력을 걸어 위쪽의 부하로 보냅니다. 다음으로 부하에서 뜨거워져 돌아오는 작동유가 오일 쿨러의 관을 지나는 동안 팬이 보내는 바람에 열을 내줍니다. 쿨러가 열을 충분히 내보내지 못하면 덜 식은 작동유가 탱크로 돌아가 다시 돌고, 쿨러 입구에서 재는 TS1이 조금씩 오릅니다. 냉각 효율 CE가 떨어지고 유온이 오르는 것이 이 사건의 모습입니다.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생기는 첫 자리가 Layer 1, 센서 네트워크와 설비입니다. 센서가 잰 값을 가장 먼저 받는 것은 설비 옆의 PLC입니다. PLC는 값을 읽어 설비를 제어하고, 위험한 값이 되면 인터록으로 설비를 세웁니다. 이 판단을 설비 옆에 두는 까닭은 서버까지 다녀오는 시간 동안 설비가 상할 수 있기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HYD-01의 인터록은 세 가지입니다. 유온이 65 ℃를 넘거나, 토출 압력이 130 bar 아래로 떨어지거나, 팬 진동이 2.0 mm/s 이상이 되면 PLC가 설비를 세웁니다. 이 가운데 유온 65 ℃와 팬 진동 2.0이 뒤에서 다시 나옵니다. 세 조건은 모두 그대로 두면 설비가 상하는 상태입니다.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제어기가 주고받는 통신에는 암호화와 인증이 없습니다. 사무 통신은 평균적으로 빠르면 되지만, 현장 통신은 어떤 경우에도 정해진 시간 안에 도착해야 합니다. 암호화와 인증은 처리 시간을 들쭉날쭉하게 만들기 때문에 싣지 않습니다. 그 대신 보안은 위 계층이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여기서부터 Layer 2, IoT 미들웨어입니다. 제어기 안의 값은 주소에 든 숫자여서 그대로는 무슨 값인지 알 수 없습니다. 엣지 게이트웨이가 이 숫자에 이름을 붙여 태그 값과 운전 상태로 올려 보냅니다. 이 단원은 위쪽의 유온 TS1과 냉각 효율 CE를 따라가고, 아래쪽의 운전 모드와 인터록 상태는 명령을 내려보낼 때 다시 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값을 받아야 할 곳은 운전 화면과 수집 서비스 두 군데이고 앞으로 더 늘 수 있습니다. 보내는 쪽이 받는 쪽을 직접 연결하면 받는 쪽이 늘 때마다 설비 쪽 프로그램을 고쳐야 합니다. 가운데에 중개 서버를 두면 이 문제가 사라집니다. 이 방식의 이름이 MQTT입니다.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가운데의 중개 서버가 브로커입니다. 보내는 쪽인 발행자는 토픽이라는 주소를 붙여 브로커에 보내고, 받는 쪽인 구독자는 원하는 토픽을 받습니다. 그림에서 흐린 부분은 아직 다루지 않은 구간입니다. 발행자는 구독자가 누구인지 몰라도 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토픽 이름을 뜯어 보면 네 칸입니다. 공장, 설비, 종류, 태그 이름입니다. HYD에는 같은 구조의 유압 파워팩이 세 대 있어서 설비 자리만 hyd01, hyd02, hyd03으로 바뀝니다. 구독자는 이 주소를 보고 필요한 값만 골라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순서로 보면 세 걸음입니다. 브로커는 값을 갖고 있지 않으므로 받는 쪽이 먼저 받고 싶은 토픽을 브로커에 등록합니다. 보내는 쪽은 값을 토픽에 실어 브로커로 보냅니다. 브로커는 그 토픽을 등록해 둔 구독자 모두에게 메시지를 넘깁니다.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브로커까지 왔지만 분석하고 저장하는 서버는 브로커에 직접 붙지 않습니다. IT 쪽은 외부와 닿을 수 있어서 침해될 가능성이 있고, OT는 설비를 직접 움직이기 때문에 잘못된 명령이 곧 사고입니다. 그래서 둘을 직접 잇지 않고 사이에 구역을 하나 둡니다.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영역 사이의 구역이 DMZ입니다. DMZ의 수집 서비스가 브로커를 구독해 받은 메시지를 IT의 이벤트 로그에 옮겨 적습니다. 값은 OT에서 IT로만 옮겨지고 반대로는 쓰지 않습니다. 현장 통신을 단순하게 둔 대신, 들어오는 길을 좁혀 놓은 이 구조가 설비를 지킵니다.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수집 서비스가 값을 옮겨 적는 곳이 Layer 3, 이벤트 백본의 이벤트 로그입니다. 브로커는 그 순간 구독 중인 쪽에 넘기고 나면 값을 갖고 있지 않습니다. 이벤트 로그는 받은 순서대로 쌓아 두어, 여러 서비스가 각자의 속도로 읽고 필요하면 앞에서부터 다시 읽습니다. IT의 모든 서비스는 설비가 아니라 이 기록에서 값을 읽습니다.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값이 옮겨 적히면서 모양이 달라집니다. 위쪽 메시지에서는 설비와 태그 이름이 토픽 경로에 있었는데, 아래쪽 레코드에서는 본문 안으로 들어왔습니다. 그래서 레코드 한 건만 보아도 유압 설비 HYD-01의 유온 55.71이라는 것을 알 수 있습니다. 키는 같은 설비의 값이 잰 순서대로 읽히게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이벤트 로그의 값을 읽는 첫 번째 쪽이 Layer 4, 스트림 처리입니다. 값이 저장소에 쌓인 다음에 조회하면 이상이 생긴 때와 알아차리는 때 사이가 벌어집니다. 감지 서비스는 값이 기록되는 대로 하나씩 받아 조건에 견줍니다. 끊임없이 들어오는 값을 그 자리에서 처리하는 이 방식을 스트림 처리라고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오른쪽 맨 위의 조건 셋을 봅니다. 유온이 55 ℃를 넘고, 냉각 효율이 70 % 아래이며, 유온이 오르는 중이어야 쿨러 성능 저하로 봅니다. 유온은 쿨러가 멀쩡해도 오를 수 있으므로, 유온만 높고 냉각 효율이 정상이면 이 경보는 나지 않습니다. 다음으로 그래프에서 유온이 55 ℃를 넘은 11시 13분 4초와, 4초 뒤인 11시 13분 8초의 경보를 차례로 짚습니다. 그 사이 조건이 계속 맞는지를 지켜본 것이며, 값이 잠깐 튀었다가 돌아오는 경우에 경보가 울리지 않게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조건이 성립하면 감지 서비스가 경보를 냅니다. 경보는 값이 아니라 무슨 일이 일어났다는 기록입니다. 식별자가 이 경보 한 건을 가리키고, 패턴은 쿨러 성능 저하 조건이 성립했음을 나타냅니다. 값은 계속 바뀌므로 경보가 난 순간의 유온 55.71과 냉각 효율 46.2를 근거로 붙여 둡니다.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이벤트 로그의 값을 읽는 두 번째 쪽이 Layer 5, 시계열 저장소입니다. 감지는 흐르는 값에서 하지만, 지나간 값을 시각으로 찾아보려면 저장해 두어야 합니다. 값 하나가 시각, 설비, 태그 이름, 값의 한 행으로 들어갑니다. 가운데 행의 55.71이 경보가 난 순간의 유온입니다.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값을 사람에게 보여 주는 자리가 Layer 6, 관제입니다. 화면은 둘입니다. 운전 화면은 OT에서 브로커를 직접 구독해 지금의 값을 보여 주고 조작을 받으며, IT 쪽 서버가 멈춰도 계속 동작합니다. 분석 화면은 IT에서 시계열 저장소를 조회해 이력과 추세를 보여 주며 설비를 조작하지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유온에 세 곳이 서로 다른 기준으로 반응합니다. 55 ℃에서 감지 서비스의 경보가 가장 먼저 나고, 60 ℃에서 운전 화면의 알람이, 65 ℃에서 PLC의 인터록이 반응합니다. 경보와 알람은 알리는 것이고 인터록은 설비를 세우는 것입니다. 인터록은 사람이 다시 걸어야 풀리므로, 먼저 나는 55 ℃의 경보가 조치할 시간을 벌어 줍니다.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난 뒤의 일은 Layer 7에서 9, 곧 지식과 에이전트와 프로세스가 맡습니다. 에이전트는 지식과 값을 조회해 원인을 가리고 조치안을 추천하지만 설비에 명령을 보낼 수단이 없습니다. 담당자가 추천과 근거를 보고 승인하거나 거절합니다. 프로세스 엔진은 승인된 조치만 명령으로 만들어 내려보냅니다. 설비를 멈추거나 움직이는 결정에는 책임이 따르기 때문에 사람을 거치게 한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승인된 명령이 내려가는 길입니다. 프로세스 엔진이 승인된 조치를 명령으로 만들어 이벤트 로그에 기록합니다. DMZ의 명령 관문이 그 명령을 읽어 검사하고, 통과한 것만 OT의 브로커로 내보냅니다. PLC는 받은 명령을 다시 검사한 뒤 설정값을 바꿉니다.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명령 한 건의 모습입니다. 할 일은 팬 속도를 100 %로 올리는 것입니다. 승인한 사람이 함께 적혀 있어 누가 책임지는지가 남습니다. 유효 시간이 지난 명령은 버려지므로, 상황이 달라진 뒤에 늦게 실행되는 일이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곳이 보는 것이 달라 검사를 두 번 합니다. 먼저 왼쪽의 명령 관문은 명령의 형식, 유효 시간, 승인 기록, 운전 모드를 봅니다. 다음으로 오른쪽의 PLC는 값이 범위 안인지와 지금 인터록에 걸려 있지 않은지를 본 뒤 설정값을 바꾸고 결과를 돌려보냅니다. 명령서가 멀쩡해도 지금의 설비가 받을 수 없는 상태이면 PLC가 거부합니다.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길에 걸린 시간입니다. 승인이 11시 14분 56초, 명령이 57초, 응답이 58초입니다. 관문과 PLC가 명령을 검사하는 일도 이 1초 안에 끝났습니다. 검사가 조치를 늦추지 않았으며, 시간이 걸린 곳은 그 앞의 판단이었습니다.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따라온 값의 길을 한 줄로 놓은 것이 데이터 리니지입니다. 센서와 PLC가 만든 원천 데이터가 가공 데이터가 되고, 조건이 성립하면 이상 이벤트가 되며, 그 위에서 판단 결과가 나옵니다. 설비를 움직인 판단이 어떤 값에서 나왔는지를 거꾸로 되짚을 수 있어야 그 판단을 믿을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가공 데이터의 예를 하나 보겠습니다. 위쪽이 센서가 잰 유온 값이고, 아래쪽이 그 값들에서 계산해 낸 기울기입니다. 기울기가 0보다 크면 유온이 오르는 중이라는 뜻이며, 앞에서 본 경보 조건의 셋째 항목이 이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 결과도 기록으로 남습니다. 경보, 사건, 판단, 명령, 작업지시에 각각 식별자가 붙습니다. 그래서 작업지시 하나에서 출발해 어떤 판단과 어떤 경보에서 나온 것인지를 거꾸로 따라갈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지나온 자리를 한 장에 모았습니다. 아래에서부터 Layer 1의 설비와 제어기, Layer 2의 엣지 게이트웨이와 브로커, Layer 3의 이벤트 로그, Layer 4의 스트림 처리, Layer 5의 시계열 저장소, Layer 6의 두 화면까지 올라왔습니다. 계층은 하는 일로 나눈 것이고, 오른쪽의 세 칸은 놓인 망으로 나눈 보안 영역이며 파란 점이 그 계층이 놓인 영역입니다. 같은 계층 안에서도 영역이 다를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Layer 6까지는 값을 모으고 이상을 알릴 뿐 원인을 가리지 않습니다. 경보 뒤의 일은 위의 세 계층이 맡습니다. Layer 7은 증상과 원인과 조치의 관계를 지식으로 보관하고, Layer 8의 에이전트가 그 지식과 값을 조회해 조치를 추천하며, Layer 9의 프로세스 엔진이 승인을 받아 실행합니다. 이 과정은 이 세 계층을 차례로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단원을 닫겠습니다. 설비 옆의 통신에는 암호화와 인증이 없습니다. 정해진 시간을 지키려고 단순하게 둔 것이고, 그 대신 구조가 설비를 지킵니다. 값은 수집 서비스를 거쳐 위로만 올라가고, 명령은 사람의 승인과 명령 관문의 검사와 PLC의 검사를 모두 지난 것만 내려옵니다.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앞에서 그림으로 본 시스템을 실행합니다. 쓰는 도구는 VS Code, GitHub Copilot, Python, Docker입니다. GitHub Copilot에 말로 요청하고 AI가 쓴 코드를 실행해 보며 고쳐 가는 방식을 바이브 코딩이라고 하며, 이후 랩의 코드는 이 방식으로 만듭니다. Docker Compose로 서비스를 올리고 포털이 열리는지를 확인하는 데까지 합니다.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시연에서는 쿨러의 성능이 떨어지는 사건 한 건을 처음부터 끝까지 진행합니다. 볼 것은 화면의 다섯 단계입니다. 단계마다 어떤 정보가 쓰이고 무엇이 다음 단계로 넘어가는지를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시연에서 본 사건을 저장된 값으로 다시 보겠습니다. 위가 유온, 아래가 냉각 효율입니다. 경보는 11시 13분 8초에 났는데 조치는 108초 뒤에 승인되었고, 그동안 유온은 61.8 ℃까지 올랐습니다. 경보는 조건을 벗어났다는 사실만 알리기 때문입니다. 체온계의 고열 표시에 견줄 수 있습니다. 열이 난다는 사실은 바로 알지만 어떤 병인지는 진찰해야 안다는 점이 닮았고, 이 사건에서는 응급 조치를 고르는 데에도 원인 판단이 먼저 필요했다는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108초를 나누어 보면 94초가 원인을 가리고 조치안을 비교하는 데 쓰였고, 13초가 담당자의 승인을 기다리는 데 쓰였습니다. 시간이 걸린 것은 판단이었습니다. 이 단원은 그 판단에 무엇이 필요했는지를 풀어 갑니다.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판단을 네 가지 질문으로 나누어 보겠습니다. 지금 얼마인가와 기준을 벗어났는가는 앞 단원의 구조가 답해 줍니다. 왜 벗어났는가와 무엇을 할 것인가는 값만으로 답할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증상에 대해 설비 매뉴얼은 원인 후보를 셋 듭니다. 쿨러 핀 오염은 핀에 먼지나 유막이 끼어 막히는 것이고, 팬 구동 불량은 팬이 제 속도로 돌지 못하는 것이며, 주변 온도 상승은 설비 둘레의 공기가 더운 것입니다. 유온만 보아서는 셋을 구분할 수 없고, 가르는 값은 다른 센서에서 나옵니다. 이 사건의 값으로 보면 핀 오염은 냉각 효율 46.2 %와 팬 진동 0.575로 조건에 맞고, 팬 구동 불량은 팬 진동 0.575로, 주변 온도 상승은 캐비닛 온도 28 ℃로 배제됩니다.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가린다는 것은 대조하는 일입니다. 후보마다 보아야 할 값이 있고, 그 값이 얼마이면 해당하는지의 기준이 있습니다. 잰 값을 그 기준에 대어 보면 됩니다. 이렇게 원인을 확인하는 데 쓰는 값과 기준을 증거라고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가려야 하는 이유는 조치가 달라지기 때문입니다. 핀이 막혔으면 세척하고, 팬이 문제이면 벨트를 점검하며, 주변 공기가 더우면 환기를 보강합니다. 원인이 다른데 조치를 바꿔 쓰면 유온은 내려가지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조치에는 두 가지가 있습니다. 이 사건에서 승인된 팬 최대 운전은 유온을 우선 낮추는 완화 조치입니다. 팬을 올려도 핀은 막힌 그대로여서 냉각 효율은 기준 아래에 남았습니다. 원인을 없애는 근본 조치는 핀 세척이고, 이것은 작업지시로 따로 등록되었습니다.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가리지 않은 조치는 해가 될 수도 있습니다. 이 사건에서는 팬 최대 운전이 맞았지만, 팬 베어링이 닳은 설비에서 같은 조치를 하면 진동이 인터록 기준을 넘어 설비가 섭니다. 유온이 오르면 팬을 올린다는 한 줄의 규칙으로는 부족합니다.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모자랐던 것을 세 낱말로 나누어 보겠습니다. 수치 그대로가 데이터, 의미가 붙은 것이 정보, 다른 대상과 이어져 판단에 쓸 수 있는 것이 지식입니다.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사건의 문장 다섯 개를 위에서부터 봅니다. 오른쪽 열은 앞에서 판단을 나눌 때 쓴 네 질문입니다. 46.2만으로는 무엇을 잰 값인지, 단위가 무엇인지, 높은 것인지 알 수 없습니다. 대상과 단위가 붙으면 지금 얼마인가에, 기준이 붙으면 벗어났는가에 답할 수 있으며, 태그 이름과 경보 조건이 이 일을 해 줍니다. 아래 두 줄은 지식입니다. 냉각 효율이 낮고 팬 진동이 정상이면 핀 오염이고 핀 오염이면 세척한다는 것처럼, 원인과 조치로 이어진 지식만이 왜와 무엇을에 답합니다.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쓰인 정보가 어디에 있었는지를 보겠습니다. 센서 값, 운전 상태, 매뉴얼, 생산 일정이 서로 다른 곳에 있습니다. 센서 값과 운전 상태는 매초 바뀌는 값이고, 생산 계획과 실적을 관리하는 MES에는 긴급 오더의 납기가 약 6시간 남았다고 기록되어 있었습니다. 그림의 점선은 이들이 이어져 있지 않다는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매뉴얼 문장을 봅니다. 원인 후보, 확인할 값, 기준이 모두 들어 있지만 사람이 읽고 해석해야 하는 문장입니다. 다음으로 오른쪽의 세 가지입니다. 이 경보가 났을 때 매뉴얼의 어느 대목을 보아야 하는지, 그 대목의 기준을 어느 태그의 값과 비교해야 하는지, 그 원인이면 어떤 조치가 맞는지는 어느 시스템에도 들어 있지 않습니다. 정보는 모두 어딘가에 있고, 없는 것은 연결입니다.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흩어진 정보를 지금까지 이어 온 것은 사람입니다. 숙련자는 증상을 읽고, 고장 유형을 짐작하고, 원인 후보를 꼽고, 증거를 대조한 다음 조치를 고릅니다. 상자 사이의 화살표 하나하나가 그 사람의 머릿속에 든 지식입니다.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방식에는 한계가 셋 있습니다. 사람마다 다르고, 그 사람이 없으면 판단이 멈추며, 연결이 적혀 있지 않아 컴퓨터가 따라갈 수 없습니다. AI가 판단을 돕게 하려면 이 연결을 먼저 밖으로 꺼내 적어야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연결을 적어 둘 곳으로 먼저 떠오르는 것이 표와 문서입니다. 둘 다 내용은 담지만 대상과 대상 사이의 연결이 형식으로 드러나 있지 않습니다. 고장 유형 하나에 원인이 셋이고 핀 오염에는 확인할 값이 둘이어서, 표에 적으면 같은 고장 유형이 네 줄에 반복됩니다.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따라가게 하려면 코드로 짜는 방법이 있습니다. 실행은 되지만 지식이 코드 안에 묻힙니다. 기준이 바뀔 때마다 개발자가 코드를 고쳐야 하고, 왜 그 원인으로 판단했는지의 근거가 남지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AI에게 그대로 물으면 그럴듯한 답이 나옵니다. 그러나 AI는 이 설비의 매뉴얼과 지금의 값을 알지 못하므로 답의 근거를 확인할 수 없습니다. 적어 둔 지식을 조회하게 하면 무엇을 근거로 판단했는지가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남는 요구는 세 가지입니다. 사람이 읽고 검토할 수 있어야 하고, 컴퓨터가 따라갈 수 있어야 하며, 지식을 프로그램과 따로 고칠 수 있어야 합니다. 이 요구를 채우도록 대상과 관계를 적어 둔 것에 이름이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이름이 온톨로지입니다. 대상의 종류, 속성, 관계, 제약을 명시적으로 정의한 지식 모델입니다. 머릿속에 있던 것을 정해진 형식으로 적었기 때문에 사람과 컴퓨터가 같은 정의를 씁니다. 노선도 비유는 관계를 따라가면 경로가 나온다는 점까지만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뜻으로 쓴다는 것이 어떤 모습인지 보겠습니다. 현장에서는 같은 증상을 온도 상승이라고도 하고 과열이라고도 합니다. HYD의 온톨로지는 이 말들을 유온 상승이라는 하나의 대상에 묶어 둡니다. 그래서 누가 어떤 말로 부르든 같은 대상을 가리키게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관계 그림이나 그래프 DB와 자주 혼동됩니다. 관계 그림은 사람이 보는 표현이고, 그래프 DB는 저장하는 도구입니다. 온톨로지는 무엇을 그리고 저장할 수 있는지를 정한 정의입니다.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그래프를 이루는 것은 노드와 관계입니다. 동그라미가 노드이고 대상 하나를 나타냅니다. 화살표가 관계이며 이름과 방향이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관계는 문장으로 읽습니다. 화살표가 나가는 쪽이 주어, 관계 이름이 서술어, 들어가는 쪽이 목적어입니다. 읽어서 뜻이 통하면 제대로 적힌 관계입니다.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HYD의 지식 그래프에서 이 사건에 해당하는 부분입니다. 영어 이름이 대상의 종류이고 한글이 실제 대상입니다. 위쪽 두 화살표가 모두 가운데의 고장 유형으로 들어오므로 고장 유형 하나에 원인이 여럿 붙습니다. 조치도 원인이 아니라 고장 유형에 붙어 있어서, 원인이 확인되기 전에도 고장 유형에 맞는 완화 조치를 찾을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화살표의 방향은 관계 이름의 뜻에서 나옵니다. 같은 사실을 CAUSES로 적으면 원인에서 고장 유형으로, CAUSED_BY로 적으면 반대로 갑니다. 틀린 것은 이름과 방향이 어긋난 경우입니다.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이 그래프로 원인과 조치를 찾는 과정을 세 걸음으로 보겠습니다. 출발점은 경보입니다. 경보에 실린 패턴 이름에서 DETECTS와 INDICATES를 따라가면 고장 유형에 이릅니다.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고장 유형에서는 들어오는 CAUSES를 거슬러 원인 후보를 모읍니다. 원인마다 EVIDENCED_BY로 증거가 붙어 있고, 증거에는 어느 값을 어떤 기준과 비교할지가 적혀 있습니다. 방향은 뜻을 정하는 것이어서 필요하면 거슬러 가기도 합니다.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증거에 적힌 대로 값을 읽어 기준과 대조하면 원인이 쿨러 핀 오염으로 확인됩니다. 조치는 고장 유형에서 MITIGATED_BY를 따라가 찾습니다. 판별 기준은 지식 그래프에 있고 잰 값은 시계열 저장소에서 읽어 옵니다. 경보에서 조치까지 컴퓨터는 여섯 종류의 대상을 다섯 관계로 건넜고, 숙련자가 머릿속에서 잇던 화살표가 이것입니다. 기준은 기준 정보이고 잰 값은 계속 바뀌는 현황이어서 따로 둡니다.</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처음의 정의로 돌아가겠습니다. 지금까지 그림에서 본 노드의 종류와 화살표가 네 가지 가운데 종류와 관계입니다. 여기에 속성과 제약이 더해집니다. 넷을 같은 사건으로 견주어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종류와 속성입니다. HYD의 온톨로지는 설비 쪽, 진단 쪽, 조치 쪽으로 종류를 두고, 유온이라는 대상에는 단위와 정상값과 한계가 속성으로 적혀 있습니다. 다음으로 관계입니다. 같은 고장 유형에서 조치로 가는 선이라도 MITIGATED_BY는 우선 완화한다는 뜻이고 REMEDIED_BY는 근본적으로 없앤다는 뜻입니다. 마지막으로 제약은 CAUSES를 원인에서 고장 유형으로만 잇게 하므로 증상에서 조치로 그은 연결은 어긋나며, 관계 그림과 온톨로지를 가르는 것이 이 제약입니다.</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지식 그래프는 증상과 원인만으로 끝나지 않습니다. 설비 HYD-01은 오일 쿨러를 구성 요소로 갖고, 오일 쿨러는 유온 센서 TS1로 계측됩니다. 설비가 무엇으로 이루어져 있는지가 대상과 관계로 적혀 있습니다. 이 연결이 있어야 같은 지식을 다른 설비의 값에도 적용할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가운데와 아래 줄이 진단과 조치입니다. 증상, 고장 유형, 원인, 조치 방법이 이어져 있고, 조치 방법은 매뉴얼 HM-8.5를 근거로 가리킵니다. 추천에 근거 문서가 함께 나오는 것은 이 연결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자주 생기는 오해 세 가지입니다. 지식 그래프에는 값을 읽는 방법이 들어 있고 값은 저장소에서 읽습니다. 화살표의 방향은 뜻을 정하는 것이어서 조회할 때는 거슬러 가기도 합니다. 온톨로지는 후보와 근거를 찾게 해 줄 뿐이고 조치는 사람이 승인합니다.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네 걸음으로 줄이겠습니다. 경보는 조건을 벗어났다는 사실만 알리고, 판단에 필요한 정보는 흩어져 있습니다. 그래서 대상과 관계를 명시적으로 정의하고, 컴퓨터가 그 관계를 따라 원인 후보와 조치에 이르게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이후의 과정은 오늘 본 것을 안에서부터 만들어 갑니다. 대상의 종류와 관계의 틀을 설계하고, 조치와 판단 기준을 잇고, 문서에서 지식을 뽑아 넣은 다음, 에이전트와 프로세스가 그 지식을 쓰게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실습의 목적은 노드와 관계와 방향을 손으로 정하는 것입니다. 쿨러 사건의 설비, 센서, 증상, 원인, 조치를 노드로 놓고 관계를 이어 이름을 붙입니다. 다 그린 뒤에는 화살표마다 문장으로 읽어 뜻이 통하는지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처음 쓴 약어의 정식 명칭을 한곳에 모았습니다. 뜻은 앞에서 풀었으므로 여기서는 이름과 자리만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알려 주는 것과 원인 판단을 구분하는 문항입니다. 화면의 값을 판별 기준에 대어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 방향을 외웠는지가 아니라 문장으로 읽어 뜻이 통하는지를 확인하는 문항입니다. 보기를 하나씩 문장으로 읽으면 답이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할 수 있는지를 묻는 문항입니다. 시연에서 에이전트가 한 일과 담당자의 승인 뒤에 일어난 일을 떠올리면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문항의 판단 기준입니다. 첫 문항은 경보와 원인을, 둘째 문항은 이름과 방향을, 셋째 문항은 추천과 실행을 구분하는지를 봅니다. 둘째 문항의 2번은 CAUSED_BY라는 이름에 방향을 원인에서 고장 유형으로 두어 뜻이 통하지 않습니다.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14.png"/><Relationship Id="rId6" Type="http://schemas.openxmlformats.org/officeDocument/2006/relationships/image" Target="../media/image2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5.png"/><Relationship Id="rId4" Type="http://schemas.openxmlformats.org/officeDocument/2006/relationships/image" Target="../media/image2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3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31.png"/><Relationship Id="rId4" Type="http://schemas.openxmlformats.org/officeDocument/2006/relationships/image" Target="../media/image34.png"/><Relationship Id="rId5" Type="http://schemas.openxmlformats.org/officeDocument/2006/relationships/image" Target="../media/image3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3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3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37.png"/><Relationship Id="rId4" Type="http://schemas.openxmlformats.org/officeDocument/2006/relationships/image" Target="../media/image31.png"/><Relationship Id="rId5" Type="http://schemas.openxmlformats.org/officeDocument/2006/relationships/image" Target="../media/image3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6.png"/><Relationship Id="rId4" Type="http://schemas.openxmlformats.org/officeDocument/2006/relationships/image" Target="../media/image3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39.png"/><Relationship Id="rId4" Type="http://schemas.openxmlformats.org/officeDocument/2006/relationships/image" Target="../media/image4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4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2.png"/><Relationship Id="rId4" Type="http://schemas.openxmlformats.org/officeDocument/2006/relationships/image" Target="../media/image42.png"/><Relationship Id="rId5" Type="http://schemas.openxmlformats.org/officeDocument/2006/relationships/image" Target="../media/image4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30.png"/><Relationship Id="rId4" Type="http://schemas.openxmlformats.org/officeDocument/2006/relationships/image" Target="../media/image2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4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40.png"/><Relationship Id="rId4" Type="http://schemas.openxmlformats.org/officeDocument/2006/relationships/image" Target="../media/image3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29.png"/><Relationship Id="rId4" Type="http://schemas.openxmlformats.org/officeDocument/2006/relationships/image" Target="../media/image4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4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46.png"/><Relationship Id="rId4" Type="http://schemas.openxmlformats.org/officeDocument/2006/relationships/image" Target="../media/image4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44.png"/><Relationship Id="rId4" Type="http://schemas.openxmlformats.org/officeDocument/2006/relationships/image" Target="../media/image48.png"/><Relationship Id="rId5" Type="http://schemas.openxmlformats.org/officeDocument/2006/relationships/image" Target="../media/image4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image" Target="../media/image1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17.png"/><Relationship Id="rId4" Type="http://schemas.openxmlformats.org/officeDocument/2006/relationships/image" Target="../media/image34.png"/><Relationship Id="rId5" Type="http://schemas.openxmlformats.org/officeDocument/2006/relationships/image" Target="../media/image49.png"/><Relationship Id="rId6" Type="http://schemas.openxmlformats.org/officeDocument/2006/relationships/image" Target="../media/image40.png"/><Relationship Id="rId7" Type="http://schemas.openxmlformats.org/officeDocument/2006/relationships/image" Target="../media/image3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52.png"/><Relationship Id="rId4" Type="http://schemas.openxmlformats.org/officeDocument/2006/relationships/image" Target="../media/image4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51.png"/><Relationship Id="rId4" Type="http://schemas.openxmlformats.org/officeDocument/2006/relationships/image" Target="../media/image42.png"/><Relationship Id="rId5" Type="http://schemas.openxmlformats.org/officeDocument/2006/relationships/image" Target="../media/image2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31.png"/><Relationship Id="rId4" Type="http://schemas.openxmlformats.org/officeDocument/2006/relationships/image" Target="../media/image53.png"/><Relationship Id="rId5" Type="http://schemas.openxmlformats.org/officeDocument/2006/relationships/image" Target="../media/image35.png"/><Relationship Id="rId6" Type="http://schemas.openxmlformats.org/officeDocument/2006/relationships/image" Target="../media/image5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35.png"/><Relationship Id="rId4" Type="http://schemas.openxmlformats.org/officeDocument/2006/relationships/image" Target="../media/image52.png"/><Relationship Id="rId5" Type="http://schemas.openxmlformats.org/officeDocument/2006/relationships/image" Target="../media/image50.png"/><Relationship Id="rId6" Type="http://schemas.openxmlformats.org/officeDocument/2006/relationships/image" Target="../media/image42.png"/><Relationship Id="rId7" Type="http://schemas.openxmlformats.org/officeDocument/2006/relationships/image" Target="../media/image5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55.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56.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57.png"/><Relationship Id="rId4" Type="http://schemas.openxmlformats.org/officeDocument/2006/relationships/image" Target="../media/image58.png"/><Relationship Id="rId5" Type="http://schemas.openxmlformats.org/officeDocument/2006/relationships/image" Target="../media/image59.png"/><Relationship Id="rId6" Type="http://schemas.openxmlformats.org/officeDocument/2006/relationships/image" Target="../media/image6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35.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17.png"/><Relationship Id="rId7" Type="http://schemas.openxmlformats.org/officeDocument/2006/relationships/image" Target="../media/image7.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6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13.png"/><Relationship Id="rId4" Type="http://schemas.openxmlformats.org/officeDocument/2006/relationships/image" Target="../media/image5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31.png"/><Relationship Id="rId4" Type="http://schemas.openxmlformats.org/officeDocument/2006/relationships/image" Target="../media/image35.png"/><Relationship Id="rId5" Type="http://schemas.openxmlformats.org/officeDocument/2006/relationships/image" Target="../media/image13.png"/><Relationship Id="rId6" Type="http://schemas.openxmlformats.org/officeDocument/2006/relationships/image" Target="../media/image5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62.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31.png"/><Relationship Id="rId4" Type="http://schemas.openxmlformats.org/officeDocument/2006/relationships/image" Target="../media/image63.png"/><Relationship Id="rId5" Type="http://schemas.openxmlformats.org/officeDocument/2006/relationships/image" Target="../media/image15.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23.png"/><Relationship Id="rId4" Type="http://schemas.openxmlformats.org/officeDocument/2006/relationships/image" Target="../media/image64.png"/><Relationship Id="rId5" Type="http://schemas.openxmlformats.org/officeDocument/2006/relationships/image" Target="../media/image65.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64.png"/><Relationship Id="rId4" Type="http://schemas.openxmlformats.org/officeDocument/2006/relationships/image" Target="../media/image54.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24.png"/><Relationship Id="rId4" Type="http://schemas.openxmlformats.org/officeDocument/2006/relationships/image" Target="../media/image66.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67.png"/><Relationship Id="rId4" Type="http://schemas.openxmlformats.org/officeDocument/2006/relationships/image" Target="../media/image68.png"/><Relationship Id="rId5" Type="http://schemas.openxmlformats.org/officeDocument/2006/relationships/image" Target="../media/image69.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image" Target="../media/image70.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image" Target="../media/image71.png"/><Relationship Id="rId4" Type="http://schemas.openxmlformats.org/officeDocument/2006/relationships/image" Target="../media/image66.png"/><Relationship Id="rId5" Type="http://schemas.openxmlformats.org/officeDocument/2006/relationships/image" Target="../media/image22.png"/><Relationship Id="rId6" Type="http://schemas.openxmlformats.org/officeDocument/2006/relationships/image" Target="../media/image7.png"/><Relationship Id="rId7" Type="http://schemas.openxmlformats.org/officeDocument/2006/relationships/image" Target="../media/image5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image" Target="../media/image50.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image" Target="../media/image74.png"/><Relationship Id="rId4" Type="http://schemas.openxmlformats.org/officeDocument/2006/relationships/image" Target="../media/image9.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 Id="rId3" Type="http://schemas.openxmlformats.org/officeDocument/2006/relationships/image" Target="../media/image75.png"/><Relationship Id="rId4" Type="http://schemas.openxmlformats.org/officeDocument/2006/relationships/image" Target="../media/image76.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72.png"/><Relationship Id="rId4" Type="http://schemas.openxmlformats.org/officeDocument/2006/relationships/image" Target="../media/image32.png"/><Relationship Id="rId5" Type="http://schemas.openxmlformats.org/officeDocument/2006/relationships/image" Target="../media/image14.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image" Target="../media/image37.png"/><Relationship Id="rId4" Type="http://schemas.openxmlformats.org/officeDocument/2006/relationships/image" Target="../media/image65.png"/><Relationship Id="rId5" Type="http://schemas.openxmlformats.org/officeDocument/2006/relationships/image" Target="../media/image38.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 Id="rId3" Type="http://schemas.openxmlformats.org/officeDocument/2006/relationships/image" Target="../media/image10.png"/><Relationship Id="rId4" Type="http://schemas.openxmlformats.org/officeDocument/2006/relationships/image" Target="../media/image29.png"/><Relationship Id="rId5" Type="http://schemas.openxmlformats.org/officeDocument/2006/relationships/image" Target="../media/image77.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 Id="rId3" Type="http://schemas.openxmlformats.org/officeDocument/2006/relationships/image" Target="../media/image78.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 Id="rId3" Type="http://schemas.openxmlformats.org/officeDocument/2006/relationships/image" Target="../media/image79.png"/><Relationship Id="rId4" Type="http://schemas.openxmlformats.org/officeDocument/2006/relationships/image" Target="../media/image80.png"/><Relationship Id="rId5" Type="http://schemas.openxmlformats.org/officeDocument/2006/relationships/image" Target="../media/image49.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 Id="rId3" Type="http://schemas.openxmlformats.org/officeDocument/2006/relationships/image" Target="../media/image8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image" Target="../media/image82.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 Id="rId3" Type="http://schemas.openxmlformats.org/officeDocument/2006/relationships/image" Target="../media/image83.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 Id="rId3" Type="http://schemas.openxmlformats.org/officeDocument/2006/relationships/image" Target="../media/image84.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 Id="rId3" Type="http://schemas.openxmlformats.org/officeDocument/2006/relationships/image" Target="../media/image28.png"/><Relationship Id="rId4" Type="http://schemas.openxmlformats.org/officeDocument/2006/relationships/image" Target="../media/image46.png"/><Relationship Id="rId5" Type="http://schemas.openxmlformats.org/officeDocument/2006/relationships/image" Target="../media/image85.png"/><Relationship Id="rId6" Type="http://schemas.openxmlformats.org/officeDocument/2006/relationships/image" Target="../media/image25.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 Id="rId3" Type="http://schemas.openxmlformats.org/officeDocument/2006/relationships/image" Target="../media/image86.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 Id="rId3" Type="http://schemas.openxmlformats.org/officeDocument/2006/relationships/image" Target="../media/image87.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 Id="rId3" Type="http://schemas.openxmlformats.org/officeDocument/2006/relationships/image" Target="../media/image35.png"/><Relationship Id="rId4" Type="http://schemas.openxmlformats.org/officeDocument/2006/relationships/image" Target="../media/image88.png"/><Relationship Id="rId5" Type="http://schemas.openxmlformats.org/officeDocument/2006/relationships/image" Target="../media/image8.png"/><Relationship Id="rId6" Type="http://schemas.openxmlformats.org/officeDocument/2006/relationships/image" Target="../media/image6.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 Id="rId3" Type="http://schemas.openxmlformats.org/officeDocument/2006/relationships/image" Target="../media/image77.png"/><Relationship Id="rId4" Type="http://schemas.openxmlformats.org/officeDocument/2006/relationships/image" Target="../media/image22.png"/><Relationship Id="rId5" Type="http://schemas.openxmlformats.org/officeDocument/2006/relationships/image" Target="../media/image89.png"/><Relationship Id="rId6" Type="http://schemas.openxmlformats.org/officeDocument/2006/relationships/image" Target="../media/image50.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 Id="rId3" Type="http://schemas.openxmlformats.org/officeDocument/2006/relationships/image" Target="../media/image90.png"/><Relationship Id="rId4" Type="http://schemas.openxmlformats.org/officeDocument/2006/relationships/image" Target="../media/image85.png"/><Relationship Id="rId5" Type="http://schemas.openxmlformats.org/officeDocument/2006/relationships/image" Target="../media/image9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1일차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 데이터가 판단과 조치로</a:t>
            </a:r>
          </a:p>
          <a:p>
            <a:pPr algn="l">
              <a:lnSpc>
                <a:spcPct val="110000"/>
              </a:lnSpc>
            </a:pPr>
            <a:r>
              <a:rPr sz="4000" b="1">
                <a:solidFill>
                  <a:srgbClr val="FFFFFF"/>
                </a:solidFill>
                <a:latin typeface="맑은 고딕"/>
                <a:ea typeface="맑은 고딕"/>
                <a:cs typeface="맑은 고딕"/>
              </a:rPr>
              <a:t>이어지는 전체 흐름</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유온 한 값이 지나가는 경로에서 온톨로지의 필요성까지</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emperature-plus" descr="temperature-plus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pology-star-3" descr="topology-star-3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user-check" descr="user-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설비의 값 하나가 지나가는 경로를 따라가며 경보 이후의 판단에 무엇이 더 필요한지를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notebook" descr="notebook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 자산화</a:t>
            </a:r>
          </a:p>
          <a:p>
            <a:pPr algn="l">
              <a:lnSpc>
                <a:spcPct val="110000"/>
              </a:lnSpc>
              <a:spcAft>
                <a:spcPts val="400"/>
              </a:spcAft>
            </a:pPr>
            <a:r>
              <a:rPr sz="1350" b="0">
                <a:solidFill>
                  <a:srgbClr val="1F2A3A"/>
                </a:solidFill>
                <a:latin typeface="맑은 고딕"/>
                <a:ea typeface="맑은 고딕"/>
                <a:cs typeface="맑은 고딕"/>
              </a:rPr>
              <a:t>• 배운 개념을 자신의 문장으로 기록한다</a:t>
            </a:r>
          </a:p>
          <a:p>
            <a:pPr algn="l">
              <a:lnSpc>
                <a:spcPct val="110000"/>
              </a:lnSpc>
              <a:spcAft>
                <a:spcPts val="400"/>
              </a:spcAft>
            </a:pPr>
            <a:r>
              <a:rPr sz="1350" b="0">
                <a:solidFill>
                  <a:srgbClr val="1F2A3A"/>
                </a:solidFill>
                <a:latin typeface="맑은 고딕"/>
                <a:ea typeface="맑은 고딕"/>
                <a:cs typeface="맑은 고딕"/>
              </a:rPr>
              <a:t>• 기록을 분류해 다시 찾아 쓰는 구조를 만든다</a:t>
            </a:r>
          </a:p>
        </p:txBody>
      </p:sp>
      <p:sp>
        <p:nvSpPr>
          <p:cNvPr id="10" name="Rounded Rectangle 9"/>
          <p:cNvSpPr/>
          <p:nvPr/>
        </p:nvSpPr>
        <p:spPr>
          <a:xfrm>
            <a:off x="777240" y="5238940"/>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학습 방법</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route" descr="route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값의 경로</a:t>
            </a:r>
          </a:p>
          <a:p>
            <a:pPr algn="l">
              <a:lnSpc>
                <a:spcPct val="110000"/>
              </a:lnSpc>
              <a:spcAft>
                <a:spcPts val="400"/>
              </a:spcAft>
            </a:pPr>
            <a:r>
              <a:rPr sz="1350" b="0">
                <a:solidFill>
                  <a:srgbClr val="1F2A3A"/>
                </a:solidFill>
                <a:latin typeface="맑은 고딕"/>
                <a:ea typeface="맑은 고딕"/>
                <a:cs typeface="맑은 고딕"/>
              </a:rPr>
              <a:t>유온 한 값이 설비에서 저장소, 화면, 경보에 이르는 경로를 설명한다</a:t>
            </a:r>
          </a:p>
        </p:txBody>
      </p:sp>
      <p:sp>
        <p:nvSpPr>
          <p:cNvPr id="16" name="Rounded Rectangle 15"/>
          <p:cNvSpPr/>
          <p:nvPr/>
        </p:nvSpPr>
        <p:spPr>
          <a:xfrm>
            <a:off x="3619423" y="523894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시스템 구조</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zoom-check" descr="zoom-check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경보 이후의 판단</a:t>
            </a:r>
          </a:p>
          <a:p>
            <a:pPr algn="l">
              <a:lnSpc>
                <a:spcPct val="110000"/>
              </a:lnSpc>
              <a:spcAft>
                <a:spcPts val="400"/>
              </a:spcAft>
            </a:pPr>
            <a:r>
              <a:rPr sz="1350" b="0">
                <a:solidFill>
                  <a:srgbClr val="1F2A3A"/>
                </a:solidFill>
                <a:latin typeface="맑은 고딕"/>
                <a:ea typeface="맑은 고딕"/>
                <a:cs typeface="맑은 고딕"/>
              </a:rPr>
              <a:t>• 경보가 알려 주는 것과 알려 주지 않는 것을 구분한다</a:t>
            </a:r>
          </a:p>
          <a:p>
            <a:pPr algn="l">
              <a:lnSpc>
                <a:spcPct val="110000"/>
              </a:lnSpc>
              <a:spcAft>
                <a:spcPts val="400"/>
              </a:spcAft>
            </a:pPr>
            <a:r>
              <a:rPr sz="1350" b="0">
                <a:solidFill>
                  <a:srgbClr val="1F2A3A"/>
                </a:solidFill>
                <a:latin typeface="맑은 고딕"/>
                <a:ea typeface="맑은 고딕"/>
                <a:cs typeface="맑은 고딕"/>
              </a:rPr>
              <a:t>• 판단에 필요한 정보가 어디에 있는지 말한다</a:t>
            </a:r>
          </a:p>
        </p:txBody>
      </p:sp>
      <p:sp>
        <p:nvSpPr>
          <p:cNvPr id="22" name="Rounded Rectangle 21"/>
          <p:cNvSpPr/>
          <p:nvPr/>
        </p:nvSpPr>
        <p:spPr>
          <a:xfrm>
            <a:off x="6461607" y="5238940"/>
            <a:ext cx="16306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1630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온톨로지의 필요성</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topology-star-3" descr="topology-star-3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관계의 표현</a:t>
            </a:r>
          </a:p>
          <a:p>
            <a:pPr algn="l">
              <a:lnSpc>
                <a:spcPct val="110000"/>
              </a:lnSpc>
              <a:spcAft>
                <a:spcPts val="400"/>
              </a:spcAft>
            </a:pPr>
            <a:r>
              <a:rPr sz="1350" b="0">
                <a:solidFill>
                  <a:srgbClr val="1F2A3A"/>
                </a:solidFill>
                <a:latin typeface="맑은 고딕"/>
                <a:ea typeface="맑은 고딕"/>
                <a:cs typeface="맑은 고딕"/>
              </a:rPr>
              <a:t>• 증상, 원인, 조치를 노드와 관계로 나타낸다</a:t>
            </a:r>
          </a:p>
          <a:p>
            <a:pPr algn="l">
              <a:lnSpc>
                <a:spcPct val="110000"/>
              </a:lnSpc>
              <a:spcAft>
                <a:spcPts val="400"/>
              </a:spcAft>
            </a:pPr>
            <a:r>
              <a:rPr sz="1350" b="0">
                <a:solidFill>
                  <a:srgbClr val="1F2A3A"/>
                </a:solidFill>
                <a:latin typeface="맑은 고딕"/>
                <a:ea typeface="맑은 고딕"/>
                <a:cs typeface="맑은 고딕"/>
              </a:rPr>
              <a:t>• 관계의 이름과 방향을 문장으로 읽는다</a:t>
            </a:r>
          </a:p>
        </p:txBody>
      </p:sp>
      <p:sp>
        <p:nvSpPr>
          <p:cNvPr id="28" name="Rounded Rectangle 27"/>
          <p:cNvSpPr/>
          <p:nvPr/>
        </p:nvSpPr>
        <p:spPr>
          <a:xfrm>
            <a:off x="9303791" y="5238940"/>
            <a:ext cx="14782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온톨로지의 기초</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6974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6974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학습 내용의 지식 자산화</a:t>
            </a:r>
          </a:p>
        </p:txBody>
      </p:sp>
      <p:sp>
        <p:nvSpPr>
          <p:cNvPr id="6" name="Rounded Rectangle 5"/>
          <p:cNvSpPr/>
          <p:nvPr/>
        </p:nvSpPr>
        <p:spPr>
          <a:xfrm>
            <a:off x="10088575" y="291693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91693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HYD 시스템 구조와 데이터 흐름</a:t>
            </a:r>
          </a:p>
        </p:txBody>
      </p:sp>
      <p:sp>
        <p:nvSpPr>
          <p:cNvPr id="11" name="Rounded Rectangle 1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설비 데이터의 의미와 관계</a:t>
            </a:r>
          </a:p>
        </p:txBody>
      </p:sp>
      <p:sp>
        <p:nvSpPr>
          <p:cNvPr id="16" name="Rounded Rectangle 1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8" name="TextBox 1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학습 내용의 지식 자산화</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자신의 언어로 기록하고 다시 찾아 쓰는 구조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AI가 정리한 문서와 자신의 언어로 다시 쓴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AI가 정리해 준 문서는 결과물일 뿐이며, 이해는 학습자가 자신의 언어로 다시 쓸 때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AI가 정리해 준 문서</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필기와 강의 자료를 넘겨 정리를 맡긴 결과물이다</a:t>
            </a:r>
          </a:p>
          <a:p>
            <a:pPr algn="l">
              <a:lnSpc>
                <a:spcPct val="110000"/>
              </a:lnSpc>
              <a:spcAft>
                <a:spcPts val="600"/>
              </a:spcAft>
            </a:pPr>
            <a:r>
              <a:rPr sz="1450" b="0">
                <a:solidFill>
                  <a:srgbClr val="1F2A3A"/>
                </a:solidFill>
                <a:latin typeface="맑은 고딕"/>
                <a:ea typeface="맑은 고딕"/>
                <a:cs typeface="맑은 고딕"/>
              </a:rPr>
              <a:t>• 형식은 정돈되어 있으나 학습자의 판단이 들어 있지 않다</a:t>
            </a:r>
          </a:p>
          <a:p>
            <a:pPr algn="l">
              <a:lnSpc>
                <a:spcPct val="110000"/>
              </a:lnSpc>
              <a:spcAft>
                <a:spcPts val="600"/>
              </a:spcAft>
            </a:pPr>
            <a:r>
              <a:rPr sz="1450" b="0">
                <a:solidFill>
                  <a:srgbClr val="1F2A3A"/>
                </a:solidFill>
                <a:latin typeface="맑은 고딕"/>
                <a:ea typeface="맑은 고딕"/>
                <a:cs typeface="맑은 고딕"/>
              </a:rPr>
              <a:t>• 읽을 때는 아는 것 같지만 자료 없이 설명하면 막힌다</a:t>
            </a:r>
          </a:p>
          <a:p>
            <a:pPr algn="l">
              <a:lnSpc>
                <a:spcPct val="110000"/>
              </a:lnSpc>
              <a:spcAft>
                <a:spcPts val="600"/>
              </a:spcAft>
            </a:pPr>
            <a:r>
              <a:rPr sz="1450" b="0">
                <a:solidFill>
                  <a:srgbClr val="1F2A3A"/>
                </a:solidFill>
                <a:latin typeface="맑은 고딕"/>
                <a:ea typeface="맑은 고딕"/>
                <a:cs typeface="맑은 고딕"/>
              </a:rPr>
              <a:t>• 쌓일수록 다시 열지 않게 된다</a:t>
            </a:r>
          </a:p>
        </p:txBody>
      </p:sp>
      <p:sp>
        <p:nvSpPr>
          <p:cNvPr id="11" name="Rounded Rectangle 10"/>
          <p:cNvSpPr/>
          <p:nvPr/>
        </p:nvSpPr>
        <p:spPr>
          <a:xfrm>
            <a:off x="868680" y="5396865"/>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보관된 문서</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자신의 언어로 다시 쓴 기록</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자료를 보지 않고 개념을 직접 서술한 기록이다</a:t>
            </a:r>
          </a:p>
          <a:p>
            <a:pPr algn="l">
              <a:lnSpc>
                <a:spcPct val="110000"/>
              </a:lnSpc>
              <a:spcAft>
                <a:spcPts val="600"/>
              </a:spcAft>
            </a:pPr>
            <a:r>
              <a:rPr sz="1450" b="0">
                <a:solidFill>
                  <a:srgbClr val="1F2A3A"/>
                </a:solidFill>
                <a:latin typeface="맑은 고딕"/>
                <a:ea typeface="맑은 고딕"/>
                <a:cs typeface="맑은 고딕"/>
              </a:rPr>
              <a:t>• 서술이 끊기는 자리에서 모르는 부분이 드러난다</a:t>
            </a:r>
          </a:p>
          <a:p>
            <a:pPr algn="l">
              <a:lnSpc>
                <a:spcPct val="110000"/>
              </a:lnSpc>
              <a:spcAft>
                <a:spcPts val="600"/>
              </a:spcAft>
            </a:pPr>
            <a:r>
              <a:rPr sz="1450" b="0">
                <a:solidFill>
                  <a:srgbClr val="1F2A3A"/>
                </a:solidFill>
                <a:latin typeface="맑은 고딕"/>
                <a:ea typeface="맑은 고딕"/>
                <a:cs typeface="맑은 고딕"/>
              </a:rPr>
              <a:t>• 그 부분을 보완해 고쳐 쓴 문장은 다시 설명할 수 있다</a:t>
            </a:r>
          </a:p>
          <a:p>
            <a:pPr algn="l">
              <a:lnSpc>
                <a:spcPct val="110000"/>
              </a:lnSpc>
              <a:spcAft>
                <a:spcPts val="600"/>
              </a:spcAft>
            </a:pPr>
            <a:r>
              <a:rPr sz="1450" b="0">
                <a:solidFill>
                  <a:srgbClr val="1F2A3A"/>
                </a:solidFill>
                <a:latin typeface="맑은 고딕"/>
                <a:ea typeface="맑은 고딕"/>
                <a:cs typeface="맑은 고딕"/>
              </a:rPr>
              <a:t>• 분류와 이해도를 함께 적어 두어 다시 찾아 쓴다</a:t>
            </a:r>
          </a:p>
        </p:txBody>
      </p:sp>
      <p:sp>
        <p:nvSpPr>
          <p:cNvPr id="18" name="Rounded Rectangle 17"/>
          <p:cNvSpPr/>
          <p:nvPr/>
        </p:nvSpPr>
        <p:spPr>
          <a:xfrm>
            <a:off x="6781647" y="5396865"/>
            <a:ext cx="14782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재사용하는 자산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이해의 판정 기준: 설명 가능성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개념을 자료 없이 설명할 수 있는지가 이해 여부를 판정하는 가장 직접적인 기준이다.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writing" descr="writing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써 본다</a:t>
            </a:r>
          </a:p>
          <a:p>
            <a:pPr algn="l">
              <a:lnSpc>
                <a:spcPct val="110000"/>
              </a:lnSpc>
              <a:spcAft>
                <a:spcPts val="400"/>
              </a:spcAft>
            </a:pPr>
            <a:r>
              <a:rPr sz="1400" b="0">
                <a:solidFill>
                  <a:srgbClr val="1F2A3A"/>
                </a:solidFill>
                <a:latin typeface="맑은 고딕"/>
                <a:ea typeface="맑은 고딕"/>
                <a:cs typeface="맑은 고딕"/>
              </a:rPr>
              <a:t>자료를 덮고 정의, 동작 원리, 쓰임을 자신의 문장으로 적는다</a:t>
            </a:r>
          </a:p>
        </p:txBody>
      </p:sp>
      <p:sp>
        <p:nvSpPr>
          <p:cNvPr id="10" name="Rounded Rectangle 9"/>
          <p:cNvSpPr/>
          <p:nvPr/>
        </p:nvSpPr>
        <p:spPr>
          <a:xfrm>
            <a:off x="777240" y="504139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글</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microphone" descr="microphon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설명해 본다</a:t>
            </a:r>
          </a:p>
          <a:p>
            <a:pPr algn="l">
              <a:lnSpc>
                <a:spcPct val="110000"/>
              </a:lnSpc>
              <a:spcAft>
                <a:spcPts val="400"/>
              </a:spcAft>
            </a:pPr>
            <a:r>
              <a:rPr sz="1400" b="0">
                <a:solidFill>
                  <a:srgbClr val="1F2A3A"/>
                </a:solidFill>
                <a:latin typeface="맑은 고딕"/>
                <a:ea typeface="맑은 고딕"/>
                <a:cs typeface="맑은 고딕"/>
              </a:rPr>
              <a:t>• 다른 사람에게 말로 설명한다</a:t>
            </a:r>
          </a:p>
          <a:p>
            <a:pPr algn="l">
              <a:lnSpc>
                <a:spcPct val="110000"/>
              </a:lnSpc>
              <a:spcAft>
                <a:spcPts val="400"/>
              </a:spcAft>
            </a:pPr>
            <a:r>
              <a:rPr sz="1400" b="0">
                <a:solidFill>
                  <a:srgbClr val="1F2A3A"/>
                </a:solidFill>
                <a:latin typeface="맑은 고딕"/>
                <a:ea typeface="맑은 고딕"/>
                <a:cs typeface="맑은 고딕"/>
              </a:rPr>
              <a:t>• 표현이 달라도 뜻이 같으면 이해한 것이다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말</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search" descr="search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막힌 자리</a:t>
            </a:r>
          </a:p>
          <a:p>
            <a:pPr algn="l">
              <a:lnSpc>
                <a:spcPct val="110000"/>
              </a:lnSpc>
              <a:spcAft>
                <a:spcPts val="400"/>
              </a:spcAft>
            </a:pPr>
            <a:r>
              <a:rPr sz="1400" b="0">
                <a:solidFill>
                  <a:srgbClr val="1F2A3A"/>
                </a:solidFill>
                <a:latin typeface="맑은 고딕"/>
                <a:ea typeface="맑은 고딕"/>
                <a:cs typeface="맑은 고딕"/>
              </a:rPr>
              <a:t>• 둘 중 하나라도 막히면 그 자리가 아직 모르는 자리이다</a:t>
            </a:r>
          </a:p>
          <a:p>
            <a:pPr algn="l">
              <a:lnSpc>
                <a:spcPct val="110000"/>
              </a:lnSpc>
              <a:spcAft>
                <a:spcPts val="400"/>
              </a:spcAft>
            </a:pPr>
            <a:r>
              <a:rPr sz="1400" b="0">
                <a:solidFill>
                  <a:srgbClr val="1F2A3A"/>
                </a:solidFill>
                <a:latin typeface="맑은 고딕"/>
                <a:ea typeface="맑은 고딕"/>
                <a:cs typeface="맑은 고딕"/>
              </a:rPr>
              <a:t>• 그 자리만 다시 공부해 고쳐 쓴다</a:t>
            </a:r>
          </a:p>
        </p:txBody>
      </p:sp>
      <p:sp>
        <p:nvSpPr>
          <p:cNvPr id="22" name="Rounded Rectangle 21"/>
          <p:cNvSpPr/>
          <p:nvPr/>
        </p:nvSpPr>
        <p:spPr>
          <a:xfrm>
            <a:off x="8356396" y="5041392"/>
            <a:ext cx="12191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다시 볼 범위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 활용 순서: 질문 먼저와 서술 먼저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AI에게 먼저 묻지 않고 아는 범위를 먼저 서술하면 보완해야 할 자리가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480246"/>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먼저 묻는다</a:t>
            </a:r>
          </a:p>
        </p:txBody>
      </p:sp>
      <p:sp>
        <p:nvSpPr>
          <p:cNvPr id="8" name="TextBox 7"/>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질문하고 답을 읽는 것으로 끝난다</a:t>
            </a:r>
          </a:p>
          <a:p>
            <a:pPr algn="l">
              <a:lnSpc>
                <a:spcPct val="110000"/>
              </a:lnSpc>
              <a:spcAft>
                <a:spcPts val="600"/>
              </a:spcAft>
            </a:pPr>
            <a:r>
              <a:rPr sz="1450" b="0">
                <a:solidFill>
                  <a:srgbClr val="1F2A3A"/>
                </a:solidFill>
                <a:latin typeface="맑은 고딕"/>
                <a:ea typeface="맑은 고딕"/>
                <a:cs typeface="맑은 고딕"/>
              </a:rPr>
              <a:t>• 자신의 서술이 남지 않는다</a:t>
            </a:r>
          </a:p>
          <a:p>
            <a:pPr algn="l">
              <a:lnSpc>
                <a:spcPct val="110000"/>
              </a:lnSpc>
              <a:spcAft>
                <a:spcPts val="600"/>
              </a:spcAft>
            </a:pPr>
            <a:r>
              <a:rPr sz="1450" b="0">
                <a:solidFill>
                  <a:srgbClr val="1F2A3A"/>
                </a:solidFill>
                <a:latin typeface="맑은 고딕"/>
                <a:ea typeface="맑은 고딕"/>
                <a:cs typeface="맑은 고딕"/>
              </a:rPr>
              <a:t>• 무엇을 모르는지 확인할 기회가 없다</a:t>
            </a:r>
          </a:p>
          <a:p>
            <a:pPr algn="l">
              <a:lnSpc>
                <a:spcPct val="110000"/>
              </a:lnSpc>
              <a:spcAft>
                <a:spcPts val="600"/>
              </a:spcAft>
            </a:pPr>
            <a:r>
              <a:rPr sz="1450" b="0">
                <a:solidFill>
                  <a:srgbClr val="1F2A3A"/>
                </a:solidFill>
                <a:latin typeface="맑은 고딕"/>
                <a:ea typeface="맑은 고딕"/>
                <a:cs typeface="맑은 고딕"/>
              </a:rPr>
              <a:t>• 답에 있던 낯선 용어가 풀리지 않고 남는다</a:t>
            </a:r>
          </a:p>
        </p:txBody>
      </p:sp>
      <p:sp>
        <p:nvSpPr>
          <p:cNvPr id="9" name="Rounded Rectangle 8"/>
          <p:cNvSpPr/>
          <p:nvPr/>
        </p:nvSpPr>
        <p:spPr>
          <a:xfrm>
            <a:off x="868680" y="5246433"/>
            <a:ext cx="1523999"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246433"/>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읽고 끝나는 학습</a:t>
            </a:r>
          </a:p>
        </p:txBody>
      </p:sp>
      <p:sp>
        <p:nvSpPr>
          <p:cNvPr id="11" name="Rounded Rectangle 10"/>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480246"/>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자신이 먼저 서술한다</a:t>
            </a:r>
          </a:p>
        </p:txBody>
      </p:sp>
      <p:sp>
        <p:nvSpPr>
          <p:cNvPr id="13" name="TextBox 12"/>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자료 없이 써 본 뒤 AI에 검토를 요청한다</a:t>
            </a:r>
          </a:p>
          <a:p>
            <a:pPr algn="l">
              <a:lnSpc>
                <a:spcPct val="110000"/>
              </a:lnSpc>
              <a:spcAft>
                <a:spcPts val="600"/>
              </a:spcAft>
            </a:pPr>
            <a:r>
              <a:rPr sz="1450" b="0">
                <a:solidFill>
                  <a:srgbClr val="1F2A3A"/>
                </a:solidFill>
                <a:latin typeface="맑은 고딕"/>
                <a:ea typeface="맑은 고딕"/>
                <a:cs typeface="맑은 고딕"/>
              </a:rPr>
              <a:t>• 손으로 써도 되고 말로 설명해 음성 입력으로 남겨도 된다</a:t>
            </a:r>
          </a:p>
          <a:p>
            <a:pPr algn="l">
              <a:lnSpc>
                <a:spcPct val="110000"/>
              </a:lnSpc>
              <a:spcAft>
                <a:spcPts val="600"/>
              </a:spcAft>
            </a:pPr>
            <a:r>
              <a:rPr sz="1450" b="0">
                <a:solidFill>
                  <a:srgbClr val="1F2A3A"/>
                </a:solidFill>
                <a:latin typeface="맑은 고딕"/>
                <a:ea typeface="맑은 고딕"/>
                <a:cs typeface="맑은 고딕"/>
              </a:rPr>
              <a:t>• 서툴러도 되며 목적은 막히는 자리를 찾는 것이다</a:t>
            </a:r>
          </a:p>
          <a:p>
            <a:pPr algn="l">
              <a:lnSpc>
                <a:spcPct val="110000"/>
              </a:lnSpc>
              <a:spcAft>
                <a:spcPts val="600"/>
              </a:spcAft>
            </a:pPr>
            <a:r>
              <a:rPr sz="1450" b="0">
                <a:solidFill>
                  <a:srgbClr val="1F2A3A"/>
                </a:solidFill>
                <a:latin typeface="맑은 고딕"/>
                <a:ea typeface="맑은 고딕"/>
                <a:cs typeface="맑은 고딕"/>
              </a:rPr>
              <a:t>• 지적받은 자리가 그대로 학습 범위가 된다</a:t>
            </a:r>
          </a:p>
        </p:txBody>
      </p:sp>
      <p:sp>
        <p:nvSpPr>
          <p:cNvPr id="14" name="Rounded Rectangle 13"/>
          <p:cNvSpPr/>
          <p:nvPr/>
        </p:nvSpPr>
        <p:spPr>
          <a:xfrm>
            <a:off x="6781647" y="5246433"/>
            <a:ext cx="15697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246433"/>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빈 곳을 찾는 학습</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 절차: 서술 · 식별 · 보완 · 확인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학습은 먼저 서술하고 막힌 자리를 찾아 그 자리만 보완한 뒤 다시 확인하는 순환으로 진행한다.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서술</a:t>
            </a:r>
          </a:p>
          <a:p>
            <a:pPr algn="ctr">
              <a:lnSpc>
                <a:spcPct val="110000"/>
              </a:lnSpc>
              <a:spcAft>
                <a:spcPts val="400"/>
              </a:spcAft>
            </a:pPr>
            <a:r>
              <a:rPr sz="1350" b="0">
                <a:solidFill>
                  <a:srgbClr val="1F2A3A"/>
                </a:solidFill>
                <a:latin typeface="맑은 고딕"/>
                <a:ea typeface="맑은 고딕"/>
                <a:cs typeface="맑은 고딕"/>
              </a:rPr>
              <a:t>자료를 덮고</a:t>
            </a:r>
          </a:p>
          <a:p>
            <a:pPr algn="ctr">
              <a:lnSpc>
                <a:spcPct val="110000"/>
              </a:lnSpc>
              <a:spcAft>
                <a:spcPts val="400"/>
              </a:spcAft>
            </a:pPr>
            <a:r>
              <a:rPr sz="1350" b="0">
                <a:solidFill>
                  <a:srgbClr val="1F2A3A"/>
                </a:solidFill>
                <a:latin typeface="맑은 고딕"/>
                <a:ea typeface="맑은 고딕"/>
                <a:cs typeface="맑은 고딕"/>
              </a:rPr>
              <a:t>개념을 자신의 문장으로 쓴다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arch" descr="search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식별</a:t>
            </a:r>
          </a:p>
          <a:p>
            <a:pPr algn="ctr">
              <a:lnSpc>
                <a:spcPct val="110000"/>
              </a:lnSpc>
              <a:spcAft>
                <a:spcPts val="400"/>
              </a:spcAft>
            </a:pPr>
            <a:r>
              <a:rPr sz="1350" b="0">
                <a:solidFill>
                  <a:srgbClr val="1F2A3A"/>
                </a:solidFill>
                <a:latin typeface="맑은 고딕"/>
                <a:ea typeface="맑은 고딕"/>
                <a:cs typeface="맑은 고딕"/>
              </a:rPr>
              <a:t>서술이 끊긴 자리와</a:t>
            </a:r>
          </a:p>
          <a:p>
            <a:pPr algn="ctr">
              <a:lnSpc>
                <a:spcPct val="110000"/>
              </a:lnSpc>
              <a:spcAft>
                <a:spcPts val="400"/>
              </a:spcAft>
            </a:pPr>
            <a:r>
              <a:rPr sz="1350" b="0">
                <a:solidFill>
                  <a:srgbClr val="1F2A3A"/>
                </a:solidFill>
                <a:latin typeface="맑은 고딕"/>
                <a:ea typeface="맑은 고딕"/>
                <a:cs typeface="맑은 고딕"/>
              </a:rPr>
              <a:t>틀렸다고 지적된 자리를 표시한다</a:t>
            </a:r>
          </a:p>
        </p:txBody>
      </p:sp>
      <p:sp>
        <p:nvSpPr>
          <p:cNvPr id="17" name="Oval 16"/>
          <p:cNvSpPr/>
          <p:nvPr/>
        </p:nvSpPr>
        <p:spPr>
          <a:xfrm>
            <a:off x="704830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8" name="아이콘:refresh" descr="refresh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보완</a:t>
            </a:r>
          </a:p>
          <a:p>
            <a:pPr algn="ctr">
              <a:lnSpc>
                <a:spcPct val="110000"/>
              </a:lnSpc>
              <a:spcAft>
                <a:spcPts val="400"/>
              </a:spcAft>
            </a:pPr>
            <a:r>
              <a:rPr sz="1350" b="0">
                <a:solidFill>
                  <a:srgbClr val="1F2A3A"/>
                </a:solidFill>
                <a:latin typeface="맑은 고딕"/>
                <a:ea typeface="맑은 고딕"/>
                <a:cs typeface="맑은 고딕"/>
              </a:rPr>
              <a:t>표시한 자리만 다시 학습한다</a:t>
            </a:r>
          </a:p>
          <a:p>
            <a:pPr algn="ctr">
              <a:lnSpc>
                <a:spcPct val="110000"/>
              </a:lnSpc>
              <a:spcAft>
                <a:spcPts val="400"/>
              </a:spcAft>
            </a:pPr>
            <a:r>
              <a:rPr sz="1350" b="0">
                <a:solidFill>
                  <a:srgbClr val="1F2A3A"/>
                </a:solidFill>
                <a:latin typeface="맑은 고딕"/>
                <a:ea typeface="맑은 고딕"/>
                <a:cs typeface="맑은 고딕"/>
              </a:rPr>
              <a:t>모르는 용어가 나오면 그 용어를 다시 묻는다</a:t>
            </a:r>
          </a:p>
        </p:txBody>
      </p:sp>
      <p:sp>
        <p:nvSpPr>
          <p:cNvPr id="22" name="Oval 21"/>
          <p:cNvSpPr/>
          <p:nvPr/>
        </p:nvSpPr>
        <p:spPr>
          <a:xfrm>
            <a:off x="9821913" y="2626042"/>
            <a:ext cx="868680" cy="868680"/>
          </a:xfrm>
          <a:prstGeom prst="ellipse">
            <a:avLst/>
          </a:prstGeom>
          <a:solidFill>
            <a:srgbClr val="5CB8F2"/>
          </a:solidFill>
          <a:ln>
            <a:noFill/>
          </a:ln>
        </p:spPr>
        <p:txBody>
          <a:bodyPr rtlCol="0" anchor="ctr"/>
          <a:lstStyle/>
          <a:p>
            <a:pPr algn="ctr"/>
          </a:p>
        </p:txBody>
      </p:sp>
      <p:pic>
        <p:nvPicPr>
          <p:cNvPr id="23" name="아이콘:checks" descr="checks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확인</a:t>
            </a:r>
          </a:p>
          <a:p>
            <a:pPr algn="ctr">
              <a:lnSpc>
                <a:spcPct val="110000"/>
              </a:lnSpc>
              <a:spcAft>
                <a:spcPts val="400"/>
              </a:spcAft>
            </a:pPr>
            <a:r>
              <a:rPr sz="1350" b="0">
                <a:solidFill>
                  <a:srgbClr val="1F2A3A"/>
                </a:solidFill>
                <a:latin typeface="맑은 고딕"/>
                <a:ea typeface="맑은 고딕"/>
                <a:cs typeface="맑은 고딕"/>
              </a:rPr>
              <a:t>고쳐 쓴 내용을 자료 없이 다시 쓰고</a:t>
            </a:r>
          </a:p>
          <a:p>
            <a:pPr algn="ctr">
              <a:lnSpc>
                <a:spcPct val="110000"/>
              </a:lnSpc>
              <a:spcAft>
                <a:spcPts val="400"/>
              </a:spcAft>
            </a:pPr>
            <a:r>
              <a:rPr sz="1350" b="0">
                <a:solidFill>
                  <a:srgbClr val="1F2A3A"/>
                </a:solidFill>
                <a:latin typeface="맑은 고딕"/>
                <a:ea typeface="맑은 고딕"/>
                <a:cs typeface="맑은 고딕"/>
              </a:rPr>
              <a:t>다른 사람에게 설명한다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제조 AI 과정에서 축적할 기록의 종류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과정에서는 개념 정의부터 오류의 원인과 해결 과정까지가 모두 기록 대상이다.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vocabulary" descr="vocabulary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개념 정의</a:t>
            </a:r>
          </a:p>
          <a:p>
            <a:pPr algn="l">
              <a:lnSpc>
                <a:spcPct val="110000"/>
              </a:lnSpc>
              <a:spcAft>
                <a:spcPts val="400"/>
              </a:spcAft>
            </a:pPr>
            <a:r>
              <a:rPr sz="1350" b="0">
                <a:solidFill>
                  <a:srgbClr val="1F2A3A"/>
                </a:solidFill>
                <a:latin typeface="맑은 고딕"/>
                <a:ea typeface="맑은 고딕"/>
                <a:cs typeface="맑은 고딕"/>
              </a:rPr>
              <a:t>• 용어의 정식 명칭과 뜻을 자신의 문장으로 적는다</a:t>
            </a:r>
          </a:p>
          <a:p>
            <a:pPr algn="l">
              <a:lnSpc>
                <a:spcPct val="110000"/>
              </a:lnSpc>
              <a:spcAft>
                <a:spcPts val="400"/>
              </a:spcAft>
            </a:pPr>
            <a:r>
              <a:rPr sz="1350" b="0">
                <a:solidFill>
                  <a:srgbClr val="1F2A3A"/>
                </a:solidFill>
                <a:latin typeface="맑은 고딕"/>
                <a:ea typeface="맑은 고딕"/>
                <a:cs typeface="맑은 고딕"/>
              </a:rPr>
              <a:t>• 헷갈리기 쉬운 용어와의 차이를 함께 적는다</a:t>
            </a:r>
          </a:p>
        </p:txBody>
      </p:sp>
      <p:sp>
        <p:nvSpPr>
          <p:cNvPr id="10" name="Rounded Rectangle 9"/>
          <p:cNvSpPr/>
          <p:nvPr/>
        </p:nvSpPr>
        <p:spPr>
          <a:xfrm>
            <a:off x="777240" y="5238940"/>
            <a:ext cx="1603248"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16032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브로커와 토픽</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settings-automation" descr="settings-automation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동작 원리</a:t>
            </a:r>
          </a:p>
          <a:p>
            <a:pPr algn="l">
              <a:lnSpc>
                <a:spcPct val="110000"/>
              </a:lnSpc>
              <a:spcAft>
                <a:spcPts val="400"/>
              </a:spcAft>
            </a:pPr>
            <a:r>
              <a:rPr sz="1350" b="0">
                <a:solidFill>
                  <a:srgbClr val="1F2A3A"/>
                </a:solidFill>
                <a:latin typeface="맑은 고딕"/>
                <a:ea typeface="맑은 고딕"/>
                <a:cs typeface="맑은 고딕"/>
              </a:rPr>
              <a:t>• 구성요소가 무엇을 받아 무엇을 넘기는지를 적는다</a:t>
            </a:r>
          </a:p>
          <a:p>
            <a:pPr algn="l">
              <a:lnSpc>
                <a:spcPct val="110000"/>
              </a:lnSpc>
              <a:spcAft>
                <a:spcPts val="400"/>
              </a:spcAft>
            </a:pPr>
            <a:r>
              <a:rPr sz="1350" b="0">
                <a:solidFill>
                  <a:srgbClr val="1F2A3A"/>
                </a:solidFill>
                <a:latin typeface="맑은 고딕"/>
                <a:ea typeface="맑은 고딕"/>
                <a:cs typeface="맑은 고딕"/>
              </a:rPr>
              <a:t>• 근거로 삼은 참고 자료와 출처를 함께 연결해 둔다</a:t>
            </a:r>
          </a:p>
        </p:txBody>
      </p:sp>
      <p:sp>
        <p:nvSpPr>
          <p:cNvPr id="16" name="Rounded Rectangle 15"/>
          <p:cNvSpPr/>
          <p:nvPr/>
        </p:nvSpPr>
        <p:spPr>
          <a:xfrm>
            <a:off x="3619423" y="5238940"/>
            <a:ext cx="129844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12984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경보 조건</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terminal-2" descr="terminal-2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실습 결과</a:t>
            </a:r>
          </a:p>
          <a:p>
            <a:pPr algn="l">
              <a:lnSpc>
                <a:spcPct val="110000"/>
              </a:lnSpc>
              <a:spcAft>
                <a:spcPts val="400"/>
              </a:spcAft>
            </a:pPr>
            <a:r>
              <a:rPr sz="1350" b="0">
                <a:solidFill>
                  <a:srgbClr val="1F2A3A"/>
                </a:solidFill>
                <a:latin typeface="맑은 고딕"/>
                <a:ea typeface="맑은 고딕"/>
                <a:cs typeface="맑은 고딕"/>
              </a:rPr>
              <a:t>무엇을 실행했고 어떤 결과가 나왔는지를 입력 · 출력과 함께 남긴다</a:t>
            </a:r>
          </a:p>
        </p:txBody>
      </p:sp>
      <p:sp>
        <p:nvSpPr>
          <p:cNvPr id="22" name="Rounded Rectangle 21"/>
          <p:cNvSpPr/>
          <p:nvPr/>
        </p:nvSpPr>
        <p:spPr>
          <a:xfrm>
            <a:off x="6461607" y="5238940"/>
            <a:ext cx="129844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12984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관계 그림</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bug" descr="bug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오류와 해결</a:t>
            </a:r>
          </a:p>
          <a:p>
            <a:pPr algn="l">
              <a:lnSpc>
                <a:spcPct val="110000"/>
              </a:lnSpc>
              <a:spcAft>
                <a:spcPts val="400"/>
              </a:spcAft>
            </a:pPr>
            <a:r>
              <a:rPr sz="1350" b="0">
                <a:solidFill>
                  <a:srgbClr val="1F2A3A"/>
                </a:solidFill>
                <a:latin typeface="맑은 고딕"/>
                <a:ea typeface="맑은 고딕"/>
                <a:cs typeface="맑은 고딕"/>
              </a:rPr>
              <a:t>증상, 확인한 원인, 적용한 해결 방법을 순서대로 남긴다</a:t>
            </a:r>
          </a:p>
        </p:txBody>
      </p:sp>
      <p:sp>
        <p:nvSpPr>
          <p:cNvPr id="28" name="Rounded Rectangle 27"/>
          <p:cNvSpPr/>
          <p:nvPr/>
        </p:nvSpPr>
        <p:spPr>
          <a:xfrm>
            <a:off x="9303791" y="5238940"/>
            <a:ext cx="1801367"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180136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서비스 기동 실패</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노션 데이터베이스: 항목과 속성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기록 한 건을 데이터베이스의 항목으로 저장하고 </a:t>
            </a:r>
            <a:r>
              <a:rPr sz="1600" b="1">
                <a:solidFill>
                  <a:srgbClr val="1A6FC4"/>
                </a:solidFill>
                <a:latin typeface="맑은 고딕"/>
                <a:ea typeface="맑은 고딕"/>
                <a:cs typeface="맑은 고딕"/>
              </a:rPr>
              <a:t>속성</a:t>
            </a:r>
            <a:r>
              <a:rPr sz="1600" b="0">
                <a:solidFill>
                  <a:srgbClr val="556175"/>
                </a:solidFill>
                <a:latin typeface="맑은 고딕"/>
                <a:ea typeface="맑은 고딕"/>
                <a:cs typeface="맑은 고딕"/>
              </a:rPr>
              <a:t>으로 분류하면 검색과 재사용이 가능해진다.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pic>
        <p:nvPicPr>
          <p:cNvPr id="6" name="삽화:노션_데이터베이스.svg" descr="illust_4503888951817742729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1816729"/>
            <a:ext cx="294556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데이터베이스</a:t>
            </a:r>
          </a:p>
          <a:p>
            <a:pPr algn="ctr">
              <a:lnSpc>
                <a:spcPct val="110000"/>
              </a:lnSpc>
              <a:spcAft>
                <a:spcPts val="100"/>
              </a:spcAft>
            </a:pPr>
            <a:r>
              <a:rPr sz="1300" b="0">
                <a:solidFill>
                  <a:srgbClr val="556175"/>
                </a:solidFill>
                <a:latin typeface="맑은 고딕"/>
                <a:ea typeface="맑은 고딕"/>
                <a:cs typeface="맑은 고딕"/>
              </a:rPr>
              <a:t>같은 형식의 항목을 모은 집합</a:t>
            </a:r>
          </a:p>
        </p:txBody>
      </p:sp>
      <p:sp>
        <p:nvSpPr>
          <p:cNvPr id="8" name="TextBox 7"/>
          <p:cNvSpPr txBox="1"/>
          <p:nvPr/>
        </p:nvSpPr>
        <p:spPr>
          <a:xfrm>
            <a:off x="4001224" y="1816729"/>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속성(Property)</a:t>
            </a:r>
          </a:p>
          <a:p>
            <a:pPr algn="ctr">
              <a:lnSpc>
                <a:spcPct val="110000"/>
              </a:lnSpc>
              <a:spcAft>
                <a:spcPts val="100"/>
              </a:spcAft>
            </a:pPr>
            <a:r>
              <a:rPr sz="1300" b="0">
                <a:solidFill>
                  <a:srgbClr val="556175"/>
                </a:solidFill>
                <a:latin typeface="맑은 고딕"/>
                <a:ea typeface="맑은 고딕"/>
                <a:cs typeface="맑은 고딕"/>
              </a:rPr>
              <a:t>모든 항목이 공통으로 갖는 칸</a:t>
            </a:r>
          </a:p>
        </p:txBody>
      </p:sp>
      <p:sp>
        <p:nvSpPr>
          <p:cNvPr id="9" name="TextBox 8"/>
          <p:cNvSpPr txBox="1"/>
          <p:nvPr/>
        </p:nvSpPr>
        <p:spPr>
          <a:xfrm>
            <a:off x="1808416" y="2771674"/>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이름</a:t>
            </a:r>
          </a:p>
        </p:txBody>
      </p:sp>
      <p:sp>
        <p:nvSpPr>
          <p:cNvPr id="10" name="TextBox 9"/>
          <p:cNvSpPr txBox="1"/>
          <p:nvPr/>
        </p:nvSpPr>
        <p:spPr>
          <a:xfrm>
            <a:off x="4001224" y="2771674"/>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분야</a:t>
            </a:r>
          </a:p>
        </p:txBody>
      </p:sp>
      <p:sp>
        <p:nvSpPr>
          <p:cNvPr id="11" name="TextBox 10"/>
          <p:cNvSpPr txBox="1"/>
          <p:nvPr/>
        </p:nvSpPr>
        <p:spPr>
          <a:xfrm>
            <a:off x="5190359" y="2771674"/>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이해도</a:t>
            </a:r>
          </a:p>
        </p:txBody>
      </p:sp>
      <p:sp>
        <p:nvSpPr>
          <p:cNvPr id="12" name="TextBox 11"/>
          <p:cNvSpPr txBox="1"/>
          <p:nvPr/>
        </p:nvSpPr>
        <p:spPr>
          <a:xfrm>
            <a:off x="6226761" y="2771674"/>
            <a:ext cx="120004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생성 일시</a:t>
            </a:r>
          </a:p>
        </p:txBody>
      </p:sp>
      <p:sp>
        <p:nvSpPr>
          <p:cNvPr id="13" name="TextBox 12"/>
          <p:cNvSpPr txBox="1"/>
          <p:nvPr/>
        </p:nvSpPr>
        <p:spPr>
          <a:xfrm>
            <a:off x="8146832" y="1816729"/>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항목 하나 = 페이지 하나</a:t>
            </a:r>
          </a:p>
          <a:p>
            <a:pPr algn="ctr">
              <a:lnSpc>
                <a:spcPct val="110000"/>
              </a:lnSpc>
              <a:spcAft>
                <a:spcPts val="100"/>
              </a:spcAft>
            </a:pPr>
            <a:r>
              <a:rPr sz="1300" b="0">
                <a:solidFill>
                  <a:srgbClr val="556175"/>
                </a:solidFill>
                <a:latin typeface="맑은 고딕"/>
                <a:ea typeface="맑은 고딕"/>
                <a:cs typeface="맑은 고딕"/>
              </a:rPr>
              <a:t>열면 제목, 속성, 본문이 나온다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보기: 같은 데이터를 보여 주는 세 가지 모양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보기를 바꾸어도 데이터는 한 벌이므로 한 보기에서 고친 값은 다른 보기에도 그대로 반영된다.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pic>
        <p:nvPicPr>
          <p:cNvPr id="6" name="삽화:노션_보기.svg" descr="illust_4903453591165186824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223088" y="1769455"/>
            <a:ext cx="5018367"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보기(View)</a:t>
            </a:r>
          </a:p>
          <a:p>
            <a:pPr algn="ctr">
              <a:lnSpc>
                <a:spcPct val="110000"/>
              </a:lnSpc>
              <a:spcAft>
                <a:spcPts val="100"/>
              </a:spcAft>
            </a:pPr>
            <a:r>
              <a:rPr sz="1300" b="0">
                <a:solidFill>
                  <a:srgbClr val="556175"/>
                </a:solidFill>
                <a:latin typeface="맑은 고딕"/>
                <a:ea typeface="맑은 고딕"/>
                <a:cs typeface="맑은 고딕"/>
              </a:rPr>
              <a:t>같은 데이터를 다른 모양으로 보여 주는 화면</a:t>
            </a:r>
          </a:p>
        </p:txBody>
      </p:sp>
      <p:sp>
        <p:nvSpPr>
          <p:cNvPr id="8" name="TextBox 7"/>
          <p:cNvSpPr txBox="1"/>
          <p:nvPr/>
        </p:nvSpPr>
        <p:spPr>
          <a:xfrm>
            <a:off x="695647" y="4936845"/>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데이터베이스</a:t>
            </a:r>
          </a:p>
          <a:p>
            <a:pPr algn="ctr">
              <a:lnSpc>
                <a:spcPct val="110000"/>
              </a:lnSpc>
              <a:spcAft>
                <a:spcPts val="100"/>
              </a:spcAft>
            </a:pPr>
            <a:r>
              <a:rPr sz="1300" b="0">
                <a:solidFill>
                  <a:srgbClr val="556175"/>
                </a:solidFill>
                <a:latin typeface="맑은 고딕"/>
                <a:ea typeface="맑은 고딕"/>
                <a:cs typeface="맑은 고딕"/>
              </a:rPr>
              <a:t>저장된 데이터는 한 벌이다</a:t>
            </a:r>
          </a:p>
        </p:txBody>
      </p:sp>
      <p:sp>
        <p:nvSpPr>
          <p:cNvPr id="9" name="TextBox 8"/>
          <p:cNvSpPr txBox="1"/>
          <p:nvPr/>
        </p:nvSpPr>
        <p:spPr>
          <a:xfrm>
            <a:off x="3990315" y="540959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a:t>
            </a:r>
          </a:p>
          <a:p>
            <a:pPr algn="ctr">
              <a:lnSpc>
                <a:spcPct val="110000"/>
              </a:lnSpc>
              <a:spcAft>
                <a:spcPts val="100"/>
              </a:spcAft>
            </a:pPr>
            <a:r>
              <a:rPr sz="1300" b="0">
                <a:solidFill>
                  <a:srgbClr val="556175"/>
                </a:solidFill>
                <a:latin typeface="맑은 고딕"/>
                <a:ea typeface="맑은 고딕"/>
                <a:cs typeface="맑은 고딕"/>
              </a:rPr>
              <a:t>속성 값을 나란히 비교한다</a:t>
            </a:r>
          </a:p>
        </p:txBody>
      </p:sp>
      <p:sp>
        <p:nvSpPr>
          <p:cNvPr id="10" name="TextBox 9"/>
          <p:cNvSpPr txBox="1"/>
          <p:nvPr/>
        </p:nvSpPr>
        <p:spPr>
          <a:xfrm>
            <a:off x="6532227" y="540959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갤러리</a:t>
            </a:r>
          </a:p>
          <a:p>
            <a:pPr algn="ctr">
              <a:lnSpc>
                <a:spcPct val="110000"/>
              </a:lnSpc>
              <a:spcAft>
                <a:spcPts val="100"/>
              </a:spcAft>
            </a:pPr>
            <a:r>
              <a:rPr sz="1300" b="0">
                <a:solidFill>
                  <a:srgbClr val="556175"/>
                </a:solidFill>
                <a:latin typeface="맑은 고딕"/>
                <a:ea typeface="맑은 고딕"/>
                <a:cs typeface="맑은 고딕"/>
              </a:rPr>
              <a:t>항목을 카드로 훑어본다</a:t>
            </a:r>
          </a:p>
        </p:txBody>
      </p:sp>
      <p:sp>
        <p:nvSpPr>
          <p:cNvPr id="11" name="TextBox 10"/>
          <p:cNvSpPr txBox="1"/>
          <p:nvPr/>
        </p:nvSpPr>
        <p:spPr>
          <a:xfrm>
            <a:off x="9074139" y="540959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보드</a:t>
            </a:r>
          </a:p>
          <a:p>
            <a:pPr algn="ctr">
              <a:lnSpc>
                <a:spcPct val="110000"/>
              </a:lnSpc>
              <a:spcAft>
                <a:spcPts val="100"/>
              </a:spcAft>
            </a:pPr>
            <a:r>
              <a:rPr sz="1300" b="0">
                <a:solidFill>
                  <a:srgbClr val="556175"/>
                </a:solidFill>
                <a:latin typeface="맑은 고딕"/>
                <a:ea typeface="맑은 고딕"/>
                <a:cs typeface="맑은 고딕"/>
              </a:rPr>
              <a:t>속성 값별로 묶어 본다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템플릿: 모든 기록이 같은 틀을 갖게 하는 양식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템플릿은 새 항목을 만들 때 본문에 미리 채워지는 양식으로, 기록의 형식을 하나로 맞춘다.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개념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자료를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자신의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문장으로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설명</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시스템에서의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쓰임</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어느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구성요소가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일을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하는가</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다음에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것</a:t>
            </a:r>
          </a:p>
          <a:p>
            <a:pPr algn="l">
              <a:lnSpc>
                <a:spcPct val="110000"/>
              </a:lnSpc>
              <a:spcAft>
                <a:spcPts val="200"/>
              </a:spcAft>
            </a:pPr>
            <a:r>
              <a:rPr sz="1300" b="0">
                <a:solidFill>
                  <a:srgbClr val="E8EEF6"/>
                </a:solidFill>
                <a:latin typeface="Consolas"/>
                <a:ea typeface="맑은 고딕"/>
                <a:cs typeface="맑은 고딕"/>
              </a:rPr>
              <a:t>[ ] </a:t>
            </a:r>
            <a:r>
              <a:rPr sz="1300" b="0">
                <a:solidFill>
                  <a:srgbClr val="E8EEF6"/>
                </a:solidFill>
                <a:latin typeface="맑은 고딕"/>
                <a:ea typeface="맑은 고딕"/>
                <a:cs typeface="맑은 고딕"/>
              </a:rPr>
              <a:t>설명이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끊긴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자리</a:t>
            </a:r>
          </a:p>
          <a:p>
            <a:pPr algn="l">
              <a:lnSpc>
                <a:spcPct val="110000"/>
              </a:lnSpc>
              <a:spcAft>
                <a:spcPts val="200"/>
              </a:spcAft>
            </a:pPr>
            <a:r>
              <a:rPr sz="1300" b="0">
                <a:solidFill>
                  <a:srgbClr val="E8EEF6"/>
                </a:solidFill>
                <a:latin typeface="Consolas"/>
                <a:ea typeface="맑은 고딕"/>
                <a:cs typeface="맑은 고딕"/>
              </a:rPr>
              <a:t>[ ] </a:t>
            </a:r>
            <a:r>
              <a:rPr sz="1300" b="0">
                <a:solidFill>
                  <a:srgbClr val="E8EEF6"/>
                </a:solidFill>
                <a:latin typeface="맑은 고딕"/>
                <a:ea typeface="맑은 고딕"/>
                <a:cs typeface="맑은 고딕"/>
              </a:rPr>
              <a:t>답에서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새로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나온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낯선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용어</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개념별 제목</a:t>
            </a:r>
          </a:p>
          <a:p>
            <a:pPr algn="l">
              <a:lnSpc>
                <a:spcPct val="110000"/>
              </a:lnSpc>
              <a:spcAft>
                <a:spcPts val="400"/>
              </a:spcAft>
            </a:pPr>
            <a:r>
              <a:rPr sz="1400" b="0">
                <a:solidFill>
                  <a:srgbClr val="1F2A3A"/>
                </a:solidFill>
                <a:latin typeface="맑은 고딕"/>
                <a:ea typeface="맑은 고딕"/>
                <a:cs typeface="맑은 고딕"/>
              </a:rPr>
              <a:t>개념 하나에 제목 하나를 둔다. 제목이 나중에 검색어가 된다.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다음에 확인할 것</a:t>
            </a:r>
          </a:p>
          <a:p>
            <a:pPr algn="l">
              <a:lnSpc>
                <a:spcPct val="110000"/>
              </a:lnSpc>
              <a:spcAft>
                <a:spcPts val="400"/>
              </a:spcAft>
            </a:pPr>
            <a:r>
              <a:rPr sz="1400" b="0">
                <a:solidFill>
                  <a:srgbClr val="1F2A3A"/>
                </a:solidFill>
                <a:latin typeface="맑은 고딕"/>
                <a:ea typeface="맑은 고딕"/>
                <a:cs typeface="맑은 고딕"/>
              </a:rPr>
              <a:t>막힌 자리를 체크 목록으로 남긴다. 해결해도 지우지 않아 진행이 기록된다.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기본 템플릿</a:t>
            </a:r>
          </a:p>
          <a:p>
            <a:pPr algn="l">
              <a:lnSpc>
                <a:spcPct val="110000"/>
              </a:lnSpc>
              <a:spcAft>
                <a:spcPts val="400"/>
              </a:spcAft>
            </a:pPr>
            <a:r>
              <a:rPr sz="1400" b="0">
                <a:solidFill>
                  <a:srgbClr val="1F2A3A"/>
                </a:solidFill>
                <a:latin typeface="맑은 고딕"/>
                <a:ea typeface="맑은 고딕"/>
                <a:cs typeface="맑은 고딕"/>
              </a:rPr>
              <a:t>기본으로 지정해 두면 어느 보기에서 항목을 만들어도 같은 양식이 채워진다.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필터: 다시 학습할 항목만 골라내기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이해도 속성에 필터를 걸면 아직 설명하지 못하는 항목만 모아 다시 학습할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이해도 기록</a:t>
            </a:r>
          </a:p>
          <a:p>
            <a:pPr algn="ctr">
              <a:lnSpc>
                <a:spcPct val="110000"/>
              </a:lnSpc>
              <a:spcAft>
                <a:spcPts val="400"/>
              </a:spcAft>
            </a:pPr>
            <a:r>
              <a:rPr sz="1350" b="0">
                <a:solidFill>
                  <a:srgbClr val="1F2A3A"/>
                </a:solidFill>
                <a:latin typeface="맑은 고딕"/>
                <a:ea typeface="맑은 고딕"/>
                <a:cs typeface="맑은 고딕"/>
              </a:rPr>
              <a:t>항목마다</a:t>
            </a:r>
          </a:p>
          <a:p>
            <a:pPr algn="ctr">
              <a:lnSpc>
                <a:spcPct val="110000"/>
              </a:lnSpc>
              <a:spcAft>
                <a:spcPts val="400"/>
              </a:spcAft>
            </a:pPr>
            <a:r>
              <a:rPr sz="1350" b="0">
                <a:solidFill>
                  <a:srgbClr val="1F2A3A"/>
                </a:solidFill>
                <a:latin typeface="맑은 고딕"/>
                <a:ea typeface="맑은 고딕"/>
                <a:cs typeface="맑은 고딕"/>
              </a:rPr>
              <a:t>설명 못함, 대충 앎,</a:t>
            </a:r>
          </a:p>
          <a:p>
            <a:pPr algn="ctr">
              <a:lnSpc>
                <a:spcPct val="110000"/>
              </a:lnSpc>
              <a:spcAft>
                <a:spcPts val="400"/>
              </a:spcAft>
            </a:pPr>
            <a:r>
              <a:rPr sz="1350" b="0">
                <a:solidFill>
                  <a:srgbClr val="1F2A3A"/>
                </a:solidFill>
                <a:latin typeface="맑은 고딕"/>
                <a:ea typeface="맑은 고딕"/>
                <a:cs typeface="맑은 고딕"/>
              </a:rPr>
              <a:t>설명 가능 가운데</a:t>
            </a:r>
          </a:p>
          <a:p>
            <a:pPr algn="ctr">
              <a:lnSpc>
                <a:spcPct val="110000"/>
              </a:lnSpc>
              <a:spcAft>
                <a:spcPts val="400"/>
              </a:spcAft>
            </a:pPr>
            <a:r>
              <a:rPr sz="1350" b="0">
                <a:solidFill>
                  <a:srgbClr val="1F2A3A"/>
                </a:solidFill>
                <a:latin typeface="맑은 고딕"/>
                <a:ea typeface="맑은 고딕"/>
                <a:cs typeface="맑은 고딕"/>
              </a:rPr>
              <a:t>하나를 고른다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681478"/>
            <a:ext cx="731520" cy="731520"/>
          </a:xfrm>
          <a:prstGeom prst="ellipse">
            <a:avLst/>
          </a:prstGeom>
          <a:solidFill>
            <a:srgbClr val="5CB8F2"/>
          </a:solidFill>
          <a:ln>
            <a:noFill/>
          </a:ln>
        </p:spPr>
        <p:txBody>
          <a:bodyPr rtlCol="0" anchor="ctr"/>
          <a:lstStyle/>
          <a:p>
            <a:pPr algn="ctr"/>
          </a:p>
        </p:txBody>
      </p:sp>
      <p:pic>
        <p:nvPicPr>
          <p:cNvPr id="13" name="아이콘:filter" descr="filter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필터</a:t>
            </a:r>
          </a:p>
          <a:p>
            <a:pPr algn="ctr">
              <a:lnSpc>
                <a:spcPct val="110000"/>
              </a:lnSpc>
              <a:spcAft>
                <a:spcPts val="400"/>
              </a:spcAft>
            </a:pPr>
            <a:r>
              <a:rPr sz="1350" b="0">
                <a:solidFill>
                  <a:srgbClr val="1F2A3A"/>
                </a:solidFill>
                <a:latin typeface="맑은 고딕"/>
                <a:ea typeface="맑은 고딕"/>
                <a:cs typeface="맑은 고딕"/>
              </a:rPr>
              <a:t>Filter</a:t>
            </a:r>
          </a:p>
          <a:p>
            <a:pPr algn="ctr">
              <a:lnSpc>
                <a:spcPct val="110000"/>
              </a:lnSpc>
              <a:spcAft>
                <a:spcPts val="400"/>
              </a:spcAft>
            </a:pPr>
            <a:r>
              <a:rPr sz="1350" b="0">
                <a:solidFill>
                  <a:srgbClr val="1F2A3A"/>
                </a:solidFill>
                <a:latin typeface="맑은 고딕"/>
                <a:ea typeface="맑은 고딕"/>
                <a:cs typeface="맑은 고딕"/>
              </a:rPr>
              <a:t>「설명 가능」이 아닌</a:t>
            </a:r>
          </a:p>
          <a:p>
            <a:pPr algn="ctr">
              <a:lnSpc>
                <a:spcPct val="110000"/>
              </a:lnSpc>
              <a:spcAft>
                <a:spcPts val="400"/>
              </a:spcAft>
            </a:pPr>
            <a:r>
              <a:rPr sz="1350" b="0">
                <a:solidFill>
                  <a:srgbClr val="1F2A3A"/>
                </a:solidFill>
                <a:latin typeface="맑은 고딕"/>
                <a:ea typeface="맑은 고딕"/>
                <a:cs typeface="맑은 고딕"/>
              </a:rPr>
              <a:t>항목만 남기는</a:t>
            </a:r>
          </a:p>
          <a:p>
            <a:pPr algn="ctr">
              <a:lnSpc>
                <a:spcPct val="110000"/>
              </a:lnSpc>
              <a:spcAft>
                <a:spcPts val="400"/>
              </a:spcAft>
            </a:pPr>
            <a:r>
              <a:rPr sz="1350" b="0">
                <a:solidFill>
                  <a:srgbClr val="1F2A3A"/>
                </a:solidFill>
                <a:latin typeface="맑은 고딕"/>
                <a:ea typeface="맑은 고딕"/>
                <a:cs typeface="맑은 고딕"/>
              </a:rPr>
              <a:t>조건을 건다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refresh" descr="refresh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재학습</a:t>
            </a:r>
          </a:p>
          <a:p>
            <a:pPr algn="ctr">
              <a:lnSpc>
                <a:spcPct val="110000"/>
              </a:lnSpc>
              <a:spcAft>
                <a:spcPts val="400"/>
              </a:spcAft>
            </a:pPr>
            <a:r>
              <a:rPr sz="1350" b="0">
                <a:solidFill>
                  <a:srgbClr val="1F2A3A"/>
                </a:solidFill>
                <a:latin typeface="맑은 고딕"/>
                <a:ea typeface="맑은 고딕"/>
                <a:cs typeface="맑은 고딕"/>
              </a:rPr>
              <a:t>남은 항목을</a:t>
            </a:r>
          </a:p>
          <a:p>
            <a:pPr algn="ctr">
              <a:lnSpc>
                <a:spcPct val="110000"/>
              </a:lnSpc>
              <a:spcAft>
                <a:spcPts val="400"/>
              </a:spcAft>
            </a:pPr>
            <a:r>
              <a:rPr sz="1350" b="0">
                <a:solidFill>
                  <a:srgbClr val="1F2A3A"/>
                </a:solidFill>
                <a:latin typeface="맑은 고딕"/>
                <a:ea typeface="맑은 고딕"/>
                <a:cs typeface="맑은 고딕"/>
              </a:rPr>
              <a:t>서술, 식별, 보완, 확인의</a:t>
            </a:r>
          </a:p>
          <a:p>
            <a:pPr algn="ctr">
              <a:lnSpc>
                <a:spcPct val="110000"/>
              </a:lnSpc>
              <a:spcAft>
                <a:spcPts val="400"/>
              </a:spcAft>
            </a:pPr>
            <a:r>
              <a:rPr sz="1350" b="0">
                <a:solidFill>
                  <a:srgbClr val="1F2A3A"/>
                </a:solidFill>
                <a:latin typeface="맑은 고딕"/>
                <a:ea typeface="맑은 고딕"/>
                <a:cs typeface="맑은 고딕"/>
              </a:rPr>
              <a:t>절차로 다시 본다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circle-check" descr="circle-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갱신</a:t>
            </a:r>
          </a:p>
          <a:p>
            <a:pPr algn="ctr">
              <a:lnSpc>
                <a:spcPct val="110000"/>
              </a:lnSpc>
              <a:spcAft>
                <a:spcPts val="400"/>
              </a:spcAft>
            </a:pPr>
            <a:r>
              <a:rPr sz="1350" b="0">
                <a:solidFill>
                  <a:srgbClr val="1F2A3A"/>
                </a:solidFill>
                <a:latin typeface="맑은 고딕"/>
                <a:ea typeface="맑은 고딕"/>
                <a:cs typeface="맑은 고딕"/>
              </a:rPr>
              <a:t>확인을 통과하면</a:t>
            </a:r>
          </a:p>
          <a:p>
            <a:pPr algn="ctr">
              <a:lnSpc>
                <a:spcPct val="110000"/>
              </a:lnSpc>
              <a:spcAft>
                <a:spcPts val="400"/>
              </a:spcAft>
            </a:pPr>
            <a:r>
              <a:rPr sz="1350" b="0">
                <a:solidFill>
                  <a:srgbClr val="1F2A3A"/>
                </a:solidFill>
                <a:latin typeface="맑은 고딕"/>
                <a:ea typeface="맑은 고딕"/>
                <a:cs typeface="맑은 고딕"/>
              </a:rPr>
              <a:t>이해도를 올린다</a:t>
            </a:r>
          </a:p>
          <a:p>
            <a:pPr algn="ctr">
              <a:lnSpc>
                <a:spcPct val="110000"/>
              </a:lnSpc>
              <a:spcAft>
                <a:spcPts val="400"/>
              </a:spcAft>
            </a:pPr>
            <a:r>
              <a:rPr sz="1350" b="0">
                <a:solidFill>
                  <a:srgbClr val="1F2A3A"/>
                </a:solidFill>
                <a:latin typeface="맑은 고딕"/>
                <a:ea typeface="맑은 고딕"/>
                <a:cs typeface="맑은 고딕"/>
              </a:rPr>
              <a:t>그 항목은 목록에서</a:t>
            </a:r>
          </a:p>
          <a:p>
            <a:pPr algn="ctr">
              <a:lnSpc>
                <a:spcPct val="110000"/>
              </a:lnSpc>
              <a:spcAft>
                <a:spcPts val="400"/>
              </a:spcAft>
            </a:pPr>
            <a:r>
              <a:rPr sz="1350" b="0">
                <a:solidFill>
                  <a:srgbClr val="1F2A3A"/>
                </a:solidFill>
                <a:latin typeface="맑은 고딕"/>
                <a:ea typeface="맑은 고딕"/>
                <a:cs typeface="맑은 고딕"/>
              </a:rPr>
              <a:t>빠진다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공유와 게시: 공개 범위의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게시한 페이지는 링크를 아는 누구에게나 보이므로 공개하기 전에 내용의 범위를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공유</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지정한 사용자에게만 열람 · 편집 권한을 준다</a:t>
            </a:r>
          </a:p>
          <a:p>
            <a:pPr algn="l">
              <a:lnSpc>
                <a:spcPct val="110000"/>
              </a:lnSpc>
              <a:spcAft>
                <a:spcPts val="600"/>
              </a:spcAft>
            </a:pPr>
            <a:r>
              <a:rPr sz="1450" b="0">
                <a:solidFill>
                  <a:srgbClr val="1F2A3A"/>
                </a:solidFill>
                <a:latin typeface="맑은 고딕"/>
                <a:ea typeface="맑은 고딕"/>
                <a:cs typeface="맑은 고딕"/>
              </a:rPr>
              <a:t>• 권한을 받은 계정으로 로그인해야 보인다</a:t>
            </a:r>
          </a:p>
          <a:p>
            <a:pPr algn="l">
              <a:lnSpc>
                <a:spcPct val="110000"/>
              </a:lnSpc>
              <a:spcAft>
                <a:spcPts val="600"/>
              </a:spcAft>
            </a:pPr>
            <a:r>
              <a:rPr sz="1450" b="0">
                <a:solidFill>
                  <a:srgbClr val="1F2A3A"/>
                </a:solidFill>
                <a:latin typeface="맑은 고딕"/>
                <a:ea typeface="맑은 고딕"/>
                <a:cs typeface="맑은 고딕"/>
              </a:rPr>
              <a:t>• 함께 작업하는 사람과 쓸 때 고른다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지정한 사람만</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게시</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페이지를 웹 주소로 공개한다</a:t>
            </a:r>
          </a:p>
          <a:p>
            <a:pPr algn="l">
              <a:lnSpc>
                <a:spcPct val="110000"/>
              </a:lnSpc>
              <a:spcAft>
                <a:spcPts val="600"/>
              </a:spcAft>
            </a:pPr>
            <a:r>
              <a:rPr sz="1450" b="0">
                <a:solidFill>
                  <a:srgbClr val="1F2A3A"/>
                </a:solidFill>
                <a:latin typeface="맑은 고딕"/>
                <a:ea typeface="맑은 고딕"/>
                <a:cs typeface="맑은 고딕"/>
              </a:rPr>
              <a:t>• 로그인 없이 링크만으로 열린다</a:t>
            </a:r>
          </a:p>
          <a:p>
            <a:pPr algn="l">
              <a:lnSpc>
                <a:spcPct val="110000"/>
              </a:lnSpc>
              <a:spcAft>
                <a:spcPts val="600"/>
              </a:spcAft>
            </a:pPr>
            <a:r>
              <a:rPr sz="1450" b="0">
                <a:solidFill>
                  <a:srgbClr val="1F2A3A"/>
                </a:solidFill>
                <a:latin typeface="맑은 고딕"/>
                <a:ea typeface="맑은 고딕"/>
                <a:cs typeface="맑은 고딕"/>
              </a:rPr>
              <a:t>• 페이지 안의 데이터베이스 항목도 함께 보인다</a:t>
            </a:r>
          </a:p>
          <a:p>
            <a:pPr algn="l">
              <a:lnSpc>
                <a:spcPct val="110000"/>
              </a:lnSpc>
              <a:spcAft>
                <a:spcPts val="600"/>
              </a:spcAft>
            </a:pPr>
            <a:r>
              <a:rPr sz="1450" b="0">
                <a:solidFill>
                  <a:srgbClr val="1F2A3A"/>
                </a:solidFill>
                <a:latin typeface="맑은 고딕"/>
                <a:ea typeface="맑은 고딕"/>
                <a:cs typeface="맑은 고딕"/>
              </a:rPr>
              <a:t>• 개인 정보, 계정, 접속 키는 넣지 않는다</a:t>
            </a:r>
          </a:p>
        </p:txBody>
      </p:sp>
      <p:sp>
        <p:nvSpPr>
          <p:cNvPr id="18" name="Rounded Rectangle 17"/>
          <p:cNvSpPr/>
          <p:nvPr/>
        </p:nvSpPr>
        <p:spPr>
          <a:xfrm>
            <a:off x="6781647" y="5096002"/>
            <a:ext cx="16763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링크를 아는 누구나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Notion 학습 노트의 구성</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과정 홈과 학습 노트 데이터베이스를 만들어 이후 기록의 틀로 삼는다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구성하는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과정 홈 하나와 학습 노트 데이터베이스 하나가 만들어지고 첫 기록 한 건이 들어간다.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home" descr="home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과정 홈</a:t>
            </a:r>
          </a:p>
          <a:p>
            <a:pPr algn="l">
              <a:lnSpc>
                <a:spcPct val="110000"/>
              </a:lnSpc>
              <a:spcAft>
                <a:spcPts val="400"/>
              </a:spcAft>
            </a:pPr>
            <a:r>
              <a:rPr sz="1400" b="0">
                <a:solidFill>
                  <a:srgbClr val="1F2A3A"/>
                </a:solidFill>
                <a:latin typeface="맑은 고딕"/>
                <a:ea typeface="맑은 고딕"/>
                <a:cs typeface="맑은 고딕"/>
              </a:rPr>
              <a:t>• 과정 전체의 입구가 되는 페이지이다</a:t>
            </a:r>
          </a:p>
          <a:p>
            <a:pPr algn="l">
              <a:lnSpc>
                <a:spcPct val="110000"/>
              </a:lnSpc>
              <a:spcAft>
                <a:spcPts val="400"/>
              </a:spcAft>
            </a:pPr>
            <a:r>
              <a:rPr sz="1400" b="0">
                <a:solidFill>
                  <a:srgbClr val="1F2A3A"/>
                </a:solidFill>
                <a:latin typeface="맑은 고딕"/>
                <a:ea typeface="맑은 고딕"/>
                <a:cs typeface="맑은 고딕"/>
              </a:rPr>
              <a:t>• 노트의 사용 규칙을 몇 줄로 적어 둔다</a:t>
            </a:r>
          </a:p>
        </p:txBody>
      </p:sp>
      <p:sp>
        <p:nvSpPr>
          <p:cNvPr id="10" name="Rounded Rectangle 9"/>
          <p:cNvSpPr/>
          <p:nvPr/>
        </p:nvSpPr>
        <p:spPr>
          <a:xfrm>
            <a:off x="777240" y="536676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기록의 입구</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category" descr="category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구획</a:t>
            </a:r>
          </a:p>
          <a:p>
            <a:pPr algn="l">
              <a:lnSpc>
                <a:spcPct val="110000"/>
              </a:lnSpc>
              <a:spcAft>
                <a:spcPts val="400"/>
              </a:spcAft>
            </a:pPr>
            <a:r>
              <a:rPr sz="1400" b="0">
                <a:solidFill>
                  <a:srgbClr val="1F2A3A"/>
                </a:solidFill>
                <a:latin typeface="맑은 고딕"/>
                <a:ea typeface="맑은 고딕"/>
                <a:cs typeface="맑은 고딕"/>
              </a:rPr>
              <a:t>• 본문을 개념 정리, 참고 자료, 실습 결과로 나눈다</a:t>
            </a:r>
          </a:p>
          <a:p>
            <a:pPr algn="l">
              <a:lnSpc>
                <a:spcPct val="110000"/>
              </a:lnSpc>
              <a:spcAft>
                <a:spcPts val="400"/>
              </a:spcAft>
            </a:pPr>
            <a:r>
              <a:rPr sz="1400" b="0">
                <a:solidFill>
                  <a:srgbClr val="1F2A3A"/>
                </a:solidFill>
                <a:latin typeface="맑은 고딕"/>
                <a:ea typeface="맑은 고딕"/>
                <a:cs typeface="맑은 고딕"/>
              </a:rPr>
              <a:t>• 기록의 종류마다 놓일 자리가 정해진다</a:t>
            </a:r>
          </a:p>
        </p:txBody>
      </p:sp>
      <p:sp>
        <p:nvSpPr>
          <p:cNvPr id="16" name="Rounded Rectangle 15"/>
          <p:cNvSpPr/>
          <p:nvPr/>
        </p:nvSpPr>
        <p:spPr>
          <a:xfrm>
            <a:off x="4566818" y="536676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종류의 구분</a:t>
            </a:r>
          </a:p>
        </p:txBody>
      </p:sp>
      <p:sp>
        <p:nvSpPr>
          <p:cNvPr id="18" name="Rounded Rectangle 17"/>
          <p:cNvSpPr/>
          <p:nvPr/>
        </p:nvSpPr>
        <p:spPr>
          <a:xfrm>
            <a:off x="8127796"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5CB8F2"/>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학습 노트 데이터베이스</a:t>
            </a:r>
          </a:p>
          <a:p>
            <a:pPr algn="l">
              <a:lnSpc>
                <a:spcPct val="110000"/>
              </a:lnSpc>
              <a:spcAft>
                <a:spcPts val="400"/>
              </a:spcAft>
            </a:pPr>
            <a:r>
              <a:rPr sz="1400" b="0">
                <a:solidFill>
                  <a:srgbClr val="1F2A3A"/>
                </a:solidFill>
                <a:latin typeface="맑은 고딕"/>
                <a:ea typeface="맑은 고딕"/>
                <a:cs typeface="맑은 고딕"/>
              </a:rPr>
              <a:t>• 속성은 분야, 이해도, 생성 일시이다</a:t>
            </a:r>
          </a:p>
          <a:p>
            <a:pPr algn="l">
              <a:lnSpc>
                <a:spcPct val="110000"/>
              </a:lnSpc>
              <a:spcAft>
                <a:spcPts val="400"/>
              </a:spcAft>
            </a:pPr>
            <a:r>
              <a:rPr sz="1400" b="0">
                <a:solidFill>
                  <a:srgbClr val="1F2A3A"/>
                </a:solidFill>
                <a:latin typeface="맑은 고딕"/>
                <a:ea typeface="맑은 고딕"/>
                <a:cs typeface="맑은 고딕"/>
              </a:rPr>
              <a:t>• 템플릿과 재학습 필터 보기를 함께 둔다</a:t>
            </a:r>
          </a:p>
          <a:p>
            <a:pPr algn="l">
              <a:lnSpc>
                <a:spcPct val="110000"/>
              </a:lnSpc>
              <a:spcAft>
                <a:spcPts val="400"/>
              </a:spcAft>
            </a:pPr>
            <a:r>
              <a:rPr sz="1400" b="0">
                <a:solidFill>
                  <a:srgbClr val="1F2A3A"/>
                </a:solidFill>
                <a:latin typeface="맑은 고딕"/>
                <a:ea typeface="맑은 고딕"/>
                <a:cs typeface="맑은 고딕"/>
              </a:rPr>
              <a:t>• 첫 기록으로 개념 하나를 자신의 문장으로 적는다</a:t>
            </a:r>
          </a:p>
        </p:txBody>
      </p:sp>
      <p:sp>
        <p:nvSpPr>
          <p:cNvPr id="22" name="Rounded Rectangle 21"/>
          <p:cNvSpPr/>
          <p:nvPr/>
        </p:nvSpPr>
        <p:spPr>
          <a:xfrm>
            <a:off x="8356396" y="5366766"/>
            <a:ext cx="132587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66766"/>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분류와 재학습</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HYD 시스템 구조와 데이터 흐름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유온 TS1 한 값이 설비에서 저장소와 화면, 경보에 이르는 경로</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설비에서 관제 화면까지: 선행 교육의 구성요소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설비에서 생긴 물리량은 센서와 PLC를 거쳐 관제 화면에 이르며, 이 수업은 그 값이 그 뒤에 어떻게 쓰이는지를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ectangle 5"/>
          <p:cNvSpPr/>
          <p:nvPr/>
        </p:nvSpPr>
        <p:spPr>
          <a:xfrm>
            <a:off x="1935441" y="3465385"/>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355657"/>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438361"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물리량</a:t>
            </a:r>
          </a:p>
        </p:txBody>
      </p:sp>
      <p:sp>
        <p:nvSpPr>
          <p:cNvPr id="9" name="Oval 8"/>
          <p:cNvSpPr/>
          <p:nvPr/>
        </p:nvSpPr>
        <p:spPr>
          <a:xfrm>
            <a:off x="1341081"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engine" descr="engine_13294B_1.6.png"/>
          <p:cNvPicPr>
            <a:picLocks noChangeAspect="1"/>
          </p:cNvPicPr>
          <p:nvPr/>
        </p:nvPicPr>
        <p:blipFill>
          <a:blip r:embed="rId3"/>
          <a:stretch>
            <a:fillRect/>
          </a:stretch>
        </p:blipFill>
        <p:spPr>
          <a:xfrm>
            <a:off x="1626374" y="3229470"/>
            <a:ext cx="618134" cy="618134"/>
          </a:xfrm>
          <a:prstGeom prst="rect">
            <a:avLst/>
          </a:prstGeom>
        </p:spPr>
      </p:pic>
      <p:sp>
        <p:nvSpPr>
          <p:cNvPr id="11" name="TextBox 10"/>
          <p:cNvSpPr txBox="1"/>
          <p:nvPr/>
        </p:nvSpPr>
        <p:spPr>
          <a:xfrm>
            <a:off x="640079"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설비</a:t>
            </a:r>
          </a:p>
          <a:p>
            <a:pPr algn="ctr">
              <a:lnSpc>
                <a:spcPct val="110000"/>
              </a:lnSpc>
              <a:spcAft>
                <a:spcPts val="400"/>
              </a:spcAft>
            </a:pPr>
            <a:r>
              <a:rPr sz="1300" b="0">
                <a:solidFill>
                  <a:srgbClr val="1F2A3A"/>
                </a:solidFill>
                <a:latin typeface="맑은 고딕"/>
                <a:ea typeface="맑은 고딕"/>
                <a:cs typeface="맑은 고딕"/>
              </a:rPr>
              <a:t>압력, 온도, 진동 같은</a:t>
            </a:r>
          </a:p>
          <a:p>
            <a:pPr algn="ctr">
              <a:lnSpc>
                <a:spcPct val="110000"/>
              </a:lnSpc>
              <a:spcAft>
                <a:spcPts val="400"/>
              </a:spcAft>
            </a:pPr>
            <a:r>
              <a:rPr sz="1300" b="0">
                <a:solidFill>
                  <a:srgbClr val="1F2A3A"/>
                </a:solidFill>
                <a:latin typeface="맑은 고딕"/>
                <a:ea typeface="맑은 고딕"/>
                <a:cs typeface="맑은 고딕"/>
              </a:rPr>
              <a:t>물리량이 생긴다</a:t>
            </a:r>
          </a:p>
        </p:txBody>
      </p:sp>
      <p:sp>
        <p:nvSpPr>
          <p:cNvPr id="12" name="Chevron 11"/>
          <p:cNvSpPr/>
          <p:nvPr/>
        </p:nvSpPr>
        <p:spPr>
          <a:xfrm>
            <a:off x="5976975" y="3355657"/>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5211965"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측정값</a:t>
            </a:r>
          </a:p>
        </p:txBody>
      </p:sp>
      <p:sp>
        <p:nvSpPr>
          <p:cNvPr id="14" name="Oval 13"/>
          <p:cNvSpPr/>
          <p:nvPr/>
        </p:nvSpPr>
        <p:spPr>
          <a:xfrm>
            <a:off x="4114685"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15" name="아이콘:gauge" descr="gauge_13294B_1.6.png"/>
          <p:cNvPicPr>
            <a:picLocks noChangeAspect="1"/>
          </p:cNvPicPr>
          <p:nvPr/>
        </p:nvPicPr>
        <p:blipFill>
          <a:blip r:embed="rId4"/>
          <a:stretch>
            <a:fillRect/>
          </a:stretch>
        </p:blipFill>
        <p:spPr>
          <a:xfrm>
            <a:off x="4399978" y="3229470"/>
            <a:ext cx="618134" cy="618134"/>
          </a:xfrm>
          <a:prstGeom prst="rect">
            <a:avLst/>
          </a:prstGeom>
        </p:spPr>
      </p:pic>
      <p:sp>
        <p:nvSpPr>
          <p:cNvPr id="16" name="TextBox 15"/>
          <p:cNvSpPr txBox="1"/>
          <p:nvPr/>
        </p:nvSpPr>
        <p:spPr>
          <a:xfrm>
            <a:off x="3413683"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센서</a:t>
            </a:r>
          </a:p>
          <a:p>
            <a:pPr algn="ctr">
              <a:lnSpc>
                <a:spcPct val="110000"/>
              </a:lnSpc>
              <a:spcAft>
                <a:spcPts val="400"/>
              </a:spcAft>
            </a:pPr>
            <a:r>
              <a:rPr sz="1300" b="0">
                <a:solidFill>
                  <a:srgbClr val="1F2A3A"/>
                </a:solidFill>
                <a:latin typeface="맑은 고딕"/>
                <a:ea typeface="맑은 고딕"/>
                <a:cs typeface="맑은 고딕"/>
              </a:rPr>
              <a:t>물리량을 재어</a:t>
            </a:r>
          </a:p>
          <a:p>
            <a:pPr algn="ctr">
              <a:lnSpc>
                <a:spcPct val="110000"/>
              </a:lnSpc>
              <a:spcAft>
                <a:spcPts val="400"/>
              </a:spcAft>
            </a:pPr>
            <a:r>
              <a:rPr sz="1300" b="0">
                <a:solidFill>
                  <a:srgbClr val="1F2A3A"/>
                </a:solidFill>
                <a:latin typeface="맑은 고딕"/>
                <a:ea typeface="맑은 고딕"/>
                <a:cs typeface="맑은 고딕"/>
              </a:rPr>
              <a:t>값으로 내놓는다</a:t>
            </a:r>
          </a:p>
        </p:txBody>
      </p:sp>
      <p:sp>
        <p:nvSpPr>
          <p:cNvPr id="17" name="Chevron 16"/>
          <p:cNvSpPr/>
          <p:nvPr/>
        </p:nvSpPr>
        <p:spPr>
          <a:xfrm>
            <a:off x="8750579" y="3355657"/>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7985569"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값과 상태</a:t>
            </a:r>
          </a:p>
        </p:txBody>
      </p:sp>
      <p:sp>
        <p:nvSpPr>
          <p:cNvPr id="19" name="Oval 18"/>
          <p:cNvSpPr/>
          <p:nvPr/>
        </p:nvSpPr>
        <p:spPr>
          <a:xfrm>
            <a:off x="6888289"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20" name="아이콘:cpu" descr="cpu_13294B_1.6.png"/>
          <p:cNvPicPr>
            <a:picLocks noChangeAspect="1"/>
          </p:cNvPicPr>
          <p:nvPr/>
        </p:nvPicPr>
        <p:blipFill>
          <a:blip r:embed="rId5"/>
          <a:stretch>
            <a:fillRect/>
          </a:stretch>
        </p:blipFill>
        <p:spPr>
          <a:xfrm>
            <a:off x="7173582" y="3229470"/>
            <a:ext cx="618134" cy="618134"/>
          </a:xfrm>
          <a:prstGeom prst="rect">
            <a:avLst/>
          </a:prstGeom>
        </p:spPr>
      </p:pic>
      <p:sp>
        <p:nvSpPr>
          <p:cNvPr id="21" name="TextBox 20"/>
          <p:cNvSpPr txBox="1"/>
          <p:nvPr/>
        </p:nvSpPr>
        <p:spPr>
          <a:xfrm>
            <a:off x="6187287"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Programmable Logic Controller</a:t>
            </a:r>
          </a:p>
          <a:p>
            <a:pPr algn="ctr">
              <a:lnSpc>
                <a:spcPct val="110000"/>
              </a:lnSpc>
              <a:spcAft>
                <a:spcPts val="400"/>
              </a:spcAft>
            </a:pPr>
            <a:r>
              <a:rPr sz="1300" b="0">
                <a:solidFill>
                  <a:srgbClr val="1F2A3A"/>
                </a:solidFill>
                <a:latin typeface="맑은 고딕"/>
                <a:ea typeface="맑은 고딕"/>
                <a:cs typeface="맑은 고딕"/>
              </a:rPr>
              <a:t>값을 읽어 설비를 제어한다</a:t>
            </a:r>
          </a:p>
        </p:txBody>
      </p:sp>
      <p:sp>
        <p:nvSpPr>
          <p:cNvPr id="22" name="Oval 21"/>
          <p:cNvSpPr/>
          <p:nvPr/>
        </p:nvSpPr>
        <p:spPr>
          <a:xfrm>
            <a:off x="9661893" y="2944177"/>
            <a:ext cx="1188720" cy="1188720"/>
          </a:xfrm>
          <a:prstGeom prst="ellipse">
            <a:avLst/>
          </a:prstGeom>
          <a:solidFill>
            <a:srgbClr val="5CB8F2"/>
          </a:solidFill>
          <a:ln w="28575">
            <a:solidFill>
              <a:srgbClr val="13294B"/>
            </a:solidFill>
          </a:ln>
        </p:spPr>
        <p:txBody>
          <a:bodyPr rtlCol="0" anchor="ctr"/>
          <a:lstStyle/>
          <a:p>
            <a:pPr algn="ctr"/>
          </a:p>
        </p:txBody>
      </p:sp>
      <p:pic>
        <p:nvPicPr>
          <p:cNvPr id="23" name="아이콘:device-desktop-analytics" descr="device-desktop-analytics_13294B_1.6.png"/>
          <p:cNvPicPr>
            <a:picLocks noChangeAspect="1"/>
          </p:cNvPicPr>
          <p:nvPr/>
        </p:nvPicPr>
        <p:blipFill>
          <a:blip r:embed="rId6"/>
          <a:stretch>
            <a:fillRect/>
          </a:stretch>
        </p:blipFill>
        <p:spPr>
          <a:xfrm>
            <a:off x="9947186" y="3229470"/>
            <a:ext cx="618134" cy="618134"/>
          </a:xfrm>
          <a:prstGeom prst="rect">
            <a:avLst/>
          </a:prstGeom>
        </p:spPr>
      </p:pic>
      <p:sp>
        <p:nvSpPr>
          <p:cNvPr id="24" name="TextBox 23"/>
          <p:cNvSpPr txBox="1"/>
          <p:nvPr/>
        </p:nvSpPr>
        <p:spPr>
          <a:xfrm>
            <a:off x="8960891"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관제 화면</a:t>
            </a:r>
          </a:p>
          <a:p>
            <a:pPr algn="ctr">
              <a:lnSpc>
                <a:spcPct val="110000"/>
              </a:lnSpc>
              <a:spcAft>
                <a:spcPts val="400"/>
              </a:spcAft>
            </a:pPr>
            <a:r>
              <a:rPr sz="1300" b="0">
                <a:solidFill>
                  <a:srgbClr val="1F2A3A"/>
                </a:solidFill>
                <a:latin typeface="맑은 고딕"/>
                <a:ea typeface="맑은 고딕"/>
                <a:cs typeface="맑은 고딕"/>
              </a:rPr>
              <a:t>SCADA: Supervisory Control</a:t>
            </a:r>
          </a:p>
          <a:p>
            <a:pPr algn="ctr">
              <a:lnSpc>
                <a:spcPct val="110000"/>
              </a:lnSpc>
              <a:spcAft>
                <a:spcPts val="400"/>
              </a:spcAft>
            </a:pPr>
            <a:r>
              <a:rPr sz="1300" b="0">
                <a:solidFill>
                  <a:srgbClr val="1F2A3A"/>
                </a:solidFill>
                <a:latin typeface="맑은 고딕"/>
                <a:ea typeface="맑은 고딕"/>
                <a:cs typeface="맑은 고딕"/>
              </a:rPr>
              <a:t>and Data Acquisition</a:t>
            </a:r>
          </a:p>
          <a:p>
            <a:pPr algn="ctr">
              <a:lnSpc>
                <a:spcPct val="110000"/>
              </a:lnSpc>
              <a:spcAft>
                <a:spcPts val="400"/>
              </a:spcAft>
            </a:pPr>
            <a:r>
              <a:rPr sz="1300" b="0">
                <a:solidFill>
                  <a:srgbClr val="1F2A3A"/>
                </a:solidFill>
                <a:latin typeface="맑은 고딕"/>
                <a:ea typeface="맑은 고딕"/>
                <a:cs typeface="맑은 고딕"/>
              </a:rPr>
              <a:t>값을 보여 주고 조작을 받는다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따라갈 사건: HYD-01의 유온 TS1 상승</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단원은 유압 설비 HYD-01의 유온 TS1이 오르는 사건 하나를 따라가며 값이 지나가는 자리를 차례로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899918"/>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899918"/>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HYD-01의 유온 TS1이 48 ℃에서 오르기 시작한다</a:t>
            </a:r>
          </a:p>
        </p:txBody>
      </p:sp>
      <p:sp>
        <p:nvSpPr>
          <p:cNvPr id="8" name="Oval 7"/>
          <p:cNvSpPr/>
          <p:nvPr/>
        </p:nvSpPr>
        <p:spPr>
          <a:xfrm>
            <a:off x="548640" y="4180078"/>
            <a:ext cx="731520" cy="731520"/>
          </a:xfrm>
          <a:prstGeom prst="ellipse">
            <a:avLst/>
          </a:prstGeom>
          <a:solidFill>
            <a:srgbClr val="E7F3FD"/>
          </a:solidFill>
          <a:ln>
            <a:noFill/>
          </a:ln>
        </p:spPr>
        <p:txBody>
          <a:bodyPr rtlCol="0" anchor="ctr"/>
          <a:lstStyle/>
          <a:p>
            <a:pPr algn="ctr"/>
          </a:p>
        </p:txBody>
      </p:sp>
      <p:pic>
        <p:nvPicPr>
          <p:cNvPr id="9" name="아이콘:gauge" descr="gauge_13294B_1.6.png"/>
          <p:cNvPicPr>
            <a:picLocks noChangeAspect="1"/>
          </p:cNvPicPr>
          <p:nvPr/>
        </p:nvPicPr>
        <p:blipFill>
          <a:blip r:embed="rId3"/>
          <a:stretch>
            <a:fillRect/>
          </a:stretch>
        </p:blipFill>
        <p:spPr>
          <a:xfrm>
            <a:off x="702259" y="4333697"/>
            <a:ext cx="424281" cy="424281"/>
          </a:xfrm>
          <a:prstGeom prst="rect">
            <a:avLst/>
          </a:prstGeom>
        </p:spPr>
      </p:pic>
      <p:sp>
        <p:nvSpPr>
          <p:cNvPr id="10" name="TextBox 9"/>
          <p:cNvSpPr txBox="1"/>
          <p:nvPr/>
        </p:nvSpPr>
        <p:spPr>
          <a:xfrm>
            <a:off x="1371600"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값이 생기는 곳</a:t>
            </a:r>
          </a:p>
          <a:p>
            <a:pPr algn="l">
              <a:lnSpc>
                <a:spcPct val="110000"/>
              </a:lnSpc>
              <a:spcAft>
                <a:spcPts val="400"/>
              </a:spcAft>
            </a:pPr>
            <a:r>
              <a:rPr sz="1400" b="0">
                <a:solidFill>
                  <a:srgbClr val="1F2A3A"/>
                </a:solidFill>
                <a:latin typeface="맑은 고딕"/>
                <a:ea typeface="맑은 고딕"/>
                <a:cs typeface="맑은 고딕"/>
              </a:rPr>
              <a:t>설비의 센서와 PLC</a:t>
            </a:r>
          </a:p>
        </p:txBody>
      </p:sp>
      <p:sp>
        <p:nvSpPr>
          <p:cNvPr id="11" name="Oval 10"/>
          <p:cNvSpPr/>
          <p:nvPr/>
        </p:nvSpPr>
        <p:spPr>
          <a:xfrm>
            <a:off x="4338218" y="4180078"/>
            <a:ext cx="731520" cy="731520"/>
          </a:xfrm>
          <a:prstGeom prst="ellipse">
            <a:avLst/>
          </a:prstGeom>
          <a:solidFill>
            <a:srgbClr val="E7F3FD"/>
          </a:solidFill>
          <a:ln>
            <a:noFill/>
          </a:ln>
        </p:spPr>
        <p:txBody>
          <a:bodyPr rtlCol="0" anchor="ctr"/>
          <a:lstStyle/>
          <a:p>
            <a:pPr algn="ctr"/>
          </a:p>
        </p:txBody>
      </p:sp>
      <p:pic>
        <p:nvPicPr>
          <p:cNvPr id="12" name="아이콘:stack-2" descr="stack-2_13294B_1.6.png"/>
          <p:cNvPicPr>
            <a:picLocks noChangeAspect="1"/>
          </p:cNvPicPr>
          <p:nvPr/>
        </p:nvPicPr>
        <p:blipFill>
          <a:blip r:embed="rId4"/>
          <a:stretch>
            <a:fillRect/>
          </a:stretch>
        </p:blipFill>
        <p:spPr>
          <a:xfrm>
            <a:off x="4491837" y="4333697"/>
            <a:ext cx="424281" cy="424281"/>
          </a:xfrm>
          <a:prstGeom prst="rect">
            <a:avLst/>
          </a:prstGeom>
        </p:spPr>
      </p:pic>
      <p:sp>
        <p:nvSpPr>
          <p:cNvPr id="13" name="TextBox 12"/>
          <p:cNvSpPr txBox="1"/>
          <p:nvPr/>
        </p:nvSpPr>
        <p:spPr>
          <a:xfrm>
            <a:off x="5161178"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값이 쌓이는 곳</a:t>
            </a:r>
          </a:p>
          <a:p>
            <a:pPr algn="l">
              <a:lnSpc>
                <a:spcPct val="110000"/>
              </a:lnSpc>
              <a:spcAft>
                <a:spcPts val="400"/>
              </a:spcAft>
            </a:pPr>
            <a:r>
              <a:rPr sz="1400" b="0">
                <a:solidFill>
                  <a:srgbClr val="1F2A3A"/>
                </a:solidFill>
                <a:latin typeface="맑은 고딕"/>
                <a:ea typeface="맑은 고딕"/>
                <a:cs typeface="맑은 고딕"/>
              </a:rPr>
              <a:t>메시지, 기록, 저장소</a:t>
            </a:r>
          </a:p>
        </p:txBody>
      </p:sp>
      <p:sp>
        <p:nvSpPr>
          <p:cNvPr id="14" name="Oval 13"/>
          <p:cNvSpPr/>
          <p:nvPr/>
        </p:nvSpPr>
        <p:spPr>
          <a:xfrm>
            <a:off x="8127796" y="4180078"/>
            <a:ext cx="731520" cy="731520"/>
          </a:xfrm>
          <a:prstGeom prst="ellipse">
            <a:avLst/>
          </a:prstGeom>
          <a:solidFill>
            <a:srgbClr val="E7F3FD"/>
          </a:solidFill>
          <a:ln>
            <a:noFill/>
          </a:ln>
        </p:spPr>
        <p:txBody>
          <a:bodyPr rtlCol="0" anchor="ctr"/>
          <a:lstStyle/>
          <a:p>
            <a:pPr algn="ctr"/>
          </a:p>
        </p:txBody>
      </p:sp>
      <p:pic>
        <p:nvPicPr>
          <p:cNvPr id="15" name="아이콘:bell-ringing" descr="bell-ringing_13294B_1.6.png"/>
          <p:cNvPicPr>
            <a:picLocks noChangeAspect="1"/>
          </p:cNvPicPr>
          <p:nvPr/>
        </p:nvPicPr>
        <p:blipFill>
          <a:blip r:embed="rId5"/>
          <a:stretch>
            <a:fillRect/>
          </a:stretch>
        </p:blipFill>
        <p:spPr>
          <a:xfrm>
            <a:off x="8281416" y="4333697"/>
            <a:ext cx="424281" cy="424281"/>
          </a:xfrm>
          <a:prstGeom prst="rect">
            <a:avLst/>
          </a:prstGeom>
        </p:spPr>
      </p:pic>
      <p:sp>
        <p:nvSpPr>
          <p:cNvPr id="16" name="TextBox 15"/>
          <p:cNvSpPr txBox="1"/>
          <p:nvPr/>
        </p:nvSpPr>
        <p:spPr>
          <a:xfrm>
            <a:off x="8950756"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값을 알아차리는 곳</a:t>
            </a:r>
          </a:p>
          <a:p>
            <a:pPr algn="l">
              <a:lnSpc>
                <a:spcPct val="110000"/>
              </a:lnSpc>
              <a:spcAft>
                <a:spcPts val="400"/>
              </a:spcAft>
            </a:pPr>
            <a:r>
              <a:rPr sz="1400" b="0">
                <a:solidFill>
                  <a:srgbClr val="1F2A3A"/>
                </a:solidFill>
                <a:latin typeface="맑은 고딕"/>
                <a:ea typeface="맑은 고딕"/>
                <a:cs typeface="맑은 고딕"/>
              </a:rPr>
              <a:t>화면과 경보</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유압 파워팩 HYD-01의 구성과 유온 TS1의 계측 지점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센서 값마다 </a:t>
            </a:r>
            <a:r>
              <a:rPr sz="1600" b="1">
                <a:solidFill>
                  <a:srgbClr val="1A6FC4"/>
                </a:solidFill>
                <a:latin typeface="맑은 고딕"/>
                <a:ea typeface="맑은 고딕"/>
                <a:cs typeface="맑은 고딕"/>
              </a:rPr>
              <a:t>태그</a:t>
            </a:r>
            <a:r>
              <a:rPr sz="1600" b="0">
                <a:solidFill>
                  <a:srgbClr val="556175"/>
                </a:solidFill>
                <a:latin typeface="맑은 고딕"/>
                <a:ea typeface="맑은 고딕"/>
                <a:cs typeface="맑은 고딕"/>
              </a:rPr>
              <a:t>(Tag)라는 이름이 붙으며, 유온 TS1은 오일 쿨러 입구에서 잰 작동유 온도이다.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pic>
        <p:nvPicPr>
          <p:cNvPr id="6" name="삽화:설비_유압파워팩.svg" descr="illust_3869358740629765376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41122" y="5315041"/>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작동유 탱크</a:t>
            </a:r>
          </a:p>
          <a:p>
            <a:pPr algn="ctr">
              <a:lnSpc>
                <a:spcPct val="110000"/>
              </a:lnSpc>
              <a:spcAft>
                <a:spcPts val="100"/>
              </a:spcAft>
            </a:pPr>
            <a:r>
              <a:rPr sz="1100" b="0">
                <a:solidFill>
                  <a:srgbClr val="556175"/>
                </a:solidFill>
                <a:latin typeface="맑은 고딕"/>
                <a:ea typeface="맑은 고딕"/>
                <a:cs typeface="맑은 고딕"/>
              </a:rPr>
              <a:t>작동유를 담아 둔다</a:t>
            </a:r>
          </a:p>
        </p:txBody>
      </p:sp>
      <p:sp>
        <p:nvSpPr>
          <p:cNvPr id="8" name="TextBox 7"/>
          <p:cNvSpPr txBox="1"/>
          <p:nvPr/>
        </p:nvSpPr>
        <p:spPr>
          <a:xfrm>
            <a:off x="1415674" y="3116778"/>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모터 · 펌프</a:t>
            </a:r>
          </a:p>
          <a:p>
            <a:pPr algn="ctr">
              <a:lnSpc>
                <a:spcPct val="110000"/>
              </a:lnSpc>
              <a:spcAft>
                <a:spcPts val="100"/>
              </a:spcAft>
            </a:pPr>
            <a:r>
              <a:rPr sz="1100" b="0">
                <a:solidFill>
                  <a:srgbClr val="556175"/>
                </a:solidFill>
                <a:latin typeface="맑은 고딕"/>
                <a:ea typeface="맑은 고딕"/>
                <a:cs typeface="맑은 고딕"/>
              </a:rPr>
              <a:t>작동유를 빨아올려</a:t>
            </a:r>
          </a:p>
          <a:p>
            <a:pPr algn="ctr">
              <a:lnSpc>
                <a:spcPct val="110000"/>
              </a:lnSpc>
              <a:spcAft>
                <a:spcPts val="100"/>
              </a:spcAft>
            </a:pPr>
            <a:r>
              <a:rPr sz="1100" b="0">
                <a:solidFill>
                  <a:srgbClr val="556175"/>
                </a:solidFill>
                <a:latin typeface="맑은 고딕"/>
                <a:ea typeface="맑은 고딕"/>
                <a:cs typeface="맑은 고딕"/>
              </a:rPr>
              <a:t>압력을 걸어 보낸다</a:t>
            </a:r>
          </a:p>
        </p:txBody>
      </p:sp>
      <p:sp>
        <p:nvSpPr>
          <p:cNvPr id="9" name="TextBox 8"/>
          <p:cNvSpPr txBox="1"/>
          <p:nvPr/>
        </p:nvSpPr>
        <p:spPr>
          <a:xfrm>
            <a:off x="5277635" y="190182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PS1</a:t>
            </a:r>
          </a:p>
          <a:p>
            <a:pPr algn="ctr">
              <a:lnSpc>
                <a:spcPct val="110000"/>
              </a:lnSpc>
              <a:spcAft>
                <a:spcPts val="100"/>
              </a:spcAft>
            </a:pPr>
            <a:r>
              <a:rPr sz="1100" b="0">
                <a:solidFill>
                  <a:srgbClr val="556175"/>
                </a:solidFill>
                <a:latin typeface="맑은 고딕"/>
                <a:ea typeface="맑은 고딕"/>
                <a:cs typeface="맑은 고딕"/>
              </a:rPr>
              <a:t>토출 압력 (bar)</a:t>
            </a:r>
          </a:p>
        </p:txBody>
      </p:sp>
      <p:sp>
        <p:nvSpPr>
          <p:cNvPr id="10" name="TextBox 9"/>
          <p:cNvSpPr txBox="1"/>
          <p:nvPr/>
        </p:nvSpPr>
        <p:spPr>
          <a:xfrm>
            <a:off x="7481353" y="1807275"/>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부하</a:t>
            </a:r>
          </a:p>
          <a:p>
            <a:pPr algn="ctr">
              <a:lnSpc>
                <a:spcPct val="110000"/>
              </a:lnSpc>
              <a:spcAft>
                <a:spcPts val="100"/>
              </a:spcAft>
            </a:pPr>
            <a:r>
              <a:rPr sz="1100" b="0">
                <a:solidFill>
                  <a:srgbClr val="556175"/>
                </a:solidFill>
                <a:latin typeface="맑은 고딕"/>
                <a:ea typeface="맑은 고딕"/>
                <a:cs typeface="맑은 고딕"/>
              </a:rPr>
              <a:t>유압으로 움직이는 기계 쪽</a:t>
            </a:r>
          </a:p>
        </p:txBody>
      </p:sp>
      <p:sp>
        <p:nvSpPr>
          <p:cNvPr id="11" name="TextBox 10"/>
          <p:cNvSpPr txBox="1"/>
          <p:nvPr/>
        </p:nvSpPr>
        <p:spPr>
          <a:xfrm>
            <a:off x="5659467" y="2762219"/>
            <a:ext cx="1854614"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TS1 유온</a:t>
            </a:r>
          </a:p>
          <a:p>
            <a:pPr algn="ctr">
              <a:lnSpc>
                <a:spcPct val="110000"/>
              </a:lnSpc>
              <a:spcAft>
                <a:spcPts val="100"/>
              </a:spcAft>
            </a:pPr>
            <a:r>
              <a:rPr sz="1100" b="0">
                <a:solidFill>
                  <a:srgbClr val="556175"/>
                </a:solidFill>
                <a:latin typeface="맑은 고딕"/>
                <a:ea typeface="맑은 고딕"/>
                <a:cs typeface="맑은 고딕"/>
              </a:rPr>
              <a:t>쿨러로 들어가는</a:t>
            </a:r>
          </a:p>
          <a:p>
            <a:pPr algn="ctr">
              <a:lnSpc>
                <a:spcPct val="110000"/>
              </a:lnSpc>
              <a:spcAft>
                <a:spcPts val="100"/>
              </a:spcAft>
            </a:pPr>
            <a:r>
              <a:rPr sz="1100" b="0">
                <a:solidFill>
                  <a:srgbClr val="556175"/>
                </a:solidFill>
                <a:latin typeface="맑은 고딕"/>
                <a:ea typeface="맑은 고딕"/>
                <a:cs typeface="맑은 고딕"/>
              </a:rPr>
              <a:t>작동유의 온도</a:t>
            </a:r>
          </a:p>
          <a:p>
            <a:pPr algn="ctr">
              <a:lnSpc>
                <a:spcPct val="110000"/>
              </a:lnSpc>
              <a:spcAft>
                <a:spcPts val="100"/>
              </a:spcAft>
            </a:pPr>
            <a:r>
              <a:rPr sz="1100" b="0">
                <a:solidFill>
                  <a:srgbClr val="556175"/>
                </a:solidFill>
                <a:latin typeface="맑은 고딕"/>
                <a:ea typeface="맑은 고딕"/>
                <a:cs typeface="맑은 고딕"/>
              </a:rPr>
              <a:t>정상 48 ℃</a:t>
            </a:r>
          </a:p>
        </p:txBody>
      </p:sp>
      <p:sp>
        <p:nvSpPr>
          <p:cNvPr id="12" name="TextBox 11"/>
          <p:cNvSpPr txBox="1"/>
          <p:nvPr/>
        </p:nvSpPr>
        <p:spPr>
          <a:xfrm>
            <a:off x="3892129" y="3636797"/>
            <a:ext cx="196370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CE 냉각 효율</a:t>
            </a:r>
          </a:p>
          <a:p>
            <a:pPr algn="ctr">
              <a:lnSpc>
                <a:spcPct val="110000"/>
              </a:lnSpc>
              <a:spcAft>
                <a:spcPts val="100"/>
              </a:spcAft>
            </a:pPr>
            <a:r>
              <a:rPr sz="1100" b="0">
                <a:solidFill>
                  <a:srgbClr val="556175"/>
                </a:solidFill>
                <a:latin typeface="맑은 고딕"/>
                <a:ea typeface="맑은 고딕"/>
                <a:cs typeface="맑은 고딕"/>
              </a:rPr>
              <a:t>쿨러가 열을 내보내는 정도</a:t>
            </a:r>
          </a:p>
          <a:p>
            <a:pPr algn="ctr">
              <a:lnSpc>
                <a:spcPct val="110000"/>
              </a:lnSpc>
              <a:spcAft>
                <a:spcPts val="100"/>
              </a:spcAft>
            </a:pPr>
            <a:r>
              <a:rPr sz="1100" b="0">
                <a:solidFill>
                  <a:srgbClr val="556175"/>
                </a:solidFill>
                <a:latin typeface="맑은 고딕"/>
                <a:ea typeface="맑은 고딕"/>
                <a:cs typeface="맑은 고딕"/>
              </a:rPr>
              <a:t>센서 없이 계산한 값</a:t>
            </a:r>
          </a:p>
          <a:p>
            <a:pPr algn="ctr">
              <a:lnSpc>
                <a:spcPct val="110000"/>
              </a:lnSpc>
              <a:spcAft>
                <a:spcPts val="100"/>
              </a:spcAft>
            </a:pPr>
            <a:r>
              <a:rPr sz="1100" b="0">
                <a:solidFill>
                  <a:srgbClr val="556175"/>
                </a:solidFill>
                <a:latin typeface="맑은 고딕"/>
                <a:ea typeface="맑은 고딕"/>
                <a:cs typeface="맑은 고딕"/>
              </a:rPr>
              <a:t>정상 84 %</a:t>
            </a:r>
          </a:p>
        </p:txBody>
      </p:sp>
      <p:sp>
        <p:nvSpPr>
          <p:cNvPr id="13" name="TextBox 12"/>
          <p:cNvSpPr txBox="1"/>
          <p:nvPr/>
        </p:nvSpPr>
        <p:spPr>
          <a:xfrm>
            <a:off x="6695869" y="5244129"/>
            <a:ext cx="240008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작동유의 열을 공기로 내보낸다</a:t>
            </a:r>
          </a:p>
        </p:txBody>
      </p:sp>
      <p:sp>
        <p:nvSpPr>
          <p:cNvPr id="14" name="TextBox 13"/>
          <p:cNvSpPr txBox="1"/>
          <p:nvPr/>
        </p:nvSpPr>
        <p:spPr>
          <a:xfrm>
            <a:off x="9979627" y="3944081"/>
            <a:ext cx="141823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팬</a:t>
            </a:r>
          </a:p>
          <a:p>
            <a:pPr algn="ctr">
              <a:lnSpc>
                <a:spcPct val="110000"/>
              </a:lnSpc>
              <a:spcAft>
                <a:spcPts val="100"/>
              </a:spcAft>
            </a:pPr>
            <a:r>
              <a:rPr sz="1100" b="0">
                <a:solidFill>
                  <a:srgbClr val="556175"/>
                </a:solidFill>
                <a:latin typeface="맑은 고딕"/>
                <a:ea typeface="맑은 고딕"/>
                <a:cs typeface="맑은 고딕"/>
              </a:rPr>
              <a:t>쿨러에 바람을</a:t>
            </a:r>
          </a:p>
          <a:p>
            <a:pPr algn="ctr">
              <a:lnSpc>
                <a:spcPct val="110000"/>
              </a:lnSpc>
              <a:spcAft>
                <a:spcPts val="100"/>
              </a:spcAft>
            </a:pPr>
            <a:r>
              <a:rPr sz="1100" b="0">
                <a:solidFill>
                  <a:srgbClr val="556175"/>
                </a:solidFill>
                <a:latin typeface="맑은 고딕"/>
                <a:ea typeface="맑은 고딕"/>
                <a:cs typeface="맑은 고딕"/>
              </a:rPr>
              <a:t>보낸다</a:t>
            </a:r>
          </a:p>
        </p:txBody>
      </p:sp>
      <p:sp>
        <p:nvSpPr>
          <p:cNvPr id="15" name="TextBox 14"/>
          <p:cNvSpPr txBox="1"/>
          <p:nvPr/>
        </p:nvSpPr>
        <p:spPr>
          <a:xfrm>
            <a:off x="10165089" y="5315041"/>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VS1</a:t>
            </a:r>
          </a:p>
          <a:p>
            <a:pPr algn="ctr">
              <a:lnSpc>
                <a:spcPct val="110000"/>
              </a:lnSpc>
              <a:spcAft>
                <a:spcPts val="100"/>
              </a:spcAft>
            </a:pPr>
            <a:r>
              <a:rPr sz="1100" b="0">
                <a:solidFill>
                  <a:srgbClr val="556175"/>
                </a:solidFill>
                <a:latin typeface="맑은 고딕"/>
                <a:ea typeface="맑은 고딕"/>
                <a:cs typeface="맑은 고딕"/>
              </a:rPr>
              <a:t>팬 진동 (mm/s)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유온 TS1이 오르는 까닭: 작동유의 순환과 쿨러의 열 방출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쿨러가 열을 덜 내보내면 덜 식은 작동유가 탱크로 돌아가 다시 돌므로 쿨러 입구의 유온 TS1이 오른다.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pic>
        <p:nvPicPr>
          <p:cNvPr id="6" name="삽화:설비_유압파워팩.svg" descr="illust_3869358740629765376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22932" y="5315041"/>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작동유 탱크</a:t>
            </a:r>
          </a:p>
        </p:txBody>
      </p:sp>
      <p:sp>
        <p:nvSpPr>
          <p:cNvPr id="8" name="TextBox 7"/>
          <p:cNvSpPr txBox="1"/>
          <p:nvPr/>
        </p:nvSpPr>
        <p:spPr>
          <a:xfrm>
            <a:off x="1252031" y="328223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모터 · 펌프</a:t>
            </a:r>
          </a:p>
        </p:txBody>
      </p:sp>
      <p:sp>
        <p:nvSpPr>
          <p:cNvPr id="9" name="TextBox 8"/>
          <p:cNvSpPr txBox="1"/>
          <p:nvPr/>
        </p:nvSpPr>
        <p:spPr>
          <a:xfrm>
            <a:off x="7481353" y="1864004"/>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부하</a:t>
            </a:r>
          </a:p>
        </p:txBody>
      </p:sp>
      <p:sp>
        <p:nvSpPr>
          <p:cNvPr id="10" name="TextBox 9"/>
          <p:cNvSpPr txBox="1"/>
          <p:nvPr/>
        </p:nvSpPr>
        <p:spPr>
          <a:xfrm>
            <a:off x="8386841" y="2904042"/>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뜨거운 작동유</a:t>
            </a:r>
          </a:p>
          <a:p>
            <a:pPr algn="ctr">
              <a:lnSpc>
                <a:spcPct val="110000"/>
              </a:lnSpc>
              <a:spcAft>
                <a:spcPts val="100"/>
              </a:spcAft>
            </a:pPr>
            <a:r>
              <a:rPr sz="1300" b="0">
                <a:solidFill>
                  <a:srgbClr val="556175"/>
                </a:solidFill>
                <a:latin typeface="맑은 고딕"/>
                <a:ea typeface="맑은 고딕"/>
                <a:cs typeface="맑은 고딕"/>
              </a:rPr>
              <a:t>부하에서 돌아온다</a:t>
            </a:r>
          </a:p>
        </p:txBody>
      </p:sp>
      <p:sp>
        <p:nvSpPr>
          <p:cNvPr id="11" name="TextBox 10"/>
          <p:cNvSpPr txBox="1"/>
          <p:nvPr/>
        </p:nvSpPr>
        <p:spPr>
          <a:xfrm>
            <a:off x="5550372" y="2667670"/>
            <a:ext cx="196370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TS1 유온</a:t>
            </a:r>
          </a:p>
          <a:p>
            <a:pPr algn="ctr">
              <a:lnSpc>
                <a:spcPct val="110000"/>
              </a:lnSpc>
              <a:spcAft>
                <a:spcPts val="100"/>
              </a:spcAft>
            </a:pPr>
            <a:r>
              <a:rPr sz="1300" b="0">
                <a:solidFill>
                  <a:srgbClr val="556175"/>
                </a:solidFill>
                <a:latin typeface="맑은 고딕"/>
                <a:ea typeface="맑은 고딕"/>
                <a:cs typeface="맑은 고딕"/>
              </a:rPr>
              <a:t>쿨러 입구에서 잰다</a:t>
            </a:r>
          </a:p>
          <a:p>
            <a:pPr algn="ctr">
              <a:lnSpc>
                <a:spcPct val="110000"/>
              </a:lnSpc>
              <a:spcAft>
                <a:spcPts val="100"/>
              </a:spcAft>
            </a:pPr>
            <a:r>
              <a:rPr sz="1300" b="0">
                <a:solidFill>
                  <a:srgbClr val="556175"/>
                </a:solidFill>
                <a:latin typeface="맑은 고딕"/>
                <a:ea typeface="맑은 고딕"/>
                <a:cs typeface="맑은 고딕"/>
              </a:rPr>
              <a:t>정상 48 ℃</a:t>
            </a:r>
          </a:p>
        </p:txBody>
      </p:sp>
      <p:sp>
        <p:nvSpPr>
          <p:cNvPr id="12" name="TextBox 11"/>
          <p:cNvSpPr txBox="1"/>
          <p:nvPr/>
        </p:nvSpPr>
        <p:spPr>
          <a:xfrm>
            <a:off x="6314037" y="5244129"/>
            <a:ext cx="436379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오일 쿨러</a:t>
            </a:r>
          </a:p>
          <a:p>
            <a:pPr algn="ctr">
              <a:lnSpc>
                <a:spcPct val="110000"/>
              </a:lnSpc>
              <a:spcAft>
                <a:spcPts val="100"/>
              </a:spcAft>
            </a:pPr>
            <a:r>
              <a:rPr sz="1300" b="0">
                <a:solidFill>
                  <a:srgbClr val="556175"/>
                </a:solidFill>
                <a:latin typeface="맑은 고딕"/>
                <a:ea typeface="맑은 고딕"/>
                <a:cs typeface="맑은 고딕"/>
              </a:rPr>
              <a:t>작동유의 열을 공기로 내보낸다</a:t>
            </a:r>
          </a:p>
          <a:p>
            <a:pPr algn="ctr">
              <a:lnSpc>
                <a:spcPct val="110000"/>
              </a:lnSpc>
              <a:spcAft>
                <a:spcPts val="100"/>
              </a:spcAft>
            </a:pPr>
            <a:r>
              <a:rPr sz="1300" b="0">
                <a:solidFill>
                  <a:srgbClr val="556175"/>
                </a:solidFill>
                <a:latin typeface="맑은 고딕"/>
                <a:ea typeface="맑은 고딕"/>
                <a:cs typeface="맑은 고딕"/>
              </a:rPr>
              <a:t>열을 덜 내보내면 덜 식은 작동유가 다시 돈다</a:t>
            </a:r>
          </a:p>
        </p:txBody>
      </p:sp>
      <p:sp>
        <p:nvSpPr>
          <p:cNvPr id="13" name="TextBox 12"/>
          <p:cNvSpPr txBox="1"/>
          <p:nvPr/>
        </p:nvSpPr>
        <p:spPr>
          <a:xfrm>
            <a:off x="9870532" y="3991356"/>
            <a:ext cx="163642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팬</a:t>
            </a:r>
          </a:p>
        </p:txBody>
      </p:sp>
      <p:sp>
        <p:nvSpPr>
          <p:cNvPr id="14" name="TextBox 13"/>
          <p:cNvSpPr txBox="1"/>
          <p:nvPr/>
        </p:nvSpPr>
        <p:spPr>
          <a:xfrm>
            <a:off x="4895803" y="5645962"/>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돌아오는 길</a:t>
            </a:r>
          </a:p>
          <a:p>
            <a:pPr algn="ctr">
              <a:lnSpc>
                <a:spcPct val="110000"/>
              </a:lnSpc>
              <a:spcAft>
                <a:spcPts val="100"/>
              </a:spcAft>
            </a:pPr>
            <a:r>
              <a:rPr sz="1300" b="0">
                <a:solidFill>
                  <a:srgbClr val="556175"/>
                </a:solidFill>
                <a:latin typeface="맑은 고딕"/>
                <a:ea typeface="맑은 고딕"/>
                <a:cs typeface="맑은 고딕"/>
              </a:rPr>
              <a:t>쿨러를 거쳐 탱크로</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1 · 설비 옆의 제어기: PLC와 인터록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서버의 판단을 기다리는 동안 설비가 상할 수 있어, 설비 옆의 PLC가 위험 수준에서 바로 </a:t>
            </a:r>
            <a:r>
              <a:rPr sz="1600" b="1">
                <a:solidFill>
                  <a:srgbClr val="1A6FC4"/>
                </a:solidFill>
                <a:latin typeface="맑은 고딕"/>
                <a:ea typeface="맑은 고딕"/>
                <a:cs typeface="맑은 고딕"/>
              </a:rPr>
              <a:t>인터록</a:t>
            </a:r>
            <a:r>
              <a:rPr sz="1600" b="0">
                <a:solidFill>
                  <a:srgbClr val="556175"/>
                </a:solidFill>
                <a:latin typeface="맑은 고딕"/>
                <a:ea typeface="맑은 고딕"/>
                <a:cs typeface="맑은 고딕"/>
              </a:rPr>
              <a:t>으로 설비를 세운다.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PLC</a:t>
            </a:r>
          </a:p>
          <a:p>
            <a:pPr algn="l">
              <a:lnSpc>
                <a:spcPct val="110000"/>
              </a:lnSpc>
              <a:spcAft>
                <a:spcPts val="200"/>
              </a:spcAft>
            </a:pPr>
            <a:r>
              <a:rPr sz="1150" b="0">
                <a:solidFill>
                  <a:srgbClr val="556175"/>
                </a:solidFill>
                <a:latin typeface="맑은 고딕"/>
                <a:ea typeface="맑은 고딕"/>
                <a:cs typeface="맑은 고딕"/>
              </a:rPr>
              <a:t>산업용 제어기</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현장에 설치하는 산업용 제어기이다. 센서 값을 읽고 프로그램에 따라 팬 · 펌프를 움직인다.</a:t>
            </a:r>
          </a:p>
          <a:p>
            <a:pPr algn="l">
              <a:lnSpc>
                <a:spcPct val="110000"/>
              </a:lnSpc>
              <a:spcAft>
                <a:spcPts val="300"/>
              </a:spcAft>
            </a:pPr>
            <a:r>
              <a:rPr sz="1400" b="0">
                <a:solidFill>
                  <a:srgbClr val="1F2A3A"/>
                </a:solidFill>
                <a:latin typeface="맑은 고딕"/>
                <a:ea typeface="맑은 고딕"/>
                <a:cs typeface="맑은 고딕"/>
              </a:rPr>
              <a:t>HYD-01의 PLC는 유온 TS1을 읽고, 팬 속도와 펌프 부하의 설정값을 받아 설비에 반영한다.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인터록</a:t>
            </a:r>
          </a:p>
          <a:p>
            <a:pPr algn="l">
              <a:lnSpc>
                <a:spcPct val="110000"/>
              </a:lnSpc>
              <a:spcAft>
                <a:spcPts val="200"/>
              </a:spcAft>
            </a:pPr>
            <a:r>
              <a:rPr sz="1150" b="0">
                <a:solidFill>
                  <a:srgbClr val="556175"/>
                </a:solidFill>
                <a:latin typeface="맑은 고딕"/>
                <a:ea typeface="맑은 고딕"/>
                <a:cs typeface="맑은 고딕"/>
              </a:rPr>
              <a:t>Interlock</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위험 조건이 되면 다른 명령보다 먼저 설비를 안전한 상태로 보내는 보호 동작이다.</a:t>
            </a:r>
          </a:p>
          <a:p>
            <a:pPr algn="l">
              <a:lnSpc>
                <a:spcPct val="110000"/>
              </a:lnSpc>
              <a:spcAft>
                <a:spcPts val="300"/>
              </a:spcAft>
            </a:pPr>
            <a:r>
              <a:rPr sz="1400" b="0">
                <a:solidFill>
                  <a:srgbClr val="1F2A3A"/>
                </a:solidFill>
                <a:latin typeface="맑은 고딕"/>
                <a:ea typeface="맑은 고딕"/>
                <a:cs typeface="맑은 고딕"/>
              </a:rPr>
              <a:t>예: 유온 TS1이 65 ℃를 넘으면 PLC가 설비를 보호 정지(TRIP)시킨다.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설비 옆에 두는 까닭</a:t>
            </a:r>
          </a:p>
          <a:p>
            <a:pPr algn="l">
              <a:lnSpc>
                <a:spcPct val="110000"/>
              </a:lnSpc>
              <a:spcAft>
                <a:spcPts val="200"/>
              </a:spcAft>
            </a:pPr>
            <a:r>
              <a:rPr sz="1150" b="0">
                <a:solidFill>
                  <a:srgbClr val="556175"/>
                </a:solidFill>
                <a:latin typeface="맑은 고딕"/>
                <a:ea typeface="맑은 고딕"/>
                <a:cs typeface="맑은 고딕"/>
              </a:rPr>
              <a:t>지연</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값을 서버로 보내 판단을 받고 명령이 돌아오기까지는 시간이 걸리며, 그 사이에 설비가 상할 수 있다.</a:t>
            </a:r>
          </a:p>
          <a:p>
            <a:pPr algn="l">
              <a:lnSpc>
                <a:spcPct val="110000"/>
              </a:lnSpc>
              <a:spcAft>
                <a:spcPts val="300"/>
              </a:spcAft>
            </a:pPr>
            <a:r>
              <a:rPr sz="1400" b="0">
                <a:solidFill>
                  <a:srgbClr val="1F2A3A"/>
                </a:solidFill>
                <a:latin typeface="맑은 고딕"/>
                <a:ea typeface="맑은 고딕"/>
                <a:cs typeface="맑은 고딕"/>
              </a:rPr>
              <a:t>설비를 지키는 판단은 통신과 서버를 거치지 않고 설비 옆에서 끝낸다.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HYD-01의 인터록 세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 토출 압력, 팬 진동 가운데 하나라도 설비가 상하는 한계에 이르면 HYD-01의 PLC는 설비를 보호 정지시킨다.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712720"/>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TS1</a:t>
            </a:r>
          </a:p>
          <a:p>
            <a:pPr algn="l">
              <a:lnSpc>
                <a:spcPct val="110000"/>
              </a:lnSpc>
              <a:spcAft>
                <a:spcPts val="400"/>
              </a:spcAft>
            </a:pPr>
            <a:r>
              <a:rPr sz="1400" b="0">
                <a:solidFill>
                  <a:srgbClr val="1F2A3A"/>
                </a:solidFill>
                <a:latin typeface="맑은 고딕"/>
                <a:ea typeface="맑은 고딕"/>
                <a:cs typeface="맑은 고딕"/>
              </a:rPr>
              <a:t>• 65 ℃를 넘으면 정지한다</a:t>
            </a:r>
          </a:p>
          <a:p>
            <a:pPr algn="l">
              <a:lnSpc>
                <a:spcPct val="110000"/>
              </a:lnSpc>
              <a:spcAft>
                <a:spcPts val="400"/>
              </a:spcAft>
            </a:pPr>
            <a:r>
              <a:rPr sz="1400" b="0">
                <a:solidFill>
                  <a:srgbClr val="1F2A3A"/>
                </a:solidFill>
                <a:latin typeface="맑은 고딕"/>
                <a:ea typeface="맑은 고딕"/>
                <a:cs typeface="맑은 고딕"/>
              </a:rPr>
              <a:t>• 작동유가 묽어져 설비가 닳는다</a:t>
            </a:r>
          </a:p>
        </p:txBody>
      </p:sp>
      <p:sp>
        <p:nvSpPr>
          <p:cNvPr id="10" name="Rounded Rectangle 9"/>
          <p:cNvSpPr/>
          <p:nvPr/>
        </p:nvSpPr>
        <p:spPr>
          <a:xfrm>
            <a:off x="777240" y="5041392"/>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과열</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gauge" descr="gaug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토출 압력 PS1</a:t>
            </a:r>
          </a:p>
          <a:p>
            <a:pPr algn="l">
              <a:lnSpc>
                <a:spcPct val="110000"/>
              </a:lnSpc>
              <a:spcAft>
                <a:spcPts val="400"/>
              </a:spcAft>
            </a:pPr>
            <a:r>
              <a:rPr sz="1400" b="0">
                <a:solidFill>
                  <a:srgbClr val="1F2A3A"/>
                </a:solidFill>
                <a:latin typeface="맑은 고딕"/>
                <a:ea typeface="맑은 고딕"/>
                <a:cs typeface="맑은 고딕"/>
              </a:rPr>
              <a:t>• 130 bar 아래로 내려가면 정지한다</a:t>
            </a:r>
          </a:p>
          <a:p>
            <a:pPr algn="l">
              <a:lnSpc>
                <a:spcPct val="110000"/>
              </a:lnSpc>
              <a:spcAft>
                <a:spcPts val="400"/>
              </a:spcAft>
            </a:pPr>
            <a:r>
              <a:rPr sz="1400" b="0">
                <a:solidFill>
                  <a:srgbClr val="1F2A3A"/>
                </a:solidFill>
                <a:latin typeface="맑은 고딕"/>
                <a:ea typeface="맑은 고딕"/>
                <a:cs typeface="맑은 고딕"/>
              </a:rPr>
              <a:t>• 펌프의 마모나 누설을 뜻한다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저압</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진동 VS1</a:t>
            </a:r>
          </a:p>
          <a:p>
            <a:pPr algn="l">
              <a:lnSpc>
                <a:spcPct val="110000"/>
              </a:lnSpc>
              <a:spcAft>
                <a:spcPts val="400"/>
              </a:spcAft>
            </a:pPr>
            <a:r>
              <a:rPr sz="1400" b="0">
                <a:solidFill>
                  <a:srgbClr val="1F2A3A"/>
                </a:solidFill>
                <a:latin typeface="맑은 고딕"/>
                <a:ea typeface="맑은 고딕"/>
                <a:cs typeface="맑은 고딕"/>
              </a:rPr>
              <a:t>• 2.0 mm/s 이상이면 정지한다</a:t>
            </a:r>
          </a:p>
          <a:p>
            <a:pPr algn="l">
              <a:lnSpc>
                <a:spcPct val="110000"/>
              </a:lnSpc>
              <a:spcAft>
                <a:spcPts val="400"/>
              </a:spcAft>
            </a:pPr>
            <a:r>
              <a:rPr sz="1400" b="0">
                <a:solidFill>
                  <a:srgbClr val="1F2A3A"/>
                </a:solidFill>
                <a:latin typeface="맑은 고딕"/>
                <a:ea typeface="맑은 고딕"/>
                <a:cs typeface="맑은 고딕"/>
              </a:rPr>
              <a:t>• 그대로 돌리면 팬이 상한다</a:t>
            </a:r>
          </a:p>
        </p:txBody>
      </p:sp>
      <p:sp>
        <p:nvSpPr>
          <p:cNvPr id="22" name="Rounded Rectangle 21"/>
          <p:cNvSpPr/>
          <p:nvPr/>
        </p:nvSpPr>
        <p:spPr>
          <a:xfrm>
            <a:off x="8356396" y="5041392"/>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고진동</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현장 통신이 단순한 까닭: 정해진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통신은 정해진 시간 안의 도착을 지켜야 해서 암호화와 인증을 싣지 않으며, 보안은 위 계층이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world" descr="world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사무 통신</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평균적으로 빠르면 된다</a:t>
            </a:r>
          </a:p>
          <a:p>
            <a:pPr algn="l">
              <a:lnSpc>
                <a:spcPct val="110000"/>
              </a:lnSpc>
              <a:spcAft>
                <a:spcPts val="600"/>
              </a:spcAft>
            </a:pPr>
            <a:r>
              <a:rPr sz="1450" b="0">
                <a:solidFill>
                  <a:srgbClr val="1F2A3A"/>
                </a:solidFill>
                <a:latin typeface="맑은 고딕"/>
                <a:ea typeface="맑은 고딕"/>
                <a:cs typeface="맑은 고딕"/>
              </a:rPr>
              <a:t>• 암호화와 인증으로 내용을 지킨다</a:t>
            </a:r>
          </a:p>
          <a:p>
            <a:pPr algn="l">
              <a:lnSpc>
                <a:spcPct val="110000"/>
              </a:lnSpc>
              <a:spcAft>
                <a:spcPts val="600"/>
              </a:spcAft>
            </a:pPr>
            <a:r>
              <a:rPr sz="1450" b="0">
                <a:solidFill>
                  <a:srgbClr val="1F2A3A"/>
                </a:solidFill>
                <a:latin typeface="맑은 고딕"/>
                <a:ea typeface="맑은 고딕"/>
                <a:cs typeface="맑은 고딕"/>
              </a:rPr>
              <a:t>• 처리에 걸리는 시간이 그때그때 달라도 된다</a:t>
            </a:r>
          </a:p>
        </p:txBody>
      </p:sp>
      <p:sp>
        <p:nvSpPr>
          <p:cNvPr id="11" name="Rounded Rectangle 10"/>
          <p:cNvSpPr/>
          <p:nvPr/>
        </p:nvSpPr>
        <p:spPr>
          <a:xfrm>
            <a:off x="868680" y="5246433"/>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평균 속도</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engine" descr="engin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현장 통신</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어떤 경우에도 정해진 시간 안에 도착해야 한다</a:t>
            </a:r>
          </a:p>
          <a:p>
            <a:pPr algn="l">
              <a:lnSpc>
                <a:spcPct val="110000"/>
              </a:lnSpc>
              <a:spcAft>
                <a:spcPts val="600"/>
              </a:spcAft>
            </a:pPr>
            <a:r>
              <a:rPr sz="1450" b="0">
                <a:solidFill>
                  <a:srgbClr val="1F2A3A"/>
                </a:solidFill>
                <a:latin typeface="맑은 고딕"/>
                <a:ea typeface="맑은 고딕"/>
                <a:cs typeface="맑은 고딕"/>
              </a:rPr>
              <a:t>• 처리 시간을 들쭉날쭉하게 만드는 암호화와 인증을 싣지 않는다</a:t>
            </a:r>
          </a:p>
          <a:p>
            <a:pPr algn="l">
              <a:lnSpc>
                <a:spcPct val="110000"/>
              </a:lnSpc>
              <a:spcAft>
                <a:spcPts val="600"/>
              </a:spcAft>
            </a:pPr>
            <a:r>
              <a:rPr sz="1450" b="0">
                <a:solidFill>
                  <a:srgbClr val="1F2A3A"/>
                </a:solidFill>
                <a:latin typeface="맑은 고딕"/>
                <a:ea typeface="맑은 고딕"/>
                <a:cs typeface="맑은 고딕"/>
              </a:rPr>
              <a:t>• 이 자리에는 Modbus 같은 단순한 통신 규약이 쓰인다</a:t>
            </a:r>
          </a:p>
        </p:txBody>
      </p:sp>
      <p:sp>
        <p:nvSpPr>
          <p:cNvPr id="18" name="Rounded Rectangle 17"/>
          <p:cNvSpPr/>
          <p:nvPr/>
        </p:nvSpPr>
        <p:spPr>
          <a:xfrm>
            <a:off x="6781647" y="5246433"/>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정해진 시간</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2 · 엣지 게이트웨이: 숫자에 이름을 붙인다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제어기에 든 숫자는 그대로는 무슨 값인지 알 수 없어, 엣지 게이트웨이가 이름을 붙여 태그 값과 운전 상태로 올려 보낸다.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따로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올라온다</a:t>
            </a:r>
          </a:p>
          <a:p>
            <a:pPr algn="l">
              <a:lnSpc>
                <a:spcPct val="110000"/>
              </a:lnSpc>
              <a:spcAft>
                <a:spcPts val="200"/>
              </a:spcAft>
            </a:pPr>
            <a:r>
              <a:rPr sz="1300" b="0">
                <a:solidFill>
                  <a:srgbClr val="E8EEF6"/>
                </a:solidFill>
                <a:latin typeface="Consolas"/>
                <a:ea typeface="맑은 고딕"/>
                <a:cs typeface="맑은 고딕"/>
              </a:rPr>
              <a:t>TS1    48.0</a:t>
            </a:r>
          </a:p>
          <a:p>
            <a:pPr algn="l">
              <a:lnSpc>
                <a:spcPct val="110000"/>
              </a:lnSpc>
              <a:spcAft>
                <a:spcPts val="200"/>
              </a:spcAft>
            </a:pPr>
            <a:r>
              <a:rPr sz="1300" b="0">
                <a:solidFill>
                  <a:srgbClr val="E8EEF6"/>
                </a:solidFill>
                <a:latin typeface="Consolas"/>
                <a:ea typeface="맑은 고딕"/>
                <a:cs typeface="맑은 고딕"/>
              </a:rPr>
              <a:t>CE     84.0</a:t>
            </a:r>
          </a:p>
          <a:p>
            <a:pPr algn="l">
              <a:lnSpc>
                <a:spcPct val="110000"/>
              </a:lnSpc>
              <a:spcAft>
                <a:spcPts val="200"/>
              </a:spcAft>
            </a:pPr>
            <a:r>
              <a:rPr sz="1300" b="0">
                <a:solidFill>
                  <a:srgbClr val="E8EEF6"/>
                </a:solidFill>
                <a:latin typeface="Consolas"/>
                <a:ea typeface="맑은 고딕"/>
                <a:cs typeface="맑은 고딕"/>
              </a:rPr>
              <a:t>PS1    182.0</a:t>
            </a:r>
          </a:p>
          <a:p>
            <a:pPr algn="l">
              <a:lnSpc>
                <a:spcPct val="110000"/>
              </a:lnSpc>
              <a:spcAft>
                <a:spcPts val="200"/>
              </a:spcAft>
            </a:pPr>
            <a:r>
              <a:rPr sz="1300" b="0">
                <a:solidFill>
                  <a:srgbClr val="E8EEF6"/>
                </a:solidFill>
                <a:latin typeface="Consolas"/>
                <a:ea typeface="맑은 고딕"/>
                <a:cs typeface="맑은 고딕"/>
              </a:rPr>
              <a:t>VS1    0.6</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a:p>
            <a:pPr algn="l">
              <a:lnSpc>
                <a:spcPct val="110000"/>
              </a:lnSpc>
              <a:spcAft>
                <a:spcPts val="200"/>
              </a:spcAft>
            </a:pPr>
            <a:r>
              <a:rPr sz="1300" b="0">
                <a:solidFill>
                  <a:srgbClr val="E8EEF6"/>
                </a:solidFill>
                <a:latin typeface="Consolas"/>
                <a:ea typeface="맑은 고딕"/>
                <a:cs typeface="맑은 고딕"/>
              </a:rPr>
              <a:t>mode       REMOTE_AUTO</a:t>
            </a:r>
          </a:p>
          <a:p>
            <a:pPr algn="l">
              <a:lnSpc>
                <a:spcPct val="110000"/>
              </a:lnSpc>
              <a:spcAft>
                <a:spcPts val="200"/>
              </a:spcAft>
            </a:pPr>
            <a:r>
              <a:rPr sz="1300" b="0">
                <a:solidFill>
                  <a:srgbClr val="E8EEF6"/>
                </a:solidFill>
                <a:latin typeface="Consolas"/>
                <a:ea typeface="맑은 고딕"/>
                <a:cs typeface="맑은 고딕"/>
              </a:rPr>
              <a:t>state      RUN</a:t>
            </a:r>
          </a:p>
          <a:p>
            <a:pPr algn="l">
              <a:lnSpc>
                <a:spcPct val="110000"/>
              </a:lnSpc>
              <a:spcAft>
                <a:spcPts val="200"/>
              </a:spcAft>
            </a:pPr>
            <a:r>
              <a:rPr sz="1300" b="0">
                <a:solidFill>
                  <a:srgbClr val="E8EEF6"/>
                </a:solidFill>
                <a:latin typeface="Consolas"/>
                <a:ea typeface="맑은 고딕"/>
                <a:cs typeface="맑은 고딕"/>
              </a:rPr>
              <a:t>fan_pct    60</a:t>
            </a:r>
          </a:p>
          <a:p>
            <a:pPr algn="l">
              <a:lnSpc>
                <a:spcPct val="110000"/>
              </a:lnSpc>
              <a:spcAft>
                <a:spcPts val="200"/>
              </a:spcAft>
            </a:pPr>
            <a:r>
              <a:rPr sz="1300" b="0">
                <a:solidFill>
                  <a:srgbClr val="E8EEF6"/>
                </a:solidFill>
                <a:latin typeface="Consolas"/>
                <a:ea typeface="맑은 고딕"/>
                <a:cs typeface="맑은 고딕"/>
              </a:rPr>
              <a:t>load_pct   90</a:t>
            </a:r>
          </a:p>
          <a:p>
            <a:pPr algn="l">
              <a:lnSpc>
                <a:spcPct val="110000"/>
              </a:lnSpc>
              <a:spcAft>
                <a:spcPts val="200"/>
              </a:spcAft>
            </a:pPr>
            <a:r>
              <a:rPr sz="1300" b="0">
                <a:solidFill>
                  <a:srgbClr val="E8EEF6"/>
                </a:solidFill>
                <a:latin typeface="Consolas"/>
                <a:ea typeface="맑은 고딕"/>
                <a:cs typeface="맑은 고딕"/>
              </a:rPr>
              <a:t>interlock  PASS</a:t>
            </a:r>
          </a:p>
        </p:txBody>
      </p:sp>
      <p:sp>
        <p:nvSpPr>
          <p:cNvPr id="8" name="TextBox 7"/>
          <p:cNvSpPr txBox="1"/>
          <p:nvPr/>
        </p:nvSpPr>
        <p:spPr>
          <a:xfrm>
            <a:off x="7635240" y="1627632"/>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TS1 · CE</a:t>
            </a:r>
          </a:p>
          <a:p>
            <a:pPr algn="l">
              <a:lnSpc>
                <a:spcPct val="110000"/>
              </a:lnSpc>
              <a:spcAft>
                <a:spcPts val="400"/>
              </a:spcAft>
            </a:pPr>
            <a:r>
              <a:rPr sz="1400" b="0">
                <a:solidFill>
                  <a:srgbClr val="1F2A3A"/>
                </a:solidFill>
                <a:latin typeface="맑은 고딕"/>
                <a:ea typeface="맑은 고딕"/>
                <a:cs typeface="맑은 고딕"/>
              </a:rPr>
              <a:t>유온(쿨러 입구의 작동유 온도)은 정상 48 ℃, 냉각 효율(쿨러가 열을 내보내는 정도)은 정상 84 %이다.</a:t>
            </a:r>
          </a:p>
        </p:txBody>
      </p:sp>
      <p:sp>
        <p:nvSpPr>
          <p:cNvPr id="9" name="TextBox 8"/>
          <p:cNvSpPr txBox="1"/>
          <p:nvPr/>
        </p:nvSpPr>
        <p:spPr>
          <a:xfrm>
            <a:off x="7635240" y="2809494"/>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mode · interlock</a:t>
            </a:r>
          </a:p>
          <a:p>
            <a:pPr algn="l">
              <a:lnSpc>
                <a:spcPct val="110000"/>
              </a:lnSpc>
              <a:spcAft>
                <a:spcPts val="400"/>
              </a:spcAft>
            </a:pPr>
            <a:r>
              <a:rPr sz="1400" b="0">
                <a:solidFill>
                  <a:srgbClr val="1F2A3A"/>
                </a:solidFill>
                <a:latin typeface="맑은 고딕"/>
                <a:ea typeface="맑은 고딕"/>
                <a:cs typeface="맑은 고딕"/>
              </a:rPr>
              <a:t>운전 모드와 인터록의 상태이다. 원격 자동(REMOTE_AUTO)으로 돌고 있고 인터록에 걸리지 않아 PASS이다.</a:t>
            </a:r>
          </a:p>
        </p:txBody>
      </p:sp>
      <p:sp>
        <p:nvSpPr>
          <p:cNvPr id="10" name="TextBox 9"/>
          <p:cNvSpPr txBox="1"/>
          <p:nvPr/>
        </p:nvSpPr>
        <p:spPr>
          <a:xfrm>
            <a:off x="7635240" y="3991356"/>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값</a:t>
            </a:r>
          </a:p>
          <a:p>
            <a:pPr algn="l">
              <a:lnSpc>
                <a:spcPct val="110000"/>
              </a:lnSpc>
              <a:spcAft>
                <a:spcPts val="400"/>
              </a:spcAft>
            </a:pPr>
            <a:r>
              <a:rPr sz="1400" b="0">
                <a:solidFill>
                  <a:srgbClr val="1F2A3A"/>
                </a:solidFill>
                <a:latin typeface="맑은 고딕"/>
                <a:ea typeface="맑은 고딕"/>
                <a:cs typeface="맑은 고딕"/>
              </a:rPr>
              <a:t>토출 압력 PS1과 팬 진동 VS1, 운전 중인지와 팬 속도 · 부하의 비율이 함께 올라온다.</a:t>
            </a:r>
          </a:p>
        </p:txBody>
      </p:sp>
      <p:sp>
        <p:nvSpPr>
          <p:cNvPr id="11" name="TextBox 10"/>
          <p:cNvSpPr txBox="1"/>
          <p:nvPr/>
        </p:nvSpPr>
        <p:spPr>
          <a:xfrm>
            <a:off x="7635240" y="5173218"/>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엣지 게이트웨이</a:t>
            </a:r>
          </a:p>
          <a:p>
            <a:pPr algn="l">
              <a:lnSpc>
                <a:spcPct val="110000"/>
              </a:lnSpc>
              <a:spcAft>
                <a:spcPts val="400"/>
              </a:spcAft>
            </a:pPr>
            <a:r>
              <a:rPr sz="1400" b="0">
                <a:solidFill>
                  <a:srgbClr val="1F2A3A"/>
                </a:solidFill>
                <a:latin typeface="맑은 고딕"/>
                <a:ea typeface="맑은 고딕"/>
                <a:cs typeface="맑은 고딕"/>
              </a:rPr>
              <a:t>설비 쪽의 값을 읽어 이름과 형식을 갖춘 메시지로 바꾸는 자리이다. 이 역할에는 EdgeX Foundry 같은 것이 있다.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받는 쪽이 늘 때 생기는 문제: 직접 연결과 중개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보내는 쪽이 받는 쪽을 하나하나 알고 직접 연결하면 받는 쪽이 늘 때마다 설비 쪽을 고쳐야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lug-connected" descr="plug-connected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직접 연결한다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보내는 쪽이 받는 쪽의 주소를 모두 안다</a:t>
            </a:r>
          </a:p>
          <a:p>
            <a:pPr algn="l">
              <a:lnSpc>
                <a:spcPct val="110000"/>
              </a:lnSpc>
              <a:spcAft>
                <a:spcPts val="600"/>
              </a:spcAft>
            </a:pPr>
            <a:r>
              <a:rPr sz="1450" b="0">
                <a:solidFill>
                  <a:srgbClr val="1F2A3A"/>
                </a:solidFill>
                <a:latin typeface="맑은 고딕"/>
                <a:ea typeface="맑은 고딕"/>
                <a:cs typeface="맑은 고딕"/>
              </a:rPr>
              <a:t>• 받는 쪽이 하나 늘면 설비 쪽 프로그램을 고친다</a:t>
            </a:r>
          </a:p>
        </p:txBody>
      </p:sp>
      <p:sp>
        <p:nvSpPr>
          <p:cNvPr id="11" name="Rounded Rectangle 10"/>
          <p:cNvSpPr/>
          <p:nvPr/>
        </p:nvSpPr>
        <p:spPr>
          <a:xfrm>
            <a:off x="868680" y="4945570"/>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받는 쪽마다 연결</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broadcast" descr="broadcas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가운데에 중개 서버를 둔다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보내는 쪽은 중개 서버에만 보낸다</a:t>
            </a:r>
          </a:p>
          <a:p>
            <a:pPr algn="l">
              <a:lnSpc>
                <a:spcPct val="110000"/>
              </a:lnSpc>
              <a:spcAft>
                <a:spcPts val="600"/>
              </a:spcAft>
            </a:pPr>
            <a:r>
              <a:rPr sz="1450" b="0">
                <a:solidFill>
                  <a:srgbClr val="1F2A3A"/>
                </a:solidFill>
                <a:latin typeface="맑은 고딕"/>
                <a:ea typeface="맑은 고딕"/>
                <a:cs typeface="맑은 고딕"/>
              </a:rPr>
              <a:t>• 받는 쪽은 중개 서버에 받고 싶은 것을 등록한다</a:t>
            </a:r>
          </a:p>
          <a:p>
            <a:pPr algn="l">
              <a:lnSpc>
                <a:spcPct val="110000"/>
              </a:lnSpc>
              <a:spcAft>
                <a:spcPts val="600"/>
              </a:spcAft>
            </a:pPr>
            <a:r>
              <a:rPr sz="1450" b="0">
                <a:solidFill>
                  <a:srgbClr val="1F2A3A"/>
                </a:solidFill>
                <a:latin typeface="맑은 고딕"/>
                <a:ea typeface="맑은 고딕"/>
                <a:cs typeface="맑은 고딕"/>
              </a:rPr>
              <a:t>• 받는 쪽이 늘어도 설비 쪽은 그대로이다</a:t>
            </a:r>
          </a:p>
        </p:txBody>
      </p:sp>
      <p:sp>
        <p:nvSpPr>
          <p:cNvPr id="18" name="Rounded Rectangle 17"/>
          <p:cNvSpPr/>
          <p:nvPr/>
        </p:nvSpPr>
        <p:spPr>
          <a:xfrm>
            <a:off x="6781647" y="4945570"/>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중개 서버 하나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MQTT와 브로커: 발행과 구독</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MQTT는 보내는 쪽과 받는 쪽 사이에 </a:t>
            </a:r>
            <a:r>
              <a:rPr sz="1600" b="1">
                <a:solidFill>
                  <a:srgbClr val="1A6FC4"/>
                </a:solidFill>
                <a:latin typeface="맑은 고딕"/>
                <a:ea typeface="맑은 고딕"/>
                <a:cs typeface="맑은 고딕"/>
              </a:rPr>
              <a:t>브로커</a:t>
            </a:r>
            <a:r>
              <a:rPr sz="1600" b="0">
                <a:solidFill>
                  <a:srgbClr val="556175"/>
                </a:solidFill>
                <a:latin typeface="맑은 고딕"/>
                <a:ea typeface="맑은 고딕"/>
                <a:cs typeface="맑은 고딕"/>
              </a:rPr>
              <a:t>를 두고 토픽으로 메시지를 주고받는 통신 방식이다.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pic>
        <p:nvPicPr>
          <p:cNvPr id="6" name="삽화:리니지_1_MQTT.svg" descr="illust_6175756097908553595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06557" y="2478572"/>
            <a:ext cx="141823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a:p>
            <a:pPr algn="ctr">
              <a:lnSpc>
                <a:spcPct val="110000"/>
              </a:lnSpc>
              <a:spcAft>
                <a:spcPts val="100"/>
              </a:spcAft>
            </a:pPr>
            <a:r>
              <a:rPr sz="1100" b="0">
                <a:solidFill>
                  <a:srgbClr val="556175"/>
                </a:solidFill>
                <a:latin typeface="맑은 고딕"/>
                <a:ea typeface="맑은 고딕"/>
                <a:cs typeface="맑은 고딕"/>
              </a:rPr>
              <a:t>유온 TS1을 잰다</a:t>
            </a:r>
          </a:p>
        </p:txBody>
      </p:sp>
      <p:sp>
        <p:nvSpPr>
          <p:cNvPr id="8" name="TextBox 7"/>
          <p:cNvSpPr txBox="1"/>
          <p:nvPr/>
        </p:nvSpPr>
        <p:spPr>
          <a:xfrm>
            <a:off x="2102972" y="2124014"/>
            <a:ext cx="1527329" cy="1018920"/>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발행자</a:t>
            </a:r>
          </a:p>
          <a:p>
            <a:pPr algn="ctr">
              <a:lnSpc>
                <a:spcPct val="110000"/>
              </a:lnSpc>
              <a:spcAft>
                <a:spcPts val="100"/>
              </a:spcAft>
            </a:pPr>
            <a:r>
              <a:rPr sz="1100" b="0">
                <a:solidFill>
                  <a:srgbClr val="556175"/>
                </a:solidFill>
                <a:latin typeface="맑은 고딕"/>
                <a:ea typeface="맑은 고딕"/>
                <a:cs typeface="맑은 고딕"/>
              </a:rPr>
              <a:t>Publisher</a:t>
            </a:r>
          </a:p>
          <a:p>
            <a:pPr algn="ctr">
              <a:lnSpc>
                <a:spcPct val="110000"/>
              </a:lnSpc>
              <a:spcAft>
                <a:spcPts val="100"/>
              </a:spcAft>
            </a:pPr>
            <a:r>
              <a:rPr sz="1100" b="0">
                <a:solidFill>
                  <a:srgbClr val="556175"/>
                </a:solidFill>
                <a:latin typeface="맑은 고딕"/>
                <a:ea typeface="맑은 고딕"/>
                <a:cs typeface="맑은 고딕"/>
              </a:rPr>
              <a:t>엣지 게이트웨이가 값을</a:t>
            </a:r>
          </a:p>
          <a:p>
            <a:pPr algn="ctr">
              <a:lnSpc>
                <a:spcPct val="110000"/>
              </a:lnSpc>
              <a:spcAft>
                <a:spcPts val="100"/>
              </a:spcAft>
            </a:pPr>
            <a:r>
              <a:rPr sz="1100" b="0">
                <a:solidFill>
                  <a:srgbClr val="556175"/>
                </a:solidFill>
                <a:latin typeface="맑은 고딕"/>
                <a:ea typeface="맑은 고딕"/>
                <a:cs typeface="맑은 고딕"/>
              </a:rPr>
              <a:t>토픽에 보낸다</a:t>
            </a:r>
          </a:p>
        </p:txBody>
      </p:sp>
      <p:sp>
        <p:nvSpPr>
          <p:cNvPr id="9" name="TextBox 8"/>
          <p:cNvSpPr txBox="1"/>
          <p:nvPr/>
        </p:nvSpPr>
        <p:spPr>
          <a:xfrm>
            <a:off x="3608482" y="2265837"/>
            <a:ext cx="152732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브로커</a:t>
            </a:r>
          </a:p>
          <a:p>
            <a:pPr algn="ctr">
              <a:lnSpc>
                <a:spcPct val="110000"/>
              </a:lnSpc>
              <a:spcAft>
                <a:spcPts val="100"/>
              </a:spcAft>
            </a:pPr>
            <a:r>
              <a:rPr sz="1100" b="0">
                <a:solidFill>
                  <a:srgbClr val="556175"/>
                </a:solidFill>
                <a:latin typeface="맑은 고딕"/>
                <a:ea typeface="맑은 고딕"/>
                <a:cs typeface="맑은 고딕"/>
              </a:rPr>
              <a:t>Broker · 토픽을 보고</a:t>
            </a:r>
          </a:p>
          <a:p>
            <a:pPr algn="ctr">
              <a:lnSpc>
                <a:spcPct val="110000"/>
              </a:lnSpc>
              <a:spcAft>
                <a:spcPts val="100"/>
              </a:spcAft>
            </a:pPr>
            <a:r>
              <a:rPr sz="1100" b="0">
                <a:solidFill>
                  <a:srgbClr val="556175"/>
                </a:solidFill>
                <a:latin typeface="맑은 고딕"/>
                <a:ea typeface="맑은 고딕"/>
                <a:cs typeface="맑은 고딕"/>
              </a:rPr>
              <a:t>구독자에게 전달한다</a:t>
            </a:r>
          </a:p>
        </p:txBody>
      </p:sp>
      <p:sp>
        <p:nvSpPr>
          <p:cNvPr id="10" name="TextBox 9"/>
          <p:cNvSpPr txBox="1"/>
          <p:nvPr/>
        </p:nvSpPr>
        <p:spPr>
          <a:xfrm>
            <a:off x="859290" y="3991356"/>
            <a:ext cx="261827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plant/hyd01/tag/TS1</a:t>
            </a:r>
          </a:p>
          <a:p>
            <a:pPr algn="ctr">
              <a:lnSpc>
                <a:spcPct val="110000"/>
              </a:lnSpc>
              <a:spcAft>
                <a:spcPts val="100"/>
              </a:spcAft>
            </a:pPr>
            <a:r>
              <a:rPr sz="1100" b="0">
                <a:solidFill>
                  <a:srgbClr val="556175"/>
                </a:solidFill>
                <a:latin typeface="맑은 고딕"/>
                <a:ea typeface="맑은 고딕"/>
                <a:cs typeface="맑은 고딕"/>
              </a:rPr>
              <a:t>토픽(Topic): 메시지에 붙는 주소</a:t>
            </a:r>
          </a:p>
          <a:p>
            <a:pPr algn="ctr">
              <a:lnSpc>
                <a:spcPct val="110000"/>
              </a:lnSpc>
              <a:spcAft>
                <a:spcPts val="100"/>
              </a:spcAft>
            </a:pPr>
            <a:r>
              <a:rPr sz="1100" b="0">
                <a:solidFill>
                  <a:srgbClr val="556175"/>
                </a:solidFill>
                <a:latin typeface="맑은 고딕"/>
                <a:ea typeface="맑은 고딕"/>
                <a:cs typeface="맑은 고딕"/>
              </a:rPr>
              <a:t>설비 hyd01 · 태그 TS1의 값</a:t>
            </a:r>
          </a:p>
        </p:txBody>
      </p:sp>
      <p:sp>
        <p:nvSpPr>
          <p:cNvPr id="11" name="TextBox 10"/>
          <p:cNvSpPr txBox="1"/>
          <p:nvPr/>
        </p:nvSpPr>
        <p:spPr>
          <a:xfrm>
            <a:off x="3553935" y="5466319"/>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운전 화면</a:t>
            </a:r>
          </a:p>
        </p:txBody>
      </p:sp>
      <p:sp>
        <p:nvSpPr>
          <p:cNvPr id="12" name="TextBox 11"/>
          <p:cNvSpPr txBox="1"/>
          <p:nvPr/>
        </p:nvSpPr>
        <p:spPr>
          <a:xfrm>
            <a:off x="5343092" y="3991356"/>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수집 서비스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토픽의 구조: 빗금으로 나눈 계층형 주소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토픽은 빗금으로 계층을 나눈 문자열이어서 설비나 태그가 바뀌면 해당 자리만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plant / hyd01 / tag / TS1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plant/hyd01/tag/TS1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plant/hyd01/tag/CE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p>
          <a:p>
            <a:pPr algn="l">
              <a:lnSpc>
                <a:spcPct val="110000"/>
              </a:lnSpc>
              <a:spcAft>
                <a:spcPts val="200"/>
              </a:spcAft>
            </a:pPr>
            <a:r>
              <a:rPr sz="1300" b="0">
                <a:solidFill>
                  <a:srgbClr val="E8EEF6"/>
                </a:solidFill>
                <a:latin typeface="Consolas"/>
                <a:ea typeface="맑은 고딕"/>
                <a:cs typeface="맑은 고딕"/>
              </a:rPr>
              <a:t>plant/hyd02/tag/TS1     HYD-02</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plant/hyd01/status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p:txBody>
      </p:sp>
      <p:sp>
        <p:nvSpPr>
          <p:cNvPr id="8" name="TextBox 7"/>
          <p:cNvSpPr txBox="1"/>
          <p:nvPr/>
        </p:nvSpPr>
        <p:spPr>
          <a:xfrm>
            <a:off x="7635240" y="2545207"/>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hyd01</a:t>
            </a:r>
          </a:p>
          <a:p>
            <a:pPr algn="l">
              <a:lnSpc>
                <a:spcPct val="110000"/>
              </a:lnSpc>
              <a:spcAft>
                <a:spcPts val="400"/>
              </a:spcAft>
            </a:pPr>
            <a:r>
              <a:rPr sz="1400" b="0">
                <a:solidFill>
                  <a:srgbClr val="1F2A3A"/>
                </a:solidFill>
                <a:latin typeface="맑은 고딕"/>
                <a:ea typeface="맑은 고딕"/>
                <a:cs typeface="맑은 고딕"/>
              </a:rPr>
              <a:t>설비 자리이다. HYD-01, HYD-02, HYD-03 세 대가 hyd01, hyd02, hyd03으로 들어간다.</a:t>
            </a:r>
          </a:p>
        </p:txBody>
      </p:sp>
      <p:sp>
        <p:nvSpPr>
          <p:cNvPr id="9" name="TextBox 8"/>
          <p:cNvSpPr txBox="1"/>
          <p:nvPr/>
        </p:nvSpPr>
        <p:spPr>
          <a:xfrm>
            <a:off x="7635240" y="3509306"/>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tag · TS1</a:t>
            </a:r>
          </a:p>
          <a:p>
            <a:pPr algn="l">
              <a:lnSpc>
                <a:spcPct val="110000"/>
              </a:lnSpc>
              <a:spcAft>
                <a:spcPts val="400"/>
              </a:spcAft>
            </a:pPr>
            <a:r>
              <a:rPr sz="1400" b="0">
                <a:solidFill>
                  <a:srgbClr val="1F2A3A"/>
                </a:solidFill>
                <a:latin typeface="맑은 고딕"/>
                <a:ea typeface="맑은 고딕"/>
                <a:cs typeface="맑은 고딕"/>
              </a:rPr>
              <a:t>태그 값이라는 표시와 태그 이름이다.</a:t>
            </a:r>
          </a:p>
        </p:txBody>
      </p:sp>
      <p:sp>
        <p:nvSpPr>
          <p:cNvPr id="10" name="TextBox 9"/>
          <p:cNvSpPr txBox="1"/>
          <p:nvPr/>
        </p:nvSpPr>
        <p:spPr>
          <a:xfrm>
            <a:off x="7635240" y="4473405"/>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status</a:t>
            </a:r>
          </a:p>
          <a:p>
            <a:pPr algn="l">
              <a:lnSpc>
                <a:spcPct val="110000"/>
              </a:lnSpc>
              <a:spcAft>
                <a:spcPts val="400"/>
              </a:spcAft>
            </a:pPr>
            <a:r>
              <a:rPr sz="1400" b="0">
                <a:solidFill>
                  <a:srgbClr val="1F2A3A"/>
                </a:solidFill>
                <a:latin typeface="맑은 고딕"/>
                <a:ea typeface="맑은 고딕"/>
                <a:cs typeface="맑은 고딕"/>
              </a:rPr>
              <a:t>앞에서 본 운전 상태가 올라오는 토픽이다.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발행과 구독이 이루어지는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구독자가 받을 토픽을 먼저 등록해 두지 않으면, 값을 보관하지 않는 브로커는 발행된 메시지를 넘길 곳이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구독</a:t>
            </a:r>
          </a:p>
          <a:p>
            <a:pPr algn="ctr">
              <a:lnSpc>
                <a:spcPct val="110000"/>
              </a:lnSpc>
              <a:spcAft>
                <a:spcPts val="400"/>
              </a:spcAft>
            </a:pPr>
            <a:r>
              <a:rPr sz="1350" b="0">
                <a:solidFill>
                  <a:srgbClr val="1F2A3A"/>
                </a:solidFill>
                <a:latin typeface="맑은 고딕"/>
                <a:ea typeface="맑은 고딕"/>
                <a:cs typeface="맑은 고딕"/>
              </a:rPr>
              <a:t>운전 화면과 수집 서비스가</a:t>
            </a:r>
          </a:p>
          <a:p>
            <a:pPr algn="ctr">
              <a:lnSpc>
                <a:spcPct val="110000"/>
              </a:lnSpc>
              <a:spcAft>
                <a:spcPts val="400"/>
              </a:spcAft>
            </a:pPr>
            <a:r>
              <a:rPr sz="1350" b="0">
                <a:solidFill>
                  <a:srgbClr val="1F2A3A"/>
                </a:solidFill>
                <a:latin typeface="맑은 고딕"/>
                <a:ea typeface="맑은 고딕"/>
                <a:cs typeface="맑은 고딕"/>
              </a:rPr>
              <a:t>받을 토픽을 브로커에 먼저 등록한다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발행</a:t>
            </a:r>
          </a:p>
          <a:p>
            <a:pPr algn="ctr">
              <a:lnSpc>
                <a:spcPct val="110000"/>
              </a:lnSpc>
              <a:spcAft>
                <a:spcPts val="400"/>
              </a:spcAft>
            </a:pPr>
            <a:r>
              <a:rPr sz="1350" b="0">
                <a:solidFill>
                  <a:srgbClr val="1F2A3A"/>
                </a:solidFill>
                <a:latin typeface="맑은 고딕"/>
                <a:ea typeface="맑은 고딕"/>
                <a:cs typeface="맑은 고딕"/>
              </a:rPr>
              <a:t>엣지 게이트웨이가 TS1 값을</a:t>
            </a:r>
          </a:p>
          <a:p>
            <a:pPr algn="ctr">
              <a:lnSpc>
                <a:spcPct val="110000"/>
              </a:lnSpc>
              <a:spcAft>
                <a:spcPts val="400"/>
              </a:spcAft>
            </a:pPr>
            <a:r>
              <a:rPr sz="1350" b="0">
                <a:solidFill>
                  <a:srgbClr val="1F2A3A"/>
                </a:solidFill>
                <a:latin typeface="맑은 고딕"/>
                <a:ea typeface="맑은 고딕"/>
                <a:cs typeface="맑은 고딕"/>
              </a:rPr>
              <a:t>토픽에 실어 브로커로 보낸다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broadcast" descr="broadcast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전달</a:t>
            </a:r>
          </a:p>
          <a:p>
            <a:pPr algn="ctr">
              <a:lnSpc>
                <a:spcPct val="110000"/>
              </a:lnSpc>
              <a:spcAft>
                <a:spcPts val="400"/>
              </a:spcAft>
            </a:pPr>
            <a:r>
              <a:rPr sz="1350" b="0">
                <a:solidFill>
                  <a:srgbClr val="1F2A3A"/>
                </a:solidFill>
                <a:latin typeface="맑은 고딕"/>
                <a:ea typeface="맑은 고딕"/>
                <a:cs typeface="맑은 고딕"/>
              </a:rPr>
              <a:t>브로커가 그 토픽을 등록한</a:t>
            </a:r>
          </a:p>
          <a:p>
            <a:pPr algn="ctr">
              <a:lnSpc>
                <a:spcPct val="110000"/>
              </a:lnSpc>
              <a:spcAft>
                <a:spcPts val="400"/>
              </a:spcAft>
            </a:pPr>
            <a:r>
              <a:rPr sz="1350" b="0">
                <a:solidFill>
                  <a:srgbClr val="1F2A3A"/>
                </a:solidFill>
                <a:latin typeface="맑은 고딕"/>
                <a:ea typeface="맑은 고딕"/>
                <a:cs typeface="맑은 고딕"/>
              </a:rPr>
              <a:t>구독자 모두에게 넘긴다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OT와 IT를 직접 잇지 않는 이유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외부와 닿는 IT가 침해되었을 때 그 피해가 설비 사고로 번지지 않도록 두 영역을 직접 잇지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730373"/>
            <a:ext cx="5181447" cy="2521966"/>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931541"/>
            <a:ext cx="731520" cy="731520"/>
          </a:xfrm>
          <a:prstGeom prst="ellipse">
            <a:avLst/>
          </a:prstGeom>
          <a:solidFill>
            <a:srgbClr val="FFFFFF"/>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76579" y="3085160"/>
            <a:ext cx="424281" cy="424281"/>
          </a:xfrm>
          <a:prstGeom prst="rect">
            <a:avLst/>
          </a:prstGeom>
        </p:spPr>
      </p:pic>
      <p:sp>
        <p:nvSpPr>
          <p:cNvPr id="9" name="TextBox 8"/>
          <p:cNvSpPr txBox="1"/>
          <p:nvPr/>
        </p:nvSpPr>
        <p:spPr>
          <a:xfrm>
            <a:off x="1691640"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OT</a:t>
            </a:r>
          </a:p>
        </p:txBody>
      </p:sp>
      <p:sp>
        <p:nvSpPr>
          <p:cNvPr id="10" name="TextBox 9"/>
          <p:cNvSpPr txBox="1"/>
          <p:nvPr/>
        </p:nvSpPr>
        <p:spPr>
          <a:xfrm>
            <a:off x="822959"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설비를 직접 움직인다</a:t>
            </a:r>
          </a:p>
          <a:p>
            <a:pPr algn="l">
              <a:lnSpc>
                <a:spcPct val="110000"/>
              </a:lnSpc>
              <a:spcAft>
                <a:spcPts val="600"/>
              </a:spcAft>
            </a:pPr>
            <a:r>
              <a:rPr sz="1450" b="0">
                <a:solidFill>
                  <a:srgbClr val="1F2A3A"/>
                </a:solidFill>
                <a:latin typeface="맑은 고딕"/>
                <a:ea typeface="맑은 고딕"/>
                <a:cs typeface="맑은 고딕"/>
              </a:rPr>
              <a:t>• 잘못된 명령이 들어오면 설비가 멈추거나 다친다</a:t>
            </a:r>
          </a:p>
        </p:txBody>
      </p:sp>
      <p:sp>
        <p:nvSpPr>
          <p:cNvPr id="11" name="Rounded Rectangle 10"/>
          <p:cNvSpPr/>
          <p:nvPr/>
        </p:nvSpPr>
        <p:spPr>
          <a:xfrm>
            <a:off x="868680" y="4795139"/>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795139"/>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멈추면 안 된다</a:t>
            </a:r>
          </a:p>
        </p:txBody>
      </p:sp>
      <p:sp>
        <p:nvSpPr>
          <p:cNvPr id="13" name="Rounded Rectangle 12"/>
          <p:cNvSpPr/>
          <p:nvPr/>
        </p:nvSpPr>
        <p:spPr>
          <a:xfrm>
            <a:off x="6461607" y="2730373"/>
            <a:ext cx="5181447" cy="2521966"/>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931541"/>
            <a:ext cx="731520" cy="731520"/>
          </a:xfrm>
          <a:prstGeom prst="ellipse">
            <a:avLst/>
          </a:prstGeom>
          <a:solidFill>
            <a:srgbClr val="FFFFFF"/>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3085160"/>
            <a:ext cx="424281" cy="424281"/>
          </a:xfrm>
          <a:prstGeom prst="rect">
            <a:avLst/>
          </a:prstGeom>
        </p:spPr>
      </p:pic>
      <p:sp>
        <p:nvSpPr>
          <p:cNvPr id="16" name="TextBox 15"/>
          <p:cNvSpPr txBox="1"/>
          <p:nvPr/>
        </p:nvSpPr>
        <p:spPr>
          <a:xfrm>
            <a:off x="7604607"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IT</a:t>
            </a:r>
          </a:p>
        </p:txBody>
      </p:sp>
      <p:sp>
        <p:nvSpPr>
          <p:cNvPr id="17" name="TextBox 16"/>
          <p:cNvSpPr txBox="1"/>
          <p:nvPr/>
        </p:nvSpPr>
        <p:spPr>
          <a:xfrm>
            <a:off x="6735927"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사무망이나 인터넷과 닿을 수 있다</a:t>
            </a:r>
          </a:p>
          <a:p>
            <a:pPr algn="l">
              <a:lnSpc>
                <a:spcPct val="110000"/>
              </a:lnSpc>
              <a:spcAft>
                <a:spcPts val="600"/>
              </a:spcAft>
            </a:pPr>
            <a:r>
              <a:rPr sz="1450" b="0">
                <a:solidFill>
                  <a:srgbClr val="1F2A3A"/>
                </a:solidFill>
                <a:latin typeface="맑은 고딕"/>
                <a:ea typeface="맑은 고딕"/>
                <a:cs typeface="맑은 고딕"/>
              </a:rPr>
              <a:t>• 외부에서 들어오는 침해에 노출된다</a:t>
            </a:r>
          </a:p>
        </p:txBody>
      </p:sp>
      <p:sp>
        <p:nvSpPr>
          <p:cNvPr id="18" name="Rounded Rectangle 17"/>
          <p:cNvSpPr/>
          <p:nvPr/>
        </p:nvSpPr>
        <p:spPr>
          <a:xfrm>
            <a:off x="6781647" y="4795139"/>
            <a:ext cx="132587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4795139"/>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외부와 닿는다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완충 구역 DMZ와 한 방향 수집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통신에 없는 보안은 </a:t>
            </a:r>
            <a:r>
              <a:rPr sz="1600" b="1">
                <a:solidFill>
                  <a:srgbClr val="1A6FC4"/>
                </a:solidFill>
                <a:latin typeface="맑은 고딕"/>
                <a:ea typeface="맑은 고딕"/>
                <a:cs typeface="맑은 고딕"/>
              </a:rPr>
              <a:t>DMZ</a:t>
            </a:r>
            <a:r>
              <a:rPr sz="1600" b="0">
                <a:solidFill>
                  <a:srgbClr val="556175"/>
                </a:solidFill>
                <a:latin typeface="맑은 고딕"/>
                <a:ea typeface="맑은 고딕"/>
                <a:cs typeface="맑은 고딕"/>
              </a:rPr>
              <a:t>가 맡아, 수집 서비스가 값을 OT에서 IT로 한 방향으로만 옮긴다.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pic>
        <p:nvPicPr>
          <p:cNvPr id="6" name="삽화:리니지_2_DMZ.svg" descr="illust_1295817473953072460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52009" y="1755273"/>
            <a:ext cx="229099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a:p>
            <a:pPr algn="ctr">
              <a:lnSpc>
                <a:spcPct val="110000"/>
              </a:lnSpc>
              <a:spcAft>
                <a:spcPts val="100"/>
              </a:spcAft>
            </a:pPr>
            <a:r>
              <a:rPr sz="1300" b="0">
                <a:solidFill>
                  <a:srgbClr val="556175"/>
                </a:solidFill>
                <a:latin typeface="맑은 고딕"/>
                <a:ea typeface="맑은 고딕"/>
                <a:cs typeface="맑은 고딕"/>
              </a:rPr>
              <a:t>설비를 감시 · 제어하는 영역</a:t>
            </a:r>
          </a:p>
        </p:txBody>
      </p:sp>
      <p:sp>
        <p:nvSpPr>
          <p:cNvPr id="8" name="TextBox 7"/>
          <p:cNvSpPr txBox="1"/>
          <p:nvPr/>
        </p:nvSpPr>
        <p:spPr>
          <a:xfrm>
            <a:off x="5315818" y="1755273"/>
            <a:ext cx="1690971"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a:p>
            <a:pPr algn="ctr">
              <a:lnSpc>
                <a:spcPct val="110000"/>
              </a:lnSpc>
              <a:spcAft>
                <a:spcPts val="100"/>
              </a:spcAft>
            </a:pPr>
            <a:r>
              <a:rPr sz="1300" b="0">
                <a:solidFill>
                  <a:srgbClr val="556175"/>
                </a:solidFill>
                <a:latin typeface="맑은 고딕"/>
                <a:ea typeface="맑은 고딕"/>
                <a:cs typeface="맑은 고딕"/>
              </a:rPr>
              <a:t>OT와 IT 사이의 구역</a:t>
            </a:r>
          </a:p>
        </p:txBody>
      </p:sp>
      <p:sp>
        <p:nvSpPr>
          <p:cNvPr id="9" name="TextBox 8"/>
          <p:cNvSpPr txBox="1"/>
          <p:nvPr/>
        </p:nvSpPr>
        <p:spPr>
          <a:xfrm>
            <a:off x="9434153" y="1755273"/>
            <a:ext cx="196370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a:p>
            <a:pPr algn="ctr">
              <a:lnSpc>
                <a:spcPct val="110000"/>
              </a:lnSpc>
              <a:spcAft>
                <a:spcPts val="100"/>
              </a:spcAft>
            </a:pPr>
            <a:r>
              <a:rPr sz="1300" b="0">
                <a:solidFill>
                  <a:srgbClr val="556175"/>
                </a:solidFill>
                <a:latin typeface="맑은 고딕"/>
                <a:ea typeface="맑은 고딕"/>
                <a:cs typeface="맑은 고딕"/>
              </a:rPr>
              <a:t>기록 · 분석 · 판단 영역</a:t>
            </a:r>
          </a:p>
        </p:txBody>
      </p:sp>
      <p:sp>
        <p:nvSpPr>
          <p:cNvPr id="10" name="TextBox 9"/>
          <p:cNvSpPr txBox="1"/>
          <p:nvPr/>
        </p:nvSpPr>
        <p:spPr>
          <a:xfrm>
            <a:off x="3826672" y="2644033"/>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브로커</a:t>
            </a:r>
          </a:p>
        </p:txBody>
      </p:sp>
      <p:sp>
        <p:nvSpPr>
          <p:cNvPr id="11" name="TextBox 10"/>
          <p:cNvSpPr txBox="1"/>
          <p:nvPr/>
        </p:nvSpPr>
        <p:spPr>
          <a:xfrm>
            <a:off x="5315818" y="3991356"/>
            <a:ext cx="1690971"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수집 서비스</a:t>
            </a:r>
          </a:p>
          <a:p>
            <a:pPr algn="ctr">
              <a:lnSpc>
                <a:spcPct val="110000"/>
              </a:lnSpc>
              <a:spcAft>
                <a:spcPts val="100"/>
              </a:spcAft>
            </a:pPr>
            <a:r>
              <a:rPr sz="1300" b="0">
                <a:solidFill>
                  <a:srgbClr val="556175"/>
                </a:solidFill>
                <a:latin typeface="맑은 고딕"/>
                <a:ea typeface="맑은 고딕"/>
                <a:cs typeface="맑은 고딕"/>
              </a:rPr>
              <a:t>브로커를 구독해</a:t>
            </a:r>
          </a:p>
          <a:p>
            <a:pPr algn="ctr">
              <a:lnSpc>
                <a:spcPct val="110000"/>
              </a:lnSpc>
              <a:spcAft>
                <a:spcPts val="100"/>
              </a:spcAft>
            </a:pPr>
            <a:r>
              <a:rPr sz="1300" b="0">
                <a:solidFill>
                  <a:srgbClr val="556175"/>
                </a:solidFill>
                <a:latin typeface="맑은 고딕"/>
                <a:ea typeface="맑은 고딕"/>
                <a:cs typeface="맑은 고딕"/>
              </a:rPr>
              <a:t>받은 메시지를</a:t>
            </a:r>
          </a:p>
          <a:p>
            <a:pPr algn="ctr">
              <a:lnSpc>
                <a:spcPct val="110000"/>
              </a:lnSpc>
              <a:spcAft>
                <a:spcPts val="100"/>
              </a:spcAft>
            </a:pPr>
            <a:r>
              <a:rPr sz="1300" b="0">
                <a:solidFill>
                  <a:srgbClr val="556175"/>
                </a:solidFill>
                <a:latin typeface="맑은 고딕"/>
                <a:ea typeface="맑은 고딕"/>
                <a:cs typeface="맑은 고딕"/>
              </a:rPr>
              <a:t>IT로 옮겨 적는다</a:t>
            </a:r>
          </a:p>
          <a:p>
            <a:pPr algn="ctr">
              <a:lnSpc>
                <a:spcPct val="110000"/>
              </a:lnSpc>
              <a:spcAft>
                <a:spcPts val="100"/>
              </a:spcAft>
            </a:pPr>
            <a:r>
              <a:rPr sz="1300" b="0">
                <a:solidFill>
                  <a:srgbClr val="556175"/>
                </a:solidFill>
                <a:latin typeface="맑은 고딕"/>
                <a:ea typeface="맑은 고딕"/>
                <a:cs typeface="맑은 고딕"/>
              </a:rPr>
              <a:t>OT로는 쓰지 않는다</a:t>
            </a:r>
          </a:p>
        </p:txBody>
      </p:sp>
      <p:sp>
        <p:nvSpPr>
          <p:cNvPr id="12" name="TextBox 11"/>
          <p:cNvSpPr txBox="1"/>
          <p:nvPr/>
        </p:nvSpPr>
        <p:spPr>
          <a:xfrm>
            <a:off x="7219525" y="2209108"/>
            <a:ext cx="163642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이벤트 로그</a:t>
            </a:r>
          </a:p>
          <a:p>
            <a:pPr algn="ctr">
              <a:lnSpc>
                <a:spcPct val="110000"/>
              </a:lnSpc>
              <a:spcAft>
                <a:spcPts val="100"/>
              </a:spcAft>
            </a:pPr>
            <a:r>
              <a:rPr sz="1300" b="0">
                <a:solidFill>
                  <a:srgbClr val="556175"/>
                </a:solidFill>
                <a:latin typeface="맑은 고딕"/>
                <a:ea typeface="맑은 고딕"/>
                <a:cs typeface="맑은 고딕"/>
              </a:rPr>
              <a:t>받은 순서대로</a:t>
            </a:r>
          </a:p>
          <a:p>
            <a:pPr algn="ctr">
              <a:lnSpc>
                <a:spcPct val="110000"/>
              </a:lnSpc>
              <a:spcAft>
                <a:spcPts val="100"/>
              </a:spcAft>
            </a:pPr>
            <a:r>
              <a:rPr sz="1300" b="0">
                <a:solidFill>
                  <a:srgbClr val="556175"/>
                </a:solidFill>
                <a:latin typeface="맑은 고딕"/>
                <a:ea typeface="맑은 고딕"/>
                <a:cs typeface="맑은 고딕"/>
              </a:rPr>
              <a:t>쌓아 두는 기록</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3 · 이벤트 로그: 받은 순서대로 남긴다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브로커는 전달하고 나면 값을 갖고 있지 않으므로, 이벤트 로그가 받은 순서대로 남겨 여러 서비스가 각자 다시 읽게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broadcast" descr="broadcast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브로커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그 순간 구독 중인 쪽에 바로 넘긴다</a:t>
            </a:r>
          </a:p>
          <a:p>
            <a:pPr algn="l">
              <a:lnSpc>
                <a:spcPct val="110000"/>
              </a:lnSpc>
              <a:spcAft>
                <a:spcPts val="600"/>
              </a:spcAft>
            </a:pPr>
            <a:r>
              <a:rPr sz="1450" b="0">
                <a:solidFill>
                  <a:srgbClr val="1F2A3A"/>
                </a:solidFill>
                <a:latin typeface="맑은 고딕"/>
                <a:ea typeface="맑은 고딕"/>
                <a:cs typeface="맑은 고딕"/>
              </a:rPr>
              <a:t>• 나중에 붙은 서비스는 지나간 값을 받지 못한다</a:t>
            </a:r>
          </a:p>
          <a:p>
            <a:pPr algn="l">
              <a:lnSpc>
                <a:spcPct val="110000"/>
              </a:lnSpc>
              <a:spcAft>
                <a:spcPts val="600"/>
              </a:spcAft>
            </a:pPr>
            <a:r>
              <a:rPr sz="1450" b="0">
                <a:solidFill>
                  <a:srgbClr val="1F2A3A"/>
                </a:solidFill>
                <a:latin typeface="맑은 고딕"/>
                <a:ea typeface="맑은 고딕"/>
                <a:cs typeface="맑은 고딕"/>
              </a:rPr>
              <a:t>• 이 역할에는 EMQX 같은 MQTT 브로커가 있다</a:t>
            </a:r>
          </a:p>
        </p:txBody>
      </p:sp>
      <p:sp>
        <p:nvSpPr>
          <p:cNvPr id="11" name="Rounded Rectangle 10"/>
          <p:cNvSpPr/>
          <p:nvPr/>
        </p:nvSpPr>
        <p:spPr>
          <a:xfrm>
            <a:off x="868680" y="5246433"/>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전달</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stack-2" descr="stack-2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이벤트 로그</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받은 순서대로 쌓아 둔다</a:t>
            </a:r>
          </a:p>
          <a:p>
            <a:pPr algn="l">
              <a:lnSpc>
                <a:spcPct val="110000"/>
              </a:lnSpc>
              <a:spcAft>
                <a:spcPts val="600"/>
              </a:spcAft>
            </a:pPr>
            <a:r>
              <a:rPr sz="1450" b="0">
                <a:solidFill>
                  <a:srgbClr val="1F2A3A"/>
                </a:solidFill>
                <a:latin typeface="맑은 고딕"/>
                <a:ea typeface="맑은 고딕"/>
                <a:cs typeface="맑은 고딕"/>
              </a:rPr>
              <a:t>• 여러 서비스가 각자의 속도로 읽는다</a:t>
            </a:r>
          </a:p>
          <a:p>
            <a:pPr algn="l">
              <a:lnSpc>
                <a:spcPct val="110000"/>
              </a:lnSpc>
              <a:spcAft>
                <a:spcPts val="600"/>
              </a:spcAft>
            </a:pPr>
            <a:r>
              <a:rPr sz="1450" b="0">
                <a:solidFill>
                  <a:srgbClr val="1F2A3A"/>
                </a:solidFill>
                <a:latin typeface="맑은 고딕"/>
                <a:ea typeface="맑은 고딕"/>
                <a:cs typeface="맑은 고딕"/>
              </a:rPr>
              <a:t>• 필요하면 앞에서부터 다시 읽는다</a:t>
            </a:r>
          </a:p>
          <a:p>
            <a:pPr algn="l">
              <a:lnSpc>
                <a:spcPct val="110000"/>
              </a:lnSpc>
              <a:spcAft>
                <a:spcPts val="600"/>
              </a:spcAft>
            </a:pPr>
            <a:r>
              <a:rPr sz="1450" b="0">
                <a:solidFill>
                  <a:srgbClr val="1F2A3A"/>
                </a:solidFill>
                <a:latin typeface="맑은 고딕"/>
                <a:ea typeface="맑은 고딕"/>
                <a:cs typeface="맑은 고딕"/>
              </a:rPr>
              <a:t>• 수집과 기록의 자리에는 Kafka Connect와 Kafka 같은 것들이 있다</a:t>
            </a:r>
          </a:p>
        </p:txBody>
      </p:sp>
      <p:sp>
        <p:nvSpPr>
          <p:cNvPr id="18" name="Rounded Rectangle 17"/>
          <p:cNvSpPr/>
          <p:nvPr/>
        </p:nvSpPr>
        <p:spPr>
          <a:xfrm>
            <a:off x="6781647" y="5246433"/>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보관</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이벤트 로그에 남은 레코드 한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수집 서비스는 토픽 경로에 있던 설비와 태그 이름을 본문에 넣어 레코드 한 건만으로 값의 주인을 알게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브로커가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전달한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메시지</a:t>
            </a:r>
          </a:p>
          <a:p>
            <a:pPr algn="l">
              <a:lnSpc>
                <a:spcPct val="110000"/>
              </a:lnSpc>
              <a:spcAft>
                <a:spcPts val="200"/>
              </a:spcAft>
            </a:pPr>
            <a:r>
              <a:rPr sz="1300" b="0">
                <a:solidFill>
                  <a:srgbClr val="E8EEF6"/>
                </a:solidFill>
                <a:latin typeface="Consolas"/>
                <a:ea typeface="맑은 고딕"/>
                <a:cs typeface="맑은 고딕"/>
              </a:rPr>
              <a:t>topic    plant/hyd01/tag/TS1</a:t>
            </a:r>
          </a:p>
          <a:p>
            <a:pPr algn="l">
              <a:lnSpc>
                <a:spcPct val="110000"/>
              </a:lnSpc>
              <a:spcAft>
                <a:spcPts val="200"/>
              </a:spcAft>
            </a:pPr>
            <a:r>
              <a:rPr sz="1300" b="0">
                <a:solidFill>
                  <a:srgbClr val="E8EEF6"/>
                </a:solidFill>
                <a:latin typeface="Consolas"/>
                <a:ea typeface="맑은 고딕"/>
                <a:cs typeface="맑은 고딕"/>
              </a:rPr>
              <a:t>payload  {"t": "2026-10-10T02:13:08.508Z",</a:t>
            </a:r>
          </a:p>
          <a:p>
            <a:pPr algn="l">
              <a:lnSpc>
                <a:spcPct val="110000"/>
              </a:lnSpc>
              <a:spcAft>
                <a:spcPts val="200"/>
              </a:spcAft>
            </a:pPr>
            <a:r>
              <a:rPr sz="1300" b="0">
                <a:solidFill>
                  <a:srgbClr val="E8EEF6"/>
                </a:solidFill>
                <a:latin typeface="Consolas"/>
                <a:ea typeface="맑은 고딕"/>
                <a:cs typeface="맑은 고딕"/>
              </a:rPr>
              <a:t>          "v": 55.71, "q": "good"}</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이벤트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로그에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남은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레코드</a:t>
            </a:r>
          </a:p>
          <a:p>
            <a:pPr algn="l">
              <a:lnSpc>
                <a:spcPct val="110000"/>
              </a:lnSpc>
              <a:spcAft>
                <a:spcPts val="200"/>
              </a:spcAft>
            </a:pPr>
            <a:r>
              <a:rPr sz="1300" b="0">
                <a:solidFill>
                  <a:srgbClr val="E8EEF6"/>
                </a:solidFill>
                <a:latin typeface="Consolas"/>
                <a:ea typeface="맑은 고딕"/>
                <a:cs typeface="맑은 고딕"/>
              </a:rPr>
              <a:t>topic    plant.tag</a:t>
            </a:r>
          </a:p>
          <a:p>
            <a:pPr algn="l">
              <a:lnSpc>
                <a:spcPct val="110000"/>
              </a:lnSpc>
              <a:spcAft>
                <a:spcPts val="200"/>
              </a:spcAft>
            </a:pPr>
            <a:r>
              <a:rPr sz="1300" b="0">
                <a:solidFill>
                  <a:srgbClr val="E8EEF6"/>
                </a:solidFill>
                <a:latin typeface="Consolas"/>
                <a:ea typeface="맑은 고딕"/>
                <a:cs typeface="맑은 고딕"/>
              </a:rPr>
              <a:t>key      hyd01</a:t>
            </a:r>
          </a:p>
          <a:p>
            <a:pPr algn="l">
              <a:lnSpc>
                <a:spcPct val="110000"/>
              </a:lnSpc>
              <a:spcAft>
                <a:spcPts val="200"/>
              </a:spcAft>
            </a:pPr>
            <a:r>
              <a:rPr sz="1300" b="0">
                <a:solidFill>
                  <a:srgbClr val="E8EEF6"/>
                </a:solidFill>
                <a:latin typeface="Consolas"/>
                <a:ea typeface="맑은 고딕"/>
                <a:cs typeface="맑은 고딕"/>
              </a:rPr>
              <a:t>value    {"asset": "HYD-01", "name": "TS1",</a:t>
            </a:r>
          </a:p>
          <a:p>
            <a:pPr algn="l">
              <a:lnSpc>
                <a:spcPct val="110000"/>
              </a:lnSpc>
              <a:spcAft>
                <a:spcPts val="200"/>
              </a:spcAft>
            </a:pPr>
            <a:r>
              <a:rPr sz="1300" b="0">
                <a:solidFill>
                  <a:srgbClr val="E8EEF6"/>
                </a:solidFill>
                <a:latin typeface="Consolas"/>
                <a:ea typeface="맑은 고딕"/>
                <a:cs typeface="맑은 고딕"/>
              </a:rPr>
              <a:t>          "t": "2026-10-10T02:13:08.508Z",</a:t>
            </a:r>
          </a:p>
          <a:p>
            <a:pPr algn="l">
              <a:lnSpc>
                <a:spcPct val="110000"/>
              </a:lnSpc>
              <a:spcAft>
                <a:spcPts val="200"/>
              </a:spcAft>
            </a:pPr>
            <a:r>
              <a:rPr sz="1300" b="0">
                <a:solidFill>
                  <a:srgbClr val="E8EEF6"/>
                </a:solidFill>
                <a:latin typeface="Consolas"/>
                <a:ea typeface="맑은 고딕"/>
                <a:cs typeface="맑은 고딕"/>
              </a:rPr>
              <a:t>          "v": 55.71, "q": "good"}</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asset · name</a:t>
            </a:r>
          </a:p>
          <a:p>
            <a:pPr algn="l">
              <a:lnSpc>
                <a:spcPct val="110000"/>
              </a:lnSpc>
              <a:spcAft>
                <a:spcPts val="400"/>
              </a:spcAft>
            </a:pPr>
            <a:r>
              <a:rPr sz="1400" b="0">
                <a:solidFill>
                  <a:srgbClr val="1F2A3A"/>
                </a:solidFill>
                <a:latin typeface="맑은 고딕"/>
                <a:ea typeface="맑은 고딕"/>
                <a:cs typeface="맑은 고딕"/>
              </a:rPr>
              <a:t>토픽 경로에 있던 설비와 태그 이름이 본문으로 들어왔다.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v 55.71</a:t>
            </a:r>
          </a:p>
          <a:p>
            <a:pPr algn="l">
              <a:lnSpc>
                <a:spcPct val="110000"/>
              </a:lnSpc>
              <a:spcAft>
                <a:spcPts val="400"/>
              </a:spcAft>
            </a:pPr>
            <a:r>
              <a:rPr sz="1400" b="0">
                <a:solidFill>
                  <a:srgbClr val="1F2A3A"/>
                </a:solidFill>
                <a:latin typeface="맑은 고딕"/>
                <a:ea typeface="맑은 고딕"/>
                <a:cs typeface="맑은 고딕"/>
              </a:rPr>
              <a:t>그때의 유온이다. 한국 시간 11:13:08에 잰 값이다.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key hyd01</a:t>
            </a:r>
          </a:p>
          <a:p>
            <a:pPr algn="l">
              <a:lnSpc>
                <a:spcPct val="110000"/>
              </a:lnSpc>
              <a:spcAft>
                <a:spcPts val="400"/>
              </a:spcAft>
            </a:pPr>
            <a:r>
              <a:rPr sz="1400" b="0">
                <a:solidFill>
                  <a:srgbClr val="1F2A3A"/>
                </a:solidFill>
                <a:latin typeface="맑은 고딕"/>
                <a:ea typeface="맑은 고딕"/>
                <a:cs typeface="맑은 고딕"/>
              </a:rPr>
              <a:t>같은 설비의 값이 잰 순서대로 읽히게 하는 키이다.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칸</a:t>
            </a:r>
          </a:p>
          <a:p>
            <a:pPr algn="l">
              <a:lnSpc>
                <a:spcPct val="110000"/>
              </a:lnSpc>
              <a:spcAft>
                <a:spcPts val="400"/>
              </a:spcAft>
            </a:pPr>
            <a:r>
              <a:rPr sz="1400" b="0">
                <a:solidFill>
                  <a:srgbClr val="1F2A3A"/>
                </a:solidFill>
                <a:latin typeface="맑은 고딕"/>
                <a:ea typeface="맑은 고딕"/>
                <a:cs typeface="맑은 고딕"/>
              </a:rPr>
              <a:t>잰 시각 t와 값의 품질 q가 함께 실려 있다.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4 · 스트림 처리: 흐르는 값에서 알아챈다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쌓인 뒤에 살피면 늦으므로, 감지 서비스는 이벤트 로그에 흐르는 값을 그 자리에서 읽어 조건에 견준다.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저장한 뒤에 살핀다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값이 저장소에 쌓인 다음 때맞춰 조회한다</a:t>
            </a:r>
          </a:p>
          <a:p>
            <a:pPr algn="l">
              <a:lnSpc>
                <a:spcPct val="110000"/>
              </a:lnSpc>
              <a:spcAft>
                <a:spcPts val="600"/>
              </a:spcAft>
            </a:pPr>
            <a:r>
              <a:rPr sz="1450" b="0">
                <a:solidFill>
                  <a:srgbClr val="1F2A3A"/>
                </a:solidFill>
                <a:latin typeface="맑은 고딕"/>
                <a:ea typeface="맑은 고딕"/>
                <a:cs typeface="맑은 고딕"/>
              </a:rPr>
              <a:t>• 이상이 생긴 때와 알아차리는 때 사이가 벌어진다</a:t>
            </a:r>
          </a:p>
        </p:txBody>
      </p:sp>
      <p:sp>
        <p:nvSpPr>
          <p:cNvPr id="11" name="Rounded Rectangle 10"/>
          <p:cNvSpPr/>
          <p:nvPr/>
        </p:nvSpPr>
        <p:spPr>
          <a:xfrm>
            <a:off x="868680" y="5246433"/>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나중에 조회</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radar" descr="radar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흐르는 값을 바로 읽는다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값이 기록되는 대로 하나씩 받아 조건에 견준다</a:t>
            </a:r>
          </a:p>
          <a:p>
            <a:pPr algn="l">
              <a:lnSpc>
                <a:spcPct val="110000"/>
              </a:lnSpc>
              <a:spcAft>
                <a:spcPts val="600"/>
              </a:spcAft>
            </a:pPr>
            <a:r>
              <a:rPr sz="1450" b="0">
                <a:solidFill>
                  <a:srgbClr val="1F2A3A"/>
                </a:solidFill>
                <a:latin typeface="맑은 고딕"/>
                <a:ea typeface="맑은 고딕"/>
                <a:cs typeface="맑은 고딕"/>
              </a:rPr>
              <a:t>• 이렇게 끊임없이 들어오는 값을 그 자리에서 처리하는 방식이 스트림 처리(Stream Processing)이다</a:t>
            </a:r>
          </a:p>
          <a:p>
            <a:pPr algn="l">
              <a:lnSpc>
                <a:spcPct val="110000"/>
              </a:lnSpc>
              <a:spcAft>
                <a:spcPts val="600"/>
              </a:spcAft>
            </a:pPr>
            <a:r>
              <a:rPr sz="1450" b="0">
                <a:solidFill>
                  <a:srgbClr val="1F2A3A"/>
                </a:solidFill>
                <a:latin typeface="맑은 고딕"/>
                <a:ea typeface="맑은 고딕"/>
                <a:cs typeface="맑은 고딕"/>
              </a:rPr>
              <a:t>• 이 역할에는 Flink 같은 스트림 처리 엔진이 있다</a:t>
            </a:r>
          </a:p>
        </p:txBody>
      </p:sp>
      <p:sp>
        <p:nvSpPr>
          <p:cNvPr id="18" name="Rounded Rectangle 17"/>
          <p:cNvSpPr/>
          <p:nvPr/>
        </p:nvSpPr>
        <p:spPr>
          <a:xfrm>
            <a:off x="6781647" y="5246433"/>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그 자리에서 판정</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조건과 유지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유온만으로는 쿨러의 문제인지 알 수 없어, 경보 조건은 두 값과 추세를 함께 보고 일정 시간 이어져야 성립한다.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pic>
        <p:nvPicPr>
          <p:cNvPr id="6" name="Picture 5" descr="그래프_경보순간_TS1.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조건: 셋이 모두 맞을 때</a:t>
            </a:r>
          </a:p>
          <a:p>
            <a:pPr algn="l">
              <a:lnSpc>
                <a:spcPct val="110000"/>
              </a:lnSpc>
              <a:spcAft>
                <a:spcPts val="400"/>
              </a:spcAft>
            </a:pPr>
            <a:r>
              <a:rPr sz="1400" b="0">
                <a:solidFill>
                  <a:srgbClr val="1F2A3A"/>
                </a:solidFill>
                <a:latin typeface="맑은 고딕"/>
                <a:ea typeface="맑은 고딕"/>
                <a:cs typeface="맑은 고딕"/>
              </a:rPr>
              <a:t>유온 TS1 &gt; 55 ℃</a:t>
            </a:r>
          </a:p>
          <a:p>
            <a:pPr algn="l">
              <a:lnSpc>
                <a:spcPct val="110000"/>
              </a:lnSpc>
              <a:spcAft>
                <a:spcPts val="400"/>
              </a:spcAft>
            </a:pPr>
            <a:r>
              <a:rPr sz="1400" b="0">
                <a:solidFill>
                  <a:srgbClr val="1F2A3A"/>
                </a:solidFill>
                <a:latin typeface="맑은 고딕"/>
                <a:ea typeface="맑은 고딕"/>
                <a:cs typeface="맑은 고딕"/>
              </a:rPr>
              <a:t>냉각 효율 CE &lt; 70 %</a:t>
            </a:r>
          </a:p>
          <a:p>
            <a:pPr algn="l">
              <a:lnSpc>
                <a:spcPct val="110000"/>
              </a:lnSpc>
              <a:spcAft>
                <a:spcPts val="400"/>
              </a:spcAft>
            </a:pPr>
            <a:r>
              <a:rPr sz="1400" b="0">
                <a:solidFill>
                  <a:srgbClr val="1F2A3A"/>
                </a:solidFill>
                <a:latin typeface="맑은 고딕"/>
                <a:ea typeface="맑은 고딕"/>
                <a:cs typeface="맑은 고딕"/>
              </a:rPr>
              <a:t>유온의 기울기 &gt; 0 (오르는 중)</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기준을 넘음 11:13:04</a:t>
            </a:r>
          </a:p>
          <a:p>
            <a:pPr algn="l">
              <a:lnSpc>
                <a:spcPct val="110000"/>
              </a:lnSpc>
              <a:spcAft>
                <a:spcPts val="400"/>
              </a:spcAft>
            </a:pPr>
            <a:r>
              <a:rPr sz="1400" b="0">
                <a:solidFill>
                  <a:srgbClr val="1F2A3A"/>
                </a:solidFill>
                <a:latin typeface="맑은 고딕"/>
                <a:ea typeface="맑은 고딕"/>
                <a:cs typeface="맑은 고딕"/>
              </a:rPr>
              <a:t>유온이 55 ℃를 넘었다. 아직 경보는 없다.</a:t>
            </a:r>
          </a:p>
        </p:txBody>
      </p:sp>
      <p:sp>
        <p:nvSpPr>
          <p:cNvPr id="13" name="Oval 12"/>
          <p:cNvSpPr/>
          <p:nvPr/>
        </p:nvSpPr>
        <p:spPr>
          <a:xfrm>
            <a:off x="8138160" y="4023359"/>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조건이 약 4초 동안 이어지자 경보가 났다. 이때 유온은 55.71 ℃였다.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유지 시간을 두는 이유</a:t>
            </a:r>
          </a:p>
          <a:p>
            <a:pPr algn="l">
              <a:lnSpc>
                <a:spcPct val="110000"/>
              </a:lnSpc>
              <a:spcAft>
                <a:spcPts val="400"/>
              </a:spcAft>
            </a:pPr>
            <a:r>
              <a:rPr sz="1400" b="0">
                <a:solidFill>
                  <a:srgbClr val="1F2A3A"/>
                </a:solidFill>
                <a:latin typeface="맑은 고딕"/>
                <a:ea typeface="맑은 고딕"/>
                <a:cs typeface="맑은 고딕"/>
              </a:rPr>
              <a:t>잠깐 튄 값에 경보가 울리지 않게 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이상 이벤트: 경보 한 건의 실제 모습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이상 이벤트는 값이 아니라 무슨 일이 일어났다는 기록이며, 경보에는 식별자와 그때의 근거 값이 함께 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alertId    ALT-hyd01-0014-e0a1</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pattern    COOLER_DEGRADATION</a:t>
            </a:r>
          </a:p>
          <a:p>
            <a:pPr algn="l">
              <a:lnSpc>
                <a:spcPct val="110000"/>
              </a:lnSpc>
              <a:spcAft>
                <a:spcPts val="200"/>
              </a:spcAft>
            </a:pPr>
            <a:r>
              <a:rPr sz="1300" b="0">
                <a:solidFill>
                  <a:srgbClr val="E8EEF6"/>
                </a:solidFill>
                <a:latin typeface="Consolas"/>
                <a:ea typeface="맑은 고딕"/>
                <a:cs typeface="맑은 고딕"/>
              </a:rPr>
              <a:t>severity   HIGH</a:t>
            </a:r>
          </a:p>
          <a:p>
            <a:pPr algn="l">
              <a:lnSpc>
                <a:spcPct val="110000"/>
              </a:lnSpc>
              <a:spcAft>
                <a:spcPts val="200"/>
              </a:spcAft>
            </a:pPr>
            <a:r>
              <a:rPr sz="1300" b="0">
                <a:solidFill>
                  <a:srgbClr val="E8EEF6"/>
                </a:solidFill>
                <a:latin typeface="Consolas"/>
                <a:ea typeface="맑은 고딕"/>
                <a:cs typeface="맑은 고딕"/>
              </a:rPr>
              <a:t>state      RAISE</a:t>
            </a:r>
          </a:p>
          <a:p>
            <a:pPr algn="l">
              <a:lnSpc>
                <a:spcPct val="110000"/>
              </a:lnSpc>
              <a:spcAft>
                <a:spcPts val="200"/>
              </a:spcAft>
            </a:pPr>
            <a:r>
              <a:rPr sz="1300" b="0">
                <a:solidFill>
                  <a:srgbClr val="E8EEF6"/>
                </a:solidFill>
                <a:latin typeface="Consolas"/>
                <a:ea typeface="맑은 고딕"/>
                <a:cs typeface="맑은 고딕"/>
              </a:rPr>
              <a:t>t          2026-10-10 11:13:08</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values     TS1 55.71, CE 46.2</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alertId</a:t>
            </a:r>
          </a:p>
          <a:p>
            <a:pPr algn="l">
              <a:lnSpc>
                <a:spcPct val="110000"/>
              </a:lnSpc>
              <a:spcAft>
                <a:spcPts val="400"/>
              </a:spcAft>
            </a:pPr>
            <a:r>
              <a:rPr sz="1400" b="0">
                <a:solidFill>
                  <a:srgbClr val="1F2A3A"/>
                </a:solidFill>
                <a:latin typeface="맑은 고딕"/>
                <a:ea typeface="맑은 고딕"/>
                <a:cs typeface="맑은 고딕"/>
              </a:rPr>
              <a:t>이 경보 한 건을 가리키는 식별자이다.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pattern</a:t>
            </a:r>
          </a:p>
          <a:p>
            <a:pPr algn="l">
              <a:lnSpc>
                <a:spcPct val="110000"/>
              </a:lnSpc>
              <a:spcAft>
                <a:spcPts val="400"/>
              </a:spcAft>
            </a:pPr>
            <a:r>
              <a:rPr sz="1400" b="0">
                <a:solidFill>
                  <a:srgbClr val="1F2A3A"/>
                </a:solidFill>
                <a:latin typeface="맑은 고딕"/>
                <a:ea typeface="맑은 고딕"/>
                <a:cs typeface="맑은 고딕"/>
              </a:rPr>
              <a:t>어떤 조건이 성립했는지를 나타낸다. 쿨러 성능 저하이다.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values</a:t>
            </a:r>
          </a:p>
          <a:p>
            <a:pPr algn="l">
              <a:lnSpc>
                <a:spcPct val="110000"/>
              </a:lnSpc>
              <a:spcAft>
                <a:spcPts val="400"/>
              </a:spcAft>
            </a:pPr>
            <a:r>
              <a:rPr sz="1400" b="0">
                <a:solidFill>
                  <a:srgbClr val="1F2A3A"/>
                </a:solidFill>
                <a:latin typeface="맑은 고딕"/>
                <a:ea typeface="맑은 고딕"/>
                <a:cs typeface="맑은 고딕"/>
              </a:rPr>
              <a:t>경보가 난 순간의 값이다. 값은 계속 바뀌므로 근거를 경보에 붙여 둔다.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칸</a:t>
            </a:r>
          </a:p>
          <a:p>
            <a:pPr algn="l">
              <a:lnSpc>
                <a:spcPct val="110000"/>
              </a:lnSpc>
              <a:spcAft>
                <a:spcPts val="400"/>
              </a:spcAft>
            </a:pPr>
            <a:r>
              <a:rPr sz="1400" b="0">
                <a:solidFill>
                  <a:srgbClr val="1F2A3A"/>
                </a:solidFill>
                <a:latin typeface="맑은 고딕"/>
                <a:ea typeface="맑은 고딕"/>
                <a:cs typeface="맑은 고딕"/>
              </a:rPr>
              <a:t>설비, 심각도, 경보의 상태와 난 시각이 함께 적힌다.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5 · 시계열 저장소: 시각으로 찾는다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지나간 값을 시각으로 찾아보려고, 시계열 저장소는 값 하나를 시각, 설비, 태그 이름, 값의 한 행으로 저장한다.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219833"/>
            <a:ext cx="6766560" cy="3543046"/>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356992"/>
            <a:ext cx="6400800" cy="3268726"/>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tag_1s</a:t>
            </a:r>
          </a:p>
          <a:p>
            <a:pPr algn="l">
              <a:lnSpc>
                <a:spcPct val="110000"/>
              </a:lnSpc>
              <a:spcAft>
                <a:spcPts val="200"/>
              </a:spcAft>
            </a:pPr>
            <a:r>
              <a:rPr sz="1300" b="0">
                <a:solidFill>
                  <a:srgbClr val="E8EEF6"/>
                </a:solidFill>
                <a:latin typeface="Consolas"/>
                <a:ea typeface="맑은 고딕"/>
                <a:cs typeface="맑은 고딕"/>
              </a:rPr>
              <a:t>time       asset    name   value</a:t>
            </a:r>
          </a:p>
          <a:p>
            <a:pPr algn="l">
              <a:lnSpc>
                <a:spcPct val="110000"/>
              </a:lnSpc>
              <a:spcAft>
                <a:spcPts val="200"/>
              </a:spcAft>
            </a:pPr>
            <a:r>
              <a:rPr sz="1300" b="0">
                <a:solidFill>
                  <a:srgbClr val="E8EEF6"/>
                </a:solidFill>
                <a:latin typeface="Consolas"/>
                <a:ea typeface="맑은 고딕"/>
                <a:cs typeface="맑은 고딕"/>
              </a:rPr>
              <a:t>11:13:07   HYD-01   TS1    55.56</a:t>
            </a:r>
          </a:p>
          <a:p>
            <a:pPr algn="l">
              <a:lnSpc>
                <a:spcPct val="110000"/>
              </a:lnSpc>
              <a:spcAft>
                <a:spcPts val="200"/>
              </a:spcAft>
            </a:pPr>
            <a:r>
              <a:rPr sz="1300" b="0">
                <a:solidFill>
                  <a:srgbClr val="E8EEF6"/>
                </a:solidFill>
                <a:latin typeface="Consolas"/>
                <a:ea typeface="맑은 고딕"/>
                <a:cs typeface="맑은 고딕"/>
              </a:rPr>
              <a:t>11:13:07   HYD-01   CE     46.2</a:t>
            </a:r>
          </a:p>
          <a:p>
            <a:pPr algn="l">
              <a:lnSpc>
                <a:spcPct val="110000"/>
              </a:lnSpc>
              <a:spcAft>
                <a:spcPts val="200"/>
              </a:spcAft>
            </a:pPr>
            <a:r>
              <a:rPr sz="1300" b="0">
                <a:solidFill>
                  <a:srgbClr val="E8EEF6"/>
                </a:solidFill>
                <a:latin typeface="Consolas"/>
                <a:ea typeface="맑은 고딕"/>
                <a:cs typeface="맑은 고딕"/>
              </a:rPr>
              <a:t>11:13:08   HYD-01   TS1    55.71</a:t>
            </a:r>
          </a:p>
          <a:p>
            <a:pPr algn="l">
              <a:lnSpc>
                <a:spcPct val="110000"/>
              </a:lnSpc>
              <a:spcAft>
                <a:spcPts val="200"/>
              </a:spcAft>
            </a:pPr>
            <a:r>
              <a:rPr sz="1300" b="0">
                <a:solidFill>
                  <a:srgbClr val="E8EEF6"/>
                </a:solidFill>
                <a:latin typeface="Consolas"/>
                <a:ea typeface="맑은 고딕"/>
                <a:cs typeface="맑은 고딕"/>
              </a:rPr>
              <a:t>11:13:08   HYD-01   CE     46.2</a:t>
            </a:r>
          </a:p>
          <a:p>
            <a:pPr algn="l">
              <a:lnSpc>
                <a:spcPct val="110000"/>
              </a:lnSpc>
              <a:spcAft>
                <a:spcPts val="200"/>
              </a:spcAft>
            </a:pPr>
            <a:r>
              <a:rPr sz="1300" b="0">
                <a:solidFill>
                  <a:srgbClr val="E8EEF6"/>
                </a:solidFill>
                <a:latin typeface="Consolas"/>
                <a:ea typeface="맑은 고딕"/>
                <a:cs typeface="맑은 고딕"/>
              </a:rPr>
              <a:t>11:13:09   HYD-01   TS1    55.86</a:t>
            </a:r>
          </a:p>
        </p:txBody>
      </p:sp>
      <p:sp>
        <p:nvSpPr>
          <p:cNvPr id="8" name="TextBox 7"/>
          <p:cNvSpPr txBox="1"/>
          <p:nvPr/>
        </p:nvSpPr>
        <p:spPr>
          <a:xfrm>
            <a:off x="7635240" y="2219833"/>
            <a:ext cx="4007815" cy="1181015"/>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한 행</a:t>
            </a:r>
          </a:p>
          <a:p>
            <a:pPr algn="l">
              <a:lnSpc>
                <a:spcPct val="110000"/>
              </a:lnSpc>
              <a:spcAft>
                <a:spcPts val="400"/>
              </a:spcAft>
            </a:pPr>
            <a:r>
              <a:rPr sz="1400" b="0">
                <a:solidFill>
                  <a:srgbClr val="1F2A3A"/>
                </a:solidFill>
                <a:latin typeface="맑은 고딕"/>
                <a:ea typeface="맑은 고딕"/>
                <a:cs typeface="맑은 고딕"/>
              </a:rPr>
              <a:t>값 하나가 한 줄이다. 시각, 설비, 태그 이름, 값이 들어 있다. 태그가 늘면 행만 늘어난다.</a:t>
            </a:r>
          </a:p>
        </p:txBody>
      </p:sp>
      <p:sp>
        <p:nvSpPr>
          <p:cNvPr id="9" name="TextBox 8"/>
          <p:cNvSpPr txBox="1"/>
          <p:nvPr/>
        </p:nvSpPr>
        <p:spPr>
          <a:xfrm>
            <a:off x="7635240" y="3400848"/>
            <a:ext cx="4007815" cy="1181015"/>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55.71</a:t>
            </a:r>
          </a:p>
          <a:p>
            <a:pPr algn="l">
              <a:lnSpc>
                <a:spcPct val="110000"/>
              </a:lnSpc>
              <a:spcAft>
                <a:spcPts val="400"/>
              </a:spcAft>
            </a:pPr>
            <a:r>
              <a:rPr sz="1400" b="0">
                <a:solidFill>
                  <a:srgbClr val="1F2A3A"/>
                </a:solidFill>
                <a:latin typeface="맑은 고딕"/>
                <a:ea typeface="맑은 고딕"/>
                <a:cs typeface="맑은 고딕"/>
              </a:rPr>
              <a:t>11:13:08의 유온이다. 경보가 난 순간의 값이다.</a:t>
            </a:r>
          </a:p>
        </p:txBody>
      </p:sp>
      <p:sp>
        <p:nvSpPr>
          <p:cNvPr id="10" name="TextBox 9"/>
          <p:cNvSpPr txBox="1"/>
          <p:nvPr/>
        </p:nvSpPr>
        <p:spPr>
          <a:xfrm>
            <a:off x="7635240" y="4581863"/>
            <a:ext cx="4007815" cy="1181015"/>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시계열 저장소</a:t>
            </a:r>
          </a:p>
          <a:p>
            <a:pPr algn="l">
              <a:lnSpc>
                <a:spcPct val="110000"/>
              </a:lnSpc>
              <a:spcAft>
                <a:spcPts val="400"/>
              </a:spcAft>
            </a:pPr>
            <a:r>
              <a:rPr sz="1400" b="0">
                <a:solidFill>
                  <a:srgbClr val="1F2A3A"/>
                </a:solidFill>
                <a:latin typeface="맑은 고딕"/>
                <a:ea typeface="맑은 고딕"/>
                <a:cs typeface="맑은 고딕"/>
              </a:rPr>
              <a:t>시각을 기준으로 값을 쌓고 조회하는 데이터베이스이다. 이 역할에는 TimescaleDB 같은 것이 있다.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6 · 운전 화면과 분석 화면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운전 화면은 서버가 멈춰도 보이도록 OT에서 지금의 값을, 분석 화면은 IT에서 지나온 값을 읽기 전용으로 보여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adjustments-horizontal" descr="adjustments-horizontal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운전 화면</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SCADA · HMI(Human-Machine Interface)의 자리이다</a:t>
            </a:r>
          </a:p>
          <a:p>
            <a:pPr algn="l">
              <a:lnSpc>
                <a:spcPct val="110000"/>
              </a:lnSpc>
              <a:spcAft>
                <a:spcPts val="600"/>
              </a:spcAft>
            </a:pPr>
            <a:r>
              <a:rPr sz="1450" b="0">
                <a:solidFill>
                  <a:srgbClr val="1F2A3A"/>
                </a:solidFill>
                <a:latin typeface="맑은 고딕"/>
                <a:ea typeface="맑은 고딕"/>
                <a:cs typeface="맑은 고딕"/>
              </a:rPr>
              <a:t>• OT에서 브로커를 직접 구독해 지금의 값을 보여 준다</a:t>
            </a:r>
          </a:p>
          <a:p>
            <a:pPr algn="l">
              <a:lnSpc>
                <a:spcPct val="110000"/>
              </a:lnSpc>
              <a:spcAft>
                <a:spcPts val="600"/>
              </a:spcAft>
            </a:pPr>
            <a:r>
              <a:rPr sz="1450" b="0">
                <a:solidFill>
                  <a:srgbClr val="1F2A3A"/>
                </a:solidFill>
                <a:latin typeface="맑은 고딕"/>
                <a:ea typeface="맑은 고딕"/>
                <a:cs typeface="맑은 고딕"/>
              </a:rPr>
              <a:t>• 운전원이 화면에서 팬 속도와 펌프 부하를 바꾼다</a:t>
            </a:r>
          </a:p>
          <a:p>
            <a:pPr algn="l">
              <a:lnSpc>
                <a:spcPct val="110000"/>
              </a:lnSpc>
              <a:spcAft>
                <a:spcPts val="600"/>
              </a:spcAft>
            </a:pPr>
            <a:r>
              <a:rPr sz="1450" b="0">
                <a:solidFill>
                  <a:srgbClr val="1F2A3A"/>
                </a:solidFill>
                <a:latin typeface="맑은 고딕"/>
                <a:ea typeface="맑은 고딕"/>
                <a:cs typeface="맑은 고딕"/>
              </a:rPr>
              <a:t>• IT 쪽 서버가 멈춰도 계속 동작한다</a:t>
            </a:r>
          </a:p>
          <a:p>
            <a:pPr algn="l">
              <a:lnSpc>
                <a:spcPct val="110000"/>
              </a:lnSpc>
              <a:spcAft>
                <a:spcPts val="600"/>
              </a:spcAft>
            </a:pPr>
            <a:r>
              <a:rPr sz="1450" b="0">
                <a:solidFill>
                  <a:srgbClr val="1F2A3A"/>
                </a:solidFill>
                <a:latin typeface="맑은 고딕"/>
                <a:ea typeface="맑은 고딕"/>
                <a:cs typeface="맑은 고딕"/>
              </a:rPr>
              <a:t>• 예: FUXA</a:t>
            </a:r>
          </a:p>
        </p:txBody>
      </p:sp>
      <p:sp>
        <p:nvSpPr>
          <p:cNvPr id="11" name="Rounded Rectangle 10"/>
          <p:cNvSpPr/>
          <p:nvPr/>
        </p:nvSpPr>
        <p:spPr>
          <a:xfrm>
            <a:off x="868680" y="5547296"/>
            <a:ext cx="207263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20726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운전 · 지금의 값과 조작</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chart-line" descr="chart-line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분석 화면</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저장된 데이터를 그래프로 보여 주는 대시보드이다</a:t>
            </a:r>
          </a:p>
          <a:p>
            <a:pPr algn="l">
              <a:lnSpc>
                <a:spcPct val="110000"/>
              </a:lnSpc>
              <a:spcAft>
                <a:spcPts val="600"/>
              </a:spcAft>
            </a:pPr>
            <a:r>
              <a:rPr sz="1450" b="0">
                <a:solidFill>
                  <a:srgbClr val="1F2A3A"/>
                </a:solidFill>
                <a:latin typeface="맑은 고딕"/>
                <a:ea typeface="맑은 고딕"/>
                <a:cs typeface="맑은 고딕"/>
              </a:rPr>
              <a:t>• IT에서 시계열 저장소를 조회해 이력과 추세를 보여 준다</a:t>
            </a:r>
          </a:p>
          <a:p>
            <a:pPr algn="l">
              <a:lnSpc>
                <a:spcPct val="110000"/>
              </a:lnSpc>
              <a:spcAft>
                <a:spcPts val="600"/>
              </a:spcAft>
            </a:pPr>
            <a:r>
              <a:rPr sz="1450" b="0">
                <a:solidFill>
                  <a:srgbClr val="1F2A3A"/>
                </a:solidFill>
                <a:latin typeface="맑은 고딕"/>
                <a:ea typeface="맑은 고딕"/>
                <a:cs typeface="맑은 고딕"/>
              </a:rPr>
              <a:t>• 읽기 전용이며 설비를 조작하지 않는다</a:t>
            </a:r>
          </a:p>
          <a:p>
            <a:pPr algn="l">
              <a:lnSpc>
                <a:spcPct val="110000"/>
              </a:lnSpc>
              <a:spcAft>
                <a:spcPts val="600"/>
              </a:spcAft>
            </a:pPr>
            <a:r>
              <a:rPr sz="1450" b="0">
                <a:solidFill>
                  <a:srgbClr val="1F2A3A"/>
                </a:solidFill>
                <a:latin typeface="맑은 고딕"/>
                <a:ea typeface="맑은 고딕"/>
                <a:cs typeface="맑은 고딕"/>
              </a:rPr>
              <a:t>• 유온 추세선 위에 경보와 조치 시점을 표시한다</a:t>
            </a:r>
          </a:p>
          <a:p>
            <a:pPr algn="l">
              <a:lnSpc>
                <a:spcPct val="110000"/>
              </a:lnSpc>
              <a:spcAft>
                <a:spcPts val="600"/>
              </a:spcAft>
            </a:pPr>
            <a:r>
              <a:rPr sz="1450" b="0">
                <a:solidFill>
                  <a:srgbClr val="1F2A3A"/>
                </a:solidFill>
                <a:latin typeface="맑은 고딕"/>
                <a:ea typeface="맑은 고딕"/>
                <a:cs typeface="맑은 고딕"/>
              </a:rPr>
              <a:t>• 예: Grafana</a:t>
            </a:r>
          </a:p>
        </p:txBody>
      </p:sp>
      <p:sp>
        <p:nvSpPr>
          <p:cNvPr id="18" name="Rounded Rectangle 17"/>
          <p:cNvSpPr/>
          <p:nvPr/>
        </p:nvSpPr>
        <p:spPr>
          <a:xfrm>
            <a:off x="6781647" y="5547296"/>
            <a:ext cx="17221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분석 · 이력과 추세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유온에 반응하는 세 기준: 55, 60, 65 ℃</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55 ℃의 경보가 먼저 반응하므로, 사람이 다시 걸어야 풀리는 65 ℃의 인터록에 이르기 전에 조치할 시간이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2394013"/>
            <a:ext cx="3442106" cy="319468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7" name="Oval 6"/>
          <p:cNvSpPr/>
          <p:nvPr/>
        </p:nvSpPr>
        <p:spPr>
          <a:xfrm>
            <a:off x="1903933" y="2576893"/>
            <a:ext cx="731520" cy="731520"/>
          </a:xfrm>
          <a:prstGeom prst="ellipse">
            <a:avLst/>
          </a:prstGeom>
          <a:solidFill>
            <a:srgbClr val="5CB8F2"/>
          </a:solidFill>
          <a:ln>
            <a:noFill/>
          </a:ln>
        </p:spPr>
        <p:txBody>
          <a:bodyPr rtlCol="0" anchor="ctr"/>
          <a:lstStyle/>
          <a:p>
            <a:pPr algn="ctr"/>
          </a:p>
        </p:txBody>
      </p:sp>
      <p:pic>
        <p:nvPicPr>
          <p:cNvPr id="8" name="아이콘:radar" descr="radar_13294B_1.6.png"/>
          <p:cNvPicPr>
            <a:picLocks noChangeAspect="1"/>
          </p:cNvPicPr>
          <p:nvPr/>
        </p:nvPicPr>
        <p:blipFill>
          <a:blip r:embed="rId3"/>
          <a:stretch>
            <a:fillRect/>
          </a:stretch>
        </p:blipFill>
        <p:spPr>
          <a:xfrm>
            <a:off x="2057552" y="2730512"/>
            <a:ext cx="424281" cy="424281"/>
          </a:xfrm>
          <a:prstGeom prst="rect">
            <a:avLst/>
          </a:prstGeom>
        </p:spPr>
      </p:pic>
      <p:sp>
        <p:nvSpPr>
          <p:cNvPr id="9" name="TextBox 8"/>
          <p:cNvSpPr txBox="1"/>
          <p:nvPr/>
        </p:nvSpPr>
        <p:spPr>
          <a:xfrm>
            <a:off x="621792"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55 ℃</a:t>
            </a:r>
          </a:p>
          <a:p>
            <a:pPr algn="ctr">
              <a:lnSpc>
                <a:spcPct val="110000"/>
              </a:lnSpc>
              <a:spcAft>
                <a:spcPts val="400"/>
              </a:spcAft>
            </a:pPr>
            <a:r>
              <a:rPr sz="1350" b="0">
                <a:solidFill>
                  <a:srgbClr val="1F2A3A"/>
                </a:solidFill>
                <a:latin typeface="맑은 고딕"/>
                <a:ea typeface="맑은 고딕"/>
                <a:cs typeface="맑은 고딕"/>
              </a:rPr>
              <a:t>감지 서비스의 경보</a:t>
            </a:r>
          </a:p>
          <a:p>
            <a:pPr algn="ctr">
              <a:lnSpc>
                <a:spcPct val="110000"/>
              </a:lnSpc>
              <a:spcAft>
                <a:spcPts val="400"/>
              </a:spcAft>
            </a:pPr>
            <a:r>
              <a:rPr sz="1350" b="0">
                <a:solidFill>
                  <a:srgbClr val="1F2A3A"/>
                </a:solidFill>
                <a:latin typeface="맑은 고딕"/>
                <a:ea typeface="맑은 고딕"/>
                <a:cs typeface="맑은 고딕"/>
              </a:rPr>
              <a:t>여러 값과 추세를 함께 본다</a:t>
            </a:r>
          </a:p>
          <a:p>
            <a:pPr algn="ctr">
              <a:lnSpc>
                <a:spcPct val="110000"/>
              </a:lnSpc>
              <a:spcAft>
                <a:spcPts val="400"/>
              </a:spcAft>
            </a:pPr>
            <a:r>
              <a:rPr sz="1350" b="0">
                <a:solidFill>
                  <a:srgbClr val="1F2A3A"/>
                </a:solidFill>
                <a:latin typeface="맑은 고딕"/>
                <a:ea typeface="맑은 고딕"/>
                <a:cs typeface="맑은 고딕"/>
              </a:rPr>
              <a:t>원인 진단과 조치의 흐름을 시작시킨다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394013"/>
            <a:ext cx="3442106" cy="319468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576893"/>
            <a:ext cx="731520" cy="731520"/>
          </a:xfrm>
          <a:prstGeom prst="ellipse">
            <a:avLst/>
          </a:prstGeom>
          <a:solidFill>
            <a:srgbClr val="FFFFFF"/>
          </a:solidFill>
          <a:ln>
            <a:noFill/>
          </a:ln>
        </p:spPr>
        <p:txBody>
          <a:bodyPr rtlCol="0" anchor="ctr"/>
          <a:lstStyle/>
          <a:p>
            <a:pPr algn="ctr"/>
          </a:p>
        </p:txBody>
      </p:sp>
      <p:pic>
        <p:nvPicPr>
          <p:cNvPr id="13" name="아이콘:bell" descr="bell_13294B_1.6.png"/>
          <p:cNvPicPr>
            <a:picLocks noChangeAspect="1"/>
          </p:cNvPicPr>
          <p:nvPr/>
        </p:nvPicPr>
        <p:blipFill>
          <a:blip r:embed="rId4"/>
          <a:stretch>
            <a:fillRect/>
          </a:stretch>
        </p:blipFill>
        <p:spPr>
          <a:xfrm>
            <a:off x="5883706" y="2730512"/>
            <a:ext cx="424281" cy="424281"/>
          </a:xfrm>
          <a:prstGeom prst="rect">
            <a:avLst/>
          </a:prstGeom>
        </p:spPr>
      </p:pic>
      <p:sp>
        <p:nvSpPr>
          <p:cNvPr id="14" name="TextBox 13"/>
          <p:cNvSpPr txBox="1"/>
          <p:nvPr/>
        </p:nvSpPr>
        <p:spPr>
          <a:xfrm>
            <a:off x="4447946"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60 ℃</a:t>
            </a:r>
          </a:p>
          <a:p>
            <a:pPr algn="ctr">
              <a:lnSpc>
                <a:spcPct val="110000"/>
              </a:lnSpc>
              <a:spcAft>
                <a:spcPts val="400"/>
              </a:spcAft>
            </a:pPr>
            <a:r>
              <a:rPr sz="1350" b="0">
                <a:solidFill>
                  <a:srgbClr val="1F2A3A"/>
                </a:solidFill>
                <a:latin typeface="맑은 고딕"/>
                <a:ea typeface="맑은 고딕"/>
                <a:cs typeface="맑은 고딕"/>
              </a:rPr>
              <a:t>운전 화면의 알람</a:t>
            </a:r>
          </a:p>
          <a:p>
            <a:pPr algn="ctr">
              <a:lnSpc>
                <a:spcPct val="110000"/>
              </a:lnSpc>
              <a:spcAft>
                <a:spcPts val="400"/>
              </a:spcAft>
            </a:pPr>
            <a:r>
              <a:rPr sz="1350" b="0">
                <a:solidFill>
                  <a:srgbClr val="1F2A3A"/>
                </a:solidFill>
                <a:latin typeface="맑은 고딕"/>
                <a:ea typeface="맑은 고딕"/>
                <a:cs typeface="맑은 고딕"/>
              </a:rPr>
              <a:t>유온 하나의 기준이다</a:t>
            </a:r>
          </a:p>
          <a:p>
            <a:pPr algn="ctr">
              <a:lnSpc>
                <a:spcPct val="110000"/>
              </a:lnSpc>
              <a:spcAft>
                <a:spcPts val="400"/>
              </a:spcAft>
            </a:pPr>
            <a:r>
              <a:rPr sz="1350" b="0">
                <a:solidFill>
                  <a:srgbClr val="1F2A3A"/>
                </a:solidFill>
                <a:latin typeface="맑은 고딕"/>
                <a:ea typeface="맑은 고딕"/>
                <a:cs typeface="맑은 고딕"/>
              </a:rPr>
              <a:t>운전원에게 지금의 상태를 알린다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394013"/>
            <a:ext cx="3442106" cy="319468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9556242" y="2576893"/>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9709861" y="2730512"/>
            <a:ext cx="424281" cy="424281"/>
          </a:xfrm>
          <a:prstGeom prst="rect">
            <a:avLst/>
          </a:prstGeom>
        </p:spPr>
      </p:pic>
      <p:sp>
        <p:nvSpPr>
          <p:cNvPr id="19" name="TextBox 18"/>
          <p:cNvSpPr txBox="1"/>
          <p:nvPr/>
        </p:nvSpPr>
        <p:spPr>
          <a:xfrm>
            <a:off x="8274100"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65 ℃</a:t>
            </a:r>
          </a:p>
          <a:p>
            <a:pPr algn="ctr">
              <a:lnSpc>
                <a:spcPct val="110000"/>
              </a:lnSpc>
              <a:spcAft>
                <a:spcPts val="400"/>
              </a:spcAft>
            </a:pPr>
            <a:r>
              <a:rPr sz="1350" b="0">
                <a:solidFill>
                  <a:srgbClr val="1F2A3A"/>
                </a:solidFill>
                <a:latin typeface="맑은 고딕"/>
                <a:ea typeface="맑은 고딕"/>
                <a:cs typeface="맑은 고딕"/>
              </a:rPr>
              <a:t>PLC의 인터록</a:t>
            </a:r>
          </a:p>
          <a:p>
            <a:pPr algn="ctr">
              <a:lnSpc>
                <a:spcPct val="110000"/>
              </a:lnSpc>
              <a:spcAft>
                <a:spcPts val="400"/>
              </a:spcAft>
            </a:pPr>
            <a:r>
              <a:rPr sz="1350" b="0">
                <a:solidFill>
                  <a:srgbClr val="1F2A3A"/>
                </a:solidFill>
                <a:latin typeface="맑은 고딕"/>
                <a:ea typeface="맑은 고딕"/>
                <a:cs typeface="맑은 고딕"/>
              </a:rPr>
              <a:t>알리지 않고 설비를 세운다</a:t>
            </a:r>
          </a:p>
          <a:p>
            <a:pPr algn="ctr">
              <a:lnSpc>
                <a:spcPct val="110000"/>
              </a:lnSpc>
              <a:spcAft>
                <a:spcPts val="400"/>
              </a:spcAft>
            </a:pPr>
            <a:r>
              <a:rPr sz="1350" b="0">
                <a:solidFill>
                  <a:srgbClr val="1F2A3A"/>
                </a:solidFill>
                <a:latin typeface="맑은 고딕"/>
                <a:ea typeface="맑은 고딕"/>
                <a:cs typeface="맑은 고딕"/>
              </a:rPr>
              <a:t>자동으로 풀리지 않으며, 유온이 55 ℃ 아래로</a:t>
            </a:r>
          </a:p>
          <a:p>
            <a:pPr algn="ctr">
              <a:lnSpc>
                <a:spcPct val="110000"/>
              </a:lnSpc>
              <a:spcAft>
                <a:spcPts val="400"/>
              </a:spcAft>
            </a:pPr>
            <a:r>
              <a:rPr sz="1350" b="0">
                <a:solidFill>
                  <a:srgbClr val="1F2A3A"/>
                </a:solidFill>
                <a:latin typeface="맑은 고딕"/>
                <a:ea typeface="맑은 고딕"/>
                <a:cs typeface="맑은 고딕"/>
              </a:rPr>
              <a:t>내려온 뒤 사람이 다시 건다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7~9 · 추천, 승인,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추천까지만 하고 명령은 승인 뒤에만 만들어져, 설비를 움직이는 결정이 책임질 사람을 거친다.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a:t>
            </a:r>
          </a:p>
          <a:p>
            <a:pPr algn="l">
              <a:lnSpc>
                <a:spcPct val="110000"/>
              </a:lnSpc>
              <a:spcAft>
                <a:spcPts val="400"/>
              </a:spcAft>
            </a:pPr>
            <a:r>
              <a:rPr sz="1400" b="0">
                <a:solidFill>
                  <a:srgbClr val="1F2A3A"/>
                </a:solidFill>
                <a:latin typeface="맑은 고딕"/>
                <a:ea typeface="맑은 고딕"/>
                <a:cs typeface="맑은 고딕"/>
              </a:rPr>
              <a:t>• 지식과 값을 조회해 원인을 가리고 조치안을 추천한다</a:t>
            </a:r>
          </a:p>
          <a:p>
            <a:pPr algn="l">
              <a:lnSpc>
                <a:spcPct val="110000"/>
              </a:lnSpc>
              <a:spcAft>
                <a:spcPts val="400"/>
              </a:spcAft>
            </a:pPr>
            <a:r>
              <a:rPr sz="1400" b="0">
                <a:solidFill>
                  <a:srgbClr val="1F2A3A"/>
                </a:solidFill>
                <a:latin typeface="맑은 고딕"/>
                <a:ea typeface="맑은 고딕"/>
                <a:cs typeface="맑은 고딕"/>
              </a:rPr>
              <a:t>• 설비에 명령을 보낼 수단이 없다</a:t>
            </a:r>
          </a:p>
        </p:txBody>
      </p:sp>
      <p:sp>
        <p:nvSpPr>
          <p:cNvPr id="10" name="Rounded Rectangle 9"/>
          <p:cNvSpPr/>
          <p:nvPr/>
        </p:nvSpPr>
        <p:spPr>
          <a:xfrm>
            <a:off x="777240" y="536676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조회와 추천</a:t>
            </a:r>
          </a:p>
        </p:txBody>
      </p:sp>
      <p:sp>
        <p:nvSpPr>
          <p:cNvPr id="12" name="Rounded Rectangle 11"/>
          <p:cNvSpPr/>
          <p:nvPr/>
        </p:nvSpPr>
        <p:spPr>
          <a:xfrm>
            <a:off x="4338218"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5CB8F2"/>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담당자</a:t>
            </a:r>
          </a:p>
          <a:p>
            <a:pPr algn="l">
              <a:lnSpc>
                <a:spcPct val="110000"/>
              </a:lnSpc>
              <a:spcAft>
                <a:spcPts val="400"/>
              </a:spcAft>
            </a:pPr>
            <a:r>
              <a:rPr sz="1400" b="0">
                <a:solidFill>
                  <a:srgbClr val="1F2A3A"/>
                </a:solidFill>
                <a:latin typeface="맑은 고딕"/>
                <a:ea typeface="맑은 고딕"/>
                <a:cs typeface="맑은 고딕"/>
              </a:rPr>
              <a:t>• 추천과 근거를 보고 승인하거나 거절한다</a:t>
            </a:r>
          </a:p>
          <a:p>
            <a:pPr algn="l">
              <a:lnSpc>
                <a:spcPct val="110000"/>
              </a:lnSpc>
              <a:spcAft>
                <a:spcPts val="400"/>
              </a:spcAft>
            </a:pPr>
            <a:r>
              <a:rPr sz="1400" b="0">
                <a:solidFill>
                  <a:srgbClr val="1F2A3A"/>
                </a:solidFill>
                <a:latin typeface="맑은 고딕"/>
                <a:ea typeface="맑은 고딕"/>
                <a:cs typeface="맑은 고딕"/>
              </a:rPr>
              <a:t>• 책임이 따르는 결정은 사람이 내린다</a:t>
            </a:r>
          </a:p>
          <a:p>
            <a:pPr algn="l">
              <a:lnSpc>
                <a:spcPct val="110000"/>
              </a:lnSpc>
              <a:spcAft>
                <a:spcPts val="400"/>
              </a:spcAft>
            </a:pPr>
            <a:r>
              <a:rPr sz="1400" b="0">
                <a:solidFill>
                  <a:srgbClr val="1F2A3A"/>
                </a:solidFill>
                <a:latin typeface="맑은 고딕"/>
                <a:ea typeface="맑은 고딕"/>
                <a:cs typeface="맑은 고딕"/>
              </a:rPr>
              <a:t>• 사람의 판단을 거치는 이 구조를 HITL(Human-in-the-Loop)이라 한다</a:t>
            </a:r>
          </a:p>
        </p:txBody>
      </p:sp>
      <p:sp>
        <p:nvSpPr>
          <p:cNvPr id="16" name="Rounded Rectangle 15"/>
          <p:cNvSpPr/>
          <p:nvPr/>
        </p:nvSpPr>
        <p:spPr>
          <a:xfrm>
            <a:off x="4566818" y="5366766"/>
            <a:ext cx="137160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36676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또는 거절</a:t>
            </a:r>
          </a:p>
        </p:txBody>
      </p:sp>
      <p:sp>
        <p:nvSpPr>
          <p:cNvPr id="18" name="Rounded Rectangle 17"/>
          <p:cNvSpPr/>
          <p:nvPr/>
        </p:nvSpPr>
        <p:spPr>
          <a:xfrm>
            <a:off x="8127796"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E7F3FD"/>
          </a:solidFill>
          <a:ln>
            <a:noFill/>
          </a:ln>
        </p:spPr>
        <p:txBody>
          <a:bodyPr rtlCol="0" anchor="ctr"/>
          <a:lstStyle/>
          <a:p>
            <a:pPr algn="ctr"/>
          </a:p>
        </p:txBody>
      </p:sp>
      <p:pic>
        <p:nvPicPr>
          <p:cNvPr id="20" name="아이콘:settings-automation" descr="settings-automation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프로세스 엔진</a:t>
            </a:r>
          </a:p>
          <a:p>
            <a:pPr algn="l">
              <a:lnSpc>
                <a:spcPct val="110000"/>
              </a:lnSpc>
              <a:spcAft>
                <a:spcPts val="400"/>
              </a:spcAft>
            </a:pPr>
            <a:r>
              <a:rPr sz="1400" b="0">
                <a:solidFill>
                  <a:srgbClr val="1F2A3A"/>
                </a:solidFill>
                <a:latin typeface="맑은 고딕"/>
                <a:ea typeface="맑은 고딕"/>
                <a:cs typeface="맑은 고딕"/>
              </a:rPr>
              <a:t>• 승인된 조치만 명령으로 만들어 내려보낸다</a:t>
            </a:r>
          </a:p>
          <a:p>
            <a:pPr algn="l">
              <a:lnSpc>
                <a:spcPct val="110000"/>
              </a:lnSpc>
              <a:spcAft>
                <a:spcPts val="400"/>
              </a:spcAft>
            </a:pPr>
            <a:r>
              <a:rPr sz="1400" b="0">
                <a:solidFill>
                  <a:srgbClr val="1F2A3A"/>
                </a:solidFill>
                <a:latin typeface="맑은 고딕"/>
                <a:ea typeface="맑은 고딕"/>
                <a:cs typeface="맑은 고딕"/>
              </a:rPr>
              <a:t>• 실행 뒤 결과를 확인하고 기록한다</a:t>
            </a:r>
          </a:p>
        </p:txBody>
      </p:sp>
      <p:sp>
        <p:nvSpPr>
          <p:cNvPr id="22" name="Rounded Rectangle 21"/>
          <p:cNvSpPr/>
          <p:nvPr/>
        </p:nvSpPr>
        <p:spPr>
          <a:xfrm>
            <a:off x="8356396" y="5366766"/>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실행과 확인</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승인된 명령이 설비로 내려가는 경로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설비로 내려가는 명령은 DMZ의 명령 관문이 검사한 뒤에만 OT의 브로커를 거쳐 PLC에 닿는다.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612647" y="2330818"/>
            <a:ext cx="4309750" cy="3321074"/>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2385682"/>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8" name="Rounded Rectangle 7"/>
          <p:cNvSpPr/>
          <p:nvPr/>
        </p:nvSpPr>
        <p:spPr>
          <a:xfrm>
            <a:off x="5050414" y="2330818"/>
            <a:ext cx="2090867" cy="3321074"/>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5050414" y="2385682"/>
            <a:ext cx="2090867"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0" name="Rounded Rectangle 9"/>
          <p:cNvSpPr/>
          <p:nvPr/>
        </p:nvSpPr>
        <p:spPr>
          <a:xfrm>
            <a:off x="7269297" y="2330818"/>
            <a:ext cx="4309750" cy="3321074"/>
          </a:xfrm>
          <a:prstGeom prst="roundRect">
            <a:avLst>
              <a:gd name="adj" fmla="val 4000"/>
            </a:avLst>
          </a:prstGeom>
          <a:solidFill>
            <a:srgbClr val="F3F6F9"/>
          </a:solidFill>
          <a:ln>
            <a:noFill/>
          </a:ln>
        </p:spPr>
        <p:txBody>
          <a:bodyPr rtlCol="0" anchor="ctr"/>
          <a:lstStyle/>
          <a:p>
            <a:pPr algn="ctr"/>
          </a:p>
        </p:txBody>
      </p:sp>
      <p:sp>
        <p:nvSpPr>
          <p:cNvPr id="11" name="TextBox 10"/>
          <p:cNvSpPr txBox="1"/>
          <p:nvPr/>
        </p:nvSpPr>
        <p:spPr>
          <a:xfrm>
            <a:off x="7269297" y="2385682"/>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12" name="Rectangle 11"/>
          <p:cNvSpPr/>
          <p:nvPr/>
        </p:nvSpPr>
        <p:spPr>
          <a:xfrm>
            <a:off x="1658081" y="3748976"/>
            <a:ext cx="8875532" cy="146304"/>
          </a:xfrm>
          <a:prstGeom prst="rect">
            <a:avLst/>
          </a:prstGeom>
          <a:solidFill>
            <a:srgbClr val="5CB8F2"/>
          </a:solidFill>
          <a:ln>
            <a:noFill/>
          </a:ln>
        </p:spPr>
        <p:txBody>
          <a:bodyPr rtlCol="0" anchor="ctr"/>
          <a:lstStyle/>
          <a:p>
            <a:pPr algn="ctr"/>
          </a:p>
        </p:txBody>
      </p:sp>
      <p:sp>
        <p:nvSpPr>
          <p:cNvPr id="13" name="Chevron 12"/>
          <p:cNvSpPr/>
          <p:nvPr/>
        </p:nvSpPr>
        <p:spPr>
          <a:xfrm>
            <a:off x="2648651" y="3639248"/>
            <a:ext cx="237744" cy="365760"/>
          </a:xfrm>
          <a:prstGeom prst="chevron">
            <a:avLst/>
          </a:prstGeom>
          <a:solidFill>
            <a:srgbClr val="13294B"/>
          </a:solidFill>
          <a:ln>
            <a:noFill/>
          </a:ln>
        </p:spPr>
        <p:txBody>
          <a:bodyPr rtlCol="0" anchor="ctr"/>
          <a:lstStyle/>
          <a:p>
            <a:pPr algn="ctr"/>
          </a:p>
        </p:txBody>
      </p:sp>
      <p:sp>
        <p:nvSpPr>
          <p:cNvPr id="14" name="TextBox 13"/>
          <p:cNvSpPr txBox="1"/>
          <p:nvPr/>
        </p:nvSpPr>
        <p:spPr>
          <a:xfrm>
            <a:off x="2143551"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기록</a:t>
            </a:r>
          </a:p>
        </p:txBody>
      </p:sp>
      <p:sp>
        <p:nvSpPr>
          <p:cNvPr id="15" name="Oval 14"/>
          <p:cNvSpPr/>
          <p:nvPr/>
        </p:nvSpPr>
        <p:spPr>
          <a:xfrm>
            <a:off x="108117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16" name="아이콘:settings-automation" descr="settings-automation_13294B_1.6.png"/>
          <p:cNvPicPr>
            <a:picLocks noChangeAspect="1"/>
          </p:cNvPicPr>
          <p:nvPr/>
        </p:nvPicPr>
        <p:blipFill>
          <a:blip r:embed="rId3"/>
          <a:stretch>
            <a:fillRect/>
          </a:stretch>
        </p:blipFill>
        <p:spPr>
          <a:xfrm>
            <a:off x="1358088" y="3522135"/>
            <a:ext cx="599985" cy="599985"/>
          </a:xfrm>
          <a:prstGeom prst="rect">
            <a:avLst/>
          </a:prstGeom>
        </p:spPr>
      </p:pic>
      <p:sp>
        <p:nvSpPr>
          <p:cNvPr id="17" name="TextBox 16"/>
          <p:cNvSpPr txBox="1"/>
          <p:nvPr/>
        </p:nvSpPr>
        <p:spPr>
          <a:xfrm>
            <a:off x="64007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프로세스 엔진</a:t>
            </a:r>
          </a:p>
          <a:p>
            <a:pPr algn="ctr">
              <a:lnSpc>
                <a:spcPct val="110000"/>
              </a:lnSpc>
              <a:spcAft>
                <a:spcPts val="400"/>
              </a:spcAft>
            </a:pPr>
            <a:r>
              <a:rPr sz="1300" b="0">
                <a:solidFill>
                  <a:srgbClr val="1F2A3A"/>
                </a:solidFill>
                <a:latin typeface="맑은 고딕"/>
                <a:ea typeface="맑은 고딕"/>
                <a:cs typeface="맑은 고딕"/>
              </a:rPr>
              <a:t>승인된 조치를</a:t>
            </a:r>
          </a:p>
          <a:p>
            <a:pPr algn="ctr">
              <a:lnSpc>
                <a:spcPct val="110000"/>
              </a:lnSpc>
              <a:spcAft>
                <a:spcPts val="400"/>
              </a:spcAft>
            </a:pPr>
            <a:r>
              <a:rPr sz="1300" b="0">
                <a:solidFill>
                  <a:srgbClr val="1F2A3A"/>
                </a:solidFill>
                <a:latin typeface="맑은 고딕"/>
                <a:ea typeface="맑은 고딕"/>
                <a:cs typeface="맑은 고딕"/>
              </a:rPr>
              <a:t>명령으로 만든다</a:t>
            </a:r>
          </a:p>
        </p:txBody>
      </p:sp>
      <p:sp>
        <p:nvSpPr>
          <p:cNvPr id="18" name="Chevron 17"/>
          <p:cNvSpPr/>
          <p:nvPr/>
        </p:nvSpPr>
        <p:spPr>
          <a:xfrm>
            <a:off x="4867534" y="3639248"/>
            <a:ext cx="237744" cy="365760"/>
          </a:xfrm>
          <a:prstGeom prst="chevron">
            <a:avLst/>
          </a:prstGeom>
          <a:solidFill>
            <a:srgbClr val="13294B"/>
          </a:solidFill>
          <a:ln>
            <a:noFill/>
          </a:ln>
        </p:spPr>
        <p:txBody>
          <a:bodyPr rtlCol="0" anchor="ctr"/>
          <a:lstStyle/>
          <a:p>
            <a:pPr algn="ctr"/>
          </a:p>
        </p:txBody>
      </p:sp>
      <p:sp>
        <p:nvSpPr>
          <p:cNvPr id="19" name="TextBox 18"/>
          <p:cNvSpPr txBox="1"/>
          <p:nvPr/>
        </p:nvSpPr>
        <p:spPr>
          <a:xfrm>
            <a:off x="4362434"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읽기</a:t>
            </a:r>
          </a:p>
        </p:txBody>
      </p:sp>
      <p:sp>
        <p:nvSpPr>
          <p:cNvPr id="20" name="Oval 19"/>
          <p:cNvSpPr/>
          <p:nvPr/>
        </p:nvSpPr>
        <p:spPr>
          <a:xfrm>
            <a:off x="330005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tack-2" descr="stack-2_13294B_1.6.png"/>
          <p:cNvPicPr>
            <a:picLocks noChangeAspect="1"/>
          </p:cNvPicPr>
          <p:nvPr/>
        </p:nvPicPr>
        <p:blipFill>
          <a:blip r:embed="rId4"/>
          <a:stretch>
            <a:fillRect/>
          </a:stretch>
        </p:blipFill>
        <p:spPr>
          <a:xfrm>
            <a:off x="3576971" y="3522135"/>
            <a:ext cx="599985" cy="599985"/>
          </a:xfrm>
          <a:prstGeom prst="rect">
            <a:avLst/>
          </a:prstGeom>
        </p:spPr>
      </p:pic>
      <p:sp>
        <p:nvSpPr>
          <p:cNvPr id="22" name="TextBox 21"/>
          <p:cNvSpPr txBox="1"/>
          <p:nvPr/>
        </p:nvSpPr>
        <p:spPr>
          <a:xfrm>
            <a:off x="2858963"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이벤트 로그</a:t>
            </a:r>
          </a:p>
          <a:p>
            <a:pPr algn="ctr">
              <a:lnSpc>
                <a:spcPct val="110000"/>
              </a:lnSpc>
              <a:spcAft>
                <a:spcPts val="400"/>
              </a:spcAft>
            </a:pPr>
            <a:r>
              <a:rPr sz="1300" b="0">
                <a:solidFill>
                  <a:srgbClr val="1F2A3A"/>
                </a:solidFill>
                <a:latin typeface="맑은 고딕"/>
                <a:ea typeface="맑은 고딕"/>
                <a:cs typeface="맑은 고딕"/>
              </a:rPr>
              <a:t>토픽 action.cmd에</a:t>
            </a:r>
          </a:p>
          <a:p>
            <a:pPr algn="ctr">
              <a:lnSpc>
                <a:spcPct val="110000"/>
              </a:lnSpc>
              <a:spcAft>
                <a:spcPts val="400"/>
              </a:spcAft>
            </a:pPr>
            <a:r>
              <a:rPr sz="1300" b="0">
                <a:solidFill>
                  <a:srgbClr val="1F2A3A"/>
                </a:solidFill>
                <a:latin typeface="맑은 고딕"/>
                <a:ea typeface="맑은 고딕"/>
                <a:cs typeface="맑은 고딕"/>
              </a:rPr>
              <a:t>명령이 기록으로 남는다</a:t>
            </a:r>
          </a:p>
        </p:txBody>
      </p:sp>
      <p:sp>
        <p:nvSpPr>
          <p:cNvPr id="23" name="Chevron 22"/>
          <p:cNvSpPr/>
          <p:nvPr/>
        </p:nvSpPr>
        <p:spPr>
          <a:xfrm>
            <a:off x="7086417" y="3639248"/>
            <a:ext cx="237744" cy="365760"/>
          </a:xfrm>
          <a:prstGeom prst="chevron">
            <a:avLst/>
          </a:prstGeom>
          <a:solidFill>
            <a:srgbClr val="13294B"/>
          </a:solidFill>
          <a:ln>
            <a:noFill/>
          </a:ln>
        </p:spPr>
        <p:txBody>
          <a:bodyPr rtlCol="0" anchor="ctr"/>
          <a:lstStyle/>
          <a:p>
            <a:pPr algn="ctr"/>
          </a:p>
        </p:txBody>
      </p:sp>
      <p:sp>
        <p:nvSpPr>
          <p:cNvPr id="24" name="TextBox 23"/>
          <p:cNvSpPr txBox="1"/>
          <p:nvPr/>
        </p:nvSpPr>
        <p:spPr>
          <a:xfrm>
            <a:off x="6581317"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검사 통과</a:t>
            </a:r>
          </a:p>
        </p:txBody>
      </p:sp>
      <p:sp>
        <p:nvSpPr>
          <p:cNvPr id="25" name="Oval 24"/>
          <p:cNvSpPr/>
          <p:nvPr/>
        </p:nvSpPr>
        <p:spPr>
          <a:xfrm>
            <a:off x="5518938" y="3245218"/>
            <a:ext cx="1153819" cy="1153819"/>
          </a:xfrm>
          <a:prstGeom prst="ellipse">
            <a:avLst/>
          </a:prstGeom>
          <a:solidFill>
            <a:srgbClr val="5CB8F2"/>
          </a:solidFill>
          <a:ln w="28575">
            <a:solidFill>
              <a:srgbClr val="13294B"/>
            </a:solidFill>
          </a:ln>
        </p:spPr>
        <p:txBody>
          <a:bodyPr rtlCol="0" anchor="ctr"/>
          <a:lstStyle/>
          <a:p>
            <a:pPr algn="ctr"/>
          </a:p>
        </p:txBody>
      </p:sp>
      <p:pic>
        <p:nvPicPr>
          <p:cNvPr id="26" name="아이콘:shield-check" descr="shield-check_13294B_1.6.png"/>
          <p:cNvPicPr>
            <a:picLocks noChangeAspect="1"/>
          </p:cNvPicPr>
          <p:nvPr/>
        </p:nvPicPr>
        <p:blipFill>
          <a:blip r:embed="rId5"/>
          <a:stretch>
            <a:fillRect/>
          </a:stretch>
        </p:blipFill>
        <p:spPr>
          <a:xfrm>
            <a:off x="5795854" y="3522135"/>
            <a:ext cx="599985" cy="599985"/>
          </a:xfrm>
          <a:prstGeom prst="rect">
            <a:avLst/>
          </a:prstGeom>
        </p:spPr>
      </p:pic>
      <p:sp>
        <p:nvSpPr>
          <p:cNvPr id="27" name="TextBox 26"/>
          <p:cNvSpPr txBox="1"/>
          <p:nvPr/>
        </p:nvSpPr>
        <p:spPr>
          <a:xfrm>
            <a:off x="5077846"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명령 관문</a:t>
            </a:r>
          </a:p>
          <a:p>
            <a:pPr algn="ctr">
              <a:lnSpc>
                <a:spcPct val="110000"/>
              </a:lnSpc>
              <a:spcAft>
                <a:spcPts val="400"/>
              </a:spcAft>
            </a:pPr>
            <a:r>
              <a:rPr sz="1300" b="0">
                <a:solidFill>
                  <a:srgbClr val="1F2A3A"/>
                </a:solidFill>
                <a:latin typeface="맑은 고딕"/>
                <a:ea typeface="맑은 고딕"/>
                <a:cs typeface="맑은 고딕"/>
              </a:rPr>
              <a:t>형식, 만료, 승인 기록,</a:t>
            </a:r>
          </a:p>
          <a:p>
            <a:pPr algn="ctr">
              <a:lnSpc>
                <a:spcPct val="110000"/>
              </a:lnSpc>
              <a:spcAft>
                <a:spcPts val="400"/>
              </a:spcAft>
            </a:pPr>
            <a:r>
              <a:rPr sz="1300" b="0">
                <a:solidFill>
                  <a:srgbClr val="1F2A3A"/>
                </a:solidFill>
                <a:latin typeface="맑은 고딕"/>
                <a:ea typeface="맑은 고딕"/>
                <a:cs typeface="맑은 고딕"/>
              </a:rPr>
              <a:t>운전 모드를 검사한다</a:t>
            </a:r>
          </a:p>
        </p:txBody>
      </p:sp>
      <p:sp>
        <p:nvSpPr>
          <p:cNvPr id="28" name="Chevron 27"/>
          <p:cNvSpPr/>
          <p:nvPr/>
        </p:nvSpPr>
        <p:spPr>
          <a:xfrm>
            <a:off x="9305300" y="3639248"/>
            <a:ext cx="237744" cy="365760"/>
          </a:xfrm>
          <a:prstGeom prst="chevron">
            <a:avLst/>
          </a:prstGeom>
          <a:solidFill>
            <a:srgbClr val="13294B"/>
          </a:solidFill>
          <a:ln>
            <a:noFill/>
          </a:ln>
        </p:spPr>
        <p:txBody>
          <a:bodyPr rtlCol="0" anchor="ctr"/>
          <a:lstStyle/>
          <a:p>
            <a:pPr algn="ctr"/>
          </a:p>
        </p:txBody>
      </p:sp>
      <p:sp>
        <p:nvSpPr>
          <p:cNvPr id="29" name="TextBox 28"/>
          <p:cNvSpPr txBox="1"/>
          <p:nvPr/>
        </p:nvSpPr>
        <p:spPr>
          <a:xfrm>
            <a:off x="8800200"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전달</a:t>
            </a:r>
          </a:p>
        </p:txBody>
      </p:sp>
      <p:sp>
        <p:nvSpPr>
          <p:cNvPr id="30" name="Oval 29"/>
          <p:cNvSpPr/>
          <p:nvPr/>
        </p:nvSpPr>
        <p:spPr>
          <a:xfrm>
            <a:off x="773782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1" name="아이콘:broadcast" descr="broadcast_13294B_1.6.png"/>
          <p:cNvPicPr>
            <a:picLocks noChangeAspect="1"/>
          </p:cNvPicPr>
          <p:nvPr/>
        </p:nvPicPr>
        <p:blipFill>
          <a:blip r:embed="rId6"/>
          <a:stretch>
            <a:fillRect/>
          </a:stretch>
        </p:blipFill>
        <p:spPr>
          <a:xfrm>
            <a:off x="8014737" y="3522135"/>
            <a:ext cx="599985" cy="599985"/>
          </a:xfrm>
          <a:prstGeom prst="rect">
            <a:avLst/>
          </a:prstGeom>
        </p:spPr>
      </p:pic>
      <p:sp>
        <p:nvSpPr>
          <p:cNvPr id="32" name="TextBox 31"/>
          <p:cNvSpPr txBox="1"/>
          <p:nvPr/>
        </p:nvSpPr>
        <p:spPr>
          <a:xfrm>
            <a:off x="729672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브로커</a:t>
            </a:r>
          </a:p>
          <a:p>
            <a:pPr algn="ctr">
              <a:lnSpc>
                <a:spcPct val="110000"/>
              </a:lnSpc>
              <a:spcAft>
                <a:spcPts val="400"/>
              </a:spcAft>
            </a:pPr>
            <a:r>
              <a:rPr sz="1300" b="0">
                <a:solidFill>
                  <a:srgbClr val="1F2A3A"/>
                </a:solidFill>
                <a:latin typeface="맑은 고딕"/>
                <a:ea typeface="맑은 고딕"/>
                <a:cs typeface="맑은 고딕"/>
              </a:rPr>
              <a:t>토픽</a:t>
            </a:r>
          </a:p>
          <a:p>
            <a:pPr algn="ctr">
              <a:lnSpc>
                <a:spcPct val="110000"/>
              </a:lnSpc>
              <a:spcAft>
                <a:spcPts val="400"/>
              </a:spcAft>
            </a:pPr>
            <a:r>
              <a:rPr sz="1300" b="0">
                <a:solidFill>
                  <a:srgbClr val="1F2A3A"/>
                </a:solidFill>
                <a:latin typeface="맑은 고딕"/>
                <a:ea typeface="맑은 고딕"/>
                <a:cs typeface="맑은 고딕"/>
              </a:rPr>
              <a:t>plant/hyd01/cmd/auto</a:t>
            </a:r>
          </a:p>
        </p:txBody>
      </p:sp>
      <p:sp>
        <p:nvSpPr>
          <p:cNvPr id="33" name="Oval 32"/>
          <p:cNvSpPr/>
          <p:nvPr/>
        </p:nvSpPr>
        <p:spPr>
          <a:xfrm>
            <a:off x="995670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4" name="아이콘:cpu" descr="cpu_13294B_1.6.png"/>
          <p:cNvPicPr>
            <a:picLocks noChangeAspect="1"/>
          </p:cNvPicPr>
          <p:nvPr/>
        </p:nvPicPr>
        <p:blipFill>
          <a:blip r:embed="rId7"/>
          <a:stretch>
            <a:fillRect/>
          </a:stretch>
        </p:blipFill>
        <p:spPr>
          <a:xfrm>
            <a:off x="10233620" y="3522135"/>
            <a:ext cx="599985" cy="599985"/>
          </a:xfrm>
          <a:prstGeom prst="rect">
            <a:avLst/>
          </a:prstGeom>
        </p:spPr>
      </p:pic>
      <p:sp>
        <p:nvSpPr>
          <p:cNvPr id="35" name="TextBox 34"/>
          <p:cNvSpPr txBox="1"/>
          <p:nvPr/>
        </p:nvSpPr>
        <p:spPr>
          <a:xfrm>
            <a:off x="9515612"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다시 검사한 뒤</a:t>
            </a:r>
          </a:p>
          <a:p>
            <a:pPr algn="ctr">
              <a:lnSpc>
                <a:spcPct val="110000"/>
              </a:lnSpc>
              <a:spcAft>
                <a:spcPts val="400"/>
              </a:spcAft>
            </a:pPr>
            <a:r>
              <a:rPr sz="1300" b="0">
                <a:solidFill>
                  <a:srgbClr val="1F2A3A"/>
                </a:solidFill>
                <a:latin typeface="맑은 고딕"/>
                <a:ea typeface="맑은 고딕"/>
                <a:cs typeface="맑은 고딕"/>
              </a:rPr>
              <a:t>설정값을 바꾼다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메시지 한 건에 들어 있는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명령에는 무엇을 하라는 내용과 함께 누가 승인했는지와 언제까지 유효한지가 들어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cmdId       CMD-1010-0001-b94a</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incident    INC-1010-01-d55a</a:t>
            </a:r>
          </a:p>
          <a:p>
            <a:pPr algn="l">
              <a:lnSpc>
                <a:spcPct val="110000"/>
              </a:lnSpc>
              <a:spcAft>
                <a:spcPts val="200"/>
              </a:spcAft>
            </a:pPr>
            <a:r>
              <a:rPr sz="1300" b="0">
                <a:solidFill>
                  <a:srgbClr val="E8EEF6"/>
                </a:solidFill>
                <a:latin typeface="Consolas"/>
                <a:ea typeface="맑은 고딕"/>
                <a:cs typeface="맑은 고딕"/>
              </a:rPr>
              <a:t>actions     FAN_SET  fan_pct 100</a:t>
            </a:r>
          </a:p>
          <a:p>
            <a:pPr algn="l">
              <a:lnSpc>
                <a:spcPct val="110000"/>
              </a:lnSpc>
              <a:spcAft>
                <a:spcPts val="200"/>
              </a:spcAft>
            </a:pPr>
            <a:r>
              <a:rPr sz="1300" b="0">
                <a:solidFill>
                  <a:srgbClr val="E8EEF6"/>
                </a:solidFill>
                <a:latin typeface="Consolas"/>
                <a:ea typeface="맑은 고딕"/>
                <a:cs typeface="맑은 고딕"/>
              </a:rPr>
              <a:t>approvedBy  user:kim-op</a:t>
            </a:r>
          </a:p>
          <a:p>
            <a:pPr algn="l">
              <a:lnSpc>
                <a:spcPct val="110000"/>
              </a:lnSpc>
              <a:spcAft>
                <a:spcPts val="200"/>
              </a:spcAft>
            </a:pPr>
            <a:r>
              <a:rPr sz="1300" b="0">
                <a:solidFill>
                  <a:srgbClr val="E8EEF6"/>
                </a:solidFill>
                <a:latin typeface="Consolas"/>
                <a:ea typeface="맑은 고딕"/>
                <a:cs typeface="맑은 고딕"/>
              </a:rPr>
              <a:t>issuedAt    11:14:57</a:t>
            </a:r>
          </a:p>
          <a:p>
            <a:pPr algn="l">
              <a:lnSpc>
                <a:spcPct val="110000"/>
              </a:lnSpc>
              <a:spcAft>
                <a:spcPts val="200"/>
              </a:spcAft>
            </a:pPr>
            <a:r>
              <a:rPr sz="1300" b="0">
                <a:solidFill>
                  <a:srgbClr val="E8EEF6"/>
                </a:solidFill>
                <a:latin typeface="Consolas"/>
                <a:ea typeface="맑은 고딕"/>
                <a:cs typeface="맑은 고딕"/>
              </a:rPr>
              <a:t>expiresAt   11:16:57</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actions</a:t>
            </a:r>
          </a:p>
          <a:p>
            <a:pPr algn="l">
              <a:lnSpc>
                <a:spcPct val="110000"/>
              </a:lnSpc>
              <a:spcAft>
                <a:spcPts val="400"/>
              </a:spcAft>
            </a:pPr>
            <a:r>
              <a:rPr sz="1400" b="0">
                <a:solidFill>
                  <a:srgbClr val="1F2A3A"/>
                </a:solidFill>
                <a:latin typeface="맑은 고딕"/>
                <a:ea typeface="맑은 고딕"/>
                <a:cs typeface="맑은 고딕"/>
              </a:rPr>
              <a:t>할 일이다. 팬 속도를 100 %로 올린다.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approvedBy</a:t>
            </a:r>
          </a:p>
          <a:p>
            <a:pPr algn="l">
              <a:lnSpc>
                <a:spcPct val="110000"/>
              </a:lnSpc>
              <a:spcAft>
                <a:spcPts val="400"/>
              </a:spcAft>
            </a:pPr>
            <a:r>
              <a:rPr sz="1400" b="0">
                <a:solidFill>
                  <a:srgbClr val="1F2A3A"/>
                </a:solidFill>
                <a:latin typeface="맑은 고딕"/>
                <a:ea typeface="맑은 고딕"/>
                <a:cs typeface="맑은 고딕"/>
              </a:rPr>
              <a:t>승인한 사람이다. 승인 없이는 명령이 만들어지지 않으며, 누가 책임지는지가 남는다.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expiresAt</a:t>
            </a:r>
          </a:p>
          <a:p>
            <a:pPr algn="l">
              <a:lnSpc>
                <a:spcPct val="110000"/>
              </a:lnSpc>
              <a:spcAft>
                <a:spcPts val="400"/>
              </a:spcAft>
            </a:pPr>
            <a:r>
              <a:rPr sz="1400" b="0">
                <a:solidFill>
                  <a:srgbClr val="1F2A3A"/>
                </a:solidFill>
                <a:latin typeface="맑은 고딕"/>
                <a:ea typeface="맑은 고딕"/>
                <a:cs typeface="맑은 고딕"/>
              </a:rPr>
              <a:t>유효 시간이다. 이 시각이 지난 명령은 버려져, 달라진 상황에서 늦게 실행되지 않는다.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칸</a:t>
            </a:r>
          </a:p>
          <a:p>
            <a:pPr algn="l">
              <a:lnSpc>
                <a:spcPct val="110000"/>
              </a:lnSpc>
              <a:spcAft>
                <a:spcPts val="400"/>
              </a:spcAft>
            </a:pPr>
            <a:r>
              <a:rPr sz="1400" b="0">
                <a:solidFill>
                  <a:srgbClr val="1F2A3A"/>
                </a:solidFill>
                <a:latin typeface="맑은 고딕"/>
                <a:ea typeface="맑은 고딕"/>
                <a:cs typeface="맑은 고딕"/>
              </a:rPr>
              <a:t>명령 번호와 설비, 사건 번호, 명령을 만든 시각이 함께 적힌다.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명령의 두 단계 검사: 명령 관문과 PLC</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 관문은 명령서를, PLC는 지금의 설비를 보아 서로 다른 잘못을 걸러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480246"/>
            <a:ext cx="731520" cy="731520"/>
          </a:xfrm>
          <a:prstGeom prst="ellipse">
            <a:avLst/>
          </a:prstGeom>
          <a:solidFill>
            <a:srgbClr val="5CB8F2"/>
          </a:solidFill>
          <a:ln>
            <a:noFill/>
          </a:ln>
        </p:spPr>
        <p:txBody>
          <a:bodyPr rtlCol="0" anchor="ctr"/>
          <a:lstStyle/>
          <a:p>
            <a:pPr algn="ctr"/>
          </a:p>
        </p:txBody>
      </p:sp>
      <p:pic>
        <p:nvPicPr>
          <p:cNvPr id="8" name="아이콘:clipboard-check" descr="clipboard-check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명령 관문 · DMZ</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형식: 필요한 칸이 모두 있고 허용된 조치인가</a:t>
            </a:r>
          </a:p>
          <a:p>
            <a:pPr algn="l">
              <a:lnSpc>
                <a:spcPct val="110000"/>
              </a:lnSpc>
              <a:spcAft>
                <a:spcPts val="600"/>
              </a:spcAft>
            </a:pPr>
            <a:r>
              <a:rPr sz="1450" b="0">
                <a:solidFill>
                  <a:srgbClr val="1F2A3A"/>
                </a:solidFill>
                <a:latin typeface="맑은 고딕"/>
                <a:ea typeface="맑은 고딕"/>
                <a:cs typeface="맑은 고딕"/>
              </a:rPr>
              <a:t>• 유효 시간: 지나지 않았는가</a:t>
            </a:r>
          </a:p>
          <a:p>
            <a:pPr algn="l">
              <a:lnSpc>
                <a:spcPct val="110000"/>
              </a:lnSpc>
              <a:spcAft>
                <a:spcPts val="600"/>
              </a:spcAft>
            </a:pPr>
            <a:r>
              <a:rPr sz="1450" b="0">
                <a:solidFill>
                  <a:srgbClr val="1F2A3A"/>
                </a:solidFill>
                <a:latin typeface="맑은 고딕"/>
                <a:ea typeface="맑은 고딕"/>
                <a:cs typeface="맑은 고딕"/>
              </a:rPr>
              <a:t>• 승인 기록: 이 명령에 대한 승인 기록이 실제로 있는가</a:t>
            </a:r>
          </a:p>
          <a:p>
            <a:pPr algn="l">
              <a:lnSpc>
                <a:spcPct val="110000"/>
              </a:lnSpc>
              <a:spcAft>
                <a:spcPts val="600"/>
              </a:spcAft>
            </a:pPr>
            <a:r>
              <a:rPr sz="1450" b="0">
                <a:solidFill>
                  <a:srgbClr val="1F2A3A"/>
                </a:solidFill>
                <a:latin typeface="맑은 고딕"/>
                <a:ea typeface="맑은 고딕"/>
                <a:cs typeface="맑은 고딕"/>
              </a:rPr>
              <a:t>• 운전 모드: PLC가 원격 자동 운전 상태인가</a:t>
            </a:r>
          </a:p>
        </p:txBody>
      </p:sp>
      <p:sp>
        <p:nvSpPr>
          <p:cNvPr id="11" name="Rounded Rectangle 10"/>
          <p:cNvSpPr/>
          <p:nvPr/>
        </p:nvSpPr>
        <p:spPr>
          <a:xfrm>
            <a:off x="868680" y="5246433"/>
            <a:ext cx="1325879"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명령서를 본다</a:t>
            </a:r>
          </a:p>
        </p:txBody>
      </p:sp>
      <p:sp>
        <p:nvSpPr>
          <p:cNvPr id="13" name="Rounded Rectangle 12"/>
          <p:cNvSpPr/>
          <p:nvPr/>
        </p:nvSpPr>
        <p:spPr>
          <a:xfrm>
            <a:off x="6461607" y="2279078"/>
            <a:ext cx="5181447" cy="3424555"/>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80246"/>
            <a:ext cx="731520" cy="731520"/>
          </a:xfrm>
          <a:prstGeom prst="ellipse">
            <a:avLst/>
          </a:prstGeom>
          <a:solidFill>
            <a:srgbClr val="FFFFFF"/>
          </a:solidFill>
          <a:ln>
            <a:noFill/>
          </a:ln>
        </p:spPr>
        <p:txBody>
          <a:bodyPr rtlCol="0" anchor="ctr"/>
          <a:lstStyle/>
          <a:p>
            <a:pPr algn="ctr"/>
          </a:p>
        </p:txBody>
      </p:sp>
      <p:pic>
        <p:nvPicPr>
          <p:cNvPr id="15" name="아이콘:shield-check" descr="shield-check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PLC · OT</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범위: 팬 속도는 0~100 %, 부하는 60~100 % 안인가</a:t>
            </a:r>
          </a:p>
          <a:p>
            <a:pPr algn="l">
              <a:lnSpc>
                <a:spcPct val="110000"/>
              </a:lnSpc>
              <a:spcAft>
                <a:spcPts val="600"/>
              </a:spcAft>
            </a:pPr>
            <a:r>
              <a:rPr sz="1450" b="0">
                <a:solidFill>
                  <a:srgbClr val="1F2A3A"/>
                </a:solidFill>
                <a:latin typeface="맑은 고딕"/>
                <a:ea typeface="맑은 고딕"/>
                <a:cs typeface="맑은 고딕"/>
              </a:rPr>
              <a:t>• 인터록: 지금 인터록에 걸려 있지 않은가</a:t>
            </a:r>
          </a:p>
          <a:p>
            <a:pPr algn="l">
              <a:lnSpc>
                <a:spcPct val="110000"/>
              </a:lnSpc>
              <a:spcAft>
                <a:spcPts val="600"/>
              </a:spcAft>
            </a:pPr>
            <a:r>
              <a:rPr sz="1450" b="0">
                <a:solidFill>
                  <a:srgbClr val="1F2A3A"/>
                </a:solidFill>
                <a:latin typeface="맑은 고딕"/>
                <a:ea typeface="맑은 고딕"/>
                <a:cs typeface="맑은 고딕"/>
              </a:rPr>
              <a:t>• 응답: 설정값을 바꾸고 결과를 돌려보낸다</a:t>
            </a:r>
          </a:p>
          <a:p>
            <a:pPr algn="l">
              <a:lnSpc>
                <a:spcPct val="110000"/>
              </a:lnSpc>
              <a:spcAft>
                <a:spcPts val="600"/>
              </a:spcAft>
            </a:pPr>
            <a:r>
              <a:rPr sz="1450" b="0">
                <a:solidFill>
                  <a:srgbClr val="1F2A3A"/>
                </a:solidFill>
                <a:latin typeface="맑은 고딕"/>
                <a:ea typeface="맑은 고딕"/>
                <a:cs typeface="맑은 고딕"/>
              </a:rPr>
              <a:t>• result DONE · interlock PASS</a:t>
            </a:r>
          </a:p>
        </p:txBody>
      </p:sp>
      <p:sp>
        <p:nvSpPr>
          <p:cNvPr id="18" name="Rounded Rectangle 17"/>
          <p:cNvSpPr/>
          <p:nvPr/>
        </p:nvSpPr>
        <p:spPr>
          <a:xfrm>
            <a:off x="6781647" y="5246433"/>
            <a:ext cx="167639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246433"/>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지금의 설비를 본다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한 건이 설비에 닿기까지 걸린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관문과 PLC의 검사는 1초 안에 끝났으며, 경보에서 승인까지 108초가 걸린 곳은 내려가는 길이 아니라 판단이었다.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11:14:56 승인</a:t>
            </a:r>
          </a:p>
          <a:p>
            <a:pPr algn="ctr">
              <a:lnSpc>
                <a:spcPct val="110000"/>
              </a:lnSpc>
              <a:spcAft>
                <a:spcPts val="400"/>
              </a:spcAft>
            </a:pPr>
            <a:r>
              <a:rPr sz="1350" b="0">
                <a:solidFill>
                  <a:srgbClr val="1F2A3A"/>
                </a:solidFill>
                <a:latin typeface="맑은 고딕"/>
                <a:ea typeface="맑은 고딕"/>
                <a:cs typeface="맑은 고딕"/>
              </a:rPr>
              <a:t>운전원이</a:t>
            </a:r>
          </a:p>
          <a:p>
            <a:pPr algn="ctr">
              <a:lnSpc>
                <a:spcPct val="110000"/>
              </a:lnSpc>
              <a:spcAft>
                <a:spcPts val="400"/>
              </a:spcAft>
            </a:pPr>
            <a:r>
              <a:rPr sz="1350" b="0">
                <a:solidFill>
                  <a:srgbClr val="1F2A3A"/>
                </a:solidFill>
                <a:latin typeface="맑은 고딕"/>
                <a:ea typeface="맑은 고딕"/>
                <a:cs typeface="맑은 고딕"/>
              </a:rPr>
              <a:t>「팬 최대 운전」을 승인한다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11:14:57 명령</a:t>
            </a:r>
          </a:p>
          <a:p>
            <a:pPr algn="ctr">
              <a:lnSpc>
                <a:spcPct val="110000"/>
              </a:lnSpc>
              <a:spcAft>
                <a:spcPts val="400"/>
              </a:spcAft>
            </a:pPr>
            <a:r>
              <a:rPr sz="1350" b="0">
                <a:solidFill>
                  <a:srgbClr val="1F2A3A"/>
                </a:solidFill>
                <a:latin typeface="맑은 고딕"/>
                <a:ea typeface="맑은 고딕"/>
                <a:cs typeface="맑은 고딕"/>
              </a:rPr>
              <a:t>팬 속도 100 % 명령이</a:t>
            </a:r>
          </a:p>
          <a:p>
            <a:pPr algn="ctr">
              <a:lnSpc>
                <a:spcPct val="110000"/>
              </a:lnSpc>
              <a:spcAft>
                <a:spcPts val="400"/>
              </a:spcAft>
            </a:pPr>
            <a:r>
              <a:rPr sz="1350" b="0">
                <a:solidFill>
                  <a:srgbClr val="1F2A3A"/>
                </a:solidFill>
                <a:latin typeface="맑은 고딕"/>
                <a:ea typeface="맑은 고딕"/>
                <a:cs typeface="맑은 고딕"/>
              </a:rPr>
              <a:t>내려간다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circle-check" descr="circle-check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11:14:58 응답</a:t>
            </a:r>
          </a:p>
          <a:p>
            <a:pPr algn="ctr">
              <a:lnSpc>
                <a:spcPct val="110000"/>
              </a:lnSpc>
              <a:spcAft>
                <a:spcPts val="400"/>
              </a:spcAft>
            </a:pPr>
            <a:r>
              <a:rPr sz="1350" b="0">
                <a:solidFill>
                  <a:srgbClr val="1F2A3A"/>
                </a:solidFill>
                <a:latin typeface="맑은 고딕"/>
                <a:ea typeface="맑은 고딕"/>
                <a:cs typeface="맑은 고딕"/>
              </a:rPr>
              <a:t>PLC가 실행 완료로 답한다</a:t>
            </a:r>
          </a:p>
          <a:p>
            <a:pPr algn="ctr">
              <a:lnSpc>
                <a:spcPct val="110000"/>
              </a:lnSpc>
              <a:spcAft>
                <a:spcPts val="400"/>
              </a:spcAft>
            </a:pPr>
            <a:r>
              <a:rPr sz="1350" b="0">
                <a:solidFill>
                  <a:srgbClr val="1F2A3A"/>
                </a:solidFill>
                <a:latin typeface="맑은 고딕"/>
                <a:ea typeface="맑은 고딕"/>
                <a:cs typeface="맑은 고딕"/>
              </a:rPr>
              <a:t>팬 속도 60 % → 100 %</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리니지: 값이 생겨 판단에 이르기까지의 내력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데이터 리니지(Data Lineage)는 설비를 움직인 판단의 근거를 처음의 값까지 되짚을 수 있게 하는 데이터의 내력이다.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원천 데이터</a:t>
            </a:r>
          </a:p>
          <a:p>
            <a:pPr algn="ctr">
              <a:lnSpc>
                <a:spcPct val="110000"/>
              </a:lnSpc>
              <a:spcAft>
                <a:spcPts val="400"/>
              </a:spcAft>
            </a:pPr>
            <a:r>
              <a:rPr sz="1350" b="0">
                <a:solidFill>
                  <a:srgbClr val="1F2A3A"/>
                </a:solidFill>
                <a:latin typeface="맑은 고딕"/>
                <a:ea typeface="맑은 고딕"/>
                <a:cs typeface="맑은 고딕"/>
              </a:rPr>
              <a:t>센서와 PLC가 만든다</a:t>
            </a:r>
          </a:p>
          <a:p>
            <a:pPr algn="ctr">
              <a:lnSpc>
                <a:spcPct val="110000"/>
              </a:lnSpc>
              <a:spcAft>
                <a:spcPts val="400"/>
              </a:spcAft>
            </a:pPr>
            <a:r>
              <a:rPr sz="1350" b="0">
                <a:solidFill>
                  <a:srgbClr val="1F2A3A"/>
                </a:solidFill>
                <a:latin typeface="맑은 고딕"/>
                <a:ea typeface="맑은 고딕"/>
                <a:cs typeface="맑은 고딕"/>
              </a:rPr>
              <a:t>유온 TS1의 측정값</a:t>
            </a:r>
          </a:p>
          <a:p>
            <a:pPr algn="ctr">
              <a:lnSpc>
                <a:spcPct val="110000"/>
              </a:lnSpc>
              <a:spcAft>
                <a:spcPts val="400"/>
              </a:spcAft>
            </a:pPr>
            <a:r>
              <a:rPr sz="1350" b="0">
                <a:solidFill>
                  <a:srgbClr val="1F2A3A"/>
                </a:solidFill>
                <a:latin typeface="맑은 고딕"/>
                <a:ea typeface="맑은 고딕"/>
                <a:cs typeface="맑은 고딕"/>
              </a:rPr>
              <a:t>브로커가 전달한 메시지</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transfer" descr="transfer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가공 데이터</a:t>
            </a:r>
          </a:p>
          <a:p>
            <a:pPr algn="ctr">
              <a:lnSpc>
                <a:spcPct val="110000"/>
              </a:lnSpc>
              <a:spcAft>
                <a:spcPts val="400"/>
              </a:spcAft>
            </a:pPr>
            <a:r>
              <a:rPr sz="1350" b="0">
                <a:solidFill>
                  <a:srgbClr val="1F2A3A"/>
                </a:solidFill>
                <a:latin typeface="맑은 고딕"/>
                <a:ea typeface="맑은 고딕"/>
                <a:cs typeface="맑은 고딕"/>
              </a:rPr>
              <a:t>수집 서비스와</a:t>
            </a:r>
          </a:p>
          <a:p>
            <a:pPr algn="ctr">
              <a:lnSpc>
                <a:spcPct val="110000"/>
              </a:lnSpc>
              <a:spcAft>
                <a:spcPts val="400"/>
              </a:spcAft>
            </a:pPr>
            <a:r>
              <a:rPr sz="1350" b="0">
                <a:solidFill>
                  <a:srgbClr val="1F2A3A"/>
                </a:solidFill>
                <a:latin typeface="맑은 고딕"/>
                <a:ea typeface="맑은 고딕"/>
                <a:cs typeface="맑은 고딕"/>
              </a:rPr>
              <a:t>감지 서비스가 만든다</a:t>
            </a:r>
          </a:p>
          <a:p>
            <a:pPr algn="ctr">
              <a:lnSpc>
                <a:spcPct val="110000"/>
              </a:lnSpc>
              <a:spcAft>
                <a:spcPts val="400"/>
              </a:spcAft>
            </a:pPr>
            <a:r>
              <a:rPr sz="1350" b="0">
                <a:solidFill>
                  <a:srgbClr val="1F2A3A"/>
                </a:solidFill>
                <a:latin typeface="맑은 고딕"/>
                <a:ea typeface="맑은 고딕"/>
                <a:cs typeface="맑은 고딕"/>
              </a:rPr>
              <a:t>이벤트 로그의 레코드,</a:t>
            </a:r>
          </a:p>
          <a:p>
            <a:pPr algn="ctr">
              <a:lnSpc>
                <a:spcPct val="110000"/>
              </a:lnSpc>
              <a:spcAft>
                <a:spcPts val="400"/>
              </a:spcAft>
            </a:pPr>
            <a:r>
              <a:rPr sz="1350" b="0">
                <a:solidFill>
                  <a:srgbClr val="1F2A3A"/>
                </a:solidFill>
                <a:latin typeface="맑은 고딕"/>
                <a:ea typeface="맑은 고딕"/>
                <a:cs typeface="맑은 고딕"/>
              </a:rPr>
              <a:t>유온의 기울기</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681478"/>
            <a:ext cx="731520" cy="731520"/>
          </a:xfrm>
          <a:prstGeom prst="ellipse">
            <a:avLst/>
          </a:prstGeom>
          <a:solidFill>
            <a:srgbClr val="5CB8F2"/>
          </a:solidFill>
          <a:ln>
            <a:noFill/>
          </a:ln>
        </p:spPr>
        <p:txBody>
          <a:bodyPr rtlCol="0" anchor="ctr"/>
          <a:lstStyle/>
          <a:p>
            <a:pPr algn="ctr"/>
          </a:p>
        </p:txBody>
      </p:sp>
      <p:pic>
        <p:nvPicPr>
          <p:cNvPr id="18" name="아이콘:bell-ringing" descr="bell-ringing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이벤트</a:t>
            </a:r>
          </a:p>
          <a:p>
            <a:pPr algn="ctr">
              <a:lnSpc>
                <a:spcPct val="110000"/>
              </a:lnSpc>
              <a:spcAft>
                <a:spcPts val="400"/>
              </a:spcAft>
            </a:pPr>
            <a:r>
              <a:rPr sz="1350" b="0">
                <a:solidFill>
                  <a:srgbClr val="1F2A3A"/>
                </a:solidFill>
                <a:latin typeface="맑은 고딕"/>
                <a:ea typeface="맑은 고딕"/>
                <a:cs typeface="맑은 고딕"/>
              </a:rPr>
              <a:t>감지 서비스가 만든다</a:t>
            </a:r>
          </a:p>
          <a:p>
            <a:pPr algn="ctr">
              <a:lnSpc>
                <a:spcPct val="110000"/>
              </a:lnSpc>
              <a:spcAft>
                <a:spcPts val="400"/>
              </a:spcAft>
            </a:pPr>
            <a:r>
              <a:rPr sz="1350" b="0">
                <a:solidFill>
                  <a:srgbClr val="1F2A3A"/>
                </a:solidFill>
                <a:latin typeface="맑은 고딕"/>
                <a:ea typeface="맑은 고딕"/>
                <a:cs typeface="맑은 고딕"/>
              </a:rPr>
              <a:t>쿨러 성능 저하 경보</a:t>
            </a:r>
          </a:p>
          <a:p>
            <a:pPr algn="ctr">
              <a:lnSpc>
                <a:spcPct val="110000"/>
              </a:lnSpc>
              <a:spcAft>
                <a:spcPts val="400"/>
              </a:spcAft>
            </a:pPr>
            <a:r>
              <a:rPr sz="1350" b="0">
                <a:solidFill>
                  <a:srgbClr val="1F2A3A"/>
                </a:solidFill>
                <a:latin typeface="맑은 고딕"/>
                <a:ea typeface="맑은 고딕"/>
                <a:cs typeface="맑은 고딕"/>
              </a:rPr>
              <a:t>ALT-hyd01-0014-e0a1</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판단 결과</a:t>
            </a:r>
          </a:p>
          <a:p>
            <a:pPr algn="ctr">
              <a:lnSpc>
                <a:spcPct val="110000"/>
              </a:lnSpc>
              <a:spcAft>
                <a:spcPts val="400"/>
              </a:spcAft>
            </a:pPr>
            <a:r>
              <a:rPr sz="1350" b="0">
                <a:solidFill>
                  <a:srgbClr val="1F2A3A"/>
                </a:solidFill>
                <a:latin typeface="맑은 고딕"/>
                <a:ea typeface="맑은 고딕"/>
                <a:cs typeface="맑은 고딕"/>
              </a:rPr>
              <a:t>에이전트와</a:t>
            </a:r>
          </a:p>
          <a:p>
            <a:pPr algn="ctr">
              <a:lnSpc>
                <a:spcPct val="110000"/>
              </a:lnSpc>
              <a:spcAft>
                <a:spcPts val="400"/>
              </a:spcAft>
            </a:pPr>
            <a:r>
              <a:rPr sz="1350" b="0">
                <a:solidFill>
                  <a:srgbClr val="1F2A3A"/>
                </a:solidFill>
                <a:latin typeface="맑은 고딕"/>
                <a:ea typeface="맑은 고딕"/>
                <a:cs typeface="맑은 고딕"/>
              </a:rPr>
              <a:t>담당자가 만든다</a:t>
            </a:r>
          </a:p>
          <a:p>
            <a:pPr algn="ctr">
              <a:lnSpc>
                <a:spcPct val="110000"/>
              </a:lnSpc>
              <a:spcAft>
                <a:spcPts val="400"/>
              </a:spcAft>
            </a:pPr>
            <a:r>
              <a:rPr sz="1350" b="0">
                <a:solidFill>
                  <a:srgbClr val="1F2A3A"/>
                </a:solidFill>
                <a:latin typeface="맑은 고딕"/>
                <a:ea typeface="맑은 고딕"/>
                <a:cs typeface="맑은 고딕"/>
              </a:rPr>
              <a:t>원인 판정, 조치 추천,</a:t>
            </a:r>
          </a:p>
          <a:p>
            <a:pPr algn="ctr">
              <a:lnSpc>
                <a:spcPct val="110000"/>
              </a:lnSpc>
              <a:spcAft>
                <a:spcPts val="400"/>
              </a:spcAft>
            </a:pPr>
            <a:r>
              <a:rPr sz="1350" b="0">
                <a:solidFill>
                  <a:srgbClr val="1F2A3A"/>
                </a:solidFill>
                <a:latin typeface="맑은 고딕"/>
                <a:ea typeface="맑은 고딕"/>
                <a:cs typeface="맑은 고딕"/>
              </a:rPr>
              <a:t>승인 기록</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가공 데이터의 예: 유온의 기울기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가공 데이터는 원천 데이터를 재료로 계산해 낸 값으로, 감지 서비스는 최근 유온 값들에서 기울기를 계산한다.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TS1</a:t>
            </a:r>
          </a:p>
          <a:p>
            <a:pPr algn="l">
              <a:lnSpc>
                <a:spcPct val="110000"/>
              </a:lnSpc>
              <a:spcAft>
                <a:spcPts val="200"/>
              </a:spcAft>
            </a:pPr>
            <a:r>
              <a:rPr sz="1300" b="0">
                <a:solidFill>
                  <a:srgbClr val="E8EEF6"/>
                </a:solidFill>
                <a:latin typeface="Consolas"/>
                <a:ea typeface="맑은 고딕"/>
                <a:cs typeface="맑은 고딕"/>
              </a:rPr>
              <a:t>11:13:06   55.41</a:t>
            </a:r>
          </a:p>
          <a:p>
            <a:pPr algn="l">
              <a:lnSpc>
                <a:spcPct val="110000"/>
              </a:lnSpc>
              <a:spcAft>
                <a:spcPts val="200"/>
              </a:spcAft>
            </a:pPr>
            <a:r>
              <a:rPr sz="1300" b="0">
                <a:solidFill>
                  <a:srgbClr val="E8EEF6"/>
                </a:solidFill>
                <a:latin typeface="Consolas"/>
                <a:ea typeface="맑은 고딕"/>
                <a:cs typeface="맑은 고딕"/>
              </a:rPr>
              <a:t>11:13:07   55.56</a:t>
            </a:r>
          </a:p>
          <a:p>
            <a:pPr algn="l">
              <a:lnSpc>
                <a:spcPct val="110000"/>
              </a:lnSpc>
              <a:spcAft>
                <a:spcPts val="200"/>
              </a:spcAft>
            </a:pPr>
            <a:r>
              <a:rPr sz="1300" b="0">
                <a:solidFill>
                  <a:srgbClr val="E8EEF6"/>
                </a:solidFill>
                <a:latin typeface="Consolas"/>
                <a:ea typeface="맑은 고딕"/>
                <a:cs typeface="맑은 고딕"/>
              </a:rPr>
              <a:t>11:13:08   55.71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기울기</a:t>
            </a:r>
          </a:p>
          <a:p>
            <a:pPr algn="l">
              <a:lnSpc>
                <a:spcPct val="110000"/>
              </a:lnSpc>
              <a:spcAft>
                <a:spcPts val="200"/>
              </a:spcAft>
            </a:pPr>
            <a:r>
              <a:rPr sz="1300" b="0">
                <a:solidFill>
                  <a:srgbClr val="E8EEF6"/>
                </a:solidFill>
                <a:latin typeface="Consolas"/>
                <a:ea typeface="맑은 고딕"/>
                <a:cs typeface="맑은 고딕"/>
              </a:rPr>
              <a:t>11:13:08   +0.0075   (0</a:t>
            </a:r>
            <a:r>
              <a:rPr sz="1300" b="0">
                <a:solidFill>
                  <a:srgbClr val="E8EEF6"/>
                </a:solidFill>
                <a:latin typeface="맑은 고딕"/>
                <a:ea typeface="맑은 고딕"/>
                <a:cs typeface="맑은 고딕"/>
              </a:rPr>
              <a:t>보다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크다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중</a:t>
            </a:r>
            <a:r>
              <a:rPr sz="1300" b="0">
                <a:solidFill>
                  <a:srgbClr val="E8EEF6"/>
                </a:solidFill>
                <a:latin typeface="Consolas"/>
                <a:ea typeface="맑은 고딕"/>
                <a:cs typeface="맑은 고딕"/>
              </a:rPr>
              <a:t>)</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재료</a:t>
            </a:r>
          </a:p>
          <a:p>
            <a:pPr algn="l">
              <a:lnSpc>
                <a:spcPct val="110000"/>
              </a:lnSpc>
              <a:spcAft>
                <a:spcPts val="400"/>
              </a:spcAft>
            </a:pPr>
            <a:r>
              <a:rPr sz="1400" b="0">
                <a:solidFill>
                  <a:srgbClr val="1F2A3A"/>
                </a:solidFill>
                <a:latin typeface="맑은 고딕"/>
                <a:ea typeface="맑은 고딕"/>
                <a:cs typeface="맑은 고딕"/>
              </a:rPr>
              <a:t>센서가 잰 유온 값 여러 개이다.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것</a:t>
            </a:r>
          </a:p>
          <a:p>
            <a:pPr algn="l">
              <a:lnSpc>
                <a:spcPct val="110000"/>
              </a:lnSpc>
              <a:spcAft>
                <a:spcPts val="400"/>
              </a:spcAft>
            </a:pPr>
            <a:r>
              <a:rPr sz="1400" b="0">
                <a:solidFill>
                  <a:srgbClr val="1F2A3A"/>
                </a:solidFill>
                <a:latin typeface="맑은 고딕"/>
                <a:ea typeface="맑은 고딕"/>
                <a:cs typeface="맑은 고딕"/>
              </a:rPr>
              <a:t>그 값들이 오르는지 내리는지를 나타내는 기울기이다.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쪽</a:t>
            </a:r>
          </a:p>
          <a:p>
            <a:pPr algn="l">
              <a:lnSpc>
                <a:spcPct val="110000"/>
              </a:lnSpc>
              <a:spcAft>
                <a:spcPts val="400"/>
              </a:spcAft>
            </a:pPr>
            <a:r>
              <a:rPr sz="1400" b="0">
                <a:solidFill>
                  <a:srgbClr val="1F2A3A"/>
                </a:solidFill>
                <a:latin typeface="맑은 고딕"/>
                <a:ea typeface="맑은 고딕"/>
                <a:cs typeface="맑은 고딕"/>
              </a:rPr>
              <a:t>감지 서비스이다. 기울기가 0보다 크면 유온이 오르는 중이다.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 결과의 예: 식별자로 이어지는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작업지시까지 단계마다 식별자가 남아 있어 결과에서 출발해 처음의 값까지 거슬러 되짚을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2723261"/>
            <a:ext cx="1911644" cy="253618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906141"/>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3059760"/>
            <a:ext cx="424281" cy="424281"/>
          </a:xfrm>
          <a:prstGeom prst="rect">
            <a:avLst/>
          </a:prstGeom>
        </p:spPr>
      </p:pic>
      <p:sp>
        <p:nvSpPr>
          <p:cNvPr id="9" name="TextBox 8"/>
          <p:cNvSpPr txBox="1"/>
          <p:nvPr/>
        </p:nvSpPr>
        <p:spPr>
          <a:xfrm>
            <a:off x="62179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ALT-</a:t>
            </a:r>
          </a:p>
          <a:p>
            <a:pPr algn="ctr">
              <a:lnSpc>
                <a:spcPct val="110000"/>
              </a:lnSpc>
              <a:spcAft>
                <a:spcPts val="400"/>
              </a:spcAft>
            </a:pPr>
            <a:r>
              <a:rPr sz="1250" b="0">
                <a:solidFill>
                  <a:srgbClr val="1F2A3A"/>
                </a:solidFill>
                <a:latin typeface="맑은 고딕"/>
                <a:ea typeface="맑은 고딕"/>
                <a:cs typeface="맑은 고딕"/>
              </a:rPr>
              <a:t>hyd01-0014</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723261"/>
            <a:ext cx="1911644" cy="253618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906141"/>
            <a:ext cx="731520" cy="731520"/>
          </a:xfrm>
          <a:prstGeom prst="ellipse">
            <a:avLst/>
          </a:prstGeom>
          <a:solidFill>
            <a:srgbClr val="FFFFFF"/>
          </a:solidFill>
          <a:ln>
            <a:noFill/>
          </a:ln>
        </p:spPr>
        <p:txBody>
          <a:bodyPr rtlCol="0" anchor="ctr"/>
          <a:lstStyle/>
          <a:p>
            <a:pPr algn="ctr"/>
          </a:p>
        </p:txBody>
      </p:sp>
      <p:pic>
        <p:nvPicPr>
          <p:cNvPr id="13" name="아이콘:clipboard-check" descr="clipboard-check_13294B_1.6.png"/>
          <p:cNvPicPr>
            <a:picLocks noChangeAspect="1"/>
          </p:cNvPicPr>
          <p:nvPr/>
        </p:nvPicPr>
        <p:blipFill>
          <a:blip r:embed="rId4"/>
          <a:stretch>
            <a:fillRect/>
          </a:stretch>
        </p:blipFill>
        <p:spPr>
          <a:xfrm>
            <a:off x="3588014" y="3059760"/>
            <a:ext cx="424281" cy="424281"/>
          </a:xfrm>
          <a:prstGeom prst="rect">
            <a:avLst/>
          </a:prstGeom>
        </p:spPr>
      </p:pic>
      <p:sp>
        <p:nvSpPr>
          <p:cNvPr id="14" name="TextBox 13"/>
          <p:cNvSpPr txBox="1"/>
          <p:nvPr/>
        </p:nvSpPr>
        <p:spPr>
          <a:xfrm>
            <a:off x="2917484"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사건</a:t>
            </a:r>
          </a:p>
          <a:p>
            <a:pPr algn="ctr">
              <a:lnSpc>
                <a:spcPct val="110000"/>
              </a:lnSpc>
              <a:spcAft>
                <a:spcPts val="400"/>
              </a:spcAft>
            </a:pPr>
            <a:r>
              <a:rPr sz="1250" b="0">
                <a:solidFill>
                  <a:srgbClr val="1F2A3A"/>
                </a:solidFill>
                <a:latin typeface="맑은 고딕"/>
                <a:ea typeface="맑은 고딕"/>
                <a:cs typeface="맑은 고딕"/>
              </a:rPr>
              <a:t>INC-</a:t>
            </a:r>
          </a:p>
          <a:p>
            <a:pPr algn="ctr">
              <a:lnSpc>
                <a:spcPct val="110000"/>
              </a:lnSpc>
              <a:spcAft>
                <a:spcPts val="400"/>
              </a:spcAft>
            </a:pPr>
            <a:r>
              <a:rPr sz="1250" b="0">
                <a:solidFill>
                  <a:srgbClr val="1F2A3A"/>
                </a:solidFill>
                <a:latin typeface="맑은 고딕"/>
                <a:ea typeface="맑은 고딕"/>
                <a:cs typeface="맑은 고딕"/>
              </a:rPr>
              <a:t>1010-01</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723261"/>
            <a:ext cx="1911644" cy="253618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906141"/>
            <a:ext cx="731520" cy="731520"/>
          </a:xfrm>
          <a:prstGeom prst="ellipse">
            <a:avLst/>
          </a:prstGeom>
          <a:solidFill>
            <a:srgbClr val="5CB8F2"/>
          </a:solidFill>
          <a:ln>
            <a:noFill/>
          </a:ln>
        </p:spPr>
        <p:txBody>
          <a:bodyPr rtlCol="0" anchor="ctr"/>
          <a:lstStyle/>
          <a:p>
            <a:pPr algn="ctr"/>
          </a:p>
        </p:txBody>
      </p:sp>
      <p:pic>
        <p:nvPicPr>
          <p:cNvPr id="18" name="아이콘:robot" descr="robot_13294B_1.6.png"/>
          <p:cNvPicPr>
            <a:picLocks noChangeAspect="1"/>
          </p:cNvPicPr>
          <p:nvPr/>
        </p:nvPicPr>
        <p:blipFill>
          <a:blip r:embed="rId5"/>
          <a:stretch>
            <a:fillRect/>
          </a:stretch>
        </p:blipFill>
        <p:spPr>
          <a:xfrm>
            <a:off x="5883706" y="3059760"/>
            <a:ext cx="424281" cy="424281"/>
          </a:xfrm>
          <a:prstGeom prst="rect">
            <a:avLst/>
          </a:prstGeom>
        </p:spPr>
      </p:pic>
      <p:sp>
        <p:nvSpPr>
          <p:cNvPr id="19" name="TextBox 18"/>
          <p:cNvSpPr txBox="1"/>
          <p:nvPr/>
        </p:nvSpPr>
        <p:spPr>
          <a:xfrm>
            <a:off x="5213177"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판단</a:t>
            </a:r>
          </a:p>
          <a:p>
            <a:pPr algn="ctr">
              <a:lnSpc>
                <a:spcPct val="110000"/>
              </a:lnSpc>
              <a:spcAft>
                <a:spcPts val="400"/>
              </a:spcAft>
            </a:pPr>
            <a:r>
              <a:rPr sz="1250" b="0">
                <a:solidFill>
                  <a:srgbClr val="1F2A3A"/>
                </a:solidFill>
                <a:latin typeface="맑은 고딕"/>
                <a:ea typeface="맑은 고딕"/>
                <a:cs typeface="맑은 고딕"/>
              </a:rPr>
              <a:t>DEC-</a:t>
            </a:r>
          </a:p>
          <a:p>
            <a:pPr algn="ctr">
              <a:lnSpc>
                <a:spcPct val="110000"/>
              </a:lnSpc>
              <a:spcAft>
                <a:spcPts val="400"/>
              </a:spcAft>
            </a:pPr>
            <a:r>
              <a:rPr sz="1250" b="0">
                <a:solidFill>
                  <a:srgbClr val="1F2A3A"/>
                </a:solidFill>
                <a:latin typeface="맑은 고딕"/>
                <a:ea typeface="맑은 고딕"/>
                <a:cs typeface="맑은 고딕"/>
              </a:rPr>
              <a:t>1010-002</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723261"/>
            <a:ext cx="1911644" cy="253618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906141"/>
            <a:ext cx="731520" cy="731520"/>
          </a:xfrm>
          <a:prstGeom prst="ellipse">
            <a:avLst/>
          </a:prstGeom>
          <a:solidFill>
            <a:srgbClr val="FFFFFF"/>
          </a:solidFill>
          <a:ln>
            <a:noFill/>
          </a:ln>
        </p:spPr>
        <p:txBody>
          <a:bodyPr rtlCol="0" anchor="ctr"/>
          <a:lstStyle/>
          <a:p>
            <a:pPr algn="ctr"/>
          </a:p>
        </p:txBody>
      </p:sp>
      <p:pic>
        <p:nvPicPr>
          <p:cNvPr id="23" name="아이콘:send" descr="send_13294B_1.6.png"/>
          <p:cNvPicPr>
            <a:picLocks noChangeAspect="1"/>
          </p:cNvPicPr>
          <p:nvPr/>
        </p:nvPicPr>
        <p:blipFill>
          <a:blip r:embed="rId6"/>
          <a:stretch>
            <a:fillRect/>
          </a:stretch>
        </p:blipFill>
        <p:spPr>
          <a:xfrm>
            <a:off x="8179399" y="3059760"/>
            <a:ext cx="424281" cy="424281"/>
          </a:xfrm>
          <a:prstGeom prst="rect">
            <a:avLst/>
          </a:prstGeom>
        </p:spPr>
      </p:pic>
      <p:sp>
        <p:nvSpPr>
          <p:cNvPr id="24" name="TextBox 23"/>
          <p:cNvSpPr txBox="1"/>
          <p:nvPr/>
        </p:nvSpPr>
        <p:spPr>
          <a:xfrm>
            <a:off x="7508869"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명령</a:t>
            </a:r>
          </a:p>
          <a:p>
            <a:pPr algn="ctr">
              <a:lnSpc>
                <a:spcPct val="110000"/>
              </a:lnSpc>
              <a:spcAft>
                <a:spcPts val="400"/>
              </a:spcAft>
            </a:pPr>
            <a:r>
              <a:rPr sz="1250" b="0">
                <a:solidFill>
                  <a:srgbClr val="1F2A3A"/>
                </a:solidFill>
                <a:latin typeface="맑은 고딕"/>
                <a:ea typeface="맑은 고딕"/>
                <a:cs typeface="맑은 고딕"/>
              </a:rPr>
              <a:t>CMD-</a:t>
            </a:r>
          </a:p>
          <a:p>
            <a:pPr algn="ctr">
              <a:lnSpc>
                <a:spcPct val="110000"/>
              </a:lnSpc>
              <a:spcAft>
                <a:spcPts val="400"/>
              </a:spcAft>
            </a:pPr>
            <a:r>
              <a:rPr sz="1250" b="0">
                <a:solidFill>
                  <a:srgbClr val="1F2A3A"/>
                </a:solidFill>
                <a:latin typeface="맑은 고딕"/>
                <a:ea typeface="맑은 고딕"/>
                <a:cs typeface="맑은 고딕"/>
              </a:rPr>
              <a:t>1010-0001</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723261"/>
            <a:ext cx="1911644" cy="253618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906141"/>
            <a:ext cx="731520" cy="731520"/>
          </a:xfrm>
          <a:prstGeom prst="ellipse">
            <a:avLst/>
          </a:prstGeom>
          <a:solidFill>
            <a:srgbClr val="FFFFFF"/>
          </a:solidFill>
          <a:ln>
            <a:noFill/>
          </a:ln>
        </p:spPr>
        <p:txBody>
          <a:bodyPr rtlCol="0" anchor="ctr"/>
          <a:lstStyle/>
          <a:p>
            <a:pPr algn="ctr"/>
          </a:p>
        </p:txBody>
      </p:sp>
      <p:pic>
        <p:nvPicPr>
          <p:cNvPr id="28" name="아이콘:tool" descr="tool_13294B_1.6.png"/>
          <p:cNvPicPr>
            <a:picLocks noChangeAspect="1"/>
          </p:cNvPicPr>
          <p:nvPr/>
        </p:nvPicPr>
        <p:blipFill>
          <a:blip r:embed="rId7"/>
          <a:stretch>
            <a:fillRect/>
          </a:stretch>
        </p:blipFill>
        <p:spPr>
          <a:xfrm>
            <a:off x="10475092" y="3059760"/>
            <a:ext cx="424281" cy="424281"/>
          </a:xfrm>
          <a:prstGeom prst="rect">
            <a:avLst/>
          </a:prstGeom>
        </p:spPr>
      </p:pic>
      <p:sp>
        <p:nvSpPr>
          <p:cNvPr id="29" name="TextBox 28"/>
          <p:cNvSpPr txBox="1"/>
          <p:nvPr/>
        </p:nvSpPr>
        <p:spPr>
          <a:xfrm>
            <a:off x="980456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작업지시</a:t>
            </a:r>
          </a:p>
          <a:p>
            <a:pPr algn="ctr">
              <a:lnSpc>
                <a:spcPct val="110000"/>
              </a:lnSpc>
              <a:spcAft>
                <a:spcPts val="400"/>
              </a:spcAft>
            </a:pPr>
            <a:r>
              <a:rPr sz="1250" b="0">
                <a:solidFill>
                  <a:srgbClr val="1F2A3A"/>
                </a:solidFill>
                <a:latin typeface="맑은 고딕"/>
                <a:ea typeface="맑은 고딕"/>
                <a:cs typeface="맑은 고딕"/>
              </a:rPr>
              <a:t>WO-</a:t>
            </a:r>
          </a:p>
          <a:p>
            <a:pPr algn="ctr">
              <a:lnSpc>
                <a:spcPct val="110000"/>
              </a:lnSpc>
              <a:spcAft>
                <a:spcPts val="400"/>
              </a:spcAft>
            </a:pPr>
            <a:r>
              <a:rPr sz="1250" b="0">
                <a:solidFill>
                  <a:srgbClr val="1F2A3A"/>
                </a:solidFill>
                <a:latin typeface="맑은 고딕"/>
                <a:ea typeface="맑은 고딕"/>
                <a:cs typeface="맑은 고딕"/>
              </a:rPr>
              <a:t>1010-C058</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지나온 길: 아홉 기능 계층과 세 보안 영역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 지나온 자리를 하는 일로 나누면 아홉 기능 계층이고, 놓인 망으로 나누면 세 보안 영역이다.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pic>
        <p:nvPicPr>
          <p:cNvPr id="6" name="삽화:계층_0_전체.svg" descr="illust_5920164163056650171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1641814"/>
            <a:ext cx="8945785"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 Operational Technology · DMZ: Demilitarized Zone · IT: Information Technology</a:t>
            </a:r>
          </a:p>
        </p:txBody>
      </p:sp>
      <p:sp>
        <p:nvSpPr>
          <p:cNvPr id="8" name="TextBox 7"/>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9" name="TextBox 8"/>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10" name="TextBox 9"/>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1" name="TextBox 10"/>
          <p:cNvSpPr txBox="1"/>
          <p:nvPr/>
        </p:nvSpPr>
        <p:spPr>
          <a:xfrm>
            <a:off x="1841144" y="2020010"/>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9 · 프로세스 · 승인 · 앱</a:t>
            </a:r>
          </a:p>
        </p:txBody>
      </p:sp>
      <p:sp>
        <p:nvSpPr>
          <p:cNvPr id="12" name="TextBox 11"/>
          <p:cNvSpPr txBox="1"/>
          <p:nvPr/>
        </p:nvSpPr>
        <p:spPr>
          <a:xfrm>
            <a:off x="1841144" y="25022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8 · AI 에이전트</a:t>
            </a:r>
          </a:p>
        </p:txBody>
      </p:sp>
      <p:sp>
        <p:nvSpPr>
          <p:cNvPr id="13" name="TextBox 12"/>
          <p:cNvSpPr txBox="1"/>
          <p:nvPr/>
        </p:nvSpPr>
        <p:spPr>
          <a:xfrm>
            <a:off x="1841144" y="29844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7 · 온톨로지 · 원인분석</a:t>
            </a:r>
          </a:p>
        </p:txBody>
      </p:sp>
      <p:sp>
        <p:nvSpPr>
          <p:cNvPr id="14" name="TextBox 13"/>
          <p:cNvSpPr txBox="1"/>
          <p:nvPr/>
        </p:nvSpPr>
        <p:spPr>
          <a:xfrm>
            <a:off x="1841144" y="34666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6 · 관제 · SCADA</a:t>
            </a:r>
          </a:p>
        </p:txBody>
      </p:sp>
      <p:sp>
        <p:nvSpPr>
          <p:cNvPr id="15" name="TextBox 14"/>
          <p:cNvSpPr txBox="1"/>
          <p:nvPr/>
        </p:nvSpPr>
        <p:spPr>
          <a:xfrm>
            <a:off x="1841144" y="39488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5 · 시계열 저장소</a:t>
            </a:r>
          </a:p>
        </p:txBody>
      </p:sp>
      <p:sp>
        <p:nvSpPr>
          <p:cNvPr id="16" name="TextBox 15"/>
          <p:cNvSpPr txBox="1"/>
          <p:nvPr/>
        </p:nvSpPr>
        <p:spPr>
          <a:xfrm>
            <a:off x="1841144" y="44310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4 · 스트림 처리</a:t>
            </a:r>
          </a:p>
        </p:txBody>
      </p:sp>
      <p:sp>
        <p:nvSpPr>
          <p:cNvPr id="17" name="TextBox 16"/>
          <p:cNvSpPr txBox="1"/>
          <p:nvPr/>
        </p:nvSpPr>
        <p:spPr>
          <a:xfrm>
            <a:off x="1841144" y="49132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3 · 이벤트 백본</a:t>
            </a:r>
          </a:p>
        </p:txBody>
      </p:sp>
      <p:sp>
        <p:nvSpPr>
          <p:cNvPr id="18" name="TextBox 17"/>
          <p:cNvSpPr txBox="1"/>
          <p:nvPr/>
        </p:nvSpPr>
        <p:spPr>
          <a:xfrm>
            <a:off x="1841144" y="53954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2 · IoT 미들웨어 · MQTT(Message Queuing Telemetry Transport)</a:t>
            </a:r>
          </a:p>
        </p:txBody>
      </p:sp>
      <p:sp>
        <p:nvSpPr>
          <p:cNvPr id="19" name="TextBox 18"/>
          <p:cNvSpPr txBox="1"/>
          <p:nvPr/>
        </p:nvSpPr>
        <p:spPr>
          <a:xfrm>
            <a:off x="1841144" y="5877607"/>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1 · 센서 네트워크 · 설비</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7~9: 원인과 조치를 판단하고 실행하는 계층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뒤에 원인을 가리고 조치를 정해 실행하는 일은 Layer 7~9가 맡으며, 이 과정은 이 세 계층을 차례로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pic>
        <p:nvPicPr>
          <p:cNvPr id="6" name="삽화:계층_L7-9.svg" descr="illust_399257279090204858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8" name="TextBox 7"/>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9" name="TextBox 8"/>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0" name="TextBox 9"/>
          <p:cNvSpPr txBox="1"/>
          <p:nvPr/>
        </p:nvSpPr>
        <p:spPr>
          <a:xfrm>
            <a:off x="2277524" y="2218563"/>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9 · 프로세스 · 승인 · 앱</a:t>
            </a:r>
          </a:p>
          <a:p>
            <a:pPr algn="ctr">
              <a:lnSpc>
                <a:spcPct val="110000"/>
              </a:lnSpc>
              <a:spcAft>
                <a:spcPts val="100"/>
              </a:spcAft>
            </a:pPr>
            <a:r>
              <a:rPr sz="1300" b="0">
                <a:solidFill>
                  <a:srgbClr val="556175"/>
                </a:solidFill>
                <a:latin typeface="맑은 고딕"/>
                <a:ea typeface="맑은 고딕"/>
                <a:cs typeface="맑은 고딕"/>
              </a:rPr>
              <a:t>프로세스 엔진과 포털</a:t>
            </a:r>
          </a:p>
          <a:p>
            <a:pPr algn="ctr">
              <a:lnSpc>
                <a:spcPct val="110000"/>
              </a:lnSpc>
              <a:spcAft>
                <a:spcPts val="100"/>
              </a:spcAft>
            </a:pPr>
            <a:r>
              <a:rPr sz="1300" b="0">
                <a:solidFill>
                  <a:srgbClr val="556175"/>
                </a:solidFill>
                <a:latin typeface="맑은 고딕"/>
                <a:ea typeface="맑은 고딕"/>
                <a:cs typeface="맑은 고딕"/>
              </a:rPr>
              <a:t>담당자의 승인을 받아 조치를 실행하고 결과를 확인한다</a:t>
            </a:r>
          </a:p>
        </p:txBody>
      </p:sp>
      <p:sp>
        <p:nvSpPr>
          <p:cNvPr id="11" name="TextBox 10"/>
          <p:cNvSpPr txBox="1"/>
          <p:nvPr/>
        </p:nvSpPr>
        <p:spPr>
          <a:xfrm>
            <a:off x="2277524" y="3660434"/>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8 · AI 에이전트</a:t>
            </a:r>
          </a:p>
          <a:p>
            <a:pPr algn="ctr">
              <a:lnSpc>
                <a:spcPct val="110000"/>
              </a:lnSpc>
              <a:spcAft>
                <a:spcPts val="100"/>
              </a:spcAft>
            </a:pPr>
            <a:r>
              <a:rPr sz="1300" b="0">
                <a:solidFill>
                  <a:srgbClr val="556175"/>
                </a:solidFill>
                <a:latin typeface="맑은 고딕"/>
                <a:ea typeface="맑은 고딕"/>
                <a:cs typeface="맑은 고딕"/>
              </a:rPr>
              <a:t>지식과 값을 조회해 원인을 가리고 조치를 추천한다</a:t>
            </a:r>
          </a:p>
          <a:p>
            <a:pPr algn="ctr">
              <a:lnSpc>
                <a:spcPct val="110000"/>
              </a:lnSpc>
              <a:spcAft>
                <a:spcPts val="100"/>
              </a:spcAft>
            </a:pPr>
            <a:r>
              <a:rPr sz="1300" b="0">
                <a:solidFill>
                  <a:srgbClr val="556175"/>
                </a:solidFill>
                <a:latin typeface="맑은 고딕"/>
                <a:ea typeface="맑은 고딕"/>
                <a:cs typeface="맑은 고딕"/>
              </a:rPr>
              <a:t>설비에 명령을 보내지는 않는다</a:t>
            </a:r>
          </a:p>
        </p:txBody>
      </p:sp>
      <p:sp>
        <p:nvSpPr>
          <p:cNvPr id="12" name="TextBox 11"/>
          <p:cNvSpPr txBox="1"/>
          <p:nvPr/>
        </p:nvSpPr>
        <p:spPr>
          <a:xfrm>
            <a:off x="2277524" y="5102306"/>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7 · 온톨로지 · 원인분석</a:t>
            </a:r>
          </a:p>
          <a:p>
            <a:pPr algn="ctr">
              <a:lnSpc>
                <a:spcPct val="110000"/>
              </a:lnSpc>
              <a:spcAft>
                <a:spcPts val="100"/>
              </a:spcAft>
            </a:pPr>
            <a:r>
              <a:rPr sz="1300" b="0">
                <a:solidFill>
                  <a:srgbClr val="556175"/>
                </a:solidFill>
                <a:latin typeface="맑은 고딕"/>
                <a:ea typeface="맑은 고딕"/>
                <a:cs typeface="맑은 고딕"/>
              </a:rPr>
              <a:t>증상, 원인, 조치의 관계를 지식으로 보관한다</a:t>
            </a:r>
          </a:p>
          <a:p>
            <a:pPr algn="ctr">
              <a:lnSpc>
                <a:spcPct val="110000"/>
              </a:lnSpc>
              <a:spcAft>
                <a:spcPts val="100"/>
              </a:spcAft>
            </a:pPr>
            <a:r>
              <a:rPr sz="1300" b="0">
                <a:solidFill>
                  <a:srgbClr val="556175"/>
                </a:solidFill>
                <a:latin typeface="맑은 고딕"/>
                <a:ea typeface="맑은 고딕"/>
                <a:cs typeface="맑은 고딕"/>
              </a:rPr>
              <a:t>이 역할에는 Neo4j 같은 그래프 DB가 있다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값이 올라가는 길과 명령이 내려가는 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통신은 단순하게 두고, 값이 올라가는 길과 승인된 명령만 내려가는 길을 나눈 구조로 설비를 지킨다.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1627632"/>
            <a:ext cx="2936138" cy="4727448"/>
          </a:xfrm>
          <a:prstGeom prst="roundRect">
            <a:avLst>
              <a:gd name="adj" fmla="val 3000"/>
            </a:avLst>
          </a:prstGeom>
          <a:solidFill>
            <a:srgbClr val="F3F6F9"/>
          </a:solidFill>
          <a:ln>
            <a:noFill/>
          </a:ln>
        </p:spPr>
        <p:txBody>
          <a:bodyPr rtlCol="0" anchor="ctr"/>
          <a:lstStyle/>
          <a:p>
            <a:pPr algn="ctr"/>
          </a:p>
        </p:txBody>
      </p:sp>
      <p:sp>
        <p:nvSpPr>
          <p:cNvPr id="7" name="TextBox 6"/>
          <p:cNvSpPr txBox="1"/>
          <p:nvPr/>
        </p:nvSpPr>
        <p:spPr>
          <a:xfrm>
            <a:off x="548640"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8" name="Rounded Rectangle 7"/>
          <p:cNvSpPr/>
          <p:nvPr/>
        </p:nvSpPr>
        <p:spPr>
          <a:xfrm>
            <a:off x="731520"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9" name="TextBox 8"/>
          <p:cNvSpPr txBox="1"/>
          <p:nvPr/>
        </p:nvSpPr>
        <p:spPr>
          <a:xfrm>
            <a:off x="777240"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브로커</a:t>
            </a:r>
          </a:p>
          <a:p>
            <a:pPr algn="ctr">
              <a:lnSpc>
                <a:spcPct val="110000"/>
              </a:lnSpc>
              <a:spcAft>
                <a:spcPts val="100"/>
              </a:spcAft>
            </a:pPr>
            <a:r>
              <a:rPr sz="1150" b="0">
                <a:solidFill>
                  <a:srgbClr val="556175"/>
                </a:solidFill>
                <a:latin typeface="맑은 고딕"/>
                <a:ea typeface="맑은 고딕"/>
                <a:cs typeface="맑은 고딕"/>
              </a:rPr>
              <a:t>값과 명령을 중개</a:t>
            </a:r>
          </a:p>
        </p:txBody>
      </p:sp>
      <p:sp>
        <p:nvSpPr>
          <p:cNvPr id="10" name="Rounded Rectangle 9"/>
          <p:cNvSpPr/>
          <p:nvPr/>
        </p:nvSpPr>
        <p:spPr>
          <a:xfrm>
            <a:off x="731520"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777240"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PLC</a:t>
            </a:r>
          </a:p>
          <a:p>
            <a:pPr algn="ctr">
              <a:lnSpc>
                <a:spcPct val="110000"/>
              </a:lnSpc>
              <a:spcAft>
                <a:spcPts val="100"/>
              </a:spcAft>
            </a:pPr>
            <a:r>
              <a:rPr sz="1150" b="0">
                <a:solidFill>
                  <a:srgbClr val="556175"/>
                </a:solidFill>
                <a:latin typeface="맑은 고딕"/>
                <a:ea typeface="맑은 고딕"/>
                <a:cs typeface="맑은 고딕"/>
              </a:rPr>
              <a:t>값을 읽고 설비를 보호</a:t>
            </a:r>
          </a:p>
        </p:txBody>
      </p:sp>
      <p:sp>
        <p:nvSpPr>
          <p:cNvPr id="12" name="Rounded Rectangle 11"/>
          <p:cNvSpPr/>
          <p:nvPr/>
        </p:nvSpPr>
        <p:spPr>
          <a:xfrm>
            <a:off x="4627778" y="1627632"/>
            <a:ext cx="2936138" cy="4727448"/>
          </a:xfrm>
          <a:prstGeom prst="roundRect">
            <a:avLst>
              <a:gd name="adj" fmla="val 3000"/>
            </a:avLst>
          </a:prstGeom>
          <a:solidFill>
            <a:srgbClr val="F3F6F9"/>
          </a:solidFill>
          <a:ln>
            <a:noFill/>
          </a:ln>
        </p:spPr>
        <p:txBody>
          <a:bodyPr rtlCol="0" anchor="ctr"/>
          <a:lstStyle/>
          <a:p>
            <a:pPr algn="ctr"/>
          </a:p>
        </p:txBody>
      </p:sp>
      <p:sp>
        <p:nvSpPr>
          <p:cNvPr id="13" name="TextBox 12"/>
          <p:cNvSpPr txBox="1"/>
          <p:nvPr/>
        </p:nvSpPr>
        <p:spPr>
          <a:xfrm>
            <a:off x="4627778"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4" name="Rounded Rectangle 13"/>
          <p:cNvSpPr/>
          <p:nvPr/>
        </p:nvSpPr>
        <p:spPr>
          <a:xfrm>
            <a:off x="4810658"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4856378"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수집 서비스</a:t>
            </a:r>
          </a:p>
          <a:p>
            <a:pPr algn="ctr">
              <a:lnSpc>
                <a:spcPct val="110000"/>
              </a:lnSpc>
              <a:spcAft>
                <a:spcPts val="100"/>
              </a:spcAft>
            </a:pPr>
            <a:r>
              <a:rPr sz="1150" b="0">
                <a:solidFill>
                  <a:srgbClr val="556175"/>
                </a:solidFill>
                <a:latin typeface="맑은 고딕"/>
                <a:ea typeface="맑은 고딕"/>
                <a:cs typeface="맑은 고딕"/>
              </a:rPr>
              <a:t>값을 올린다</a:t>
            </a:r>
          </a:p>
        </p:txBody>
      </p:sp>
      <p:sp>
        <p:nvSpPr>
          <p:cNvPr id="16" name="Rounded Rectangle 15"/>
          <p:cNvSpPr/>
          <p:nvPr/>
        </p:nvSpPr>
        <p:spPr>
          <a:xfrm>
            <a:off x="4810658"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4856378"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명령 관문</a:t>
            </a:r>
          </a:p>
          <a:p>
            <a:pPr algn="ctr">
              <a:lnSpc>
                <a:spcPct val="110000"/>
              </a:lnSpc>
              <a:spcAft>
                <a:spcPts val="100"/>
              </a:spcAft>
            </a:pPr>
            <a:r>
              <a:rPr sz="1150" b="0">
                <a:solidFill>
                  <a:srgbClr val="556175"/>
                </a:solidFill>
                <a:latin typeface="맑은 고딕"/>
                <a:ea typeface="맑은 고딕"/>
                <a:cs typeface="맑은 고딕"/>
              </a:rPr>
              <a:t>명령을 검사한다</a:t>
            </a:r>
          </a:p>
        </p:txBody>
      </p:sp>
      <p:sp>
        <p:nvSpPr>
          <p:cNvPr id="18" name="Rounded Rectangle 17"/>
          <p:cNvSpPr/>
          <p:nvPr/>
        </p:nvSpPr>
        <p:spPr>
          <a:xfrm>
            <a:off x="8706916" y="1627632"/>
            <a:ext cx="2936138" cy="4727448"/>
          </a:xfrm>
          <a:prstGeom prst="roundRect">
            <a:avLst>
              <a:gd name="adj" fmla="val 3000"/>
            </a:avLst>
          </a:prstGeom>
          <a:solidFill>
            <a:srgbClr val="F3F6F9"/>
          </a:solidFill>
          <a:ln>
            <a:noFill/>
          </a:ln>
        </p:spPr>
        <p:txBody>
          <a:bodyPr rtlCol="0" anchor="ctr"/>
          <a:lstStyle/>
          <a:p>
            <a:pPr algn="ctr"/>
          </a:p>
        </p:txBody>
      </p:sp>
      <p:sp>
        <p:nvSpPr>
          <p:cNvPr id="19" name="TextBox 18"/>
          <p:cNvSpPr txBox="1"/>
          <p:nvPr/>
        </p:nvSpPr>
        <p:spPr>
          <a:xfrm>
            <a:off x="8706916"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20" name="Rounded Rectangle 19"/>
          <p:cNvSpPr/>
          <p:nvPr/>
        </p:nvSpPr>
        <p:spPr>
          <a:xfrm>
            <a:off x="8889796" y="2802636"/>
            <a:ext cx="2570378" cy="1188720"/>
          </a:xfrm>
          <a:prstGeom prst="roundRect">
            <a:avLst>
              <a:gd name="adj" fmla="val 8000"/>
            </a:avLst>
          </a:prstGeom>
          <a:solidFill>
            <a:srgbClr val="E7F3FD"/>
          </a:solidFill>
          <a:ln w="25400">
            <a:solidFill>
              <a:srgbClr val="5CB8F2"/>
            </a:solidFill>
          </a:ln>
        </p:spPr>
        <p:txBody>
          <a:bodyPr rtlCol="0" anchor="ctr"/>
          <a:lstStyle/>
          <a:p>
            <a:pPr algn="ctr"/>
          </a:p>
        </p:txBody>
      </p:sp>
      <p:sp>
        <p:nvSpPr>
          <p:cNvPr id="21" name="TextBox 20"/>
          <p:cNvSpPr txBox="1"/>
          <p:nvPr/>
        </p:nvSpPr>
        <p:spPr>
          <a:xfrm>
            <a:off x="8935516"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이벤트 로그</a:t>
            </a:r>
          </a:p>
          <a:p>
            <a:pPr algn="ctr">
              <a:lnSpc>
                <a:spcPct val="110000"/>
              </a:lnSpc>
              <a:spcAft>
                <a:spcPts val="100"/>
              </a:spcAft>
            </a:pPr>
            <a:r>
              <a:rPr sz="1150" b="0">
                <a:solidFill>
                  <a:srgbClr val="556175"/>
                </a:solidFill>
                <a:latin typeface="맑은 고딕"/>
                <a:ea typeface="맑은 고딕"/>
                <a:cs typeface="맑은 고딕"/>
              </a:rPr>
              <a:t>순서대로 보관 · 감지 서비스가 읽어 감지</a:t>
            </a:r>
          </a:p>
        </p:txBody>
      </p:sp>
      <p:sp>
        <p:nvSpPr>
          <p:cNvPr id="22" name="Rounded Rectangle 21"/>
          <p:cNvSpPr/>
          <p:nvPr/>
        </p:nvSpPr>
        <p:spPr>
          <a:xfrm>
            <a:off x="8889796"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3" name="TextBox 22"/>
          <p:cNvSpPr txBox="1"/>
          <p:nvPr/>
        </p:nvSpPr>
        <p:spPr>
          <a:xfrm>
            <a:off x="8935516"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프로세스 엔진</a:t>
            </a:r>
          </a:p>
          <a:p>
            <a:pPr algn="ctr">
              <a:lnSpc>
                <a:spcPct val="110000"/>
              </a:lnSpc>
              <a:spcAft>
                <a:spcPts val="100"/>
              </a:spcAft>
            </a:pPr>
            <a:r>
              <a:rPr sz="1150" b="0">
                <a:solidFill>
                  <a:srgbClr val="556175"/>
                </a:solidFill>
                <a:latin typeface="맑은 고딕"/>
                <a:ea typeface="맑은 고딕"/>
                <a:cs typeface="맑은 고딕"/>
              </a:rPr>
              <a:t>승인된 조치를 명령으로</a:t>
            </a:r>
          </a:p>
        </p:txBody>
      </p:sp>
      <p:cxnSp>
        <p:nvCxnSpPr>
          <p:cNvPr id="24" name="Connector 23"/>
          <p:cNvCxnSpPr/>
          <p:nvPr/>
        </p:nvCxnSpPr>
        <p:spPr>
          <a:xfrm flipV="1">
            <a:off x="1650949" y="3991356"/>
            <a:ext cx="0" cy="347472"/>
          </a:xfrm>
          <a:prstGeom prst="line">
            <a:avLst/>
          </a:prstGeom>
          <a:ln w="19050">
            <a:solidFill>
              <a:srgbClr val="13294B"/>
            </a:solidFill>
            <a:tailEnd type="triangle" w="med" len="med"/>
          </a:ln>
        </p:spPr>
      </p:cxnSp>
      <p:sp>
        <p:nvSpPr>
          <p:cNvPr id="25" name="TextBox 24"/>
          <p:cNvSpPr txBox="1"/>
          <p:nvPr/>
        </p:nvSpPr>
        <p:spPr>
          <a:xfrm>
            <a:off x="945718" y="4027932"/>
            <a:ext cx="668655"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태그 값</a:t>
            </a:r>
          </a:p>
        </p:txBody>
      </p:sp>
      <p:cxnSp>
        <p:nvCxnSpPr>
          <p:cNvPr id="26" name="Connector 25"/>
          <p:cNvCxnSpPr/>
          <p:nvPr/>
        </p:nvCxnSpPr>
        <p:spPr>
          <a:xfrm>
            <a:off x="3301898" y="3250692"/>
            <a:ext cx="1508760" cy="0"/>
          </a:xfrm>
          <a:prstGeom prst="line">
            <a:avLst/>
          </a:prstGeom>
          <a:ln w="19050">
            <a:solidFill>
              <a:srgbClr val="13294B"/>
            </a:solidFill>
            <a:tailEnd type="triangle" w="med" len="med"/>
          </a:ln>
        </p:spPr>
      </p:cxnSp>
      <p:sp>
        <p:nvSpPr>
          <p:cNvPr id="27" name="TextBox 26"/>
          <p:cNvSpPr txBox="1"/>
          <p:nvPr/>
        </p:nvSpPr>
        <p:spPr>
          <a:xfrm>
            <a:off x="3164738"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구독</a:t>
            </a:r>
          </a:p>
        </p:txBody>
      </p:sp>
      <p:cxnSp>
        <p:nvCxnSpPr>
          <p:cNvPr id="28" name="Connector 27"/>
          <p:cNvCxnSpPr/>
          <p:nvPr/>
        </p:nvCxnSpPr>
        <p:spPr>
          <a:xfrm>
            <a:off x="7381036" y="3250692"/>
            <a:ext cx="1508760" cy="0"/>
          </a:xfrm>
          <a:prstGeom prst="line">
            <a:avLst/>
          </a:prstGeom>
          <a:ln w="19050">
            <a:solidFill>
              <a:srgbClr val="13294B"/>
            </a:solidFill>
            <a:tailEnd type="triangle" w="med" len="med"/>
          </a:ln>
        </p:spPr>
      </p:cxnSp>
      <p:sp>
        <p:nvSpPr>
          <p:cNvPr id="29" name="TextBox 28"/>
          <p:cNvSpPr txBox="1"/>
          <p:nvPr/>
        </p:nvSpPr>
        <p:spPr>
          <a:xfrm>
            <a:off x="7243876"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레코드</a:t>
            </a:r>
          </a:p>
        </p:txBody>
      </p:sp>
      <p:cxnSp>
        <p:nvCxnSpPr>
          <p:cNvPr id="30" name="Connector 29"/>
          <p:cNvCxnSpPr/>
          <p:nvPr/>
        </p:nvCxnSpPr>
        <p:spPr>
          <a:xfrm flipH="1">
            <a:off x="7381036" y="5079492"/>
            <a:ext cx="1508760" cy="0"/>
          </a:xfrm>
          <a:prstGeom prst="line">
            <a:avLst/>
          </a:prstGeom>
          <a:ln w="28575">
            <a:solidFill>
              <a:srgbClr val="1A6FC4"/>
            </a:solidFill>
            <a:prstDash val="dash"/>
            <a:tailEnd type="triangle" w="med" len="med"/>
          </a:ln>
        </p:spPr>
      </p:cxnSp>
      <p:sp>
        <p:nvSpPr>
          <p:cNvPr id="31" name="TextBox 30"/>
          <p:cNvSpPr txBox="1"/>
          <p:nvPr/>
        </p:nvSpPr>
        <p:spPr>
          <a:xfrm>
            <a:off x="7243876"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명령</a:t>
            </a:r>
          </a:p>
        </p:txBody>
      </p:sp>
      <p:cxnSp>
        <p:nvCxnSpPr>
          <p:cNvPr id="32" name="Connector 31"/>
          <p:cNvCxnSpPr/>
          <p:nvPr/>
        </p:nvCxnSpPr>
        <p:spPr>
          <a:xfrm flipH="1">
            <a:off x="3301898" y="5079492"/>
            <a:ext cx="1508760" cy="0"/>
          </a:xfrm>
          <a:prstGeom prst="line">
            <a:avLst/>
          </a:prstGeom>
          <a:ln w="28575">
            <a:solidFill>
              <a:srgbClr val="1A6FC4"/>
            </a:solidFill>
            <a:prstDash val="dash"/>
            <a:tailEnd type="triangle" w="med" len="med"/>
          </a:ln>
        </p:spPr>
      </p:cxnSp>
      <p:sp>
        <p:nvSpPr>
          <p:cNvPr id="33" name="TextBox 32"/>
          <p:cNvSpPr txBox="1"/>
          <p:nvPr/>
        </p:nvSpPr>
        <p:spPr>
          <a:xfrm>
            <a:off x="3164738"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검사 통과</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실행 환경 구성과 서비스 동작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준비된 환경에서 HYD 서비스를 실행하고 포털이 열리는 상태를 확인한다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쓰는 도구와 확인하는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Docker Compose로 올린 HYD 서비스가 실행 중이고 포털에 접속되는 상태가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201418"/>
            <a:ext cx="731520" cy="731520"/>
          </a:xfrm>
          <a:prstGeom prst="ellipse">
            <a:avLst/>
          </a:prstGeom>
          <a:solidFill>
            <a:srgbClr val="E7F3FD"/>
          </a:solidFill>
          <a:ln>
            <a:noFill/>
          </a:ln>
        </p:spPr>
        <p:txBody>
          <a:bodyPr rtlCol="0" anchor="ctr"/>
          <a:lstStyle/>
          <a:p>
            <a:pPr algn="ctr"/>
          </a:p>
        </p:txBody>
      </p:sp>
      <p:pic>
        <p:nvPicPr>
          <p:cNvPr id="8" name="아이콘:brand-vscode" descr="brand-vscode_13294B_1.6.png"/>
          <p:cNvPicPr>
            <a:picLocks noChangeAspect="1"/>
          </p:cNvPicPr>
          <p:nvPr/>
        </p:nvPicPr>
        <p:blipFill>
          <a:blip r:embed="rId3"/>
          <a:stretch>
            <a:fillRect/>
          </a:stretch>
        </p:blipFill>
        <p:spPr>
          <a:xfrm>
            <a:off x="930859" y="2355037"/>
            <a:ext cx="424281" cy="424281"/>
          </a:xfrm>
          <a:prstGeom prst="rect">
            <a:avLst/>
          </a:prstGeom>
        </p:spPr>
      </p:pic>
      <p:sp>
        <p:nvSpPr>
          <p:cNvPr id="9" name="TextBox 8"/>
          <p:cNvSpPr txBox="1"/>
          <p:nvPr/>
        </p:nvSpPr>
        <p:spPr>
          <a:xfrm>
            <a:off x="713232"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VS Code</a:t>
            </a:r>
          </a:p>
          <a:p>
            <a:pPr algn="l">
              <a:lnSpc>
                <a:spcPct val="110000"/>
              </a:lnSpc>
              <a:spcAft>
                <a:spcPts val="400"/>
              </a:spcAft>
            </a:pPr>
            <a:r>
              <a:rPr sz="1350" b="0">
                <a:solidFill>
                  <a:srgbClr val="1F2A3A"/>
                </a:solidFill>
                <a:latin typeface="맑은 고딕"/>
                <a:ea typeface="맑은 고딕"/>
                <a:cs typeface="맑은 고딕"/>
              </a:rPr>
              <a:t>• 파일 편집기이자 터미널이다</a:t>
            </a:r>
          </a:p>
          <a:p>
            <a:pPr algn="l">
              <a:lnSpc>
                <a:spcPct val="110000"/>
              </a:lnSpc>
              <a:spcAft>
                <a:spcPts val="400"/>
              </a:spcAft>
            </a:pPr>
            <a:r>
              <a:rPr sz="1350" b="0">
                <a:solidFill>
                  <a:srgbClr val="1F2A3A"/>
                </a:solidFill>
                <a:latin typeface="맑은 고딕"/>
                <a:ea typeface="맑은 고딕"/>
                <a:cs typeface="맑은 고딕"/>
              </a:rPr>
              <a:t>• 이후 랩의 작업 공간으로 쓴다</a:t>
            </a:r>
          </a:p>
        </p:txBody>
      </p:sp>
      <p:sp>
        <p:nvSpPr>
          <p:cNvPr id="10" name="Rounded Rectangle 9"/>
          <p:cNvSpPr/>
          <p:nvPr/>
        </p:nvSpPr>
        <p:spPr>
          <a:xfrm>
            <a:off x="777240" y="555269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5269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개발</a:t>
            </a:r>
          </a:p>
        </p:txBody>
      </p:sp>
      <p:sp>
        <p:nvSpPr>
          <p:cNvPr id="12" name="Rounded Rectangle 11"/>
          <p:cNvSpPr/>
          <p:nvPr/>
        </p:nvSpPr>
        <p:spPr>
          <a:xfrm>
            <a:off x="3390823"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201418"/>
            <a:ext cx="731520" cy="731520"/>
          </a:xfrm>
          <a:prstGeom prst="ellipse">
            <a:avLst/>
          </a:prstGeom>
          <a:solidFill>
            <a:srgbClr val="E7F3FD"/>
          </a:solidFill>
          <a:ln>
            <a:noFill/>
          </a:ln>
        </p:spPr>
        <p:txBody>
          <a:bodyPr rtlCol="0" anchor="ctr"/>
          <a:lstStyle/>
          <a:p>
            <a:pPr algn="ctr"/>
          </a:p>
        </p:txBody>
      </p:sp>
      <p:pic>
        <p:nvPicPr>
          <p:cNvPr id="14" name="아이콘:brand-github-copilot" descr="brand-github-copilot_13294B_1.6.png"/>
          <p:cNvPicPr>
            <a:picLocks noChangeAspect="1"/>
          </p:cNvPicPr>
          <p:nvPr/>
        </p:nvPicPr>
        <p:blipFill>
          <a:blip r:embed="rId4"/>
          <a:stretch>
            <a:fillRect/>
          </a:stretch>
        </p:blipFill>
        <p:spPr>
          <a:xfrm>
            <a:off x="3773043" y="2355037"/>
            <a:ext cx="424281" cy="424281"/>
          </a:xfrm>
          <a:prstGeom prst="rect">
            <a:avLst/>
          </a:prstGeom>
        </p:spPr>
      </p:pic>
      <p:sp>
        <p:nvSpPr>
          <p:cNvPr id="15" name="TextBox 14"/>
          <p:cNvSpPr txBox="1"/>
          <p:nvPr/>
        </p:nvSpPr>
        <p:spPr>
          <a:xfrm>
            <a:off x="3555415"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GitHub Copilot</a:t>
            </a:r>
          </a:p>
          <a:p>
            <a:pPr algn="l">
              <a:lnSpc>
                <a:spcPct val="110000"/>
              </a:lnSpc>
              <a:spcAft>
                <a:spcPts val="400"/>
              </a:spcAft>
            </a:pPr>
            <a:r>
              <a:rPr sz="1350" b="0">
                <a:solidFill>
                  <a:srgbClr val="1F2A3A"/>
                </a:solidFill>
                <a:latin typeface="맑은 고딕"/>
                <a:ea typeface="맑은 고딕"/>
                <a:cs typeface="맑은 고딕"/>
              </a:rPr>
              <a:t>• VS Code의 채팅 창에서 말로 요청하면 파일을 읽고 고치는 코딩 에이전트이다</a:t>
            </a:r>
          </a:p>
          <a:p>
            <a:pPr algn="l">
              <a:lnSpc>
                <a:spcPct val="110000"/>
              </a:lnSpc>
              <a:spcAft>
                <a:spcPts val="400"/>
              </a:spcAft>
            </a:pPr>
            <a:r>
              <a:rPr sz="1350" b="0">
                <a:solidFill>
                  <a:srgbClr val="1F2A3A"/>
                </a:solidFill>
                <a:latin typeface="맑은 고딕"/>
                <a:ea typeface="맑은 고딕"/>
                <a:cs typeface="맑은 고딕"/>
              </a:rPr>
              <a:t>• 말로 요청하고 AI가 쓴 코드를 실행해 보며 고쳐 가는 방식을 바이브 코딩(Vibe Coding)이라고 한다</a:t>
            </a:r>
          </a:p>
        </p:txBody>
      </p:sp>
      <p:sp>
        <p:nvSpPr>
          <p:cNvPr id="16" name="Rounded Rectangle 15"/>
          <p:cNvSpPr/>
          <p:nvPr/>
        </p:nvSpPr>
        <p:spPr>
          <a:xfrm>
            <a:off x="3619423" y="5552694"/>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52694"/>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AI 코딩</a:t>
            </a:r>
          </a:p>
        </p:txBody>
      </p:sp>
      <p:sp>
        <p:nvSpPr>
          <p:cNvPr id="18" name="Rounded Rectangle 17"/>
          <p:cNvSpPr/>
          <p:nvPr/>
        </p:nvSpPr>
        <p:spPr>
          <a:xfrm>
            <a:off x="6233007"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201418"/>
            <a:ext cx="731520" cy="731520"/>
          </a:xfrm>
          <a:prstGeom prst="ellipse">
            <a:avLst/>
          </a:prstGeom>
          <a:solidFill>
            <a:srgbClr val="E7F3FD"/>
          </a:solidFill>
          <a:ln>
            <a:noFill/>
          </a:ln>
        </p:spPr>
        <p:txBody>
          <a:bodyPr rtlCol="0" anchor="ctr"/>
          <a:lstStyle/>
          <a:p>
            <a:pPr algn="ctr"/>
          </a:p>
        </p:txBody>
      </p:sp>
      <p:pic>
        <p:nvPicPr>
          <p:cNvPr id="20" name="아이콘:brand-python" descr="brand-python_13294B_1.6.png"/>
          <p:cNvPicPr>
            <a:picLocks noChangeAspect="1"/>
          </p:cNvPicPr>
          <p:nvPr/>
        </p:nvPicPr>
        <p:blipFill>
          <a:blip r:embed="rId5"/>
          <a:stretch>
            <a:fillRect/>
          </a:stretch>
        </p:blipFill>
        <p:spPr>
          <a:xfrm>
            <a:off x="6615226" y="2355037"/>
            <a:ext cx="424281" cy="424281"/>
          </a:xfrm>
          <a:prstGeom prst="rect">
            <a:avLst/>
          </a:prstGeom>
        </p:spPr>
      </p:pic>
      <p:sp>
        <p:nvSpPr>
          <p:cNvPr id="21" name="TextBox 20"/>
          <p:cNvSpPr txBox="1"/>
          <p:nvPr/>
        </p:nvSpPr>
        <p:spPr>
          <a:xfrm>
            <a:off x="6397599"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Python</a:t>
            </a:r>
          </a:p>
          <a:p>
            <a:pPr algn="l">
              <a:lnSpc>
                <a:spcPct val="110000"/>
              </a:lnSpc>
              <a:spcAft>
                <a:spcPts val="400"/>
              </a:spcAft>
            </a:pPr>
            <a:r>
              <a:rPr sz="1350" b="0">
                <a:solidFill>
                  <a:srgbClr val="1F2A3A"/>
                </a:solidFill>
                <a:latin typeface="맑은 고딕"/>
                <a:ea typeface="맑은 고딕"/>
                <a:cs typeface="맑은 고딕"/>
              </a:rPr>
              <a:t>HYD의 서비스와 랩의 코드가 쓰는 프로그래밍 언어이다</a:t>
            </a:r>
          </a:p>
        </p:txBody>
      </p:sp>
      <p:sp>
        <p:nvSpPr>
          <p:cNvPr id="22" name="Rounded Rectangle 21"/>
          <p:cNvSpPr/>
          <p:nvPr/>
        </p:nvSpPr>
        <p:spPr>
          <a:xfrm>
            <a:off x="6461607" y="555269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5269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언어</a:t>
            </a:r>
          </a:p>
        </p:txBody>
      </p:sp>
      <p:sp>
        <p:nvSpPr>
          <p:cNvPr id="24" name="Rounded Rectangle 23"/>
          <p:cNvSpPr/>
          <p:nvPr/>
        </p:nvSpPr>
        <p:spPr>
          <a:xfrm>
            <a:off x="9075191" y="2000250"/>
            <a:ext cx="2567863" cy="3982211"/>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201418"/>
            <a:ext cx="731520" cy="731520"/>
          </a:xfrm>
          <a:prstGeom prst="ellipse">
            <a:avLst/>
          </a:prstGeom>
          <a:solidFill>
            <a:srgbClr val="5CB8F2"/>
          </a:solidFill>
          <a:ln>
            <a:noFill/>
          </a:ln>
        </p:spPr>
        <p:txBody>
          <a:bodyPr rtlCol="0" anchor="ctr"/>
          <a:lstStyle/>
          <a:p>
            <a:pPr algn="ctr"/>
          </a:p>
        </p:txBody>
      </p:sp>
      <p:pic>
        <p:nvPicPr>
          <p:cNvPr id="26" name="아이콘:brand-docker" descr="brand-docker_13294B_1.6.png"/>
          <p:cNvPicPr>
            <a:picLocks noChangeAspect="1"/>
          </p:cNvPicPr>
          <p:nvPr/>
        </p:nvPicPr>
        <p:blipFill>
          <a:blip r:embed="rId6"/>
          <a:stretch>
            <a:fillRect/>
          </a:stretch>
        </p:blipFill>
        <p:spPr>
          <a:xfrm>
            <a:off x="9457410" y="2355037"/>
            <a:ext cx="424281" cy="424281"/>
          </a:xfrm>
          <a:prstGeom prst="rect">
            <a:avLst/>
          </a:prstGeom>
        </p:spPr>
      </p:pic>
      <p:sp>
        <p:nvSpPr>
          <p:cNvPr id="27" name="TextBox 26"/>
          <p:cNvSpPr txBox="1"/>
          <p:nvPr/>
        </p:nvSpPr>
        <p:spPr>
          <a:xfrm>
            <a:off x="9239783"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Docker</a:t>
            </a:r>
          </a:p>
          <a:p>
            <a:pPr algn="l">
              <a:lnSpc>
                <a:spcPct val="110000"/>
              </a:lnSpc>
              <a:spcAft>
                <a:spcPts val="400"/>
              </a:spcAft>
            </a:pPr>
            <a:r>
              <a:rPr sz="1350" b="0">
                <a:solidFill>
                  <a:srgbClr val="1F2A3A"/>
                </a:solidFill>
                <a:latin typeface="맑은 고딕"/>
                <a:ea typeface="맑은 고딕"/>
                <a:cs typeface="맑은 고딕"/>
              </a:rPr>
              <a:t>• Docker Desktop은 컨테이너를 실행하는 프로그램이다</a:t>
            </a:r>
          </a:p>
          <a:p>
            <a:pPr algn="l">
              <a:lnSpc>
                <a:spcPct val="110000"/>
              </a:lnSpc>
              <a:spcAft>
                <a:spcPts val="400"/>
              </a:spcAft>
            </a:pPr>
            <a:r>
              <a:rPr sz="1350" b="0">
                <a:solidFill>
                  <a:srgbClr val="1F2A3A"/>
                </a:solidFill>
                <a:latin typeface="맑은 고딕"/>
                <a:ea typeface="맑은 고딕"/>
                <a:cs typeface="맑은 고딕"/>
              </a:rPr>
              <a:t>• Docker Compose는 HYD의 서비스 전체를 한 파일의 정의로 기동한다</a:t>
            </a:r>
          </a:p>
        </p:txBody>
      </p:sp>
      <p:sp>
        <p:nvSpPr>
          <p:cNvPr id="28" name="Rounded Rectangle 27"/>
          <p:cNvSpPr/>
          <p:nvPr/>
        </p:nvSpPr>
        <p:spPr>
          <a:xfrm>
            <a:off x="9303791" y="5552694"/>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5269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서비스 실행</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이상에서 조치까지 전체 과정 시연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쿨러 열화 한 건이 경보에서 최종 결과까지 진행되는 과정을 확인한다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시연에서 확인하는 흐름: 경보에서 최종 결과까지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열화 한 건이 경보, 원인 분석, 조치 추천, 승인, 조치, 재관측을 거쳐 닫히는 과정을 처음부터 끝까지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유온과 냉각 효율이</a:t>
            </a:r>
          </a:p>
          <a:p>
            <a:pPr algn="ctr">
              <a:lnSpc>
                <a:spcPct val="110000"/>
              </a:lnSpc>
              <a:spcAft>
                <a:spcPts val="400"/>
              </a:spcAft>
            </a:pPr>
            <a:r>
              <a:rPr sz="1250" b="0">
                <a:solidFill>
                  <a:srgbClr val="1F2A3A"/>
                </a:solidFill>
                <a:latin typeface="맑은 고딕"/>
                <a:ea typeface="맑은 고딕"/>
                <a:cs typeface="맑은 고딕"/>
              </a:rPr>
              <a:t>조건을 벗어나</a:t>
            </a:r>
          </a:p>
          <a:p>
            <a:pPr algn="ctr">
              <a:lnSpc>
                <a:spcPct val="110000"/>
              </a:lnSpc>
              <a:spcAft>
                <a:spcPts val="400"/>
              </a:spcAft>
            </a:pPr>
            <a:r>
              <a:rPr sz="1250" b="0">
                <a:solidFill>
                  <a:srgbClr val="1F2A3A"/>
                </a:solidFill>
                <a:latin typeface="맑은 고딕"/>
                <a:ea typeface="맑은 고딕"/>
                <a:cs typeface="맑은 고딕"/>
              </a:rPr>
              <a:t>경보가 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분석과 추천</a:t>
            </a:r>
          </a:p>
          <a:p>
            <a:pPr algn="ctr">
              <a:lnSpc>
                <a:spcPct val="110000"/>
              </a:lnSpc>
              <a:spcAft>
                <a:spcPts val="400"/>
              </a:spcAft>
            </a:pPr>
            <a:r>
              <a:rPr sz="1250" b="0">
                <a:solidFill>
                  <a:srgbClr val="1F2A3A"/>
                </a:solidFill>
                <a:latin typeface="맑은 고딕"/>
                <a:ea typeface="맑은 고딕"/>
                <a:cs typeface="맑은 고딕"/>
              </a:rPr>
              <a:t>에이전트가</a:t>
            </a:r>
          </a:p>
          <a:p>
            <a:pPr algn="ctr">
              <a:lnSpc>
                <a:spcPct val="110000"/>
              </a:lnSpc>
              <a:spcAft>
                <a:spcPts val="400"/>
              </a:spcAft>
            </a:pPr>
            <a:r>
              <a:rPr sz="1250" b="0">
                <a:solidFill>
                  <a:srgbClr val="1F2A3A"/>
                </a:solidFill>
                <a:latin typeface="맑은 고딕"/>
                <a:ea typeface="맑은 고딕"/>
                <a:cs typeface="맑은 고딕"/>
              </a:rPr>
              <a:t>지식과 값을 조회해</a:t>
            </a:r>
          </a:p>
          <a:p>
            <a:pPr algn="ctr">
              <a:lnSpc>
                <a:spcPct val="110000"/>
              </a:lnSpc>
              <a:spcAft>
                <a:spcPts val="400"/>
              </a:spcAft>
            </a:pPr>
            <a:r>
              <a:rPr sz="1250" b="0">
                <a:solidFill>
                  <a:srgbClr val="1F2A3A"/>
                </a:solidFill>
                <a:latin typeface="맑은 고딕"/>
                <a:ea typeface="맑은 고딕"/>
                <a:cs typeface="맑은 고딕"/>
              </a:rPr>
              <a:t>원인을 가리고</a:t>
            </a:r>
          </a:p>
          <a:p>
            <a:pPr algn="ctr">
              <a:lnSpc>
                <a:spcPct val="110000"/>
              </a:lnSpc>
              <a:spcAft>
                <a:spcPts val="400"/>
              </a:spcAft>
            </a:pPr>
            <a:r>
              <a:rPr sz="1250" b="0">
                <a:solidFill>
                  <a:srgbClr val="1F2A3A"/>
                </a:solidFill>
                <a:latin typeface="맑은 고딕"/>
                <a:ea typeface="맑은 고딕"/>
                <a:cs typeface="맑은 고딕"/>
              </a:rPr>
              <a:t>조치안을 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712466"/>
            <a:ext cx="731520" cy="731520"/>
          </a:xfrm>
          <a:prstGeom prst="ellipse">
            <a:avLst/>
          </a:prstGeom>
          <a:solidFill>
            <a:srgbClr val="5CB8F2"/>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 또는 거절</a:t>
            </a:r>
          </a:p>
          <a:p>
            <a:pPr algn="ctr">
              <a:lnSpc>
                <a:spcPct val="110000"/>
              </a:lnSpc>
              <a:spcAft>
                <a:spcPts val="400"/>
              </a:spcAft>
            </a:pPr>
            <a:r>
              <a:rPr sz="1250" b="0">
                <a:solidFill>
                  <a:srgbClr val="1F2A3A"/>
                </a:solidFill>
                <a:latin typeface="맑은 고딕"/>
                <a:ea typeface="맑은 고딕"/>
                <a:cs typeface="맑은 고딕"/>
              </a:rPr>
              <a:t>HITL</a:t>
            </a:r>
          </a:p>
          <a:p>
            <a:pPr algn="ctr">
              <a:lnSpc>
                <a:spcPct val="110000"/>
              </a:lnSpc>
              <a:spcAft>
                <a:spcPts val="400"/>
              </a:spcAft>
            </a:pPr>
            <a:r>
              <a:rPr sz="1250" b="0">
                <a:solidFill>
                  <a:srgbClr val="1F2A3A"/>
                </a:solidFill>
                <a:latin typeface="맑은 고딕"/>
                <a:ea typeface="맑은 고딕"/>
                <a:cs typeface="맑은 고딕"/>
              </a:rPr>
              <a:t>담당자가 판단한다</a:t>
            </a:r>
          </a:p>
          <a:p>
            <a:pPr algn="ctr">
              <a:lnSpc>
                <a:spcPct val="110000"/>
              </a:lnSpc>
              <a:spcAft>
                <a:spcPts val="400"/>
              </a:spcAft>
            </a:pPr>
            <a:r>
              <a:rPr sz="1250" b="0">
                <a:solidFill>
                  <a:srgbClr val="1F2A3A"/>
                </a:solidFill>
                <a:latin typeface="맑은 고딕"/>
                <a:ea typeface="맑은 고딕"/>
                <a:cs typeface="맑은 고딕"/>
              </a:rPr>
              <a:t>승인 전에는</a:t>
            </a:r>
          </a:p>
          <a:p>
            <a:pPr algn="ctr">
              <a:lnSpc>
                <a:spcPct val="110000"/>
              </a:lnSpc>
              <a:spcAft>
                <a:spcPts val="400"/>
              </a:spcAft>
            </a:pPr>
            <a:r>
              <a:rPr sz="1250" b="0">
                <a:solidFill>
                  <a:srgbClr val="1F2A3A"/>
                </a:solidFill>
                <a:latin typeface="맑은 고딕"/>
                <a:ea typeface="맑은 고딕"/>
                <a:cs typeface="맑은 고딕"/>
              </a:rPr>
              <a:t>설비 명령이 없다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settings-automation" descr="settings-automation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a:t>
            </a:r>
          </a:p>
          <a:p>
            <a:pPr algn="ctr">
              <a:lnSpc>
                <a:spcPct val="110000"/>
              </a:lnSpc>
              <a:spcAft>
                <a:spcPts val="400"/>
              </a:spcAft>
            </a:pPr>
            <a:r>
              <a:rPr sz="1250" b="0">
                <a:solidFill>
                  <a:srgbClr val="1F2A3A"/>
                </a:solidFill>
                <a:latin typeface="맑은 고딕"/>
                <a:ea typeface="맑은 고딕"/>
                <a:cs typeface="맑은 고딕"/>
              </a:rPr>
              <a:t>승인된 조치만</a:t>
            </a:r>
          </a:p>
          <a:p>
            <a:pPr algn="ctr">
              <a:lnSpc>
                <a:spcPct val="110000"/>
              </a:lnSpc>
              <a:spcAft>
                <a:spcPts val="400"/>
              </a:spcAft>
            </a:pPr>
            <a:r>
              <a:rPr sz="1250" b="0">
                <a:solidFill>
                  <a:srgbClr val="1F2A3A"/>
                </a:solidFill>
                <a:latin typeface="맑은 고딕"/>
                <a:ea typeface="맑은 고딕"/>
                <a:cs typeface="맑은 고딕"/>
              </a:rPr>
              <a:t>명령이 되어</a:t>
            </a:r>
          </a:p>
          <a:p>
            <a:pPr algn="ctr">
              <a:lnSpc>
                <a:spcPct val="110000"/>
              </a:lnSpc>
              <a:spcAft>
                <a:spcPts val="400"/>
              </a:spcAft>
            </a:pPr>
            <a:r>
              <a:rPr sz="1250" b="0">
                <a:solidFill>
                  <a:srgbClr val="1F2A3A"/>
                </a:solidFill>
                <a:latin typeface="맑은 고딕"/>
                <a:ea typeface="맑은 고딕"/>
                <a:cs typeface="맑은 고딕"/>
              </a:rPr>
              <a:t>설비로 내려간다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712466"/>
            <a:ext cx="731520" cy="731520"/>
          </a:xfrm>
          <a:prstGeom prst="ellipse">
            <a:avLst/>
          </a:prstGeom>
          <a:solidFill>
            <a:srgbClr val="FFFFFF"/>
          </a:solidFill>
          <a:ln>
            <a:noFill/>
          </a:ln>
        </p:spPr>
        <p:txBody>
          <a:bodyPr rtlCol="0" anchor="ctr"/>
          <a:lstStyle/>
          <a:p>
            <a:pPr algn="ctr"/>
          </a:p>
        </p:txBody>
      </p:sp>
      <p:pic>
        <p:nvPicPr>
          <p:cNvPr id="28" name="아이콘:zoom-check" descr="zoom-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재관측과 결과</a:t>
            </a:r>
          </a:p>
          <a:p>
            <a:pPr algn="ctr">
              <a:lnSpc>
                <a:spcPct val="110000"/>
              </a:lnSpc>
              <a:spcAft>
                <a:spcPts val="400"/>
              </a:spcAft>
            </a:pPr>
            <a:r>
              <a:rPr sz="1250" b="0">
                <a:solidFill>
                  <a:srgbClr val="1F2A3A"/>
                </a:solidFill>
                <a:latin typeface="맑은 고딕"/>
                <a:ea typeface="맑은 고딕"/>
                <a:cs typeface="맑은 고딕"/>
              </a:rPr>
              <a:t>유온을 다시 읽어</a:t>
            </a:r>
          </a:p>
          <a:p>
            <a:pPr algn="ctr">
              <a:lnSpc>
                <a:spcPct val="110000"/>
              </a:lnSpc>
              <a:spcAft>
                <a:spcPts val="400"/>
              </a:spcAft>
            </a:pPr>
            <a:r>
              <a:rPr sz="1250" b="0">
                <a:solidFill>
                  <a:srgbClr val="1F2A3A"/>
                </a:solidFill>
                <a:latin typeface="맑은 고딕"/>
                <a:ea typeface="맑은 고딕"/>
                <a:cs typeface="맑은 고딕"/>
              </a:rPr>
              <a:t>회복을 확인하고</a:t>
            </a:r>
          </a:p>
          <a:p>
            <a:pPr algn="ctr">
              <a:lnSpc>
                <a:spcPct val="110000"/>
              </a:lnSpc>
              <a:spcAft>
                <a:spcPts val="400"/>
              </a:spcAft>
            </a:pPr>
            <a:r>
              <a:rPr sz="1250" b="0">
                <a:solidFill>
                  <a:srgbClr val="1F2A3A"/>
                </a:solidFill>
                <a:latin typeface="맑은 고딕"/>
                <a:ea typeface="맑은 고딕"/>
                <a:cs typeface="맑은 고딕"/>
              </a:rPr>
              <a:t>결과를 보고한다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 설비 데이터의 의미와 관계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경보 이후의 판단에 필요한 지식과 그것을 대상과 관계로 적는 방법</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발생에서 조치 승인까지의 108초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조건을 벗어났다는 사실만 알리므로, 조치를 정하려면 </a:t>
            </a:r>
            <a:r>
              <a:rPr sz="1600" b="1">
                <a:solidFill>
                  <a:srgbClr val="1A6FC4"/>
                </a:solidFill>
                <a:latin typeface="맑은 고딕"/>
                <a:ea typeface="맑은 고딕"/>
                <a:cs typeface="맑은 고딕"/>
              </a:rPr>
              <a:t>원인</a:t>
            </a:r>
            <a:r>
              <a:rPr sz="1600" b="0">
                <a:solidFill>
                  <a:srgbClr val="556175"/>
                </a:solidFill>
                <a:latin typeface="맑은 고딕"/>
                <a:ea typeface="맑은 고딕"/>
                <a:cs typeface="맑은 고딕"/>
              </a:rPr>
              <a:t>을 먼저 가려야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56</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유온 55.71 ℃, 냉각 효율 46.2 %.</a:t>
            </a:r>
          </a:p>
          <a:p>
            <a:pPr algn="l">
              <a:lnSpc>
                <a:spcPct val="110000"/>
              </a:lnSpc>
              <a:spcAft>
                <a:spcPts val="400"/>
              </a:spcAft>
            </a:pPr>
            <a:r>
              <a:rPr sz="1400" b="0">
                <a:solidFill>
                  <a:srgbClr val="1F2A3A"/>
                </a:solidFill>
                <a:latin typeface="맑은 고딕"/>
                <a:ea typeface="맑은 고딕"/>
                <a:cs typeface="맑은 고딕"/>
              </a:rPr>
              <a:t>감지 서비스의 경보 조건이 성립했다.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108초 동안 한 일</a:t>
            </a:r>
          </a:p>
          <a:p>
            <a:pPr algn="l">
              <a:lnSpc>
                <a:spcPct val="110000"/>
              </a:lnSpc>
              <a:spcAft>
                <a:spcPts val="400"/>
              </a:spcAft>
            </a:pPr>
            <a:r>
              <a:rPr sz="1400" b="0">
                <a:solidFill>
                  <a:srgbClr val="1F2A3A"/>
                </a:solidFill>
                <a:latin typeface="맑은 고딕"/>
                <a:ea typeface="맑은 고딕"/>
                <a:cs typeface="맑은 고딕"/>
              </a:rPr>
              <a:t>원인 후보를 가리고 조치안을 비교한 시간이다. 그동안 유온은 61.8 ℃까지 올랐다.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조치 승인 11:14:56</a:t>
            </a:r>
          </a:p>
          <a:p>
            <a:pPr algn="l">
              <a:lnSpc>
                <a:spcPct val="110000"/>
              </a:lnSpc>
              <a:spcAft>
                <a:spcPts val="400"/>
              </a:spcAft>
            </a:pPr>
            <a:r>
              <a:rPr sz="1400" b="0">
                <a:solidFill>
                  <a:srgbClr val="1F2A3A"/>
                </a:solidFill>
                <a:latin typeface="맑은 고딕"/>
                <a:ea typeface="맑은 고딕"/>
                <a:cs typeface="맑은 고딕"/>
              </a:rPr>
              <a:t>운전원이 「팬 최대 운전」을 승인했고 팬 속도 100 % 명령이 내려갔다.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해제 11:15:52</a:t>
            </a:r>
          </a:p>
          <a:p>
            <a:pPr algn="l">
              <a:lnSpc>
                <a:spcPct val="110000"/>
              </a:lnSpc>
              <a:spcAft>
                <a:spcPts val="400"/>
              </a:spcAft>
            </a:pPr>
            <a:r>
              <a:rPr sz="1400" b="0">
                <a:solidFill>
                  <a:srgbClr val="1F2A3A"/>
                </a:solidFill>
                <a:latin typeface="맑은 고딕"/>
                <a:ea typeface="맑은 고딕"/>
                <a:cs typeface="맑은 고딕"/>
              </a:rPr>
              <a:t>유온은 내려갔으나 냉각 효율은</a:t>
            </a:r>
          </a:p>
          <a:p>
            <a:pPr algn="l">
              <a:lnSpc>
                <a:spcPct val="110000"/>
              </a:lnSpc>
              <a:spcAft>
                <a:spcPts val="400"/>
              </a:spcAft>
            </a:pPr>
            <a:r>
              <a:rPr sz="1400" b="0">
                <a:solidFill>
                  <a:srgbClr val="1F2A3A"/>
                </a:solidFill>
                <a:latin typeface="맑은 고딕"/>
                <a:ea typeface="맑은 고딕"/>
                <a:cs typeface="맑은 고딕"/>
              </a:rPr>
              <a:t>55 %로, 기준 70 %에 못 미친다.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108초의 내역: 판단에 94초, 승인 대기에 13초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승인까지의 108초 가운데 대부분은 원인을 가리고 조치안을 비교하는 데 쓰였다.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728468"/>
            <a:ext cx="5410047" cy="252577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929636"/>
            <a:ext cx="731520" cy="731520"/>
          </a:xfrm>
          <a:prstGeom prst="ellipse">
            <a:avLst/>
          </a:prstGeom>
          <a:solidFill>
            <a:srgbClr val="5CB8F2"/>
          </a:solidFill>
          <a:ln>
            <a:noFill/>
          </a:ln>
        </p:spPr>
        <p:txBody>
          <a:bodyPr rtlCol="0" anchor="ctr"/>
          <a:lstStyle/>
          <a:p>
            <a:pPr algn="ctr"/>
          </a:p>
        </p:txBody>
      </p:sp>
      <p:pic>
        <p:nvPicPr>
          <p:cNvPr id="8" name="아이콘:search" descr="search_13294B_1.6.png"/>
          <p:cNvPicPr>
            <a:picLocks noChangeAspect="1"/>
          </p:cNvPicPr>
          <p:nvPr/>
        </p:nvPicPr>
        <p:blipFill>
          <a:blip r:embed="rId3"/>
          <a:stretch>
            <a:fillRect/>
          </a:stretch>
        </p:blipFill>
        <p:spPr>
          <a:xfrm>
            <a:off x="930859" y="3083255"/>
            <a:ext cx="424281" cy="424281"/>
          </a:xfrm>
          <a:prstGeom prst="rect">
            <a:avLst/>
          </a:prstGeom>
        </p:spPr>
      </p:pic>
      <p:sp>
        <p:nvSpPr>
          <p:cNvPr id="9" name="TextBox 8"/>
          <p:cNvSpPr txBox="1"/>
          <p:nvPr/>
        </p:nvSpPr>
        <p:spPr>
          <a:xfrm>
            <a:off x="713232" y="3752596"/>
            <a:ext cx="5080863"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원인 가리기와 조치안 비교</a:t>
            </a:r>
          </a:p>
          <a:p>
            <a:pPr algn="l">
              <a:lnSpc>
                <a:spcPct val="110000"/>
              </a:lnSpc>
              <a:spcAft>
                <a:spcPts val="400"/>
              </a:spcAft>
            </a:pPr>
            <a:r>
              <a:rPr sz="1400" b="0">
                <a:solidFill>
                  <a:srgbClr val="1F2A3A"/>
                </a:solidFill>
                <a:latin typeface="맑은 고딕"/>
                <a:ea typeface="맑은 고딕"/>
                <a:cs typeface="맑은 고딕"/>
              </a:rPr>
              <a:t>에이전트가 지식과 값을 조회해 원인을 가리고 조치안을 냈다</a:t>
            </a:r>
          </a:p>
        </p:txBody>
      </p:sp>
      <p:sp>
        <p:nvSpPr>
          <p:cNvPr id="10" name="Rounded Rectangle 9"/>
          <p:cNvSpPr/>
          <p:nvPr/>
        </p:nvSpPr>
        <p:spPr>
          <a:xfrm>
            <a:off x="777240" y="4824476"/>
            <a:ext cx="905256"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824476"/>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약 94초</a:t>
            </a:r>
          </a:p>
        </p:txBody>
      </p:sp>
      <p:sp>
        <p:nvSpPr>
          <p:cNvPr id="12" name="Rounded Rectangle 11"/>
          <p:cNvSpPr/>
          <p:nvPr/>
        </p:nvSpPr>
        <p:spPr>
          <a:xfrm>
            <a:off x="6233007" y="2728468"/>
            <a:ext cx="5410047"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6461607" y="2929636"/>
            <a:ext cx="731520" cy="731520"/>
          </a:xfrm>
          <a:prstGeom prst="ellipse">
            <a:avLst/>
          </a:prstGeom>
          <a:solidFill>
            <a:srgbClr val="E7F3FD"/>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6615226" y="3083255"/>
            <a:ext cx="424281" cy="424281"/>
          </a:xfrm>
          <a:prstGeom prst="rect">
            <a:avLst/>
          </a:prstGeom>
        </p:spPr>
      </p:pic>
      <p:sp>
        <p:nvSpPr>
          <p:cNvPr id="15" name="TextBox 14"/>
          <p:cNvSpPr txBox="1"/>
          <p:nvPr/>
        </p:nvSpPr>
        <p:spPr>
          <a:xfrm>
            <a:off x="6397599" y="3752596"/>
            <a:ext cx="5080863"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대기</a:t>
            </a:r>
          </a:p>
          <a:p>
            <a:pPr algn="l">
              <a:lnSpc>
                <a:spcPct val="110000"/>
              </a:lnSpc>
              <a:spcAft>
                <a:spcPts val="400"/>
              </a:spcAft>
            </a:pPr>
            <a:r>
              <a:rPr sz="1400" b="0">
                <a:solidFill>
                  <a:srgbClr val="1F2A3A"/>
                </a:solidFill>
                <a:latin typeface="맑은 고딕"/>
                <a:ea typeface="맑은 고딕"/>
                <a:cs typeface="맑은 고딕"/>
              </a:rPr>
              <a:t>담당자가 추천과 근거를 보고 승인했다</a:t>
            </a:r>
          </a:p>
        </p:txBody>
      </p:sp>
      <p:sp>
        <p:nvSpPr>
          <p:cNvPr id="16" name="Rounded Rectangle 15"/>
          <p:cNvSpPr/>
          <p:nvPr/>
        </p:nvSpPr>
        <p:spPr>
          <a:xfrm>
            <a:off x="6461607" y="4824476"/>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6461607" y="4824476"/>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약 13초</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계측값, 이상 감지, 고장 진단, 조치 판단의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재는 일과 이상을 알리는 일은 구조가 해 주지만, 원인을 가리고 조치를 정하는 일에는 지식이 더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58</a:t>
            </a:r>
          </a:p>
        </p:txBody>
      </p:sp>
      <p:sp>
        <p:nvSpPr>
          <p:cNvPr id="6" name="Rectangle 5"/>
          <p:cNvSpPr/>
          <p:nvPr/>
        </p:nvSpPr>
        <p:spPr>
          <a:xfrm>
            <a:off x="1935441" y="3146679"/>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718271" y="2947797"/>
            <a:ext cx="434340" cy="434340"/>
          </a:xfrm>
          <a:prstGeom prst="rect">
            <a:avLst/>
          </a:prstGeom>
        </p:spPr>
      </p:pic>
      <p:sp>
        <p:nvSpPr>
          <p:cNvPr id="9" name="Oval 8"/>
          <p:cNvSpPr/>
          <p:nvPr/>
        </p:nvSpPr>
        <p:spPr>
          <a:xfrm>
            <a:off x="2095461"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계측값</a:t>
            </a:r>
          </a:p>
          <a:p>
            <a:pPr algn="ctr">
              <a:lnSpc>
                <a:spcPct val="110000"/>
              </a:lnSpc>
              <a:spcAft>
                <a:spcPts val="400"/>
              </a:spcAft>
            </a:pPr>
            <a:r>
              <a:rPr sz="1350" b="0">
                <a:solidFill>
                  <a:srgbClr val="1F2A3A"/>
                </a:solidFill>
                <a:latin typeface="맑은 고딕"/>
                <a:ea typeface="맑은 고딕"/>
                <a:cs typeface="맑은 고딕"/>
              </a:rPr>
              <a:t>지금 얼마인가</a:t>
            </a:r>
          </a:p>
          <a:p>
            <a:pPr algn="ctr">
              <a:lnSpc>
                <a:spcPct val="110000"/>
              </a:lnSpc>
              <a:spcAft>
                <a:spcPts val="400"/>
              </a:spcAft>
            </a:pPr>
            <a:r>
              <a:rPr sz="1350" b="0">
                <a:solidFill>
                  <a:srgbClr val="1F2A3A"/>
                </a:solidFill>
                <a:latin typeface="맑은 고딕"/>
                <a:ea typeface="맑은 고딕"/>
                <a:cs typeface="맑은 고딕"/>
              </a:rPr>
              <a:t>TS1 55.71 ℃</a:t>
            </a:r>
          </a:p>
        </p:txBody>
      </p:sp>
      <p:sp>
        <p:nvSpPr>
          <p:cNvPr id="12" name="Oval 11"/>
          <p:cNvSpPr/>
          <p:nvPr/>
        </p:nvSpPr>
        <p:spPr>
          <a:xfrm>
            <a:off x="4274705"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bell-ringing" descr="bell-ringing_13294B_1.6.png"/>
          <p:cNvPicPr>
            <a:picLocks noChangeAspect="1"/>
          </p:cNvPicPr>
          <p:nvPr/>
        </p:nvPicPr>
        <p:blipFill>
          <a:blip r:embed="rId4"/>
          <a:stretch>
            <a:fillRect/>
          </a:stretch>
        </p:blipFill>
        <p:spPr>
          <a:xfrm>
            <a:off x="4491875" y="2947797"/>
            <a:ext cx="434340" cy="434340"/>
          </a:xfrm>
          <a:prstGeom prst="rect">
            <a:avLst/>
          </a:prstGeom>
        </p:spPr>
      </p:pic>
      <p:sp>
        <p:nvSpPr>
          <p:cNvPr id="14" name="Oval 13"/>
          <p:cNvSpPr/>
          <p:nvPr/>
        </p:nvSpPr>
        <p:spPr>
          <a:xfrm>
            <a:off x="4869065"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감지</a:t>
            </a:r>
          </a:p>
          <a:p>
            <a:pPr algn="ctr">
              <a:lnSpc>
                <a:spcPct val="110000"/>
              </a:lnSpc>
              <a:spcAft>
                <a:spcPts val="400"/>
              </a:spcAft>
            </a:pPr>
            <a:r>
              <a:rPr sz="1350" b="0">
                <a:solidFill>
                  <a:srgbClr val="1F2A3A"/>
                </a:solidFill>
                <a:latin typeface="맑은 고딕"/>
                <a:ea typeface="맑은 고딕"/>
                <a:cs typeface="맑은 고딕"/>
              </a:rPr>
              <a:t>기준을 벗어났는가</a:t>
            </a:r>
          </a:p>
          <a:p>
            <a:pPr algn="ctr">
              <a:lnSpc>
                <a:spcPct val="110000"/>
              </a:lnSpc>
              <a:spcAft>
                <a:spcPts val="400"/>
              </a:spcAft>
            </a:pPr>
            <a:r>
              <a:rPr sz="1350" b="0">
                <a:solidFill>
                  <a:srgbClr val="1F2A3A"/>
                </a:solidFill>
                <a:latin typeface="맑은 고딕"/>
                <a:ea typeface="맑은 고딕"/>
                <a:cs typeface="맑은 고딕"/>
              </a:rPr>
              <a:t>쿨러 성능 저하 경보</a:t>
            </a:r>
          </a:p>
        </p:txBody>
      </p:sp>
      <p:sp>
        <p:nvSpPr>
          <p:cNvPr id="17" name="Oval 16"/>
          <p:cNvSpPr/>
          <p:nvPr/>
        </p:nvSpPr>
        <p:spPr>
          <a:xfrm>
            <a:off x="7048309" y="2730627"/>
            <a:ext cx="868680" cy="868680"/>
          </a:xfrm>
          <a:prstGeom prst="ellipse">
            <a:avLst/>
          </a:prstGeom>
          <a:solidFill>
            <a:srgbClr val="5CB8F2"/>
          </a:solidFill>
          <a:ln>
            <a:no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7265479" y="2947797"/>
            <a:ext cx="434340" cy="434340"/>
          </a:xfrm>
          <a:prstGeom prst="rect">
            <a:avLst/>
          </a:prstGeom>
        </p:spPr>
      </p:pic>
      <p:sp>
        <p:nvSpPr>
          <p:cNvPr id="19" name="Oval 18"/>
          <p:cNvSpPr/>
          <p:nvPr/>
        </p:nvSpPr>
        <p:spPr>
          <a:xfrm>
            <a:off x="7642669"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고장 진단</a:t>
            </a:r>
          </a:p>
          <a:p>
            <a:pPr algn="ctr">
              <a:lnSpc>
                <a:spcPct val="110000"/>
              </a:lnSpc>
              <a:spcAft>
                <a:spcPts val="400"/>
              </a:spcAft>
            </a:pPr>
            <a:r>
              <a:rPr sz="1350" b="0">
                <a:solidFill>
                  <a:srgbClr val="1F2A3A"/>
                </a:solidFill>
                <a:latin typeface="맑은 고딕"/>
                <a:ea typeface="맑은 고딕"/>
                <a:cs typeface="맑은 고딕"/>
              </a:rPr>
              <a:t>왜 벗어났는가</a:t>
            </a:r>
          </a:p>
          <a:p>
            <a:pPr algn="ctr">
              <a:lnSpc>
                <a:spcPct val="110000"/>
              </a:lnSpc>
              <a:spcAft>
                <a:spcPts val="400"/>
              </a:spcAft>
            </a:pPr>
            <a:r>
              <a:rPr sz="1350" b="0">
                <a:solidFill>
                  <a:srgbClr val="1F2A3A"/>
                </a:solidFill>
                <a:latin typeface="맑은 고딕"/>
                <a:ea typeface="맑은 고딕"/>
                <a:cs typeface="맑은 고딕"/>
              </a:rPr>
              <a:t>쿨러 핀 오염</a:t>
            </a:r>
          </a:p>
        </p:txBody>
      </p:sp>
      <p:sp>
        <p:nvSpPr>
          <p:cNvPr id="22" name="Oval 21"/>
          <p:cNvSpPr/>
          <p:nvPr/>
        </p:nvSpPr>
        <p:spPr>
          <a:xfrm>
            <a:off x="9821913" y="2730627"/>
            <a:ext cx="868680" cy="868680"/>
          </a:xfrm>
          <a:prstGeom prst="ellipse">
            <a:avLst/>
          </a:prstGeom>
          <a:solidFill>
            <a:srgbClr val="5CB8F2"/>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039083" y="2947797"/>
            <a:ext cx="434340" cy="434340"/>
          </a:xfrm>
          <a:prstGeom prst="rect">
            <a:avLst/>
          </a:prstGeom>
        </p:spPr>
      </p:pic>
      <p:sp>
        <p:nvSpPr>
          <p:cNvPr id="24" name="Oval 23"/>
          <p:cNvSpPr/>
          <p:nvPr/>
        </p:nvSpPr>
        <p:spPr>
          <a:xfrm>
            <a:off x="10416273" y="2684907"/>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 판단</a:t>
            </a:r>
          </a:p>
          <a:p>
            <a:pPr algn="ctr">
              <a:lnSpc>
                <a:spcPct val="110000"/>
              </a:lnSpc>
              <a:spcAft>
                <a:spcPts val="400"/>
              </a:spcAft>
            </a:pPr>
            <a:r>
              <a:rPr sz="1350" b="0">
                <a:solidFill>
                  <a:srgbClr val="1F2A3A"/>
                </a:solidFill>
                <a:latin typeface="맑은 고딕"/>
                <a:ea typeface="맑은 고딕"/>
                <a:cs typeface="맑은 고딕"/>
              </a:rPr>
              <a:t>무엇을 할 것인가</a:t>
            </a:r>
          </a:p>
          <a:p>
            <a:pPr algn="ctr">
              <a:lnSpc>
                <a:spcPct val="110000"/>
              </a:lnSpc>
              <a:spcAft>
                <a:spcPts val="400"/>
              </a:spcAft>
            </a:pPr>
            <a:r>
              <a:rPr sz="1350" b="0">
                <a:solidFill>
                  <a:srgbClr val="1F2A3A"/>
                </a:solidFill>
                <a:latin typeface="맑은 고딕"/>
                <a:ea typeface="맑은 고딕"/>
                <a:cs typeface="맑은 고딕"/>
              </a:rPr>
              <a:t>팬 최대 운전</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경보에 대한 세 가지 원인 후보와 판별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유온 상승 경보에 원인 후보가 셋이며, 후보를 가르는 증거는 유온이 아닌 </a:t>
            </a:r>
            <a:r>
              <a:rPr sz="1600" b="1">
                <a:solidFill>
                  <a:srgbClr val="1A6FC4"/>
                </a:solidFill>
                <a:latin typeface="맑은 고딕"/>
                <a:ea typeface="맑은 고딕"/>
                <a:cs typeface="맑은 고딕"/>
              </a:rPr>
              <a:t>다른 센서 값</a:t>
            </a:r>
            <a:r>
              <a:rPr sz="1600" b="0">
                <a:solidFill>
                  <a:srgbClr val="556175"/>
                </a:solidFill>
                <a:latin typeface="맑은 고딕"/>
                <a:ea typeface="맑은 고딕"/>
                <a:cs typeface="맑은 고딕"/>
              </a:rPr>
              <a:t>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pic>
        <p:nvPicPr>
          <p:cNvPr id="6" name="삽화:원인후보.svg" descr="illust_7706910305682855782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경보가 알려 주는 증상</a:t>
            </a:r>
          </a:p>
        </p:txBody>
      </p:sp>
      <p:sp>
        <p:nvSpPr>
          <p:cNvPr id="8" name="TextBox 7"/>
          <p:cNvSpPr txBox="1"/>
          <p:nvPr/>
        </p:nvSpPr>
        <p:spPr>
          <a:xfrm>
            <a:off x="3995769" y="1698543"/>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CE 46.2 %</a:t>
            </a:r>
          </a:p>
          <a:p>
            <a:pPr algn="ctr">
              <a:lnSpc>
                <a:spcPct val="110000"/>
              </a:lnSpc>
              <a:spcAft>
                <a:spcPts val="100"/>
              </a:spcAft>
            </a:pPr>
            <a:r>
              <a:rPr sz="1300" b="0">
                <a:solidFill>
                  <a:srgbClr val="556175"/>
                </a:solidFill>
                <a:latin typeface="맑은 고딕"/>
                <a:ea typeface="맑은 고딕"/>
                <a:cs typeface="맑은 고딕"/>
              </a:rPr>
              <a:t>냉각 효율</a:t>
            </a:r>
          </a:p>
        </p:txBody>
      </p:sp>
      <p:sp>
        <p:nvSpPr>
          <p:cNvPr id="9" name="TextBox 8"/>
          <p:cNvSpPr txBox="1"/>
          <p:nvPr/>
        </p:nvSpPr>
        <p:spPr>
          <a:xfrm>
            <a:off x="3832127" y="3164052"/>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VS1 0.575 mm/s</a:t>
            </a:r>
          </a:p>
          <a:p>
            <a:pPr algn="ctr">
              <a:lnSpc>
                <a:spcPct val="110000"/>
              </a:lnSpc>
              <a:spcAft>
                <a:spcPts val="100"/>
              </a:spcAft>
            </a:pPr>
            <a:r>
              <a:rPr sz="1300" b="0">
                <a:solidFill>
                  <a:srgbClr val="556175"/>
                </a:solidFill>
                <a:latin typeface="맑은 고딕"/>
                <a:ea typeface="맑은 고딕"/>
                <a:cs typeface="맑은 고딕"/>
              </a:rPr>
              <a:t>팬 진동</a:t>
            </a:r>
          </a:p>
        </p:txBody>
      </p:sp>
      <p:sp>
        <p:nvSpPr>
          <p:cNvPr id="10" name="TextBox 9"/>
          <p:cNvSpPr txBox="1"/>
          <p:nvPr/>
        </p:nvSpPr>
        <p:spPr>
          <a:xfrm>
            <a:off x="3995769" y="463901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TS4 28 ℃</a:t>
            </a:r>
          </a:p>
          <a:p>
            <a:pPr algn="ctr">
              <a:lnSpc>
                <a:spcPct val="110000"/>
              </a:lnSpc>
              <a:spcAft>
                <a:spcPts val="100"/>
              </a:spcAft>
            </a:pPr>
            <a:r>
              <a:rPr sz="1300" b="0">
                <a:solidFill>
                  <a:srgbClr val="556175"/>
                </a:solidFill>
                <a:latin typeface="맑은 고딕"/>
                <a:ea typeface="맑은 고딕"/>
                <a:cs typeface="맑은 고딕"/>
              </a:rPr>
              <a:t>캐비닛 온도</a:t>
            </a:r>
          </a:p>
        </p:txBody>
      </p:sp>
      <p:sp>
        <p:nvSpPr>
          <p:cNvPr id="11" name="TextBox 10"/>
          <p:cNvSpPr txBox="1"/>
          <p:nvPr/>
        </p:nvSpPr>
        <p:spPr>
          <a:xfrm>
            <a:off x="7394077" y="2157106"/>
            <a:ext cx="403651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미만이면 해당</a:t>
            </a:r>
          </a:p>
          <a:p>
            <a:pPr algn="ctr">
              <a:lnSpc>
                <a:spcPct val="110000"/>
              </a:lnSpc>
              <a:spcAft>
                <a:spcPts val="100"/>
              </a:spcAft>
            </a:pPr>
            <a:r>
              <a:rPr sz="1300" b="0">
                <a:solidFill>
                  <a:srgbClr val="556175"/>
                </a:solidFill>
                <a:latin typeface="맑은 고딕"/>
                <a:ea typeface="맑은 고딕"/>
                <a:cs typeface="맑은 고딕"/>
              </a:rPr>
              <a:t>잰 값이 조건에 맞는다</a:t>
            </a:r>
          </a:p>
        </p:txBody>
      </p:sp>
      <p:sp>
        <p:nvSpPr>
          <p:cNvPr id="12" name="TextBox 11"/>
          <p:cNvSpPr txBox="1"/>
          <p:nvPr/>
        </p:nvSpPr>
        <p:spPr>
          <a:xfrm>
            <a:off x="7394077" y="3627342"/>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이상이면 해당</a:t>
            </a:r>
          </a:p>
          <a:p>
            <a:pPr algn="ctr">
              <a:lnSpc>
                <a:spcPct val="110000"/>
              </a:lnSpc>
              <a:spcAft>
                <a:spcPts val="100"/>
              </a:spcAft>
            </a:pPr>
            <a:r>
              <a:rPr sz="1300" b="0">
                <a:solidFill>
                  <a:srgbClr val="556175"/>
                </a:solidFill>
                <a:latin typeface="맑은 고딕"/>
                <a:ea typeface="맑은 고딕"/>
                <a:cs typeface="맑은 고딕"/>
              </a:rPr>
              <a:t>잰 값 0.575 → 해당하지 않는다</a:t>
            </a:r>
          </a:p>
        </p:txBody>
      </p:sp>
      <p:sp>
        <p:nvSpPr>
          <p:cNvPr id="13" name="TextBox 12"/>
          <p:cNvSpPr txBox="1"/>
          <p:nvPr/>
        </p:nvSpPr>
        <p:spPr>
          <a:xfrm>
            <a:off x="7394077" y="5102306"/>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이상이면 해당</a:t>
            </a:r>
          </a:p>
          <a:p>
            <a:pPr algn="ctr">
              <a:lnSpc>
                <a:spcPct val="110000"/>
              </a:lnSpc>
              <a:spcAft>
                <a:spcPts val="100"/>
              </a:spcAft>
            </a:pPr>
            <a:r>
              <a:rPr sz="1300" b="0">
                <a:solidFill>
                  <a:srgbClr val="556175"/>
                </a:solidFill>
                <a:latin typeface="맑은 고딕"/>
                <a:ea typeface="맑은 고딕"/>
                <a:cs typeface="맑은 고딕"/>
              </a:rPr>
              <a:t>잰 값 28 ℃ → 해당하지 않는다</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증거: 원인을 확인하는 데 쓰는 값과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 후보마다 확인할 값과 기준이 정해져 있으며, 잰 값을 그 기준에 대어 보는 것이 판별이다.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확인할 값</a:t>
            </a:r>
          </a:p>
          <a:p>
            <a:pPr algn="l">
              <a:lnSpc>
                <a:spcPct val="110000"/>
              </a:lnSpc>
              <a:spcAft>
                <a:spcPts val="400"/>
              </a:spcAft>
            </a:pPr>
            <a:r>
              <a:rPr sz="1400" b="0">
                <a:solidFill>
                  <a:srgbClr val="1F2A3A"/>
                </a:solidFill>
                <a:latin typeface="맑은 고딕"/>
                <a:ea typeface="맑은 고딕"/>
                <a:cs typeface="맑은 고딕"/>
              </a:rPr>
              <a:t>후보마다 보아야 하는 태그가 다르다</a:t>
            </a:r>
          </a:p>
        </p:txBody>
      </p:sp>
      <p:sp>
        <p:nvSpPr>
          <p:cNvPr id="10" name="Rounded Rectangle 9"/>
          <p:cNvSpPr/>
          <p:nvPr/>
        </p:nvSpPr>
        <p:spPr>
          <a:xfrm>
            <a:off x="777240" y="4932934"/>
            <a:ext cx="1475232"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47523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팬 진동 VS1</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기준</a:t>
            </a:r>
          </a:p>
          <a:p>
            <a:pPr algn="l">
              <a:lnSpc>
                <a:spcPct val="110000"/>
              </a:lnSpc>
              <a:spcAft>
                <a:spcPts val="400"/>
              </a:spcAft>
            </a:pPr>
            <a:r>
              <a:rPr sz="1400" b="0">
                <a:solidFill>
                  <a:srgbClr val="1F2A3A"/>
                </a:solidFill>
                <a:latin typeface="맑은 고딕"/>
                <a:ea typeface="맑은 고딕"/>
                <a:cs typeface="맑은 고딕"/>
              </a:rPr>
              <a:t>그 값이 얼마이면 해당하는지가 정해져 있다</a:t>
            </a:r>
          </a:p>
        </p:txBody>
      </p:sp>
      <p:sp>
        <p:nvSpPr>
          <p:cNvPr id="16" name="Rounded Rectangle 15"/>
          <p:cNvSpPr/>
          <p:nvPr/>
        </p:nvSpPr>
        <p:spPr>
          <a:xfrm>
            <a:off x="4566818" y="4932934"/>
            <a:ext cx="1624584"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62458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0.9 mm/s 이상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checks" descr="checks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대조</a:t>
            </a:r>
          </a:p>
          <a:p>
            <a:pPr algn="l">
              <a:lnSpc>
                <a:spcPct val="110000"/>
              </a:lnSpc>
              <a:spcAft>
                <a:spcPts val="400"/>
              </a:spcAft>
            </a:pPr>
            <a:r>
              <a:rPr sz="1400" b="0">
                <a:solidFill>
                  <a:srgbClr val="1F2A3A"/>
                </a:solidFill>
                <a:latin typeface="맑은 고딕"/>
                <a:ea typeface="맑은 고딕"/>
                <a:cs typeface="맑은 고딕"/>
              </a:rPr>
              <a:t>잰 값을 기준에 대어 본다</a:t>
            </a:r>
          </a:p>
        </p:txBody>
      </p:sp>
      <p:sp>
        <p:nvSpPr>
          <p:cNvPr id="22" name="Rounded Rectangle 21"/>
          <p:cNvSpPr/>
          <p:nvPr/>
        </p:nvSpPr>
        <p:spPr>
          <a:xfrm>
            <a:off x="8356396" y="4932934"/>
            <a:ext cx="199948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99948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0.575 → 해당 없음</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원인에 따라 달라지는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증상이 같아도 원인이 다르면 원인을 없애는 조치가 달라지므로 원인을 가리지 않고는 조치를 정할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쿨러 핀 오염</a:t>
            </a:r>
          </a:p>
          <a:p>
            <a:pPr algn="l">
              <a:lnSpc>
                <a:spcPct val="110000"/>
              </a:lnSpc>
              <a:spcAft>
                <a:spcPts val="400"/>
              </a:spcAft>
            </a:pPr>
            <a:r>
              <a:rPr sz="1400" b="0">
                <a:solidFill>
                  <a:srgbClr val="1F2A3A"/>
                </a:solidFill>
                <a:latin typeface="맑은 고딕"/>
                <a:ea typeface="맑은 고딕"/>
                <a:cs typeface="맑은 고딕"/>
              </a:rPr>
              <a:t>• 쿨러의 핀을 세척한다</a:t>
            </a:r>
          </a:p>
          <a:p>
            <a:pPr algn="l">
              <a:lnSpc>
                <a:spcPct val="110000"/>
              </a:lnSpc>
              <a:spcAft>
                <a:spcPts val="400"/>
              </a:spcAft>
            </a:pPr>
            <a:r>
              <a:rPr sz="1400" b="0">
                <a:solidFill>
                  <a:srgbClr val="1F2A3A"/>
                </a:solidFill>
                <a:latin typeface="맑은 고딕"/>
                <a:ea typeface="맑은 고딕"/>
                <a:cs typeface="맑은 고딕"/>
              </a:rPr>
              <a:t>• 막힌 핀이 열려 냉각 효율이 돌아온다</a:t>
            </a:r>
          </a:p>
        </p:txBody>
      </p:sp>
      <p:sp>
        <p:nvSpPr>
          <p:cNvPr id="10" name="Rounded Rectangle 9"/>
          <p:cNvSpPr/>
          <p:nvPr/>
        </p:nvSpPr>
        <p:spPr>
          <a:xfrm>
            <a:off x="777240" y="5041392"/>
            <a:ext cx="1450847"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45084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핀이 막힘</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구동 불량</a:t>
            </a:r>
          </a:p>
          <a:p>
            <a:pPr algn="l">
              <a:lnSpc>
                <a:spcPct val="110000"/>
              </a:lnSpc>
              <a:spcAft>
                <a:spcPts val="400"/>
              </a:spcAft>
            </a:pPr>
            <a:r>
              <a:rPr sz="1400" b="0">
                <a:solidFill>
                  <a:srgbClr val="1F2A3A"/>
                </a:solidFill>
                <a:latin typeface="맑은 고딕"/>
                <a:ea typeface="맑은 고딕"/>
                <a:cs typeface="맑은 고딕"/>
              </a:rPr>
              <a:t>• 쿨러 팬의 벨트를 점검한다</a:t>
            </a:r>
          </a:p>
          <a:p>
            <a:pPr algn="l">
              <a:lnSpc>
                <a:spcPct val="110000"/>
              </a:lnSpc>
              <a:spcAft>
                <a:spcPts val="400"/>
              </a:spcAft>
            </a:pPr>
            <a:r>
              <a:rPr sz="1400" b="0">
                <a:solidFill>
                  <a:srgbClr val="1F2A3A"/>
                </a:solidFill>
                <a:latin typeface="맑은 고딕"/>
                <a:ea typeface="맑은 고딕"/>
                <a:cs typeface="맑은 고딕"/>
              </a:rPr>
              <a:t>• 팬이 제 속도를 내야 바람이 충분해진다</a:t>
            </a:r>
          </a:p>
        </p:txBody>
      </p:sp>
      <p:sp>
        <p:nvSpPr>
          <p:cNvPr id="16" name="Rounded Rectangle 15"/>
          <p:cNvSpPr/>
          <p:nvPr/>
        </p:nvSpPr>
        <p:spPr>
          <a:xfrm>
            <a:off x="4566818" y="5041392"/>
            <a:ext cx="149656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팬이 덜 돎</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wind" descr="wind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주변 온도 상승</a:t>
            </a:r>
          </a:p>
          <a:p>
            <a:pPr algn="l">
              <a:lnSpc>
                <a:spcPct val="110000"/>
              </a:lnSpc>
              <a:spcAft>
                <a:spcPts val="400"/>
              </a:spcAft>
            </a:pPr>
            <a:r>
              <a:rPr sz="1400" b="0">
                <a:solidFill>
                  <a:srgbClr val="1F2A3A"/>
                </a:solidFill>
                <a:latin typeface="맑은 고딕"/>
                <a:ea typeface="맑은 고딕"/>
                <a:cs typeface="맑은 고딕"/>
              </a:rPr>
              <a:t>• 캐비닛의 환기를 보강한다</a:t>
            </a:r>
          </a:p>
          <a:p>
            <a:pPr algn="l">
              <a:lnSpc>
                <a:spcPct val="110000"/>
              </a:lnSpc>
              <a:spcAft>
                <a:spcPts val="400"/>
              </a:spcAft>
            </a:pPr>
            <a:r>
              <a:rPr sz="1400" b="0">
                <a:solidFill>
                  <a:srgbClr val="1F2A3A"/>
                </a:solidFill>
                <a:latin typeface="맑은 고딕"/>
                <a:ea typeface="맑은 고딕"/>
                <a:cs typeface="맑은 고딕"/>
              </a:rPr>
              <a:t>• 쿨러로 들어가는 공기의 온도를 낮춘다</a:t>
            </a:r>
          </a:p>
        </p:txBody>
      </p:sp>
      <p:sp>
        <p:nvSpPr>
          <p:cNvPr id="22" name="Rounded Rectangle 21"/>
          <p:cNvSpPr/>
          <p:nvPr/>
        </p:nvSpPr>
        <p:spPr>
          <a:xfrm>
            <a:off x="8356396" y="5041392"/>
            <a:ext cx="210616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21061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둘레의 공기가 더움</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완화 조치와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증상을 우선 누르는 완화 조치와 원인을 없애는 근본 조치는 서로 다른 조치이다.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ropeller" descr="propeller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완화 조치</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팬을 최대로 돌려 유온을 우선 낮춘다</a:t>
            </a:r>
          </a:p>
          <a:p>
            <a:pPr algn="l">
              <a:lnSpc>
                <a:spcPct val="110000"/>
              </a:lnSpc>
              <a:spcAft>
                <a:spcPts val="600"/>
              </a:spcAft>
            </a:pPr>
            <a:r>
              <a:rPr sz="1450" b="0">
                <a:solidFill>
                  <a:srgbClr val="1F2A3A"/>
                </a:solidFill>
                <a:latin typeface="맑은 고딕"/>
                <a:ea typeface="맑은 고딕"/>
                <a:cs typeface="맑은 고딕"/>
              </a:rPr>
              <a:t>• 쿨러의 핀은 막힌 그대로이다</a:t>
            </a:r>
          </a:p>
          <a:p>
            <a:pPr algn="l">
              <a:lnSpc>
                <a:spcPct val="110000"/>
              </a:lnSpc>
              <a:spcAft>
                <a:spcPts val="600"/>
              </a:spcAft>
            </a:pPr>
            <a:r>
              <a:rPr sz="1450" b="0">
                <a:solidFill>
                  <a:srgbClr val="1F2A3A"/>
                </a:solidFill>
                <a:latin typeface="맑은 고딕"/>
                <a:ea typeface="맑은 고딕"/>
                <a:cs typeface="맑은 고딕"/>
              </a:rPr>
              <a:t>• 냉각 효율은 55 %로 기준 아래에 남는다</a:t>
            </a:r>
          </a:p>
        </p:txBody>
      </p:sp>
      <p:sp>
        <p:nvSpPr>
          <p:cNvPr id="11" name="Rounded Rectangle 10"/>
          <p:cNvSpPr/>
          <p:nvPr/>
        </p:nvSpPr>
        <p:spPr>
          <a:xfrm>
            <a:off x="868680" y="4945570"/>
            <a:ext cx="1219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팬 최대 운전</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ool" descr="tool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근본 조치</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막힌 핀을 세척해 원인을 없앤다</a:t>
            </a:r>
          </a:p>
          <a:p>
            <a:pPr algn="l">
              <a:lnSpc>
                <a:spcPct val="110000"/>
              </a:lnSpc>
              <a:spcAft>
                <a:spcPts val="600"/>
              </a:spcAft>
            </a:pPr>
            <a:r>
              <a:rPr sz="1450" b="0">
                <a:solidFill>
                  <a:srgbClr val="1F2A3A"/>
                </a:solidFill>
                <a:latin typeface="맑은 고딕"/>
                <a:ea typeface="맑은 고딕"/>
                <a:cs typeface="맑은 고딕"/>
              </a:rPr>
              <a:t>• 설비를 세우고 해야 하는 작업이다</a:t>
            </a:r>
          </a:p>
          <a:p>
            <a:pPr algn="l">
              <a:lnSpc>
                <a:spcPct val="110000"/>
              </a:lnSpc>
              <a:spcAft>
                <a:spcPts val="600"/>
              </a:spcAft>
            </a:pPr>
            <a:r>
              <a:rPr sz="1450" b="0">
                <a:solidFill>
                  <a:srgbClr val="1F2A3A"/>
                </a:solidFill>
                <a:latin typeface="맑은 고딕"/>
                <a:ea typeface="맑은 고딕"/>
                <a:cs typeface="맑은 고딕"/>
              </a:rPr>
              <a:t>• 작업지시로 따로 등록된다</a:t>
            </a:r>
          </a:p>
        </p:txBody>
      </p:sp>
      <p:sp>
        <p:nvSpPr>
          <p:cNvPr id="18" name="Rounded Rectangle 17"/>
          <p:cNvSpPr/>
          <p:nvPr/>
        </p:nvSpPr>
        <p:spPr>
          <a:xfrm>
            <a:off x="6781647" y="4945570"/>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쿨러 핀 세척</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조치가 원인에 따라 설비를 세우는 경우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유온이 오르면 팬을 최대로 올린다는 한 줄의 규칙은 원인에 따라 설비를 정지시킬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쿨러 핀이 막힌 설비</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 속도를 100 %로 올린다</a:t>
            </a:r>
          </a:p>
          <a:p>
            <a:pPr algn="l">
              <a:lnSpc>
                <a:spcPct val="110000"/>
              </a:lnSpc>
              <a:spcAft>
                <a:spcPts val="600"/>
              </a:spcAft>
            </a:pPr>
            <a:r>
              <a:rPr sz="1450" b="0">
                <a:solidFill>
                  <a:srgbClr val="1F2A3A"/>
                </a:solidFill>
                <a:latin typeface="맑은 고딕"/>
                <a:ea typeface="맑은 고딕"/>
                <a:cs typeface="맑은 고딕"/>
              </a:rPr>
              <a:t>• 바람이 늘어 유온이 61.4 ℃에서 51.5 ℃로 내려간다</a:t>
            </a:r>
          </a:p>
          <a:p>
            <a:pPr algn="l">
              <a:lnSpc>
                <a:spcPct val="110000"/>
              </a:lnSpc>
              <a:spcAft>
                <a:spcPts val="600"/>
              </a:spcAft>
            </a:pPr>
            <a:r>
              <a:rPr sz="1450" b="0">
                <a:solidFill>
                  <a:srgbClr val="1F2A3A"/>
                </a:solidFill>
                <a:latin typeface="맑은 고딕"/>
                <a:ea typeface="맑은 고딕"/>
                <a:cs typeface="맑은 고딕"/>
              </a:rPr>
              <a:t>• 경보가 해제된다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조치가 듣는다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팬 베어링이 닳은 설비</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같은 조치로 팬 속도를 100 %로 올린다</a:t>
            </a:r>
          </a:p>
          <a:p>
            <a:pPr algn="l">
              <a:lnSpc>
                <a:spcPct val="110000"/>
              </a:lnSpc>
              <a:spcAft>
                <a:spcPts val="600"/>
              </a:spcAft>
            </a:pPr>
            <a:r>
              <a:rPr sz="1450" b="0">
                <a:solidFill>
                  <a:srgbClr val="1F2A3A"/>
                </a:solidFill>
                <a:latin typeface="맑은 고딕"/>
                <a:ea typeface="맑은 고딕"/>
                <a:cs typeface="맑은 고딕"/>
              </a:rPr>
              <a:t>• 팬 진동 VS1이 약 2.8 mm/s로 뛴다</a:t>
            </a:r>
          </a:p>
          <a:p>
            <a:pPr algn="l">
              <a:lnSpc>
                <a:spcPct val="110000"/>
              </a:lnSpc>
              <a:spcAft>
                <a:spcPts val="600"/>
              </a:spcAft>
            </a:pPr>
            <a:r>
              <a:rPr sz="1450" b="0">
                <a:solidFill>
                  <a:srgbClr val="1F2A3A"/>
                </a:solidFill>
                <a:latin typeface="맑은 고딕"/>
                <a:ea typeface="맑은 고딕"/>
                <a:cs typeface="맑은 고딕"/>
              </a:rPr>
              <a:t>• 진동 인터록 2.0 mm/s에 걸려 PLC가 설비를 세운다</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설비가 선다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정보, 지식의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수치에 의미를 붙이면 정보가 되고, 정보가 다른 대상과 이어져 판단에 쓰일 수 있을 때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sp>
        <p:nvSpPr>
          <p:cNvPr id="6" name="Rectangle 5"/>
          <p:cNvSpPr/>
          <p:nvPr/>
        </p:nvSpPr>
        <p:spPr>
          <a:xfrm>
            <a:off x="2397709" y="3042094"/>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hash" descr="hash_13294B_1.6.png"/>
          <p:cNvPicPr>
            <a:picLocks noChangeAspect="1"/>
          </p:cNvPicPr>
          <p:nvPr/>
        </p:nvPicPr>
        <p:blipFill>
          <a:blip r:embed="rId3"/>
          <a:stretch>
            <a:fillRect/>
          </a:stretch>
        </p:blipFill>
        <p:spPr>
          <a:xfrm>
            <a:off x="2180539" y="2843212"/>
            <a:ext cx="434340" cy="434340"/>
          </a:xfrm>
          <a:prstGeom prst="rect">
            <a:avLst/>
          </a:prstGeom>
        </p:spPr>
      </p:pic>
      <p:sp>
        <p:nvSpPr>
          <p:cNvPr id="9" name="Oval 8"/>
          <p:cNvSpPr/>
          <p:nvPr/>
        </p:nvSpPr>
        <p:spPr>
          <a:xfrm>
            <a:off x="2557729"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데이터</a:t>
            </a:r>
          </a:p>
          <a:p>
            <a:pPr algn="ctr">
              <a:lnSpc>
                <a:spcPct val="110000"/>
              </a:lnSpc>
              <a:spcAft>
                <a:spcPts val="400"/>
              </a:spcAft>
            </a:pPr>
            <a:r>
              <a:rPr sz="1350" b="0">
                <a:solidFill>
                  <a:srgbClr val="1F2A3A"/>
                </a:solidFill>
                <a:latin typeface="맑은 고딕"/>
                <a:ea typeface="맑은 고딕"/>
                <a:cs typeface="맑은 고딕"/>
              </a:rPr>
              <a:t>개별 수치이다</a:t>
            </a:r>
          </a:p>
          <a:p>
            <a:pPr algn="ctr">
              <a:lnSpc>
                <a:spcPct val="110000"/>
              </a:lnSpc>
              <a:spcAft>
                <a:spcPts val="400"/>
              </a:spcAft>
            </a:pPr>
            <a:r>
              <a:rPr sz="1350" b="0">
                <a:solidFill>
                  <a:srgbClr val="1F2A3A"/>
                </a:solidFill>
                <a:latin typeface="맑은 고딕"/>
                <a:ea typeface="맑은 고딕"/>
                <a:cs typeface="맑은 고딕"/>
              </a:rPr>
              <a:t>55.71</a:t>
            </a:r>
          </a:p>
        </p:txBody>
      </p:sp>
      <p:sp>
        <p:nvSpPr>
          <p:cNvPr id="12" name="Oval 11"/>
          <p:cNvSpPr/>
          <p:nvPr/>
        </p:nvSpPr>
        <p:spPr>
          <a:xfrm>
            <a:off x="5661507"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info-circle" descr="info-circle_13294B_1.6.png"/>
          <p:cNvPicPr>
            <a:picLocks noChangeAspect="1"/>
          </p:cNvPicPr>
          <p:nvPr/>
        </p:nvPicPr>
        <p:blipFill>
          <a:blip r:embed="rId4"/>
          <a:stretch>
            <a:fillRect/>
          </a:stretch>
        </p:blipFill>
        <p:spPr>
          <a:xfrm>
            <a:off x="5878677" y="2843212"/>
            <a:ext cx="434340" cy="434340"/>
          </a:xfrm>
          <a:prstGeom prst="rect">
            <a:avLst/>
          </a:prstGeom>
        </p:spPr>
      </p:pic>
      <p:sp>
        <p:nvSpPr>
          <p:cNvPr id="14" name="Oval 13"/>
          <p:cNvSpPr/>
          <p:nvPr/>
        </p:nvSpPr>
        <p:spPr>
          <a:xfrm>
            <a:off x="6255867"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정보</a:t>
            </a:r>
          </a:p>
          <a:p>
            <a:pPr algn="ctr">
              <a:lnSpc>
                <a:spcPct val="110000"/>
              </a:lnSpc>
              <a:spcAft>
                <a:spcPts val="400"/>
              </a:spcAft>
            </a:pPr>
            <a:r>
              <a:rPr sz="1350" b="0">
                <a:solidFill>
                  <a:srgbClr val="1F2A3A"/>
                </a:solidFill>
                <a:latin typeface="맑은 고딕"/>
                <a:ea typeface="맑은 고딕"/>
                <a:cs typeface="맑은 고딕"/>
              </a:rPr>
              <a:t>수치에 의미를 붙인 것이다</a:t>
            </a:r>
          </a:p>
          <a:p>
            <a:pPr algn="ctr">
              <a:lnSpc>
                <a:spcPct val="110000"/>
              </a:lnSpc>
              <a:spcAft>
                <a:spcPts val="400"/>
              </a:spcAft>
            </a:pPr>
            <a:r>
              <a:rPr sz="1350" b="0">
                <a:solidFill>
                  <a:srgbClr val="1F2A3A"/>
                </a:solidFill>
                <a:latin typeface="맑은 고딕"/>
                <a:ea typeface="맑은 고딕"/>
                <a:cs typeface="맑은 고딕"/>
              </a:rPr>
              <a:t>HYD-01의 유온 TS1이 55.71 ℃로</a:t>
            </a:r>
          </a:p>
          <a:p>
            <a:pPr algn="ctr">
              <a:lnSpc>
                <a:spcPct val="110000"/>
              </a:lnSpc>
              <a:spcAft>
                <a:spcPts val="400"/>
              </a:spcAft>
            </a:pPr>
            <a:r>
              <a:rPr sz="1350" b="0">
                <a:solidFill>
                  <a:srgbClr val="1F2A3A"/>
                </a:solidFill>
                <a:latin typeface="맑은 고딕"/>
                <a:ea typeface="맑은 고딕"/>
                <a:cs typeface="맑은 고딕"/>
              </a:rPr>
              <a:t>기준 55 ℃를 넘었다</a:t>
            </a:r>
          </a:p>
        </p:txBody>
      </p:sp>
      <p:sp>
        <p:nvSpPr>
          <p:cNvPr id="17" name="Oval 16"/>
          <p:cNvSpPr/>
          <p:nvPr/>
        </p:nvSpPr>
        <p:spPr>
          <a:xfrm>
            <a:off x="9359646" y="2626042"/>
            <a:ext cx="868680" cy="868680"/>
          </a:xfrm>
          <a:prstGeom prst="ellipse">
            <a:avLst/>
          </a:prstGeom>
          <a:solidFill>
            <a:srgbClr val="5CB8F2"/>
          </a:solidFill>
          <a:ln>
            <a:noFill/>
          </a:ln>
        </p:spPr>
        <p:txBody>
          <a:bodyPr rtlCol="0" anchor="ctr"/>
          <a:lstStyle/>
          <a:p>
            <a:pPr algn="ctr"/>
          </a:p>
        </p:txBody>
      </p:sp>
      <p:pic>
        <p:nvPicPr>
          <p:cNvPr id="18" name="아이콘:bulb" descr="bulb_13294B_1.6.png"/>
          <p:cNvPicPr>
            <a:picLocks noChangeAspect="1"/>
          </p:cNvPicPr>
          <p:nvPr/>
        </p:nvPicPr>
        <p:blipFill>
          <a:blip r:embed="rId5"/>
          <a:stretch>
            <a:fillRect/>
          </a:stretch>
        </p:blipFill>
        <p:spPr>
          <a:xfrm>
            <a:off x="9576816" y="2843212"/>
            <a:ext cx="434340" cy="434340"/>
          </a:xfrm>
          <a:prstGeom prst="rect">
            <a:avLst/>
          </a:prstGeom>
        </p:spPr>
      </p:pic>
      <p:sp>
        <p:nvSpPr>
          <p:cNvPr id="19" name="Oval 18"/>
          <p:cNvSpPr/>
          <p:nvPr/>
        </p:nvSpPr>
        <p:spPr>
          <a:xfrm>
            <a:off x="9954006"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지식</a:t>
            </a:r>
          </a:p>
          <a:p>
            <a:pPr algn="ctr">
              <a:lnSpc>
                <a:spcPct val="110000"/>
              </a:lnSpc>
              <a:spcAft>
                <a:spcPts val="400"/>
              </a:spcAft>
            </a:pPr>
            <a:r>
              <a:rPr sz="1350" b="0">
                <a:solidFill>
                  <a:srgbClr val="1F2A3A"/>
                </a:solidFill>
                <a:latin typeface="맑은 고딕"/>
                <a:ea typeface="맑은 고딕"/>
                <a:cs typeface="맑은 고딕"/>
              </a:rPr>
              <a:t>판단에 쓸 수 있게 이어진 것이다</a:t>
            </a:r>
          </a:p>
          <a:p>
            <a:pPr algn="ctr">
              <a:lnSpc>
                <a:spcPct val="110000"/>
              </a:lnSpc>
              <a:spcAft>
                <a:spcPts val="400"/>
              </a:spcAft>
            </a:pPr>
            <a:r>
              <a:rPr sz="1350" b="0">
                <a:solidFill>
                  <a:srgbClr val="1F2A3A"/>
                </a:solidFill>
                <a:latin typeface="맑은 고딕"/>
                <a:ea typeface="맑은 고딕"/>
                <a:cs typeface="맑은 고딕"/>
              </a:rPr>
              <a:t>유온 상승과 냉각 효율 저하는</a:t>
            </a:r>
          </a:p>
          <a:p>
            <a:pPr algn="ctr">
              <a:lnSpc>
                <a:spcPct val="110000"/>
              </a:lnSpc>
              <a:spcAft>
                <a:spcPts val="400"/>
              </a:spcAft>
            </a:pPr>
            <a:r>
              <a:rPr sz="1350" b="0">
                <a:solidFill>
                  <a:srgbClr val="1F2A3A"/>
                </a:solidFill>
                <a:latin typeface="맑은 고딕"/>
                <a:ea typeface="맑은 고딕"/>
                <a:cs typeface="맑은 고딕"/>
              </a:rPr>
              <a:t>쿨러의 냉각 성능 상실을 가리킨다</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구분 연습: 같은 사건의 데이터, 정보, 지식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수치에 대상, 단위, 기준이 붙어야 정보가 되고, 정보가 원인과 조치로 이어져야 왜와 무엇을에 답하는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내용</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답할 수 있는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데이터</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46.2</a:t>
            </a:r>
          </a:p>
          <a:p>
            <a:pPr algn="l">
              <a:lnSpc>
                <a:spcPct val="110000"/>
              </a:lnSpc>
            </a:pPr>
            <a:r>
              <a:rPr sz="1400" b="0">
                <a:solidFill>
                  <a:srgbClr val="1F2A3A"/>
                </a:solidFill>
                <a:latin typeface="맑은 고딕"/>
                <a:ea typeface="맑은 고딕"/>
                <a:cs typeface="맑은 고딕"/>
              </a:rPr>
              <a:t>무엇을 잰 값인지, 단위가 무엇인지, 높은지 정상인지 알 수 없다</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없음</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HYD-01의 냉각 효율이 46.2 %이다</a:t>
            </a:r>
          </a:p>
          <a:p>
            <a:pPr algn="l">
              <a:lnSpc>
                <a:spcPct val="110000"/>
              </a:lnSpc>
            </a:pPr>
            <a:r>
              <a:rPr sz="1400" b="0">
                <a:solidFill>
                  <a:srgbClr val="1F2A3A"/>
                </a:solidFill>
                <a:latin typeface="맑은 고딕"/>
                <a:ea typeface="맑은 고딕"/>
                <a:cs typeface="맑은 고딕"/>
              </a:rPr>
              <a:t>수치에 대상과 단위가 붙었다</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지금 얼마인가</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기준 70 %보다 낮다</a:t>
            </a:r>
          </a:p>
          <a:p>
            <a:pPr algn="l">
              <a:lnSpc>
                <a:spcPct val="110000"/>
              </a:lnSpc>
            </a:pPr>
            <a:r>
              <a:rPr sz="1400" b="0">
                <a:solidFill>
                  <a:srgbClr val="1F2A3A"/>
                </a:solidFill>
                <a:latin typeface="맑은 고딕"/>
                <a:ea typeface="맑은 고딕"/>
                <a:cs typeface="맑은 고딕"/>
              </a:rPr>
              <a:t>수치에 기준이 붙었다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벗어났는가</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낮고 팬 진동이 정상이면 쿨러 핀 오염이다</a:t>
            </a:r>
          </a:p>
          <a:p>
            <a:pPr algn="l">
              <a:lnSpc>
                <a:spcPct val="110000"/>
              </a:lnSpc>
            </a:pPr>
            <a:r>
              <a:rPr sz="1400" b="0">
                <a:solidFill>
                  <a:srgbClr val="1F2A3A"/>
                </a:solidFill>
                <a:latin typeface="맑은 고딕"/>
                <a:ea typeface="맑은 고딕"/>
                <a:cs typeface="맑은 고딕"/>
              </a:rPr>
              <a:t>정보가 원인으로 이어졌다</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왜 벗어났는가</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오염이면 핀을 세척한다</a:t>
            </a:r>
          </a:p>
          <a:p>
            <a:pPr algn="l">
              <a:lnSpc>
                <a:spcPct val="110000"/>
              </a:lnSpc>
            </a:pPr>
            <a:r>
              <a:rPr sz="1400" b="0">
                <a:solidFill>
                  <a:srgbClr val="1F2A3A"/>
                </a:solidFill>
                <a:latin typeface="맑은 고딕"/>
                <a:ea typeface="맑은 고딕"/>
                <a:cs typeface="맑은 고딕"/>
              </a:rPr>
              <a:t>원인이 조치로 이어졌다</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무엇을 할 것인가</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판단에 쓰이는 정보가 놓인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가리고 조치를 정하는 데 필요한 정보는 서로 다른 시스템과 문서에 </a:t>
            </a:r>
            <a:r>
              <a:rPr sz="1600" b="1">
                <a:solidFill>
                  <a:srgbClr val="1A6FC4"/>
                </a:solidFill>
                <a:latin typeface="맑은 고딕"/>
                <a:ea typeface="맑은 고딕"/>
                <a:cs typeface="맑은 고딕"/>
              </a:rPr>
              <a:t>흩어져</a:t>
            </a:r>
            <a:r>
              <a:rPr sz="1600" b="0">
                <a:solidFill>
                  <a:srgbClr val="556175"/>
                </a:solidFill>
                <a:latin typeface="맑은 고딕"/>
                <a:ea typeface="맑은 고딕"/>
                <a:cs typeface="맑은 고딕"/>
              </a:rPr>
              <a:t>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66</a:t>
            </a:r>
          </a:p>
        </p:txBody>
      </p:sp>
      <p:pic>
        <p:nvPicPr>
          <p:cNvPr id="6" name="삽화:흩어진정보.svg" descr="illust_2146274264902063150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저장소</a:t>
            </a:r>
          </a:p>
          <a:p>
            <a:pPr algn="ctr">
              <a:lnSpc>
                <a:spcPct val="110000"/>
              </a:lnSpc>
              <a:spcAft>
                <a:spcPts val="100"/>
              </a:spcAft>
            </a:pPr>
            <a:r>
              <a:rPr sz="1300" b="0">
                <a:solidFill>
                  <a:srgbClr val="556175"/>
                </a:solidFill>
                <a:latin typeface="맑은 고딕"/>
                <a:ea typeface="맑은 고딕"/>
                <a:cs typeface="맑은 고딕"/>
              </a:rPr>
              <a:t>지금의 센서 값</a:t>
            </a:r>
          </a:p>
          <a:p>
            <a:pPr algn="ctr">
              <a:lnSpc>
                <a:spcPct val="110000"/>
              </a:lnSpc>
              <a:spcAft>
                <a:spcPts val="100"/>
              </a:spcAft>
            </a:pPr>
            <a:r>
              <a:rPr sz="1300" b="0">
                <a:solidFill>
                  <a:srgbClr val="556175"/>
                </a:solidFill>
                <a:latin typeface="맑은 고딕"/>
                <a:ea typeface="맑은 고딕"/>
                <a:cs typeface="맑은 고딕"/>
              </a:rPr>
              <a:t>CE 46.2 % · TS4 28 ℃</a:t>
            </a:r>
          </a:p>
        </p:txBody>
      </p:sp>
      <p:sp>
        <p:nvSpPr>
          <p:cNvPr id="8" name="TextBox 7"/>
          <p:cNvSpPr txBox="1"/>
          <p:nvPr/>
        </p:nvSpPr>
        <p:spPr>
          <a:xfrm>
            <a:off x="837471" y="52441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PLC의 상태 메시지</a:t>
            </a:r>
          </a:p>
          <a:p>
            <a:pPr algn="ctr">
              <a:lnSpc>
                <a:spcPct val="110000"/>
              </a:lnSpc>
              <a:spcAft>
                <a:spcPts val="100"/>
              </a:spcAft>
            </a:pPr>
            <a:r>
              <a:rPr sz="1300" b="0">
                <a:solidFill>
                  <a:srgbClr val="556175"/>
                </a:solidFill>
                <a:latin typeface="맑은 고딕"/>
                <a:ea typeface="맑은 고딕"/>
                <a:cs typeface="맑은 고딕"/>
              </a:rPr>
              <a:t>설비의 운전 상태</a:t>
            </a:r>
          </a:p>
          <a:p>
            <a:pPr algn="ctr">
              <a:lnSpc>
                <a:spcPct val="110000"/>
              </a:lnSpc>
              <a:spcAft>
                <a:spcPts val="100"/>
              </a:spcAft>
            </a:pPr>
            <a:r>
              <a:rPr sz="1300" b="0">
                <a:solidFill>
                  <a:srgbClr val="556175"/>
                </a:solidFill>
                <a:latin typeface="맑은 고딕"/>
                <a:ea typeface="맑은 고딕"/>
                <a:cs typeface="맑은 고딕"/>
              </a:rPr>
              <a:t>원격 자동 · 팬 60 %</a:t>
            </a:r>
          </a:p>
        </p:txBody>
      </p:sp>
      <p:sp>
        <p:nvSpPr>
          <p:cNvPr id="9" name="TextBox 8"/>
          <p:cNvSpPr txBox="1"/>
          <p:nvPr/>
        </p:nvSpPr>
        <p:spPr>
          <a:xfrm>
            <a:off x="8070466"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매뉴얼 HM-8</a:t>
            </a:r>
          </a:p>
          <a:p>
            <a:pPr algn="ctr">
              <a:lnSpc>
                <a:spcPct val="110000"/>
              </a:lnSpc>
              <a:spcAft>
                <a:spcPts val="100"/>
              </a:spcAft>
            </a:pPr>
            <a:r>
              <a:rPr sz="1300" b="0">
                <a:solidFill>
                  <a:srgbClr val="556175"/>
                </a:solidFill>
                <a:latin typeface="맑은 고딕"/>
                <a:ea typeface="맑은 고딕"/>
                <a:cs typeface="맑은 고딕"/>
              </a:rPr>
              <a:t>원인 후보와 판별 기준</a:t>
            </a:r>
          </a:p>
          <a:p>
            <a:pPr algn="ctr">
              <a:lnSpc>
                <a:spcPct val="110000"/>
              </a:lnSpc>
              <a:spcAft>
                <a:spcPts val="100"/>
              </a:spcAft>
            </a:pPr>
            <a:r>
              <a:rPr sz="1300" b="0">
                <a:solidFill>
                  <a:srgbClr val="556175"/>
                </a:solidFill>
                <a:latin typeface="맑은 고딕"/>
                <a:ea typeface="맑은 고딕"/>
                <a:cs typeface="맑은 고딕"/>
              </a:rPr>
              <a:t>조치 방법</a:t>
            </a:r>
          </a:p>
        </p:txBody>
      </p:sp>
      <p:sp>
        <p:nvSpPr>
          <p:cNvPr id="10" name="TextBox 9"/>
          <p:cNvSpPr txBox="1"/>
          <p:nvPr/>
        </p:nvSpPr>
        <p:spPr>
          <a:xfrm>
            <a:off x="7743181" y="5244129"/>
            <a:ext cx="370922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MES</a:t>
            </a:r>
          </a:p>
          <a:p>
            <a:pPr algn="ctr">
              <a:lnSpc>
                <a:spcPct val="110000"/>
              </a:lnSpc>
              <a:spcAft>
                <a:spcPts val="100"/>
              </a:spcAft>
            </a:pPr>
            <a:r>
              <a:rPr sz="1300" b="0">
                <a:solidFill>
                  <a:srgbClr val="556175"/>
                </a:solidFill>
                <a:latin typeface="맑은 고딕"/>
                <a:ea typeface="맑은 고딕"/>
                <a:cs typeface="맑은 고딕"/>
              </a:rPr>
              <a:t>Manufacturing Execution System</a:t>
            </a:r>
          </a:p>
          <a:p>
            <a:pPr algn="ctr">
              <a:lnSpc>
                <a:spcPct val="110000"/>
              </a:lnSpc>
              <a:spcAft>
                <a:spcPts val="100"/>
              </a:spcAft>
            </a:pPr>
            <a:r>
              <a:rPr sz="1300" b="0">
                <a:solidFill>
                  <a:srgbClr val="556175"/>
                </a:solidFill>
                <a:latin typeface="맑은 고딕"/>
                <a:ea typeface="맑은 고딕"/>
                <a:cs typeface="맑은 고딕"/>
              </a:rPr>
              <a:t>생산 일정의 제약</a:t>
            </a:r>
          </a:p>
          <a:p>
            <a:pPr algn="ctr">
              <a:lnSpc>
                <a:spcPct val="110000"/>
              </a:lnSpc>
              <a:spcAft>
                <a:spcPts val="100"/>
              </a:spcAft>
            </a:pPr>
            <a:r>
              <a:rPr sz="1300" b="0">
                <a:solidFill>
                  <a:srgbClr val="556175"/>
                </a:solidFill>
                <a:latin typeface="맑은 고딕"/>
                <a:ea typeface="맑은 고딕"/>
                <a:cs typeface="맑은 고딕"/>
              </a:rPr>
              <a:t>긴급 오더 납기까지 5.98시간</a:t>
            </a:r>
          </a:p>
        </p:txBody>
      </p:sp>
      <p:sp>
        <p:nvSpPr>
          <p:cNvPr id="11" name="TextBox 10"/>
          <p:cNvSpPr txBox="1"/>
          <p:nvPr/>
        </p:nvSpPr>
        <p:spPr>
          <a:xfrm>
            <a:off x="4677613" y="429864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매뉴얼의 문장에 들어 있는 것과 없는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판별 기준은 매뉴얼에 문장으로 있으나, 그것을 경보와 태그의 값과 조치에 잇는 연결은 어느 시스템에도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a:t>
            </a:r>
            <a:r>
              <a:rPr sz="1300" b="0">
                <a:solidFill>
                  <a:srgbClr val="E8EEF6"/>
                </a:solidFill>
                <a:latin typeface="Consolas"/>
                <a:ea typeface="맑은 고딕"/>
                <a:cs typeface="맑은 고딕"/>
              </a:rPr>
              <a:t> HM-8.4</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먼지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유막으로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a:t>
            </a:r>
          </a:p>
          <a:p>
            <a:pPr algn="l">
              <a:lnSpc>
                <a:spcPct val="110000"/>
              </a:lnSpc>
              <a:spcAft>
                <a:spcPts val="200"/>
              </a:spcAft>
            </a:pP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흔하다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30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평균이</a:t>
            </a:r>
            <a:r>
              <a:rPr sz="1300" b="0">
                <a:solidFill>
                  <a:srgbClr val="E8EEF6"/>
                </a:solidFill>
                <a:latin typeface="Consolas"/>
                <a:ea typeface="맑은 고딕"/>
                <a:cs typeface="맑은 고딕"/>
              </a:rPr>
              <a:t> 70 % </a:t>
            </a:r>
            <a:r>
              <a:rPr sz="1300" b="0">
                <a:solidFill>
                  <a:srgbClr val="E8EEF6"/>
                </a:solidFill>
                <a:latin typeface="맑은 고딕"/>
                <a:ea typeface="맑은 고딕"/>
                <a:cs typeface="맑은 고딕"/>
              </a:rPr>
              <a:t>미만이고</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평균이</a:t>
            </a:r>
          </a:p>
          <a:p>
            <a:pPr algn="l">
              <a:lnSpc>
                <a:spcPct val="110000"/>
              </a:lnSpc>
              <a:spcAft>
                <a:spcPts val="200"/>
              </a:spcAft>
            </a:pPr>
            <a:r>
              <a:rPr sz="1300" b="0">
                <a:solidFill>
                  <a:srgbClr val="E8EEF6"/>
                </a:solidFill>
                <a:latin typeface="Consolas"/>
                <a:ea typeface="맑은 고딕"/>
                <a:cs typeface="맑은 고딕"/>
              </a:rPr>
              <a:t>0.9 mm/s </a:t>
            </a:r>
            <a:r>
              <a:rPr sz="1300" b="0">
                <a:solidFill>
                  <a:srgbClr val="E8EEF6"/>
                </a:solidFill>
                <a:latin typeface="맑은 고딕"/>
                <a:ea typeface="맑은 고딕"/>
                <a:cs typeface="맑은 고딕"/>
              </a:rPr>
              <a:t>미만</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팬은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이면</a:t>
            </a:r>
          </a:p>
          <a:p>
            <a:pPr algn="l">
              <a:lnSpc>
                <a:spcPct val="110000"/>
              </a:lnSpc>
              <a:spcAft>
                <a:spcPts val="200"/>
              </a:spcAft>
            </a:pP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판정한다</a:t>
            </a: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들어 있는 것</a:t>
            </a:r>
          </a:p>
          <a:p>
            <a:pPr algn="l">
              <a:lnSpc>
                <a:spcPct val="110000"/>
              </a:lnSpc>
              <a:spcAft>
                <a:spcPts val="400"/>
              </a:spcAft>
            </a:pPr>
            <a:r>
              <a:rPr sz="1400" b="0">
                <a:solidFill>
                  <a:srgbClr val="1F2A3A"/>
                </a:solidFill>
                <a:latin typeface="맑은 고딕"/>
                <a:ea typeface="맑은 고딕"/>
                <a:cs typeface="맑은 고딕"/>
              </a:rPr>
              <a:t>원인 후보, 확인할 값, 기준이다. 사람이 읽고 해석해야 하는 문장이다. 아래 세 연결은 없다.</a:t>
            </a:r>
          </a:p>
        </p:txBody>
      </p:sp>
      <p:sp>
        <p:nvSpPr>
          <p:cNvPr id="9" name="TextBox 8"/>
          <p:cNvSpPr txBox="1"/>
          <p:nvPr/>
        </p:nvSpPr>
        <p:spPr>
          <a:xfrm>
            <a:off x="7635240" y="3045332"/>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경보 → 매뉴얼 대목</a:t>
            </a:r>
          </a:p>
          <a:p>
            <a:pPr algn="l">
              <a:lnSpc>
                <a:spcPct val="110000"/>
              </a:lnSpc>
              <a:spcAft>
                <a:spcPts val="400"/>
              </a:spcAft>
            </a:pPr>
            <a:r>
              <a:rPr sz="1400" b="0">
                <a:solidFill>
                  <a:srgbClr val="1F2A3A"/>
                </a:solidFill>
                <a:latin typeface="맑은 고딕"/>
                <a:ea typeface="맑은 고딕"/>
                <a:cs typeface="맑은 고딕"/>
              </a:rPr>
              <a:t>이 경보에는 매뉴얼의 어느 대목이 해당하는가</a:t>
            </a:r>
          </a:p>
        </p:txBody>
      </p:sp>
      <p:sp>
        <p:nvSpPr>
          <p:cNvPr id="10" name="TextBox 9"/>
          <p:cNvSpPr txBox="1"/>
          <p:nvPr/>
        </p:nvSpPr>
        <p:spPr>
          <a:xfrm>
            <a:off x="7635240" y="3991356"/>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기준 → 태그 값</a:t>
            </a:r>
          </a:p>
          <a:p>
            <a:pPr algn="l">
              <a:lnSpc>
                <a:spcPct val="110000"/>
              </a:lnSpc>
              <a:spcAft>
                <a:spcPts val="400"/>
              </a:spcAft>
            </a:pPr>
            <a:r>
              <a:rPr sz="1400" b="0">
                <a:solidFill>
                  <a:srgbClr val="1F2A3A"/>
                </a:solidFill>
                <a:latin typeface="맑은 고딕"/>
                <a:ea typeface="맑은 고딕"/>
                <a:cs typeface="맑은 고딕"/>
              </a:rPr>
              <a:t>그 대목의 기준은 어느 태그의 값과 비교하는가</a:t>
            </a:r>
          </a:p>
        </p:txBody>
      </p:sp>
      <p:sp>
        <p:nvSpPr>
          <p:cNvPr id="11" name="TextBox 10"/>
          <p:cNvSpPr txBox="1"/>
          <p:nvPr/>
        </p:nvSpPr>
        <p:spPr>
          <a:xfrm>
            <a:off x="7635240" y="4937379"/>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원인 → 조치</a:t>
            </a:r>
          </a:p>
          <a:p>
            <a:pPr algn="l">
              <a:lnSpc>
                <a:spcPct val="110000"/>
              </a:lnSpc>
              <a:spcAft>
                <a:spcPts val="400"/>
              </a:spcAft>
            </a:pPr>
            <a:r>
              <a:rPr sz="1400" b="0">
                <a:solidFill>
                  <a:srgbClr val="1F2A3A"/>
                </a:solidFill>
                <a:latin typeface="맑은 고딕"/>
                <a:ea typeface="맑은 고딕"/>
                <a:cs typeface="맑은 고딕"/>
              </a:rPr>
              <a:t>그 원인이면 어떤 조치가 맞는가</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숙련자가 증상에서 조치까지를 잇는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지금까지는 숙련자가 흩어진 정보를 머릿속에서 이어 증상에서 조치에 이르렀다.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증상 확인</a:t>
            </a:r>
          </a:p>
          <a:p>
            <a:pPr algn="ctr">
              <a:lnSpc>
                <a:spcPct val="110000"/>
              </a:lnSpc>
              <a:spcAft>
                <a:spcPts val="400"/>
              </a:spcAft>
            </a:pPr>
            <a:r>
              <a:rPr sz="1250" b="0">
                <a:solidFill>
                  <a:srgbClr val="1F2A3A"/>
                </a:solidFill>
                <a:latin typeface="맑은 고딕"/>
                <a:ea typeface="맑은 고딕"/>
                <a:cs typeface="맑은 고딕"/>
              </a:rPr>
              <a:t>경보와 화면에서</a:t>
            </a:r>
          </a:p>
          <a:p>
            <a:pPr algn="ctr">
              <a:lnSpc>
                <a:spcPct val="110000"/>
              </a:lnSpc>
              <a:spcAft>
                <a:spcPts val="400"/>
              </a:spcAft>
            </a:pPr>
            <a:r>
              <a:rPr sz="1250" b="0">
                <a:solidFill>
                  <a:srgbClr val="1F2A3A"/>
                </a:solidFill>
                <a:latin typeface="맑은 고딕"/>
                <a:ea typeface="맑은 고딕"/>
                <a:cs typeface="맑은 고딕"/>
              </a:rPr>
              <a:t>유온이 오르고</a:t>
            </a:r>
          </a:p>
          <a:p>
            <a:pPr algn="ctr">
              <a:lnSpc>
                <a:spcPct val="110000"/>
              </a:lnSpc>
              <a:spcAft>
                <a:spcPts val="400"/>
              </a:spcAft>
            </a:pPr>
            <a:r>
              <a:rPr sz="1250" b="0">
                <a:solidFill>
                  <a:srgbClr val="1F2A3A"/>
                </a:solidFill>
                <a:latin typeface="맑은 고딕"/>
                <a:ea typeface="맑은 고딕"/>
                <a:cs typeface="맑은 고딕"/>
              </a:rPr>
              <a:t>냉각 효율이</a:t>
            </a:r>
          </a:p>
          <a:p>
            <a:pPr algn="ctr">
              <a:lnSpc>
                <a:spcPct val="110000"/>
              </a:lnSpc>
              <a:spcAft>
                <a:spcPts val="400"/>
              </a:spcAft>
            </a:pPr>
            <a:r>
              <a:rPr sz="1250" b="0">
                <a:solidFill>
                  <a:srgbClr val="1F2A3A"/>
                </a:solidFill>
                <a:latin typeface="맑은 고딕"/>
                <a:ea typeface="맑은 고딕"/>
                <a:cs typeface="맑은 고딕"/>
              </a:rPr>
              <a:t>떨어진 것을 본다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alert-triangle" descr="alert-triangle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고장 유형 짐작</a:t>
            </a:r>
          </a:p>
          <a:p>
            <a:pPr algn="ctr">
              <a:lnSpc>
                <a:spcPct val="110000"/>
              </a:lnSpc>
              <a:spcAft>
                <a:spcPts val="400"/>
              </a:spcAft>
            </a:pPr>
            <a:r>
              <a:rPr sz="1250" b="0">
                <a:solidFill>
                  <a:srgbClr val="1F2A3A"/>
                </a:solidFill>
                <a:latin typeface="맑은 고딕"/>
                <a:ea typeface="맑은 고딕"/>
                <a:cs typeface="맑은 고딕"/>
              </a:rPr>
              <a:t>이 증상이면</a:t>
            </a:r>
          </a:p>
          <a:p>
            <a:pPr algn="ctr">
              <a:lnSpc>
                <a:spcPct val="110000"/>
              </a:lnSpc>
              <a:spcAft>
                <a:spcPts val="400"/>
              </a:spcAft>
            </a:pPr>
            <a:r>
              <a:rPr sz="1250" b="0">
                <a:solidFill>
                  <a:srgbClr val="1F2A3A"/>
                </a:solidFill>
                <a:latin typeface="맑은 고딕"/>
                <a:ea typeface="맑은 고딕"/>
                <a:cs typeface="맑은 고딕"/>
              </a:rPr>
              <a:t>쿨러가 식히는</a:t>
            </a:r>
          </a:p>
          <a:p>
            <a:pPr algn="ctr">
              <a:lnSpc>
                <a:spcPct val="110000"/>
              </a:lnSpc>
              <a:spcAft>
                <a:spcPts val="400"/>
              </a:spcAft>
            </a:pPr>
            <a:r>
              <a:rPr sz="1250" b="0">
                <a:solidFill>
                  <a:srgbClr val="1F2A3A"/>
                </a:solidFill>
                <a:latin typeface="맑은 고딕"/>
                <a:ea typeface="맑은 고딕"/>
                <a:cs typeface="맑은 고딕"/>
              </a:rPr>
              <a:t>능력을 잃은</a:t>
            </a:r>
          </a:p>
          <a:p>
            <a:pPr algn="ctr">
              <a:lnSpc>
                <a:spcPct val="110000"/>
              </a:lnSpc>
              <a:spcAft>
                <a:spcPts val="400"/>
              </a:spcAft>
            </a:pPr>
            <a:r>
              <a:rPr sz="1250" b="0">
                <a:solidFill>
                  <a:srgbClr val="1F2A3A"/>
                </a:solidFill>
                <a:latin typeface="맑은 고딕"/>
                <a:ea typeface="맑은 고딕"/>
                <a:cs typeface="맑은 고딕"/>
              </a:rPr>
              <a:t>것이라고 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712466"/>
            <a:ext cx="731520" cy="731520"/>
          </a:xfrm>
          <a:prstGeom prst="ellipse">
            <a:avLst/>
          </a:prstGeom>
          <a:solidFill>
            <a:srgbClr val="FFFFFF"/>
          </a:solidFill>
          <a:ln>
            <a:noFill/>
          </a:ln>
        </p:spPr>
        <p:txBody>
          <a:bodyPr rtlCol="0" anchor="ctr"/>
          <a:lstStyle/>
          <a:p>
            <a:pPr algn="ctr"/>
          </a:p>
        </p:txBody>
      </p:sp>
      <p:pic>
        <p:nvPicPr>
          <p:cNvPr id="18" name="아이콘:list-check" descr="list-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후보</a:t>
            </a:r>
          </a:p>
          <a:p>
            <a:pPr algn="ctr">
              <a:lnSpc>
                <a:spcPct val="110000"/>
              </a:lnSpc>
              <a:spcAft>
                <a:spcPts val="400"/>
              </a:spcAft>
            </a:pPr>
            <a:r>
              <a:rPr sz="1250" b="0">
                <a:solidFill>
                  <a:srgbClr val="1F2A3A"/>
                </a:solidFill>
                <a:latin typeface="맑은 고딕"/>
                <a:ea typeface="맑은 고딕"/>
                <a:cs typeface="맑은 고딕"/>
              </a:rPr>
              <a:t>경험과 매뉴얼에서</a:t>
            </a:r>
          </a:p>
          <a:p>
            <a:pPr algn="ctr">
              <a:lnSpc>
                <a:spcPct val="110000"/>
              </a:lnSpc>
              <a:spcAft>
                <a:spcPts val="400"/>
              </a:spcAft>
            </a:pPr>
            <a:r>
              <a:rPr sz="1250" b="0">
                <a:solidFill>
                  <a:srgbClr val="1F2A3A"/>
                </a:solidFill>
                <a:latin typeface="맑은 고딕"/>
                <a:ea typeface="맑은 고딕"/>
                <a:cs typeface="맑은 고딕"/>
              </a:rPr>
              <a:t>핀 오염,</a:t>
            </a:r>
          </a:p>
          <a:p>
            <a:pPr algn="ctr">
              <a:lnSpc>
                <a:spcPct val="110000"/>
              </a:lnSpc>
              <a:spcAft>
                <a:spcPts val="400"/>
              </a:spcAft>
            </a:pPr>
            <a:r>
              <a:rPr sz="1250" b="0">
                <a:solidFill>
                  <a:srgbClr val="1F2A3A"/>
                </a:solidFill>
                <a:latin typeface="맑은 고딕"/>
                <a:ea typeface="맑은 고딕"/>
                <a:cs typeface="맑은 고딕"/>
              </a:rPr>
              <a:t>팬 구동 불량,</a:t>
            </a:r>
          </a:p>
          <a:p>
            <a:pPr algn="ctr">
              <a:lnSpc>
                <a:spcPct val="110000"/>
              </a:lnSpc>
              <a:spcAft>
                <a:spcPts val="400"/>
              </a:spcAft>
            </a:pPr>
            <a:r>
              <a:rPr sz="1250" b="0">
                <a:solidFill>
                  <a:srgbClr val="1F2A3A"/>
                </a:solidFill>
                <a:latin typeface="맑은 고딕"/>
                <a:ea typeface="맑은 고딕"/>
                <a:cs typeface="맑은 고딕"/>
              </a:rPr>
              <a:t>주변 온도를 꼽는다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zoom-check" descr="zoom-check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증거 대조</a:t>
            </a:r>
          </a:p>
          <a:p>
            <a:pPr algn="ctr">
              <a:lnSpc>
                <a:spcPct val="110000"/>
              </a:lnSpc>
              <a:spcAft>
                <a:spcPts val="400"/>
              </a:spcAft>
            </a:pPr>
            <a:r>
              <a:rPr sz="1250" b="0">
                <a:solidFill>
                  <a:srgbClr val="1F2A3A"/>
                </a:solidFill>
                <a:latin typeface="맑은 고딕"/>
                <a:ea typeface="맑은 고딕"/>
                <a:cs typeface="맑은 고딕"/>
              </a:rPr>
              <a:t>후보마다 어느</a:t>
            </a:r>
          </a:p>
          <a:p>
            <a:pPr algn="ctr">
              <a:lnSpc>
                <a:spcPct val="110000"/>
              </a:lnSpc>
              <a:spcAft>
                <a:spcPts val="400"/>
              </a:spcAft>
            </a:pPr>
            <a:r>
              <a:rPr sz="1250" b="0">
                <a:solidFill>
                  <a:srgbClr val="1F2A3A"/>
                </a:solidFill>
                <a:latin typeface="맑은 고딕"/>
                <a:ea typeface="맑은 고딕"/>
                <a:cs typeface="맑은 고딕"/>
              </a:rPr>
              <a:t>센서를 볼지 알고</a:t>
            </a:r>
          </a:p>
          <a:p>
            <a:pPr algn="ctr">
              <a:lnSpc>
                <a:spcPct val="110000"/>
              </a:lnSpc>
              <a:spcAft>
                <a:spcPts val="400"/>
              </a:spcAft>
            </a:pPr>
            <a:r>
              <a:rPr sz="1250" b="0">
                <a:solidFill>
                  <a:srgbClr val="1F2A3A"/>
                </a:solidFill>
                <a:latin typeface="맑은 고딕"/>
                <a:ea typeface="맑은 고딕"/>
                <a:cs typeface="맑은 고딕"/>
              </a:rPr>
              <a:t>값을 찾아</a:t>
            </a:r>
          </a:p>
          <a:p>
            <a:pPr algn="ctr">
              <a:lnSpc>
                <a:spcPct val="110000"/>
              </a:lnSpc>
              <a:spcAft>
                <a:spcPts val="400"/>
              </a:spcAft>
            </a:pPr>
            <a:r>
              <a:rPr sz="1250" b="0">
                <a:solidFill>
                  <a:srgbClr val="1F2A3A"/>
                </a:solidFill>
                <a:latin typeface="맑은 고딕"/>
                <a:ea typeface="맑은 고딕"/>
                <a:cs typeface="맑은 고딕"/>
              </a:rPr>
              <a:t>기준과 비교한다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712466"/>
            <a:ext cx="731520" cy="731520"/>
          </a:xfrm>
          <a:prstGeom prst="ellipse">
            <a:avLst/>
          </a:prstGeom>
          <a:solidFill>
            <a:srgbClr val="5CB8F2"/>
          </a:solidFill>
          <a:ln>
            <a:noFill/>
          </a:ln>
        </p:spPr>
        <p:txBody>
          <a:bodyPr rtlCol="0" anchor="ctr"/>
          <a:lstStyle/>
          <a:p>
            <a:pPr algn="ctr"/>
          </a:p>
        </p:txBody>
      </p:sp>
      <p:pic>
        <p:nvPicPr>
          <p:cNvPr id="28" name="아이콘:user-check" descr="user-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 선택</a:t>
            </a:r>
          </a:p>
          <a:p>
            <a:pPr algn="ctr">
              <a:lnSpc>
                <a:spcPct val="110000"/>
              </a:lnSpc>
              <a:spcAft>
                <a:spcPts val="400"/>
              </a:spcAft>
            </a:pPr>
            <a:r>
              <a:rPr sz="1250" b="0">
                <a:solidFill>
                  <a:srgbClr val="1F2A3A"/>
                </a:solidFill>
                <a:latin typeface="맑은 고딕"/>
                <a:ea typeface="맑은 고딕"/>
                <a:cs typeface="맑은 고딕"/>
              </a:rPr>
              <a:t>원인에 맞는</a:t>
            </a:r>
          </a:p>
          <a:p>
            <a:pPr algn="ctr">
              <a:lnSpc>
                <a:spcPct val="110000"/>
              </a:lnSpc>
              <a:spcAft>
                <a:spcPts val="400"/>
              </a:spcAft>
            </a:pPr>
            <a:r>
              <a:rPr sz="1250" b="0">
                <a:solidFill>
                  <a:srgbClr val="1F2A3A"/>
                </a:solidFill>
                <a:latin typeface="맑은 고딕"/>
                <a:ea typeface="맑은 고딕"/>
                <a:cs typeface="맑은 고딕"/>
              </a:rPr>
              <a:t>조치를 고르고</a:t>
            </a:r>
          </a:p>
          <a:p>
            <a:pPr algn="ctr">
              <a:lnSpc>
                <a:spcPct val="110000"/>
              </a:lnSpc>
              <a:spcAft>
                <a:spcPts val="400"/>
              </a:spcAft>
            </a:pPr>
            <a:r>
              <a:rPr sz="1250" b="0">
                <a:solidFill>
                  <a:srgbClr val="1F2A3A"/>
                </a:solidFill>
                <a:latin typeface="맑은 고딕"/>
                <a:ea typeface="맑은 고딕"/>
                <a:cs typeface="맑은 고딕"/>
              </a:rPr>
              <a:t>생산 일정과</a:t>
            </a:r>
          </a:p>
          <a:p>
            <a:pPr algn="ctr">
              <a:lnSpc>
                <a:spcPct val="110000"/>
              </a:lnSpc>
              <a:spcAft>
                <a:spcPts val="400"/>
              </a:spcAft>
            </a:pPr>
            <a:r>
              <a:rPr sz="1250" b="0">
                <a:solidFill>
                  <a:srgbClr val="1F2A3A"/>
                </a:solidFill>
                <a:latin typeface="맑은 고딕"/>
                <a:ea typeface="맑은 고딕"/>
                <a:cs typeface="맑은 고딕"/>
              </a:rPr>
              <a:t>함께 따진다</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머릿속에서 잇는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사람의 머릿속에 있는 연결은 사람마다 다르고 그 사람이 없으면 쓸 수 없으며 컴퓨터가 따라갈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69</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사람마다 다르다</a:t>
            </a:r>
          </a:p>
          <a:p>
            <a:pPr algn="l">
              <a:lnSpc>
                <a:spcPct val="110000"/>
              </a:lnSpc>
              <a:spcAft>
                <a:spcPts val="400"/>
              </a:spcAft>
            </a:pPr>
            <a:r>
              <a:rPr sz="1400" b="0">
                <a:solidFill>
                  <a:srgbClr val="1F2A3A"/>
                </a:solidFill>
                <a:latin typeface="맑은 고딕"/>
                <a:ea typeface="맑은 고딕"/>
                <a:cs typeface="맑은 고딕"/>
              </a:rPr>
              <a:t>• 같은 경보에서 떠올리는 후보와 확인하는 순서가 경험에 따라 달라진다</a:t>
            </a:r>
          </a:p>
          <a:p>
            <a:pPr algn="l">
              <a:lnSpc>
                <a:spcPct val="110000"/>
              </a:lnSpc>
              <a:spcAft>
                <a:spcPts val="400"/>
              </a:spcAft>
            </a:pPr>
            <a:r>
              <a:rPr sz="1400" b="0">
                <a:solidFill>
                  <a:srgbClr val="1F2A3A"/>
                </a:solidFill>
                <a:latin typeface="맑은 고딕"/>
                <a:ea typeface="맑은 고딕"/>
                <a:cs typeface="맑은 고딕"/>
              </a:rPr>
              <a:t>• 판단의 근거가 기록으로 남지 않는다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일관성</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user-off" descr="user-off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자리에 없으면 멈춘다</a:t>
            </a:r>
          </a:p>
          <a:p>
            <a:pPr algn="l">
              <a:lnSpc>
                <a:spcPct val="110000"/>
              </a:lnSpc>
              <a:spcAft>
                <a:spcPts val="400"/>
              </a:spcAft>
            </a:pPr>
            <a:r>
              <a:rPr sz="1400" b="0">
                <a:solidFill>
                  <a:srgbClr val="1F2A3A"/>
                </a:solidFill>
                <a:latin typeface="맑은 고딕"/>
                <a:ea typeface="맑은 고딕"/>
                <a:cs typeface="맑은 고딕"/>
              </a:rPr>
              <a:t>• 숙련자가 없는 시간에는 판단이 늦어진다</a:t>
            </a:r>
          </a:p>
          <a:p>
            <a:pPr algn="l">
              <a:lnSpc>
                <a:spcPct val="110000"/>
              </a:lnSpc>
              <a:spcAft>
                <a:spcPts val="400"/>
              </a:spcAft>
            </a:pPr>
            <a:r>
              <a:rPr sz="1400" b="0">
                <a:solidFill>
                  <a:srgbClr val="1F2A3A"/>
                </a:solidFill>
                <a:latin typeface="맑은 고딕"/>
                <a:ea typeface="맑은 고딕"/>
                <a:cs typeface="맑은 고딕"/>
              </a:rPr>
              <a:t>• 이 사건에서 유온은 경보 뒤 2분이 안 되어 61.8 ℃까지 올랐다</a:t>
            </a:r>
          </a:p>
        </p:txBody>
      </p:sp>
      <p:sp>
        <p:nvSpPr>
          <p:cNvPr id="16" name="Rounded Rectangle 15"/>
          <p:cNvSpPr/>
          <p:nvPr/>
        </p:nvSpPr>
        <p:spPr>
          <a:xfrm>
            <a:off x="4566818" y="5258308"/>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가용성</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robot" descr="robot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따라갈 수 없다</a:t>
            </a:r>
          </a:p>
          <a:p>
            <a:pPr algn="l">
              <a:lnSpc>
                <a:spcPct val="110000"/>
              </a:lnSpc>
              <a:spcAft>
                <a:spcPts val="400"/>
              </a:spcAft>
            </a:pPr>
            <a:r>
              <a:rPr sz="1400" b="0">
                <a:solidFill>
                  <a:srgbClr val="1F2A3A"/>
                </a:solidFill>
                <a:latin typeface="맑은 고딕"/>
                <a:ea typeface="맑은 고딕"/>
                <a:cs typeface="맑은 고딕"/>
              </a:rPr>
              <a:t>• 연결이 어디에도 적혀 있지 않다</a:t>
            </a:r>
          </a:p>
          <a:p>
            <a:pPr algn="l">
              <a:lnSpc>
                <a:spcPct val="110000"/>
              </a:lnSpc>
              <a:spcAft>
                <a:spcPts val="400"/>
              </a:spcAft>
            </a:pPr>
            <a:r>
              <a:rPr sz="1400" b="0">
                <a:solidFill>
                  <a:srgbClr val="1F2A3A"/>
                </a:solidFill>
                <a:latin typeface="맑은 고딕"/>
                <a:ea typeface="맑은 고딕"/>
                <a:cs typeface="맑은 고딕"/>
              </a:rPr>
              <a:t>• 프로그램이나 AI가 같은 길을 밟을 수 없다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자동화</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표와 문서에 적어 두는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표와 문서는 사람이 읽기에는 충분하지만 대상 사이의 연결을 컴퓨터가 따라가기에는 맞지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table" descr="table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표에 적는다</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증상, 원인, 조치를 칸에 나누어 적는다</a:t>
            </a:r>
          </a:p>
          <a:p>
            <a:pPr algn="l">
              <a:lnSpc>
                <a:spcPct val="110000"/>
              </a:lnSpc>
              <a:spcAft>
                <a:spcPts val="600"/>
              </a:spcAft>
            </a:pPr>
            <a:r>
              <a:rPr sz="1450" b="0">
                <a:solidFill>
                  <a:srgbClr val="1F2A3A"/>
                </a:solidFill>
                <a:latin typeface="맑은 고딕"/>
                <a:ea typeface="맑은 고딕"/>
                <a:cs typeface="맑은 고딕"/>
              </a:rPr>
              <a:t>• 한 고장에 원인이 여럿이고 원인마다 증거가 여럿이면 칸이 반복된다</a:t>
            </a:r>
          </a:p>
          <a:p>
            <a:pPr algn="l">
              <a:lnSpc>
                <a:spcPct val="110000"/>
              </a:lnSpc>
              <a:spcAft>
                <a:spcPts val="600"/>
              </a:spcAft>
            </a:pPr>
            <a:r>
              <a:rPr sz="1450" b="0">
                <a:solidFill>
                  <a:srgbClr val="1F2A3A"/>
                </a:solidFill>
                <a:latin typeface="맑은 고딕"/>
                <a:ea typeface="맑은 고딕"/>
                <a:cs typeface="맑은 고딕"/>
              </a:rPr>
              <a:t>• 예: 「쿨러 냉각 성능 상실」이 원인 셋과 확인할 값 CE · VS1 · VS1 · TS4의 네 줄에 반복된다</a:t>
            </a:r>
          </a:p>
          <a:p>
            <a:pPr algn="l">
              <a:lnSpc>
                <a:spcPct val="110000"/>
              </a:lnSpc>
              <a:spcAft>
                <a:spcPts val="600"/>
              </a:spcAft>
            </a:pPr>
            <a:r>
              <a:rPr sz="1450" b="0">
                <a:solidFill>
                  <a:srgbClr val="1F2A3A"/>
                </a:solidFill>
                <a:latin typeface="맑은 고딕"/>
                <a:ea typeface="맑은 고딕"/>
                <a:cs typeface="맑은 고딕"/>
              </a:rPr>
              <a:t>• 여러 표를 건너가며 이어 붙이는 일은 다시 사람의 몫이 된다</a:t>
            </a:r>
          </a:p>
        </p:txBody>
      </p:sp>
      <p:sp>
        <p:nvSpPr>
          <p:cNvPr id="11" name="Rounded Rectangle 10"/>
          <p:cNvSpPr/>
          <p:nvPr/>
        </p:nvSpPr>
        <p:spPr>
          <a:xfrm>
            <a:off x="868680" y="5547296"/>
            <a:ext cx="17221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연결이 칸 밖에 있다</a:t>
            </a:r>
          </a:p>
        </p:txBody>
      </p:sp>
      <p:sp>
        <p:nvSpPr>
          <p:cNvPr id="13" name="Rounded Rectangle 12"/>
          <p:cNvSpPr/>
          <p:nvPr/>
        </p:nvSpPr>
        <p:spPr>
          <a:xfrm>
            <a:off x="6461607" y="1978215"/>
            <a:ext cx="5181447" cy="4026281"/>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179383"/>
            <a:ext cx="731520" cy="731520"/>
          </a:xfrm>
          <a:prstGeom prst="ellipse">
            <a:avLst/>
          </a:prstGeom>
          <a:solidFill>
            <a:srgbClr val="FFFFFF"/>
          </a:solidFill>
          <a:ln>
            <a:noFill/>
          </a:ln>
        </p:spPr>
        <p:txBody>
          <a:bodyPr rtlCol="0" anchor="ctr"/>
          <a:lstStyle/>
          <a:p>
            <a:pPr algn="ctr"/>
          </a:p>
        </p:txBody>
      </p:sp>
      <p:pic>
        <p:nvPicPr>
          <p:cNvPr id="15" name="아이콘:file-text" descr="file-text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문서에 적는다</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매뉴얼 HM-8처럼 문장으로 풀어 적는다</a:t>
            </a:r>
          </a:p>
          <a:p>
            <a:pPr algn="l">
              <a:lnSpc>
                <a:spcPct val="110000"/>
              </a:lnSpc>
              <a:spcAft>
                <a:spcPts val="600"/>
              </a:spcAft>
            </a:pPr>
            <a:r>
              <a:rPr sz="1450" b="0">
                <a:solidFill>
                  <a:srgbClr val="1F2A3A"/>
                </a:solidFill>
                <a:latin typeface="맑은 고딕"/>
                <a:ea typeface="맑은 고딕"/>
                <a:cs typeface="맑은 고딕"/>
              </a:rPr>
              <a:t>• 사람이 읽고 해석해야 판단에 쓸 수 있다</a:t>
            </a:r>
          </a:p>
          <a:p>
            <a:pPr algn="l">
              <a:lnSpc>
                <a:spcPct val="110000"/>
              </a:lnSpc>
              <a:spcAft>
                <a:spcPts val="600"/>
              </a:spcAft>
            </a:pPr>
            <a:r>
              <a:rPr sz="1450" b="0">
                <a:solidFill>
                  <a:srgbClr val="1F2A3A"/>
                </a:solidFill>
                <a:latin typeface="맑은 고딕"/>
                <a:ea typeface="맑은 고딕"/>
                <a:cs typeface="맑은 고딕"/>
              </a:rPr>
              <a:t>• 문서마다 같은 대상을 다른 말로 부르기도 한다</a:t>
            </a:r>
          </a:p>
        </p:txBody>
      </p:sp>
      <p:sp>
        <p:nvSpPr>
          <p:cNvPr id="18" name="Rounded Rectangle 17"/>
          <p:cNvSpPr/>
          <p:nvPr/>
        </p:nvSpPr>
        <p:spPr>
          <a:xfrm>
            <a:off x="6781647" y="5547296"/>
            <a:ext cx="147828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547296"/>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해석이 필요하다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규칙을 프로그램 코드에 넣는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규칙을 코드에 직접 넣으면 컴퓨터는 실행할 수 있지만 지식이 코드 안에 묻혀 고치거나 설명하기 어렵다.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코드로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옮긴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if ts1 &gt; 55 and ce &lt; 70:</a:t>
            </a:r>
          </a:p>
          <a:p>
            <a:pPr algn="l">
              <a:lnSpc>
                <a:spcPct val="110000"/>
              </a:lnSpc>
              <a:spcAft>
                <a:spcPts val="200"/>
              </a:spcAft>
            </a:pPr>
            <a:r>
              <a:rPr sz="1300" b="0">
                <a:solidFill>
                  <a:srgbClr val="E8EEF6"/>
                </a:solidFill>
                <a:latin typeface="Consolas"/>
                <a:ea typeface="맑은 고딕"/>
                <a:cs typeface="맑은 고딕"/>
              </a:rPr>
              <a:t>    if vs1 &gt;= 0.9:</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elif ts4 &gt;= 35:</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주변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상승</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else:</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fan_speed = 100</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되는 일</a:t>
            </a:r>
          </a:p>
          <a:p>
            <a:pPr algn="l">
              <a:lnSpc>
                <a:spcPct val="110000"/>
              </a:lnSpc>
              <a:spcAft>
                <a:spcPts val="400"/>
              </a:spcAft>
            </a:pPr>
            <a:r>
              <a:rPr sz="1400" b="0">
                <a:solidFill>
                  <a:srgbClr val="1F2A3A"/>
                </a:solidFill>
                <a:latin typeface="맑은 고딕"/>
                <a:ea typeface="맑은 고딕"/>
                <a:cs typeface="맑은 고딕"/>
              </a:rPr>
              <a:t>조건과 결과를 그대로 옮겼으므로 컴퓨터가 바로 실행한다.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고치기 어렵다</a:t>
            </a:r>
          </a:p>
          <a:p>
            <a:pPr algn="l">
              <a:lnSpc>
                <a:spcPct val="110000"/>
              </a:lnSpc>
              <a:spcAft>
                <a:spcPts val="400"/>
              </a:spcAft>
            </a:pPr>
            <a:r>
              <a:rPr sz="1400" b="0">
                <a:solidFill>
                  <a:srgbClr val="1F2A3A"/>
                </a:solidFill>
                <a:latin typeface="맑은 고딕"/>
                <a:ea typeface="맑은 고딕"/>
                <a:cs typeface="맑은 고딕"/>
              </a:rPr>
              <a:t>매뉴얼의 기준이나 원인 후보가 바뀔 때마다 개발자가 코드를 고쳐야 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설명하기 어렵다</a:t>
            </a:r>
          </a:p>
          <a:p>
            <a:pPr algn="l">
              <a:lnSpc>
                <a:spcPct val="110000"/>
              </a:lnSpc>
              <a:spcAft>
                <a:spcPts val="400"/>
              </a:spcAft>
            </a:pPr>
            <a:r>
              <a:rPr sz="1400" b="0">
                <a:solidFill>
                  <a:srgbClr val="1F2A3A"/>
                </a:solidFill>
                <a:latin typeface="맑은 고딕"/>
                <a:ea typeface="맑은 고딕"/>
                <a:cs typeface="맑은 고딕"/>
              </a:rPr>
              <a:t>왜 그 원인인지, 근거가 매뉴얼의 어디인지가 코드에 남지 않는다.</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AI에게 그대로 묻는 방식과 지식을 조회하게 하는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AI는 이 설비의 지식과 지금의 값을 갖고 있지 않으므로, 근거가 되는 지식을 조회하게 해야 답을 믿을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그대로 묻는다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일반적인 유압 설비 지식으로 그럴듯한 답을 낸다</a:t>
            </a:r>
          </a:p>
          <a:p>
            <a:pPr algn="l">
              <a:lnSpc>
                <a:spcPct val="110000"/>
              </a:lnSpc>
              <a:spcAft>
                <a:spcPts val="600"/>
              </a:spcAft>
            </a:pPr>
            <a:r>
              <a:rPr sz="1450" b="0">
                <a:solidFill>
                  <a:srgbClr val="1F2A3A"/>
                </a:solidFill>
                <a:latin typeface="맑은 고딕"/>
                <a:ea typeface="맑은 고딕"/>
                <a:cs typeface="맑은 고딕"/>
              </a:rPr>
              <a:t>• 이 설비의 매뉴얼과 판별 기준을 알지 못한다</a:t>
            </a:r>
          </a:p>
          <a:p>
            <a:pPr algn="l">
              <a:lnSpc>
                <a:spcPct val="110000"/>
              </a:lnSpc>
              <a:spcAft>
                <a:spcPts val="600"/>
              </a:spcAft>
            </a:pPr>
            <a:r>
              <a:rPr sz="1450" b="0">
                <a:solidFill>
                  <a:srgbClr val="1F2A3A"/>
                </a:solidFill>
                <a:latin typeface="맑은 고딕"/>
                <a:ea typeface="맑은 고딕"/>
                <a:cs typeface="맑은 고딕"/>
              </a:rPr>
              <a:t>• 지금의 센서 값을 보지 못한다</a:t>
            </a:r>
          </a:p>
          <a:p>
            <a:pPr algn="l">
              <a:lnSpc>
                <a:spcPct val="110000"/>
              </a:lnSpc>
              <a:spcAft>
                <a:spcPts val="600"/>
              </a:spcAft>
            </a:pPr>
            <a:r>
              <a:rPr sz="1450" b="0">
                <a:solidFill>
                  <a:srgbClr val="1F2A3A"/>
                </a:solidFill>
                <a:latin typeface="맑은 고딕"/>
                <a:ea typeface="맑은 고딕"/>
                <a:cs typeface="맑은 고딕"/>
              </a:rPr>
              <a:t>• 답의 근거를 확인할 방법이 없다</a:t>
            </a:r>
          </a:p>
        </p:txBody>
      </p:sp>
      <p:sp>
        <p:nvSpPr>
          <p:cNvPr id="11" name="Rounded Rectangle 10"/>
          <p:cNvSpPr/>
          <p:nvPr/>
        </p:nvSpPr>
        <p:spPr>
          <a:xfrm>
            <a:off x="868680" y="5246433"/>
            <a:ext cx="18745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8745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근거를 확인할 수 없다</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report-search" descr="report-search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지식을 조회하게 한다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적어 둔 관계를 따라 원인 후보와 판별 기준을 찾는다</a:t>
            </a:r>
          </a:p>
          <a:p>
            <a:pPr algn="l">
              <a:lnSpc>
                <a:spcPct val="110000"/>
              </a:lnSpc>
              <a:spcAft>
                <a:spcPts val="600"/>
              </a:spcAft>
            </a:pPr>
            <a:r>
              <a:rPr sz="1450" b="0">
                <a:solidFill>
                  <a:srgbClr val="1F2A3A"/>
                </a:solidFill>
                <a:latin typeface="맑은 고딕"/>
                <a:ea typeface="맑은 고딕"/>
                <a:cs typeface="맑은 고딕"/>
              </a:rPr>
              <a:t>• 기준에 적힌 값을 저장소에서 읽어 대조한다</a:t>
            </a:r>
          </a:p>
          <a:p>
            <a:pPr algn="l">
              <a:lnSpc>
                <a:spcPct val="110000"/>
              </a:lnSpc>
              <a:spcAft>
                <a:spcPts val="600"/>
              </a:spcAft>
            </a:pPr>
            <a:r>
              <a:rPr sz="1450" b="0">
                <a:solidFill>
                  <a:srgbClr val="1F2A3A"/>
                </a:solidFill>
                <a:latin typeface="맑은 고딕"/>
                <a:ea typeface="맑은 고딕"/>
                <a:cs typeface="맑은 고딕"/>
              </a:rPr>
              <a:t>• 값이 오래되었거나 비어 있으면 판정을 보류한다</a:t>
            </a:r>
          </a:p>
          <a:p>
            <a:pPr algn="l">
              <a:lnSpc>
                <a:spcPct val="110000"/>
              </a:lnSpc>
              <a:spcAft>
                <a:spcPts val="600"/>
              </a:spcAft>
            </a:pPr>
            <a:r>
              <a:rPr sz="1450" b="0">
                <a:solidFill>
                  <a:srgbClr val="1F2A3A"/>
                </a:solidFill>
                <a:latin typeface="맑은 고딕"/>
                <a:ea typeface="맑은 고딕"/>
                <a:cs typeface="맑은 고딕"/>
              </a:rPr>
              <a:t>• 어떤 지식과 값으로 판단했는지가 기록에 남는다</a:t>
            </a:r>
          </a:p>
        </p:txBody>
      </p:sp>
      <p:sp>
        <p:nvSpPr>
          <p:cNvPr id="18" name="Rounded Rectangle 17"/>
          <p:cNvSpPr/>
          <p:nvPr/>
        </p:nvSpPr>
        <p:spPr>
          <a:xfrm>
            <a:off x="6781647" y="5246433"/>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근거가 남는다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필요한 것: 사람과 컴퓨터가 함께 읽는 관계의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필요한 것은 대상과 그 사이의 관계를 사람도 검토할 수 있고 컴퓨터도 따라갈 수 있게 적어 둔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73</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사람이 검토한다</a:t>
            </a:r>
          </a:p>
          <a:p>
            <a:pPr algn="l">
              <a:lnSpc>
                <a:spcPct val="110000"/>
              </a:lnSpc>
              <a:spcAft>
                <a:spcPts val="400"/>
              </a:spcAft>
            </a:pPr>
            <a:r>
              <a:rPr sz="1400" b="0">
                <a:solidFill>
                  <a:srgbClr val="1F2A3A"/>
                </a:solidFill>
                <a:latin typeface="맑은 고딕"/>
                <a:ea typeface="맑은 고딕"/>
                <a:cs typeface="맑은 고딕"/>
              </a:rPr>
              <a:t>현장 담당자가 읽고 맞는지 확인할 수 있어야 한다</a:t>
            </a:r>
          </a:p>
        </p:txBody>
      </p:sp>
      <p:sp>
        <p:nvSpPr>
          <p:cNvPr id="10" name="Rounded Rectangle 9"/>
          <p:cNvSpPr/>
          <p:nvPr/>
        </p:nvSpPr>
        <p:spPr>
          <a:xfrm>
            <a:off x="777240" y="4932934"/>
            <a:ext cx="15239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표와 문서의 장점</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cpu" descr="cpu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따라간다</a:t>
            </a:r>
          </a:p>
          <a:p>
            <a:pPr algn="l">
              <a:lnSpc>
                <a:spcPct val="110000"/>
              </a:lnSpc>
              <a:spcAft>
                <a:spcPts val="400"/>
              </a:spcAft>
            </a:pPr>
            <a:r>
              <a:rPr sz="1400" b="0">
                <a:solidFill>
                  <a:srgbClr val="1F2A3A"/>
                </a:solidFill>
                <a:latin typeface="맑은 고딕"/>
                <a:ea typeface="맑은 고딕"/>
                <a:cs typeface="맑은 고딕"/>
              </a:rPr>
              <a:t>증상에서 원인 후보와 조치까지를 프로그램이 찾아갈 수 있어야 한다</a:t>
            </a:r>
          </a:p>
        </p:txBody>
      </p:sp>
      <p:sp>
        <p:nvSpPr>
          <p:cNvPr id="16" name="Rounded Rectangle 15"/>
          <p:cNvSpPr/>
          <p:nvPr/>
        </p:nvSpPr>
        <p:spPr>
          <a:xfrm>
            <a:off x="4566818" y="4932934"/>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장점</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refresh" descr="refresh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프로그램과 분리된다</a:t>
            </a:r>
          </a:p>
          <a:p>
            <a:pPr algn="l">
              <a:lnSpc>
                <a:spcPct val="110000"/>
              </a:lnSpc>
              <a:spcAft>
                <a:spcPts val="400"/>
              </a:spcAft>
            </a:pPr>
            <a:r>
              <a:rPr sz="1400" b="0">
                <a:solidFill>
                  <a:srgbClr val="1F2A3A"/>
                </a:solidFill>
                <a:latin typeface="맑은 고딕"/>
                <a:ea typeface="맑은 고딕"/>
                <a:cs typeface="맑은 고딕"/>
              </a:rPr>
              <a:t>지식이 바뀌면 코드가 아니라 지식을 고칠 수 있어야 한다</a:t>
            </a:r>
          </a:p>
        </p:txBody>
      </p:sp>
      <p:sp>
        <p:nvSpPr>
          <p:cNvPr id="22" name="Rounded Rectangle 21"/>
          <p:cNvSpPr/>
          <p:nvPr/>
        </p:nvSpPr>
        <p:spPr>
          <a:xfrm>
            <a:off x="8356396" y="4932934"/>
            <a:ext cx="18288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약점을 피한다</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대상의 종류, 속성, 관계, 제약을 정의한 지식 모델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대상의 종류, 속성, 관계, 제약을 </a:t>
            </a:r>
            <a:r>
              <a:rPr sz="1600" b="1">
                <a:solidFill>
                  <a:srgbClr val="1A6FC4"/>
                </a:solidFill>
                <a:latin typeface="맑은 고딕"/>
                <a:ea typeface="맑은 고딕"/>
                <a:cs typeface="맑은 고딕"/>
              </a:rPr>
              <a:t>명시적으로 정의</a:t>
            </a:r>
            <a:r>
              <a:rPr sz="1600" b="0">
                <a:solidFill>
                  <a:srgbClr val="556175"/>
                </a:solidFill>
                <a:latin typeface="맑은 고딕"/>
                <a:ea typeface="맑은 고딕"/>
                <a:cs typeface="맑은 고딕"/>
              </a:rPr>
              <a:t>해 사람과 컴퓨터가 같은 뜻으로 쓰게 하는 지식 모델이다.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74</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온톨로지</a:t>
            </a:r>
          </a:p>
          <a:p>
            <a:pPr algn="l">
              <a:lnSpc>
                <a:spcPct val="110000"/>
              </a:lnSpc>
              <a:spcAft>
                <a:spcPts val="200"/>
              </a:spcAft>
            </a:pPr>
            <a:r>
              <a:rPr sz="1150" b="0">
                <a:solidFill>
                  <a:srgbClr val="556175"/>
                </a:solidFill>
                <a:latin typeface="맑은 고딕"/>
                <a:ea typeface="맑은 고딕"/>
                <a:cs typeface="맑은 고딕"/>
              </a:rPr>
              <a:t>Ontology</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분야에 있는 대상의 종류, 속성, 관계, 제약을 명시적으로 정의한 지식 모델이다.</a:t>
            </a:r>
          </a:p>
          <a:p>
            <a:pPr algn="l">
              <a:lnSpc>
                <a:spcPct val="110000"/>
              </a:lnSpc>
              <a:spcAft>
                <a:spcPts val="300"/>
              </a:spcAft>
            </a:pPr>
            <a:r>
              <a:rPr sz="1400" b="0">
                <a:solidFill>
                  <a:srgbClr val="1F2A3A"/>
                </a:solidFill>
                <a:latin typeface="맑은 고딕"/>
                <a:ea typeface="맑은 고딕"/>
                <a:cs typeface="맑은 고딕"/>
              </a:rPr>
              <a:t>정의가 하나이므로 「쿨러 핀 오염」 같은 말이 사람에게도 컴퓨터에게도 같은 뜻이 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온톨로지</a:t>
            </a:r>
          </a:p>
          <a:p>
            <a:pPr algn="l">
              <a:lnSpc>
                <a:spcPct val="110000"/>
              </a:lnSpc>
              <a:spcAft>
                <a:spcPts val="200"/>
              </a:spcAft>
            </a:pPr>
            <a:r>
              <a:rPr sz="1150" b="0">
                <a:solidFill>
                  <a:srgbClr val="556175"/>
                </a:solidFill>
                <a:latin typeface="맑은 고딕"/>
                <a:ea typeface="맑은 고딕"/>
                <a:cs typeface="맑은 고딕"/>
              </a:rPr>
              <a:t>Layer 7</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설비, 구성 요소, 센서, 증상, 고장 유형, 원인, 조치, 근거 문서를 대상으로 삼고 그 사이의 관계를 정의한다.</a:t>
            </a:r>
          </a:p>
          <a:p>
            <a:pPr algn="l">
              <a:lnSpc>
                <a:spcPct val="110000"/>
              </a:lnSpc>
              <a:spcAft>
                <a:spcPts val="300"/>
              </a:spcAft>
            </a:pPr>
            <a:r>
              <a:rPr sz="1400" b="0">
                <a:solidFill>
                  <a:srgbClr val="1F2A3A"/>
                </a:solidFill>
                <a:latin typeface="맑은 고딕"/>
                <a:ea typeface="맑은 고딕"/>
                <a:cs typeface="맑은 고딕"/>
              </a:rPr>
              <a:t>경보 뒤에 원인 후보와 조치를 찾는 일이 이 정의 위에서 이루어진다.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지하철 노선도</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역과 선만 따라가면 처음 가는 사람도 경로를 찾는다.</a:t>
            </a:r>
          </a:p>
          <a:p>
            <a:pPr algn="l">
              <a:lnSpc>
                <a:spcPct val="110000"/>
              </a:lnSpc>
              <a:spcAft>
                <a:spcPts val="300"/>
              </a:spcAft>
            </a:pPr>
            <a:r>
              <a:rPr sz="1400" b="0">
                <a:solidFill>
                  <a:srgbClr val="1F2A3A"/>
                </a:solidFill>
                <a:latin typeface="맑은 고딕"/>
                <a:ea typeface="맑은 고딕"/>
                <a:cs typeface="맑은 고딕"/>
              </a:rPr>
              <a:t>다른 점: 온톨로지의 선에는 「가리킨다」「일으킨다」 같은 뜻과 방향이 있다.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대상을 가리키는 여러 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사람마다 다르게 부르는 말을 하나의 대상에 묶어 누구에게나 같은 뜻이 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75</a:t>
            </a:r>
          </a:p>
        </p:txBody>
      </p:sp>
      <p:sp>
        <p:nvSpPr>
          <p:cNvPr id="6" name="Rounded Rectangle 5"/>
          <p:cNvSpPr/>
          <p:nvPr/>
        </p:nvSpPr>
        <p:spPr>
          <a:xfrm>
            <a:off x="548640"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821178"/>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상승</a:t>
            </a:r>
          </a:p>
          <a:p>
            <a:pPr algn="l">
              <a:lnSpc>
                <a:spcPct val="110000"/>
              </a:lnSpc>
              <a:spcAft>
                <a:spcPts val="400"/>
              </a:spcAft>
            </a:pPr>
            <a:r>
              <a:rPr sz="1400" b="0">
                <a:solidFill>
                  <a:srgbClr val="1F2A3A"/>
                </a:solidFill>
                <a:latin typeface="맑은 고딕"/>
                <a:ea typeface="맑은 고딕"/>
                <a:cs typeface="맑은 고딕"/>
              </a:rPr>
              <a:t>「온도 상승」, 「과열」이라고도 부른다</a:t>
            </a:r>
          </a:p>
        </p:txBody>
      </p:sp>
      <p:sp>
        <p:nvSpPr>
          <p:cNvPr id="10" name="Rounded Rectangle 9"/>
          <p:cNvSpPr/>
          <p:nvPr/>
        </p:nvSpPr>
        <p:spPr>
          <a:xfrm>
            <a:off x="777240" y="4932934"/>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wind" descr="wind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냉각 효율 저하</a:t>
            </a:r>
          </a:p>
          <a:p>
            <a:pPr algn="l">
              <a:lnSpc>
                <a:spcPct val="110000"/>
              </a:lnSpc>
              <a:spcAft>
                <a:spcPts val="400"/>
              </a:spcAft>
            </a:pPr>
            <a:r>
              <a:rPr sz="1400" b="0">
                <a:solidFill>
                  <a:srgbClr val="1F2A3A"/>
                </a:solidFill>
                <a:latin typeface="맑은 고딕"/>
                <a:ea typeface="맑은 고딕"/>
                <a:cs typeface="맑은 고딕"/>
              </a:rPr>
              <a:t>「냉각 불량」이라고도 부른다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진동 증가</a:t>
            </a:r>
          </a:p>
          <a:p>
            <a:pPr algn="l">
              <a:lnSpc>
                <a:spcPct val="110000"/>
              </a:lnSpc>
              <a:spcAft>
                <a:spcPts val="400"/>
              </a:spcAft>
            </a:pPr>
            <a:r>
              <a:rPr sz="1400" b="0">
                <a:solidFill>
                  <a:srgbClr val="1F2A3A"/>
                </a:solidFill>
                <a:latin typeface="맑은 고딕"/>
                <a:ea typeface="맑은 고딕"/>
                <a:cs typeface="맑은 고딕"/>
              </a:rPr>
              <a:t>「떨림」, 「소음」이라고도 부른다</a:t>
            </a:r>
          </a:p>
        </p:txBody>
      </p:sp>
      <p:sp>
        <p:nvSpPr>
          <p:cNvPr id="22" name="Rounded Rectangle 21"/>
          <p:cNvSpPr/>
          <p:nvPr/>
        </p:nvSpPr>
        <p:spPr>
          <a:xfrm>
            <a:off x="8356396" y="493293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관계 그림, 그래프 DB의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그림은 표현이고 그래프 DB는 저장 도구이며, 온톨로지는 무엇을 그리고 저장할 수 있는지를 정한 정의이다.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76</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 그림</a:t>
            </a:r>
          </a:p>
          <a:p>
            <a:pPr algn="l">
              <a:lnSpc>
                <a:spcPct val="110000"/>
              </a:lnSpc>
              <a:spcAft>
                <a:spcPts val="400"/>
              </a:spcAft>
            </a:pPr>
            <a:r>
              <a:rPr sz="1400" b="0">
                <a:solidFill>
                  <a:srgbClr val="1F2A3A"/>
                </a:solidFill>
                <a:latin typeface="맑은 고딕"/>
                <a:ea typeface="맑은 고딕"/>
                <a:cs typeface="맑은 고딕"/>
              </a:rPr>
              <a:t>• 대상과 선을 그려 사람이 보게 한 표현이다</a:t>
            </a:r>
          </a:p>
          <a:p>
            <a:pPr algn="l">
              <a:lnSpc>
                <a:spcPct val="110000"/>
              </a:lnSpc>
              <a:spcAft>
                <a:spcPts val="400"/>
              </a:spcAft>
            </a:pPr>
            <a:r>
              <a:rPr sz="1400" b="0">
                <a:solidFill>
                  <a:srgbClr val="1F2A3A"/>
                </a:solidFill>
                <a:latin typeface="맑은 고딕"/>
                <a:ea typeface="맑은 고딕"/>
                <a:cs typeface="맑은 고딕"/>
              </a:rPr>
              <a:t>• 무엇이든 그릴 수 있어 뜻이 맞는지 검사할 수 없다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표현</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 DB</a:t>
            </a:r>
          </a:p>
          <a:p>
            <a:pPr algn="l">
              <a:lnSpc>
                <a:spcPct val="110000"/>
              </a:lnSpc>
              <a:spcAft>
                <a:spcPts val="400"/>
              </a:spcAft>
            </a:pPr>
            <a:r>
              <a:rPr sz="1400" b="0">
                <a:solidFill>
                  <a:srgbClr val="1F2A3A"/>
                </a:solidFill>
                <a:latin typeface="맑은 고딕"/>
                <a:ea typeface="맑은 고딕"/>
                <a:cs typeface="맑은 고딕"/>
              </a:rPr>
              <a:t>• 대상과 관계를 저장하고 조회하는 데이터베이스이다</a:t>
            </a:r>
          </a:p>
          <a:p>
            <a:pPr algn="l">
              <a:lnSpc>
                <a:spcPct val="110000"/>
              </a:lnSpc>
              <a:spcAft>
                <a:spcPts val="400"/>
              </a:spcAft>
            </a:pPr>
            <a:r>
              <a:rPr sz="1400" b="0">
                <a:solidFill>
                  <a:srgbClr val="1F2A3A"/>
                </a:solidFill>
                <a:latin typeface="맑은 고딕"/>
                <a:ea typeface="맑은 고딕"/>
                <a:cs typeface="맑은 고딕"/>
              </a:rPr>
              <a:t>• 무엇을 넣을지는 정해 주지 않는다</a:t>
            </a:r>
          </a:p>
          <a:p>
            <a:pPr algn="l">
              <a:lnSpc>
                <a:spcPct val="110000"/>
              </a:lnSpc>
              <a:spcAft>
                <a:spcPts val="400"/>
              </a:spcAft>
            </a:pPr>
            <a:r>
              <a:rPr sz="1400" b="0">
                <a:solidFill>
                  <a:srgbClr val="1F2A3A"/>
                </a:solidFill>
                <a:latin typeface="맑은 고딕"/>
                <a:ea typeface="맑은 고딕"/>
                <a:cs typeface="맑은 고딕"/>
              </a:rPr>
              <a:t>• 이 역할에는 Neo4j 같은 것이 있다</a:t>
            </a:r>
          </a:p>
        </p:txBody>
      </p:sp>
      <p:sp>
        <p:nvSpPr>
          <p:cNvPr id="16" name="Rounded Rectangle 15"/>
          <p:cNvSpPr/>
          <p:nvPr/>
        </p:nvSpPr>
        <p:spPr>
          <a:xfrm>
            <a:off x="4566818" y="5258308"/>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저장 도구</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schema" descr="schema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a:t>
            </a:r>
          </a:p>
          <a:p>
            <a:pPr algn="l">
              <a:lnSpc>
                <a:spcPct val="110000"/>
              </a:lnSpc>
              <a:spcAft>
                <a:spcPts val="400"/>
              </a:spcAft>
            </a:pPr>
            <a:r>
              <a:rPr sz="1400" b="0">
                <a:solidFill>
                  <a:srgbClr val="1F2A3A"/>
                </a:solidFill>
                <a:latin typeface="맑은 고딕"/>
                <a:ea typeface="맑은 고딕"/>
                <a:cs typeface="맑은 고딕"/>
              </a:rPr>
              <a:t>• 어떤 종류의 대상과 관계가 있을 수 있는지를 정한 정의이다</a:t>
            </a:r>
          </a:p>
          <a:p>
            <a:pPr algn="l">
              <a:lnSpc>
                <a:spcPct val="110000"/>
              </a:lnSpc>
              <a:spcAft>
                <a:spcPts val="400"/>
              </a:spcAft>
            </a:pPr>
            <a:r>
              <a:rPr sz="1400" b="0">
                <a:solidFill>
                  <a:srgbClr val="1F2A3A"/>
                </a:solidFill>
                <a:latin typeface="맑은 고딕"/>
                <a:ea typeface="맑은 고딕"/>
                <a:cs typeface="맑은 고딕"/>
              </a:rPr>
              <a:t>• 이 정의에 맞춰 실제 대상을 채워 그래프 DB에 저장한 것이 HYD의 지식 그래프이다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정의</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구성 요소: 노드, 관계,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대상을 나타내는 </a:t>
            </a:r>
            <a:r>
              <a:rPr sz="1600" b="1">
                <a:solidFill>
                  <a:srgbClr val="1A6FC4"/>
                </a:solidFill>
                <a:latin typeface="맑은 고딕"/>
                <a:ea typeface="맑은 고딕"/>
                <a:cs typeface="맑은 고딕"/>
              </a:rPr>
              <a:t>노드</a:t>
            </a:r>
            <a:r>
              <a:rPr sz="1600" b="0">
                <a:solidFill>
                  <a:srgbClr val="556175"/>
                </a:solidFill>
                <a:latin typeface="맑은 고딕"/>
                <a:ea typeface="맑은 고딕"/>
                <a:cs typeface="맑은 고딕"/>
              </a:rPr>
              <a:t>와, 이름과 방향을 가진 </a:t>
            </a:r>
            <a:r>
              <a:rPr sz="1600" b="1">
                <a:solidFill>
                  <a:srgbClr val="1A6FC4"/>
                </a:solidFill>
                <a:latin typeface="맑은 고딕"/>
                <a:ea typeface="맑은 고딕"/>
                <a:cs typeface="맑은 고딕"/>
              </a:rPr>
              <a:t>관계</a:t>
            </a:r>
            <a:r>
              <a:rPr sz="1600" b="0">
                <a:solidFill>
                  <a:srgbClr val="556175"/>
                </a:solidFill>
                <a:latin typeface="맑은 고딕"/>
                <a:ea typeface="맑은 고딕"/>
                <a:cs typeface="맑은 고딕"/>
              </a:rPr>
              <a:t>로 이루어진다.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77</a:t>
            </a:r>
          </a:p>
        </p:txBody>
      </p:sp>
      <p:pic>
        <p:nvPicPr>
          <p:cNvPr id="6" name="삽화:노드관계.svg" descr="illust_2221895132255368427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92040"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 하나를 나타낸다</a:t>
            </a:r>
          </a:p>
        </p:txBody>
      </p:sp>
      <p:sp>
        <p:nvSpPr>
          <p:cNvPr id="8" name="TextBox 7"/>
          <p:cNvSpPr txBox="1"/>
          <p:nvPr/>
        </p:nvSpPr>
        <p:spPr>
          <a:xfrm>
            <a:off x="7863185"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대상마다 종류가 있다</a:t>
            </a:r>
          </a:p>
        </p:txBody>
      </p:sp>
      <p:sp>
        <p:nvSpPr>
          <p:cNvPr id="9" name="TextBox 8"/>
          <p:cNvSpPr txBox="1"/>
          <p:nvPr/>
        </p:nvSpPr>
        <p:spPr>
          <a:xfrm>
            <a:off x="4459423" y="2856768"/>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관계(Relationship)</a:t>
            </a:r>
          </a:p>
          <a:p>
            <a:pPr algn="ctr">
              <a:lnSpc>
                <a:spcPct val="110000"/>
              </a:lnSpc>
              <a:spcAft>
                <a:spcPts val="100"/>
              </a:spcAft>
            </a:pPr>
            <a:r>
              <a:rPr sz="1300" b="0">
                <a:solidFill>
                  <a:srgbClr val="556175"/>
                </a:solidFill>
                <a:latin typeface="맑은 고딕"/>
                <a:ea typeface="맑은 고딕"/>
                <a:cs typeface="맑은 고딕"/>
              </a:rPr>
              <a:t>이름: CAUSES(일으킨다)</a:t>
            </a:r>
          </a:p>
        </p:txBody>
      </p:sp>
      <p:sp>
        <p:nvSpPr>
          <p:cNvPr id="10" name="TextBox 9"/>
          <p:cNvSpPr txBox="1"/>
          <p:nvPr/>
        </p:nvSpPr>
        <p:spPr>
          <a:xfrm>
            <a:off x="4568518" y="4133179"/>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방향</a:t>
            </a:r>
          </a:p>
          <a:p>
            <a:pPr algn="ctr">
              <a:lnSpc>
                <a:spcPct val="110000"/>
              </a:lnSpc>
              <a:spcAft>
                <a:spcPts val="100"/>
              </a:spcAft>
            </a:pPr>
            <a:r>
              <a:rPr sz="1300" b="0">
                <a:solidFill>
                  <a:srgbClr val="556175"/>
                </a:solidFill>
                <a:latin typeface="맑은 고딕"/>
                <a:ea typeface="맑은 고딕"/>
                <a:cs typeface="맑은 고딕"/>
              </a:rPr>
              <a:t>원인에서 고장 유형으로</a:t>
            </a:r>
          </a:p>
        </p:txBody>
      </p:sp>
      <p:sp>
        <p:nvSpPr>
          <p:cNvPr id="11" name="TextBox 10"/>
          <p:cNvSpPr txBox="1"/>
          <p:nvPr/>
        </p:nvSpPr>
        <p:spPr>
          <a:xfrm>
            <a:off x="1492040" y="498412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종류: 원인</a:t>
            </a:r>
          </a:p>
        </p:txBody>
      </p:sp>
      <p:sp>
        <p:nvSpPr>
          <p:cNvPr id="12" name="TextBox 11"/>
          <p:cNvSpPr txBox="1"/>
          <p:nvPr/>
        </p:nvSpPr>
        <p:spPr>
          <a:xfrm>
            <a:off x="7754090" y="4984120"/>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종류: 고장 유형</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문장으로 읽는 법: 주어, 서술어, 목적어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화살표가 나가는 쪽을 주어, 관계 이름을 서술어, 들어가는 쪽을 목적어로 읽으면 관계 하나가 문장 하나가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78</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lame" descr="flame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CAUSES</a:t>
            </a:r>
          </a:p>
          <a:p>
            <a:pPr algn="l">
              <a:lnSpc>
                <a:spcPct val="110000"/>
              </a:lnSpc>
              <a:spcAft>
                <a:spcPts val="400"/>
              </a:spcAft>
            </a:pPr>
            <a:r>
              <a:rPr sz="1400" b="0">
                <a:solidFill>
                  <a:srgbClr val="1F2A3A"/>
                </a:solidFill>
                <a:latin typeface="맑은 고딕"/>
                <a:ea typeface="맑은 고딕"/>
                <a:cs typeface="맑은 고딕"/>
              </a:rPr>
              <a:t>• 핀 오염 → 냉각 성능 상실</a:t>
            </a:r>
          </a:p>
          <a:p>
            <a:pPr algn="l">
              <a:lnSpc>
                <a:spcPct val="110000"/>
              </a:lnSpc>
              <a:spcAft>
                <a:spcPts val="400"/>
              </a:spcAft>
            </a:pPr>
            <a:r>
              <a:rPr sz="1400" b="0">
                <a:solidFill>
                  <a:srgbClr val="1F2A3A"/>
                </a:solidFill>
                <a:latin typeface="맑은 고딕"/>
                <a:ea typeface="맑은 고딕"/>
                <a:cs typeface="맑은 고딕"/>
              </a:rPr>
              <a:t>• 핀 오염은 냉각 성능 상실을 일으킨다</a:t>
            </a:r>
          </a:p>
        </p:txBody>
      </p:sp>
      <p:sp>
        <p:nvSpPr>
          <p:cNvPr id="10" name="Rounded Rectangle 9"/>
          <p:cNvSpPr/>
          <p:nvPr/>
        </p:nvSpPr>
        <p:spPr>
          <a:xfrm>
            <a:off x="777240" y="5041392"/>
            <a:ext cx="9753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일으킨다</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arrow-guide" descr="arrow-guid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INDICATES</a:t>
            </a:r>
          </a:p>
          <a:p>
            <a:pPr algn="l">
              <a:lnSpc>
                <a:spcPct val="110000"/>
              </a:lnSpc>
              <a:spcAft>
                <a:spcPts val="400"/>
              </a:spcAft>
            </a:pPr>
            <a:r>
              <a:rPr sz="1400" b="0">
                <a:solidFill>
                  <a:srgbClr val="1F2A3A"/>
                </a:solidFill>
                <a:latin typeface="맑은 고딕"/>
                <a:ea typeface="맑은 고딕"/>
                <a:cs typeface="맑은 고딕"/>
              </a:rPr>
              <a:t>• 유온 상승 → 냉각 성능 상실</a:t>
            </a:r>
          </a:p>
          <a:p>
            <a:pPr algn="l">
              <a:lnSpc>
                <a:spcPct val="110000"/>
              </a:lnSpc>
              <a:spcAft>
                <a:spcPts val="400"/>
              </a:spcAft>
            </a:pPr>
            <a:r>
              <a:rPr sz="1400" b="0">
                <a:solidFill>
                  <a:srgbClr val="1F2A3A"/>
                </a:solidFill>
                <a:latin typeface="맑은 고딕"/>
                <a:ea typeface="맑은 고딕"/>
                <a:cs typeface="맑은 고딕"/>
              </a:rPr>
              <a:t>• 유온 상승은 냉각 성능 상실을 가리킨다</a:t>
            </a:r>
          </a:p>
        </p:txBody>
      </p:sp>
      <p:sp>
        <p:nvSpPr>
          <p:cNvPr id="16" name="Rounded Rectangle 15"/>
          <p:cNvSpPr/>
          <p:nvPr/>
        </p:nvSpPr>
        <p:spPr>
          <a:xfrm>
            <a:off x="4566818" y="5041392"/>
            <a:ext cx="9753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가리킨다</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MITIGATED_BY</a:t>
            </a:r>
          </a:p>
          <a:p>
            <a:pPr algn="l">
              <a:lnSpc>
                <a:spcPct val="110000"/>
              </a:lnSpc>
              <a:spcAft>
                <a:spcPts val="400"/>
              </a:spcAft>
            </a:pPr>
            <a:r>
              <a:rPr sz="1400" b="0">
                <a:solidFill>
                  <a:srgbClr val="1F2A3A"/>
                </a:solidFill>
                <a:latin typeface="맑은 고딕"/>
                <a:ea typeface="맑은 고딕"/>
                <a:cs typeface="맑은 고딕"/>
              </a:rPr>
              <a:t>• 냉각 성능 상실 → 팬 최대 운전</a:t>
            </a:r>
          </a:p>
          <a:p>
            <a:pPr algn="l">
              <a:lnSpc>
                <a:spcPct val="110000"/>
              </a:lnSpc>
              <a:spcAft>
                <a:spcPts val="400"/>
              </a:spcAft>
            </a:pPr>
            <a:r>
              <a:rPr sz="1400" b="0">
                <a:solidFill>
                  <a:srgbClr val="1F2A3A"/>
                </a:solidFill>
                <a:latin typeface="맑은 고딕"/>
                <a:ea typeface="맑은 고딕"/>
                <a:cs typeface="맑은 고딕"/>
              </a:rPr>
              <a:t>• 냉각 성능 상실은 팬 최대 운전으로 완화된다</a:t>
            </a:r>
          </a:p>
        </p:txBody>
      </p:sp>
      <p:sp>
        <p:nvSpPr>
          <p:cNvPr id="22" name="Rounded Rectangle 21"/>
          <p:cNvSpPr/>
          <p:nvPr/>
        </p:nvSpPr>
        <p:spPr>
          <a:xfrm>
            <a:off x="8356396" y="5041392"/>
            <a:ext cx="140512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4051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~으로 완화된다</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 지식 그래프의 실제 관계: 증상 · 고장 유형 · 원인 ·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증상과 원인은 직접 이어지지 않고 </a:t>
            </a:r>
            <a:r>
              <a:rPr sz="1600" b="1">
                <a:solidFill>
                  <a:srgbClr val="1A6FC4"/>
                </a:solidFill>
                <a:latin typeface="맑은 고딕"/>
                <a:ea typeface="맑은 고딕"/>
                <a:cs typeface="맑은 고딕"/>
              </a:rPr>
              <a:t>고장 유형</a:t>
            </a:r>
            <a:r>
              <a:rPr sz="1600" b="0">
                <a:solidFill>
                  <a:srgbClr val="556175"/>
                </a:solidFill>
                <a:latin typeface="맑은 고딕"/>
                <a:ea typeface="맑은 고딕"/>
                <a:cs typeface="맑은 고딕"/>
              </a:rPr>
              <a:t>에서 만나며, 조치도 고장 유형에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79</a:t>
            </a:r>
          </a:p>
        </p:txBody>
      </p:sp>
      <p:pic>
        <p:nvPicPr>
          <p:cNvPr id="6" name="삽화:관계.svg" descr="illust_2277122635793172943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085904"/>
            <a:ext cx="272737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Symptom · 증상</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
        <p:nvSpPr>
          <p:cNvPr id="8" name="TextBox 7"/>
          <p:cNvSpPr txBox="1"/>
          <p:nvPr/>
        </p:nvSpPr>
        <p:spPr>
          <a:xfrm>
            <a:off x="4459423" y="221856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FailureMode · 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8910497" y="408590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 · 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6532227" y="536231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Skill · 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1" name="TextBox 10"/>
          <p:cNvSpPr txBox="1"/>
          <p:nvPr/>
        </p:nvSpPr>
        <p:spPr>
          <a:xfrm>
            <a:off x="3270288"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7175887"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3" name="TextBox 12"/>
          <p:cNvSpPr txBox="1"/>
          <p:nvPr/>
        </p:nvSpPr>
        <p:spPr>
          <a:xfrm>
            <a:off x="3750306" y="422772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4" name="TextBox 13"/>
          <p:cNvSpPr txBox="1"/>
          <p:nvPr/>
        </p:nvSpPr>
        <p:spPr>
          <a:xfrm>
            <a:off x="750195"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직접 잇는 선은 없다</a:t>
            </a:r>
          </a:p>
          <a:p>
            <a:pPr algn="ctr">
              <a:lnSpc>
                <a:spcPct val="110000"/>
              </a:lnSpc>
              <a:spcAft>
                <a:spcPts val="100"/>
              </a:spcAft>
            </a:pPr>
            <a:r>
              <a:rPr sz="1300" b="0">
                <a:solidFill>
                  <a:srgbClr val="556175"/>
                </a:solidFill>
                <a:latin typeface="맑은 고딕"/>
                <a:ea typeface="맑은 고딕"/>
                <a:cs typeface="맑은 고딕"/>
              </a:rPr>
              <a:t>증상과 원인은 고장 유형에서 만난다</a:t>
            </a:r>
          </a:p>
        </p:txBody>
      </p:sp>
      <p:sp>
        <p:nvSpPr>
          <p:cNvPr id="15" name="TextBox 14"/>
          <p:cNvSpPr txBox="1"/>
          <p:nvPr/>
        </p:nvSpPr>
        <p:spPr>
          <a:xfrm>
            <a:off x="8223199"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원인은 여럿 붙는다</a:t>
            </a:r>
          </a:p>
          <a:p>
            <a:pPr algn="ctr">
              <a:lnSpc>
                <a:spcPct val="110000"/>
              </a:lnSpc>
              <a:spcAft>
                <a:spcPts val="100"/>
              </a:spcAft>
            </a:pPr>
            <a:r>
              <a:rPr sz="1300" b="0">
                <a:solidFill>
                  <a:srgbClr val="556175"/>
                </a:solidFill>
                <a:latin typeface="맑은 고딕"/>
                <a:ea typeface="맑은 고딕"/>
                <a:cs typeface="맑은 고딕"/>
              </a:rPr>
              <a:t>핀 오염, 팬 구동 불량, 주변 온도 상승</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관계의 이름이 방향을 정한다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사실도 관계 이름에 따라 화살표의 방향이 달라지므로 이름과 방향은 함께 맞아야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80</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CAUSES로 적는다</a:t>
            </a:r>
          </a:p>
        </p:txBody>
      </p:sp>
      <p:sp>
        <p:nvSpPr>
          <p:cNvPr id="8" name="TextBox 7"/>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핀 오염 → 냉각 성능 상실</a:t>
            </a:r>
          </a:p>
          <a:p>
            <a:pPr algn="l">
              <a:lnSpc>
                <a:spcPct val="110000"/>
              </a:lnSpc>
              <a:spcAft>
                <a:spcPts val="600"/>
              </a:spcAft>
            </a:pPr>
            <a:r>
              <a:rPr sz="1450" b="0">
                <a:solidFill>
                  <a:srgbClr val="1F2A3A"/>
                </a:solidFill>
                <a:latin typeface="맑은 고딕"/>
                <a:ea typeface="맑은 고딕"/>
                <a:cs typeface="맑은 고딕"/>
              </a:rPr>
              <a:t>• 원인이 주어이다</a:t>
            </a:r>
          </a:p>
          <a:p>
            <a:pPr algn="l">
              <a:lnSpc>
                <a:spcPct val="110000"/>
              </a:lnSpc>
              <a:spcAft>
                <a:spcPts val="600"/>
              </a:spcAft>
            </a:pPr>
            <a:r>
              <a:rPr sz="1450" b="0">
                <a:solidFill>
                  <a:srgbClr val="1F2A3A"/>
                </a:solidFill>
                <a:latin typeface="맑은 고딕"/>
                <a:ea typeface="맑은 고딕"/>
                <a:cs typeface="맑은 고딕"/>
              </a:rPr>
              <a:t>• 읽기: 핀 오염은 냉각 성능 상실을 일으킨다</a:t>
            </a:r>
          </a:p>
          <a:p>
            <a:pPr algn="l">
              <a:lnSpc>
                <a:spcPct val="110000"/>
              </a:lnSpc>
              <a:spcAft>
                <a:spcPts val="600"/>
              </a:spcAft>
            </a:pPr>
            <a:r>
              <a:rPr sz="1450" b="0">
                <a:solidFill>
                  <a:srgbClr val="1F2A3A"/>
                </a:solidFill>
                <a:latin typeface="맑은 고딕"/>
                <a:ea typeface="맑은 고딕"/>
                <a:cs typeface="맑은 고딕"/>
              </a:rPr>
              <a:t>• HYD의 지식 그래프가 쓰는 이름이다</a:t>
            </a:r>
          </a:p>
        </p:txBody>
      </p:sp>
      <p:sp>
        <p:nvSpPr>
          <p:cNvPr id="9" name="Rounded Rectangle 8"/>
          <p:cNvSpPr/>
          <p:nvPr/>
        </p:nvSpPr>
        <p:spPr>
          <a:xfrm>
            <a:off x="868680" y="5096002"/>
            <a:ext cx="156972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 고장 유형</a:t>
            </a:r>
          </a:p>
        </p:txBody>
      </p:sp>
      <p:sp>
        <p:nvSpPr>
          <p:cNvPr id="11" name="Rounded Rectangle 10"/>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CAUSED_BY로 적는다</a:t>
            </a:r>
          </a:p>
        </p:txBody>
      </p:sp>
      <p:sp>
        <p:nvSpPr>
          <p:cNvPr id="13" name="TextBox 12"/>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성능 상실 → 핀 오염</a:t>
            </a:r>
          </a:p>
          <a:p>
            <a:pPr algn="l">
              <a:lnSpc>
                <a:spcPct val="110000"/>
              </a:lnSpc>
              <a:spcAft>
                <a:spcPts val="600"/>
              </a:spcAft>
            </a:pPr>
            <a:r>
              <a:rPr sz="1450" b="0">
                <a:solidFill>
                  <a:srgbClr val="1F2A3A"/>
                </a:solidFill>
                <a:latin typeface="맑은 고딕"/>
                <a:ea typeface="맑은 고딕"/>
                <a:cs typeface="맑은 고딕"/>
              </a:rPr>
              <a:t>• 고장 유형이 주어이다</a:t>
            </a:r>
          </a:p>
          <a:p>
            <a:pPr algn="l">
              <a:lnSpc>
                <a:spcPct val="110000"/>
              </a:lnSpc>
              <a:spcAft>
                <a:spcPts val="600"/>
              </a:spcAft>
            </a:pPr>
            <a:r>
              <a:rPr sz="1450" b="0">
                <a:solidFill>
                  <a:srgbClr val="1F2A3A"/>
                </a:solidFill>
                <a:latin typeface="맑은 고딕"/>
                <a:ea typeface="맑은 고딕"/>
                <a:cs typeface="맑은 고딕"/>
              </a:rPr>
              <a:t>• 읽기: 냉각 성능 상실은 핀 오염으로 일어난다</a:t>
            </a:r>
          </a:p>
          <a:p>
            <a:pPr algn="l">
              <a:lnSpc>
                <a:spcPct val="110000"/>
              </a:lnSpc>
              <a:spcAft>
                <a:spcPts val="600"/>
              </a:spcAft>
            </a:pPr>
            <a:r>
              <a:rPr sz="1450" b="0">
                <a:solidFill>
                  <a:srgbClr val="1F2A3A"/>
                </a:solidFill>
                <a:latin typeface="맑은 고딕"/>
                <a:ea typeface="맑은 고딕"/>
                <a:cs typeface="맑은 고딕"/>
              </a:rPr>
              <a:t>• 같은 사실이며 방향만 반대이다</a:t>
            </a:r>
          </a:p>
        </p:txBody>
      </p:sp>
      <p:sp>
        <p:nvSpPr>
          <p:cNvPr id="14" name="Rounded Rectangle 13"/>
          <p:cNvSpPr/>
          <p:nvPr/>
        </p:nvSpPr>
        <p:spPr>
          <a:xfrm>
            <a:off x="6781647" y="5096002"/>
            <a:ext cx="15697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고장 유형 → 원인</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①: 경보에서 고장 유형까지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컴퓨터는 경보에 실려 온 패턴 이름에서 출발해 DETECTS와 INDICATES를 따라 고장 유형에 이른다.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81</a:t>
            </a:r>
          </a:p>
        </p:txBody>
      </p:sp>
      <p:pic>
        <p:nvPicPr>
          <p:cNvPr id="6" name="삽화:경로_1.svg" descr="illust_637610862877761637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39285"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AnomalyPattern</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375709"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Symptom</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9" name="TextBox 8"/>
          <p:cNvSpPr txBox="1"/>
          <p:nvPr/>
        </p:nvSpPr>
        <p:spPr>
          <a:xfrm>
            <a:off x="4104864" y="1982190"/>
            <a:ext cx="1527329"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FailureMode</a:t>
            </a:r>
          </a:p>
          <a:p>
            <a:pPr algn="ctr">
              <a:lnSpc>
                <a:spcPct val="110000"/>
              </a:lnSpc>
              <a:spcAft>
                <a:spcPts val="100"/>
              </a:spcAft>
            </a:pPr>
            <a:r>
              <a:rPr sz="1300" b="0">
                <a:solidFill>
                  <a:srgbClr val="556175"/>
                </a:solidFill>
                <a:latin typeface="맑은 고딕"/>
                <a:ea typeface="맑은 고딕"/>
                <a:cs typeface="맑은 고딕"/>
              </a:rPr>
              <a:t>쿨러 냉각</a:t>
            </a:r>
          </a:p>
          <a:p>
            <a:pPr algn="ctr">
              <a:lnSpc>
                <a:spcPct val="110000"/>
              </a:lnSpc>
              <a:spcAft>
                <a:spcPts val="100"/>
              </a:spcAft>
            </a:pPr>
            <a:r>
              <a:rPr sz="1300" b="0">
                <a:solidFill>
                  <a:srgbClr val="556175"/>
                </a:solidFill>
                <a:latin typeface="맑은 고딕"/>
                <a:ea typeface="맑은 고딕"/>
                <a:cs typeface="맑은 고딕"/>
              </a:rPr>
              <a:t>성능 상실</a:t>
            </a:r>
          </a:p>
        </p:txBody>
      </p:sp>
      <p:sp>
        <p:nvSpPr>
          <p:cNvPr id="10" name="TextBox 9"/>
          <p:cNvSpPr txBox="1"/>
          <p:nvPr/>
        </p:nvSpPr>
        <p:spPr>
          <a:xfrm>
            <a:off x="1721140" y="3944081"/>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DETECTS</a:t>
            </a:r>
          </a:p>
          <a:p>
            <a:pPr algn="ctr">
              <a:lnSpc>
                <a:spcPct val="110000"/>
              </a:lnSpc>
              <a:spcAft>
                <a:spcPts val="100"/>
              </a:spcAft>
            </a:pPr>
            <a:r>
              <a:rPr sz="1300" b="0">
                <a:solidFill>
                  <a:srgbClr val="556175"/>
                </a:solidFill>
                <a:latin typeface="맑은 고딕"/>
                <a:ea typeface="맑은 고딕"/>
                <a:cs typeface="맑은 고딕"/>
              </a:rPr>
              <a:t>감지한다</a:t>
            </a:r>
          </a:p>
        </p:txBody>
      </p:sp>
      <p:sp>
        <p:nvSpPr>
          <p:cNvPr id="11" name="TextBox 10"/>
          <p:cNvSpPr txBox="1"/>
          <p:nvPr/>
        </p:nvSpPr>
        <p:spPr>
          <a:xfrm>
            <a:off x="3292107" y="3944081"/>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913837" y="4747747"/>
            <a:ext cx="316375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출발점은 경보이다</a:t>
            </a:r>
          </a:p>
          <a:p>
            <a:pPr algn="ctr">
              <a:lnSpc>
                <a:spcPct val="110000"/>
              </a:lnSpc>
              <a:spcAft>
                <a:spcPts val="100"/>
              </a:spcAft>
            </a:pPr>
            <a:r>
              <a:rPr sz="1300" b="0">
                <a:solidFill>
                  <a:srgbClr val="556175"/>
                </a:solidFill>
                <a:latin typeface="맑은 고딕"/>
                <a:ea typeface="맑은 고딕"/>
                <a:cs typeface="맑은 고딕"/>
              </a:rPr>
              <a:t>경보에 패턴 이름이 실려 온다</a:t>
            </a:r>
          </a:p>
          <a:p>
            <a:pPr algn="ctr">
              <a:lnSpc>
                <a:spcPct val="110000"/>
              </a:lnSpc>
              <a:spcAft>
                <a:spcPts val="100"/>
              </a:spcAft>
            </a:pPr>
            <a:r>
              <a:rPr sz="1300" b="0">
                <a:solidFill>
                  <a:srgbClr val="556175"/>
                </a:solidFill>
                <a:latin typeface="맑은 고딕"/>
                <a:ea typeface="맑은 고딕"/>
                <a:cs typeface="맑은 고딕"/>
              </a:rPr>
              <a:t>COOLER_DEGRADATION</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②: 원인 후보와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고장 유형으로 들어오는 CAUSES를 거슬러 원인 후보를 모으고, 후보마다 EVIDENCED_BY로 확인할 증거를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82</a:t>
            </a:r>
          </a:p>
        </p:txBody>
      </p:sp>
      <p:pic>
        <p:nvPicPr>
          <p:cNvPr id="6" name="삽화:경로_2.svg" descr="illust_2672060233385125983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213959" y="2549484"/>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고장 유형</a:t>
            </a:r>
          </a:p>
        </p:txBody>
      </p:sp>
      <p:sp>
        <p:nvSpPr>
          <p:cNvPr id="8" name="TextBox 7"/>
          <p:cNvSpPr txBox="1"/>
          <p:nvPr/>
        </p:nvSpPr>
        <p:spPr>
          <a:xfrm>
            <a:off x="5277635" y="1982190"/>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9" name="TextBox 8"/>
          <p:cNvSpPr txBox="1"/>
          <p:nvPr/>
        </p:nvSpPr>
        <p:spPr>
          <a:xfrm>
            <a:off x="6826783" y="507866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EVIDENCED_BY</a:t>
            </a:r>
          </a:p>
          <a:p>
            <a:pPr algn="ctr">
              <a:lnSpc>
                <a:spcPct val="110000"/>
              </a:lnSpc>
              <a:spcAft>
                <a:spcPts val="100"/>
              </a:spcAft>
            </a:pPr>
            <a:r>
              <a:rPr sz="1300" b="0">
                <a:solidFill>
                  <a:srgbClr val="556175"/>
                </a:solidFill>
                <a:latin typeface="맑은 고딕"/>
                <a:ea typeface="맑은 고딕"/>
                <a:cs typeface="맑은 고딕"/>
              </a:rPr>
              <a:t>증거로 확인한다</a:t>
            </a:r>
          </a:p>
        </p:txBody>
      </p:sp>
      <p:sp>
        <p:nvSpPr>
          <p:cNvPr id="10" name="TextBox 9"/>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a:t>
            </a:r>
          </a:p>
        </p:txBody>
      </p:sp>
      <p:sp>
        <p:nvSpPr>
          <p:cNvPr id="11" name="TextBox 10"/>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a:t>
            </a:r>
          </a:p>
        </p:txBody>
      </p:sp>
      <p:sp>
        <p:nvSpPr>
          <p:cNvPr id="12" name="TextBox 11"/>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a:t>
            </a:r>
          </a:p>
        </p:txBody>
      </p:sp>
      <p:sp>
        <p:nvSpPr>
          <p:cNvPr id="13" name="TextBox 12"/>
          <p:cNvSpPr txBox="1"/>
          <p:nvPr/>
        </p:nvSpPr>
        <p:spPr>
          <a:xfrm>
            <a:off x="804742" y="4464100"/>
            <a:ext cx="338194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원인(Cause)과 증거(Evidence)</a:t>
            </a:r>
          </a:p>
          <a:p>
            <a:pPr algn="ctr">
              <a:lnSpc>
                <a:spcPct val="110000"/>
              </a:lnSpc>
              <a:spcAft>
                <a:spcPts val="100"/>
              </a:spcAft>
            </a:pPr>
            <a:r>
              <a:rPr sz="1300" b="0">
                <a:solidFill>
                  <a:srgbClr val="556175"/>
                </a:solidFill>
                <a:latin typeface="맑은 고딕"/>
                <a:ea typeface="맑은 고딕"/>
                <a:cs typeface="맑은 고딕"/>
              </a:rPr>
              <a:t>들어오는 CAUSES를 거슬러 원인을 찾고</a:t>
            </a:r>
          </a:p>
          <a:p>
            <a:pPr algn="ctr">
              <a:lnSpc>
                <a:spcPct val="110000"/>
              </a:lnSpc>
              <a:spcAft>
                <a:spcPts val="100"/>
              </a:spcAft>
            </a:pPr>
            <a:r>
              <a:rPr sz="1300" b="0">
                <a:solidFill>
                  <a:srgbClr val="556175"/>
                </a:solidFill>
                <a:latin typeface="맑은 고딕"/>
                <a:ea typeface="맑은 고딕"/>
                <a:cs typeface="맑은 고딕"/>
              </a:rPr>
              <a:t>EVIDENCED_BY로 확인할 증거를 얻는다</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③: 확인된 원인과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확인해 MITIGATED_BY로 조치에 이르며, 기준은 그래프에 두고 바뀌는 값은 저장소에서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83</a:t>
            </a:r>
          </a:p>
        </p:txBody>
      </p:sp>
      <p:pic>
        <p:nvPicPr>
          <p:cNvPr id="6" name="삽화:경로_3.svg" descr="illust_2988694343711489158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잰 값 46.2 % · 0.575 → 맞음</a:t>
            </a:r>
          </a:p>
        </p:txBody>
      </p:sp>
      <p:sp>
        <p:nvSpPr>
          <p:cNvPr id="8" name="TextBox 7"/>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잰 값 0.575 → 아님</a:t>
            </a:r>
          </a:p>
        </p:txBody>
      </p:sp>
      <p:sp>
        <p:nvSpPr>
          <p:cNvPr id="9" name="TextBox 8"/>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잰 값 28 ℃ → 아님</a:t>
            </a:r>
          </a:p>
        </p:txBody>
      </p:sp>
      <p:sp>
        <p:nvSpPr>
          <p:cNvPr id="10" name="TextBox 9"/>
          <p:cNvSpPr txBox="1"/>
          <p:nvPr/>
        </p:nvSpPr>
        <p:spPr>
          <a:xfrm>
            <a:off x="2822999" y="4345914"/>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1" name="TextBox 10"/>
          <p:cNvSpPr txBox="1"/>
          <p:nvPr/>
        </p:nvSpPr>
        <p:spPr>
          <a:xfrm>
            <a:off x="5386730" y="5220492"/>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Skill</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2" name="TextBox 11"/>
          <p:cNvSpPr txBox="1"/>
          <p:nvPr/>
        </p:nvSpPr>
        <p:spPr>
          <a:xfrm>
            <a:off x="7732271" y="5267766"/>
            <a:ext cx="370922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값은 그래프 밖에서 읽는다</a:t>
            </a:r>
          </a:p>
          <a:p>
            <a:pPr algn="ctr">
              <a:lnSpc>
                <a:spcPct val="110000"/>
              </a:lnSpc>
              <a:spcAft>
                <a:spcPts val="100"/>
              </a:spcAft>
            </a:pPr>
            <a:r>
              <a:rPr sz="1300" b="0">
                <a:solidFill>
                  <a:srgbClr val="556175"/>
                </a:solidFill>
                <a:latin typeface="맑은 고딕"/>
                <a:ea typeface="맑은 고딕"/>
                <a:cs typeface="맑은 고딕"/>
              </a:rPr>
              <a:t>기준은 지식 그래프에 두고</a:t>
            </a:r>
          </a:p>
          <a:p>
            <a:pPr algn="ctr">
              <a:lnSpc>
                <a:spcPct val="110000"/>
              </a:lnSpc>
              <a:spcAft>
                <a:spcPts val="100"/>
              </a:spcAft>
            </a:pPr>
            <a:r>
              <a:rPr sz="1300" b="0">
                <a:solidFill>
                  <a:srgbClr val="556175"/>
                </a:solidFill>
                <a:latin typeface="맑은 고딕"/>
                <a:ea typeface="맑은 고딕"/>
                <a:cs typeface="맑은 고딕"/>
              </a:rPr>
              <a:t>계속 바뀌는 값은 시계열 저장소에서 읽는다</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온톨로지가 정의하는 네 가지: 종류, 속성, 관계, 제약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 본 노드와 관계는 온톨로지의 종류와 관계에 해당하며, 여기에 속성과 제약이 더해져 정의가 완성된다.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84</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종류</a:t>
            </a:r>
          </a:p>
          <a:p>
            <a:pPr algn="l">
              <a:lnSpc>
                <a:spcPct val="110000"/>
              </a:lnSpc>
              <a:spcAft>
                <a:spcPts val="400"/>
              </a:spcAft>
            </a:pPr>
            <a:r>
              <a:rPr sz="1350" b="0">
                <a:solidFill>
                  <a:srgbClr val="1F2A3A"/>
                </a:solidFill>
                <a:latin typeface="맑은 고딕"/>
                <a:ea typeface="맑은 고딕"/>
                <a:cs typeface="맑은 고딕"/>
              </a:rPr>
              <a:t>• 어떤 대상이 있는가를 정한다</a:t>
            </a:r>
          </a:p>
          <a:p>
            <a:pPr algn="l">
              <a:lnSpc>
                <a:spcPct val="110000"/>
              </a:lnSpc>
              <a:spcAft>
                <a:spcPts val="400"/>
              </a:spcAft>
            </a:pPr>
            <a:r>
              <a:rPr sz="1350" b="0">
                <a:solidFill>
                  <a:srgbClr val="1F2A3A"/>
                </a:solidFill>
                <a:latin typeface="맑은 고딕"/>
                <a:ea typeface="맑은 고딕"/>
                <a:cs typeface="맑은 고딕"/>
              </a:rPr>
              <a:t>• 설비, 센서, 증상, 고장 유형, 원인, 조치</a:t>
            </a:r>
          </a:p>
        </p:txBody>
      </p:sp>
      <p:sp>
        <p:nvSpPr>
          <p:cNvPr id="10" name="Rounded Rectangle 9"/>
          <p:cNvSpPr/>
          <p:nvPr/>
        </p:nvSpPr>
        <p:spPr>
          <a:xfrm>
            <a:off x="777240" y="5134356"/>
            <a:ext cx="1621536"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62153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핀 오염 = 원인</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adjustments-horizontal" descr="adjustments-horizontal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속성</a:t>
            </a:r>
          </a:p>
          <a:p>
            <a:pPr algn="l">
              <a:lnSpc>
                <a:spcPct val="110000"/>
              </a:lnSpc>
              <a:spcAft>
                <a:spcPts val="400"/>
              </a:spcAft>
            </a:pPr>
            <a:r>
              <a:rPr sz="1350" b="0">
                <a:solidFill>
                  <a:srgbClr val="1F2A3A"/>
                </a:solidFill>
                <a:latin typeface="맑은 고딕"/>
                <a:ea typeface="맑은 고딕"/>
                <a:cs typeface="맑은 고딕"/>
              </a:rPr>
              <a:t>• 대상이 갖는 값의 칸을 정한다</a:t>
            </a:r>
          </a:p>
          <a:p>
            <a:pPr algn="l">
              <a:lnSpc>
                <a:spcPct val="110000"/>
              </a:lnSpc>
              <a:spcAft>
                <a:spcPts val="400"/>
              </a:spcAft>
            </a:pPr>
            <a:r>
              <a:rPr sz="1350" b="0">
                <a:solidFill>
                  <a:srgbClr val="1F2A3A"/>
                </a:solidFill>
                <a:latin typeface="맑은 고딕"/>
                <a:ea typeface="맑은 고딕"/>
                <a:cs typeface="맑은 고딕"/>
              </a:rPr>
              <a:t>• 유온이라는 대상의 단위, 정상값, 한계</a:t>
            </a:r>
          </a:p>
        </p:txBody>
      </p:sp>
      <p:sp>
        <p:nvSpPr>
          <p:cNvPr id="16" name="Rounded Rectangle 15"/>
          <p:cNvSpPr/>
          <p:nvPr/>
        </p:nvSpPr>
        <p:spPr>
          <a:xfrm>
            <a:off x="3619423" y="5134356"/>
            <a:ext cx="158800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58800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 · 48 · 65</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arrows-right" descr="arrows-right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a:t>
            </a:r>
          </a:p>
          <a:p>
            <a:pPr algn="l">
              <a:lnSpc>
                <a:spcPct val="110000"/>
              </a:lnSpc>
              <a:spcAft>
                <a:spcPts val="400"/>
              </a:spcAft>
            </a:pPr>
            <a:r>
              <a:rPr sz="1350" b="0">
                <a:solidFill>
                  <a:srgbClr val="1F2A3A"/>
                </a:solidFill>
                <a:latin typeface="맑은 고딕"/>
                <a:ea typeface="맑은 고딕"/>
                <a:cs typeface="맑은 고딕"/>
              </a:rPr>
              <a:t>• 대상 사이의 이름 있는 연결을 정한다</a:t>
            </a:r>
          </a:p>
          <a:p>
            <a:pPr algn="l">
              <a:lnSpc>
                <a:spcPct val="110000"/>
              </a:lnSpc>
              <a:spcAft>
                <a:spcPts val="400"/>
              </a:spcAft>
            </a:pPr>
            <a:r>
              <a:rPr sz="1350" b="0">
                <a:solidFill>
                  <a:srgbClr val="1F2A3A"/>
                </a:solidFill>
                <a:latin typeface="맑은 고딕"/>
                <a:ea typeface="맑은 고딕"/>
                <a:cs typeface="맑은 고딕"/>
              </a:rPr>
              <a:t>• CAUSES, INDICATES, MITIGATED_BY</a:t>
            </a:r>
          </a:p>
        </p:txBody>
      </p:sp>
      <p:sp>
        <p:nvSpPr>
          <p:cNvPr id="22" name="Rounded Rectangle 21"/>
          <p:cNvSpPr/>
          <p:nvPr/>
        </p:nvSpPr>
        <p:spPr>
          <a:xfrm>
            <a:off x="6461607" y="5134356"/>
            <a:ext cx="125272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2527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일으킨다</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lock" descr="lock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제약</a:t>
            </a:r>
          </a:p>
          <a:p>
            <a:pPr algn="l">
              <a:lnSpc>
                <a:spcPct val="110000"/>
              </a:lnSpc>
              <a:spcAft>
                <a:spcPts val="400"/>
              </a:spcAft>
            </a:pPr>
            <a:r>
              <a:rPr sz="1350" b="0">
                <a:solidFill>
                  <a:srgbClr val="1F2A3A"/>
                </a:solidFill>
                <a:latin typeface="맑은 고딕"/>
                <a:ea typeface="맑은 고딕"/>
                <a:cs typeface="맑은 고딕"/>
              </a:rPr>
              <a:t>• 지켜야 하는 조건을 정한다</a:t>
            </a:r>
          </a:p>
          <a:p>
            <a:pPr algn="l">
              <a:lnSpc>
                <a:spcPct val="110000"/>
              </a:lnSpc>
              <a:spcAft>
                <a:spcPts val="400"/>
              </a:spcAft>
            </a:pPr>
            <a:r>
              <a:rPr sz="1350" b="0">
                <a:solidFill>
                  <a:srgbClr val="1F2A3A"/>
                </a:solidFill>
                <a:latin typeface="맑은 고딕"/>
                <a:ea typeface="맑은 고딕"/>
                <a:cs typeface="맑은 고딕"/>
              </a:rPr>
              <a:t>• CAUSES는 원인에서 고장 유형으로만 잇는다</a:t>
            </a:r>
          </a:p>
        </p:txBody>
      </p:sp>
      <p:sp>
        <p:nvSpPr>
          <p:cNvPr id="28" name="Rounded Rectangle 27"/>
          <p:cNvSpPr/>
          <p:nvPr/>
        </p:nvSpPr>
        <p:spPr>
          <a:xfrm>
            <a:off x="9303791" y="5134356"/>
            <a:ext cx="1496568"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양 끝의 종류</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사건으로 본 종류, 속성, 관계, 제약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가지 정의가 함께 있을 때 값의 뜻이 정해지고, 관계의 뜻이 이름으로 갈리며, 정의에 어긋난 연결이 걸러진다.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85</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종류</a:t>
            </a:r>
          </a:p>
          <a:p>
            <a:pPr algn="l">
              <a:lnSpc>
                <a:spcPct val="110000"/>
              </a:lnSpc>
              <a:spcAft>
                <a:spcPts val="200"/>
              </a:spcAft>
            </a:pPr>
            <a:r>
              <a:rPr sz="1150" b="0">
                <a:solidFill>
                  <a:srgbClr val="556175"/>
                </a:solidFill>
                <a:latin typeface="맑은 고딕"/>
                <a:ea typeface="맑은 고딕"/>
                <a:cs typeface="맑은 고딕"/>
              </a:rPr>
              <a:t>대상의 갈래</a:t>
            </a:r>
          </a:p>
        </p:txBody>
      </p:sp>
      <p:sp>
        <p:nvSpPr>
          <p:cNvPr id="8" name="TextBox 7"/>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온톨로지가 다루는 대상의 갈래이다.</a:t>
            </a:r>
          </a:p>
          <a:p>
            <a:pPr algn="l">
              <a:lnSpc>
                <a:spcPct val="110000"/>
              </a:lnSpc>
              <a:spcAft>
                <a:spcPts val="300"/>
              </a:spcAft>
            </a:pPr>
            <a:r>
              <a:rPr sz="1400" b="0">
                <a:solidFill>
                  <a:srgbClr val="1F2A3A"/>
                </a:solidFill>
                <a:latin typeface="맑은 고딕"/>
                <a:ea typeface="맑은 고딕"/>
                <a:cs typeface="맑은 고딕"/>
              </a:rPr>
              <a:t>설비 쪽: 설비, 구성 요소, 센서 (예: HYD-01, 오일 쿨러, TS1)</a:t>
            </a:r>
          </a:p>
          <a:p>
            <a:pPr algn="l">
              <a:lnSpc>
                <a:spcPct val="110000"/>
              </a:lnSpc>
              <a:spcAft>
                <a:spcPts val="300"/>
              </a:spcAft>
            </a:pPr>
            <a:r>
              <a:rPr sz="1400" b="0">
                <a:solidFill>
                  <a:srgbClr val="1F2A3A"/>
                </a:solidFill>
                <a:latin typeface="맑은 고딕"/>
                <a:ea typeface="맑은 고딕"/>
                <a:cs typeface="맑은 고딕"/>
              </a:rPr>
              <a:t>진단 쪽: 이상 패턴, 증상, 고장 유형, 원인, 증거 (예: 쿨러 핀 오염은 원인)</a:t>
            </a:r>
          </a:p>
          <a:p>
            <a:pPr algn="l">
              <a:lnSpc>
                <a:spcPct val="110000"/>
              </a:lnSpc>
              <a:spcAft>
                <a:spcPts val="300"/>
              </a:spcAft>
            </a:pPr>
            <a:r>
              <a:rPr sz="1400" b="0">
                <a:solidFill>
                  <a:srgbClr val="1F2A3A"/>
                </a:solidFill>
                <a:latin typeface="맑은 고딕"/>
                <a:ea typeface="맑은 고딕"/>
                <a:cs typeface="맑은 고딕"/>
              </a:rPr>
              <a:t>조치 쪽: 조치 방법, 근거 문서 (예: 팬 최대 운전, HM-8.5)</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속성</a:t>
            </a:r>
          </a:p>
          <a:p>
            <a:pPr algn="l">
              <a:lnSpc>
                <a:spcPct val="110000"/>
              </a:lnSpc>
              <a:spcAft>
                <a:spcPts val="200"/>
              </a:spcAft>
            </a:pPr>
            <a:r>
              <a:rPr sz="1150" b="0">
                <a:solidFill>
                  <a:srgbClr val="556175"/>
                </a:solidFill>
                <a:latin typeface="맑은 고딕"/>
                <a:ea typeface="맑은 고딕"/>
                <a:cs typeface="맑은 고딕"/>
              </a:rPr>
              <a:t>℃ · 48 · 65</a:t>
            </a:r>
          </a:p>
        </p:txBody>
      </p:sp>
      <p:sp>
        <p:nvSpPr>
          <p:cNvPr id="11" name="TextBox 10"/>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대상마다 채워 두는 값의 칸이며, 같은 종류의 대상은 같은 칸을 갖는다.</a:t>
            </a:r>
          </a:p>
          <a:p>
            <a:pPr algn="l">
              <a:lnSpc>
                <a:spcPct val="110000"/>
              </a:lnSpc>
              <a:spcAft>
                <a:spcPts val="300"/>
              </a:spcAft>
            </a:pPr>
            <a:r>
              <a:rPr sz="1400" b="0">
                <a:solidFill>
                  <a:srgbClr val="1F2A3A"/>
                </a:solidFill>
                <a:latin typeface="맑은 고딕"/>
                <a:ea typeface="맑은 고딕"/>
                <a:cs typeface="맑은 고딕"/>
              </a:rPr>
              <a:t>유온: 단위 ℃, 정상값 48 ℃, 한계 65 ℃(인터록의 기준과 같다)</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관계</a:t>
            </a:r>
          </a:p>
          <a:p>
            <a:pPr algn="l">
              <a:lnSpc>
                <a:spcPct val="110000"/>
              </a:lnSpc>
              <a:spcAft>
                <a:spcPts val="200"/>
              </a:spcAft>
            </a:pPr>
            <a:r>
              <a:rPr sz="1150" b="0">
                <a:solidFill>
                  <a:srgbClr val="556175"/>
                </a:solidFill>
                <a:latin typeface="맑은 고딕"/>
                <a:ea typeface="맑은 고딕"/>
                <a:cs typeface="맑은 고딕"/>
              </a:rPr>
              <a:t>완화와 근본 조치</a:t>
            </a:r>
          </a:p>
        </p:txBody>
      </p:sp>
      <p:sp>
        <p:nvSpPr>
          <p:cNvPr id="14" name="TextBox 13"/>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이름이 다르면 뜻이 다르다. 쿨러 냉각 성능 상실에서 조치로 가는 두 관계가 그렇다.</a:t>
            </a:r>
          </a:p>
          <a:p>
            <a:pPr algn="l">
              <a:lnSpc>
                <a:spcPct val="110000"/>
              </a:lnSpc>
              <a:spcAft>
                <a:spcPts val="300"/>
              </a:spcAft>
            </a:pPr>
            <a:r>
              <a:rPr sz="1400" b="0">
                <a:solidFill>
                  <a:srgbClr val="1F2A3A"/>
                </a:solidFill>
                <a:latin typeface="맑은 고딕"/>
                <a:ea typeface="맑은 고딕"/>
                <a:cs typeface="맑은 고딕"/>
              </a:rPr>
              <a:t>MITIGATED_BY → 팬 최대 운전: 우선 완화한다</a:t>
            </a:r>
          </a:p>
          <a:p>
            <a:pPr algn="l">
              <a:lnSpc>
                <a:spcPct val="110000"/>
              </a:lnSpc>
              <a:spcAft>
                <a:spcPts val="300"/>
              </a:spcAft>
            </a:pPr>
            <a:r>
              <a:rPr sz="1400" b="0">
                <a:solidFill>
                  <a:srgbClr val="1F2A3A"/>
                </a:solidFill>
                <a:latin typeface="맑은 고딕"/>
                <a:ea typeface="맑은 고딕"/>
                <a:cs typeface="맑은 고딕"/>
              </a:rPr>
              <a:t>REMEDIED_BY → 쿨러 핀 세척: 근본적으로 없앤다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제약</a:t>
            </a:r>
          </a:p>
          <a:p>
            <a:pPr algn="l">
              <a:lnSpc>
                <a:spcPct val="110000"/>
              </a:lnSpc>
              <a:spcAft>
                <a:spcPts val="200"/>
              </a:spcAft>
            </a:pPr>
            <a:r>
              <a:rPr sz="1150" b="0">
                <a:solidFill>
                  <a:srgbClr val="556175"/>
                </a:solidFill>
                <a:latin typeface="맑은 고딕"/>
                <a:ea typeface="맑은 고딕"/>
                <a:cs typeface="맑은 고딕"/>
              </a:rPr>
              <a:t>양 끝의 종류</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관계가 어느 종류에서 어느 종류로 이어질 수 있는지를 정해 어긋난 연결을 거른다.</a:t>
            </a:r>
          </a:p>
          <a:p>
            <a:pPr algn="l">
              <a:lnSpc>
                <a:spcPct val="110000"/>
              </a:lnSpc>
              <a:spcAft>
                <a:spcPts val="300"/>
              </a:spcAft>
            </a:pPr>
            <a:r>
              <a:rPr sz="1400" b="0">
                <a:solidFill>
                  <a:srgbClr val="1F2A3A"/>
                </a:solidFill>
                <a:latin typeface="맑은 고딕"/>
                <a:ea typeface="맑은 고딕"/>
                <a:cs typeface="맑은 고딕"/>
              </a:rPr>
              <a:t>쿨러 핀 오염 — CAUSES → 쿨러 냉각 성능 상실: 원인 → 고장 유형, 정의에 맞는다</a:t>
            </a:r>
          </a:p>
          <a:p>
            <a:pPr algn="l">
              <a:lnSpc>
                <a:spcPct val="110000"/>
              </a:lnSpc>
              <a:spcAft>
                <a:spcPts val="300"/>
              </a:spcAft>
            </a:pPr>
            <a:r>
              <a:rPr sz="1400" b="0">
                <a:solidFill>
                  <a:srgbClr val="1F2A3A"/>
                </a:solidFill>
                <a:latin typeface="맑은 고딕"/>
                <a:ea typeface="맑은 고딕"/>
                <a:cs typeface="맑은 고딕"/>
              </a:rPr>
              <a:t>유온 상승 — CAUSES → 팬 최대 운전: 증상 → 조치, 정의에 어긋난다</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설비 쪽: 설비, 구성 요소, 센서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구성 요소, 센서가 함께 이어져 있어 같은 지식을 어느 설비의 어느 센서 값에 적용할지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86</a:t>
            </a:r>
          </a:p>
        </p:txBody>
      </p:sp>
      <p:pic>
        <p:nvPicPr>
          <p:cNvPr id="6" name="삽화:연결_설비쪽.svg" descr="illust_1508440211758185460_179171544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90226" y="164181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센서</a:t>
            </a:r>
          </a:p>
          <a:p>
            <a:pPr algn="ctr">
              <a:lnSpc>
                <a:spcPct val="110000"/>
              </a:lnSpc>
              <a:spcAft>
                <a:spcPts val="100"/>
              </a:spcAft>
            </a:pPr>
            <a:r>
              <a:rPr sz="1300" b="0">
                <a:solidFill>
                  <a:srgbClr val="556175"/>
                </a:solidFill>
                <a:latin typeface="맑은 고딕"/>
                <a:ea typeface="맑은 고딕"/>
                <a:cs typeface="맑은 고딕"/>
              </a:rPr>
              <a:t>유온 센서 TS1</a:t>
            </a:r>
          </a:p>
        </p:txBody>
      </p:sp>
      <p:sp>
        <p:nvSpPr>
          <p:cNvPr id="8" name="TextBox 7"/>
          <p:cNvSpPr txBox="1"/>
          <p:nvPr/>
        </p:nvSpPr>
        <p:spPr>
          <a:xfrm>
            <a:off x="5332182"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구성 요소</a:t>
            </a:r>
          </a:p>
          <a:p>
            <a:pPr algn="ctr">
              <a:lnSpc>
                <a:spcPct val="110000"/>
              </a:lnSpc>
              <a:spcAft>
                <a:spcPts val="100"/>
              </a:spcAft>
            </a:pPr>
            <a:r>
              <a:rPr sz="1300" b="0">
                <a:solidFill>
                  <a:srgbClr val="556175"/>
                </a:solidFill>
                <a:latin typeface="맑은 고딕"/>
                <a:ea typeface="맑은 고딕"/>
                <a:cs typeface="맑은 고딕"/>
              </a:rPr>
              <a:t>오일 쿨러</a:t>
            </a:r>
          </a:p>
        </p:txBody>
      </p:sp>
      <p:sp>
        <p:nvSpPr>
          <p:cNvPr id="9" name="TextBox 8"/>
          <p:cNvSpPr txBox="1"/>
          <p:nvPr/>
        </p:nvSpPr>
        <p:spPr>
          <a:xfrm>
            <a:off x="8965044"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a:t>
            </a:r>
          </a:p>
          <a:p>
            <a:pPr algn="ctr">
              <a:lnSpc>
                <a:spcPct val="110000"/>
              </a:lnSpc>
              <a:spcAft>
                <a:spcPts val="100"/>
              </a:spcAft>
            </a:pPr>
            <a:r>
              <a:rPr sz="1300" b="0">
                <a:solidFill>
                  <a:srgbClr val="556175"/>
                </a:solidFill>
                <a:latin typeface="맑은 고딕"/>
                <a:ea typeface="맑은 고딕"/>
                <a:cs typeface="맑은 고딕"/>
              </a:rPr>
              <a:t>HYD-01</a:t>
            </a:r>
          </a:p>
        </p:txBody>
      </p:sp>
      <p:sp>
        <p:nvSpPr>
          <p:cNvPr id="10" name="TextBox 9"/>
          <p:cNvSpPr txBox="1"/>
          <p:nvPr/>
        </p:nvSpPr>
        <p:spPr>
          <a:xfrm>
            <a:off x="3346654" y="276221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MONITORED_BY</a:t>
            </a:r>
          </a:p>
          <a:p>
            <a:pPr algn="ctr">
              <a:lnSpc>
                <a:spcPct val="110000"/>
              </a:lnSpc>
              <a:spcAft>
                <a:spcPts val="100"/>
              </a:spcAft>
            </a:pPr>
            <a:r>
              <a:rPr sz="1300" b="0">
                <a:solidFill>
                  <a:srgbClr val="556175"/>
                </a:solidFill>
                <a:latin typeface="맑은 고딕"/>
                <a:ea typeface="맑은 고딕"/>
                <a:cs typeface="맑은 고딕"/>
              </a:rPr>
              <a:t>계측된다</a:t>
            </a:r>
          </a:p>
        </p:txBody>
      </p:sp>
      <p:sp>
        <p:nvSpPr>
          <p:cNvPr id="11" name="TextBox 10"/>
          <p:cNvSpPr txBox="1"/>
          <p:nvPr/>
        </p:nvSpPr>
        <p:spPr>
          <a:xfrm>
            <a:off x="6772236" y="2762219"/>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HAS_COMPONENT</a:t>
            </a:r>
          </a:p>
          <a:p>
            <a:pPr algn="ctr">
              <a:lnSpc>
                <a:spcPct val="110000"/>
              </a:lnSpc>
              <a:spcAft>
                <a:spcPts val="100"/>
              </a:spcAft>
            </a:pPr>
            <a:r>
              <a:rPr sz="1300" b="0">
                <a:solidFill>
                  <a:srgbClr val="556175"/>
                </a:solidFill>
                <a:latin typeface="맑은 고딕"/>
                <a:ea typeface="맑은 고딕"/>
                <a:cs typeface="맑은 고딕"/>
              </a:rPr>
              <a:t>구성 요소로 갖는다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진단과 조치 쪽: 증상에서 근거 문서까지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 방법이 근거 문서까지 관계로 이어져 있어, 추천안에는 그 조치의 근거가 함께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87</a:t>
            </a:r>
          </a:p>
        </p:txBody>
      </p:sp>
      <p:pic>
        <p:nvPicPr>
          <p:cNvPr id="6" name="삽화:연결_진단쪽.svg" descr="illust_709198699189337625_179171544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62919" y="3754983"/>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8" name="TextBox 7"/>
          <p:cNvSpPr txBox="1"/>
          <p:nvPr/>
        </p:nvSpPr>
        <p:spPr>
          <a:xfrm>
            <a:off x="6204942" y="3045866"/>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10077813" y="3754983"/>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3619392" y="4180453"/>
            <a:ext cx="1309139"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1" name="TextBox 10"/>
          <p:cNvSpPr txBox="1"/>
          <p:nvPr/>
        </p:nvSpPr>
        <p:spPr>
          <a:xfrm>
            <a:off x="7841366" y="4180453"/>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2" name="TextBox 11"/>
          <p:cNvSpPr txBox="1"/>
          <p:nvPr/>
        </p:nvSpPr>
        <p:spPr>
          <a:xfrm>
            <a:off x="6204942" y="4605924"/>
            <a:ext cx="1636424"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완화된다</a:t>
            </a:r>
          </a:p>
        </p:txBody>
      </p:sp>
      <p:sp>
        <p:nvSpPr>
          <p:cNvPr id="13" name="TextBox 12"/>
          <p:cNvSpPr txBox="1"/>
          <p:nvPr/>
        </p:nvSpPr>
        <p:spPr>
          <a:xfrm>
            <a:off x="4132138" y="526776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4" name="TextBox 13"/>
          <p:cNvSpPr txBox="1"/>
          <p:nvPr/>
        </p:nvSpPr>
        <p:spPr>
          <a:xfrm>
            <a:off x="6390403" y="5693237"/>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HAS_STEP · REFERS_TO</a:t>
            </a:r>
          </a:p>
          <a:p>
            <a:pPr algn="ctr">
              <a:lnSpc>
                <a:spcPct val="110000"/>
              </a:lnSpc>
              <a:spcAft>
                <a:spcPts val="100"/>
              </a:spcAft>
            </a:pPr>
            <a:r>
              <a:rPr sz="1300" b="0">
                <a:solidFill>
                  <a:srgbClr val="556175"/>
                </a:solidFill>
                <a:latin typeface="맑은 고딕"/>
                <a:ea typeface="맑은 고딕"/>
                <a:cs typeface="맑은 고딕"/>
              </a:rPr>
              <a:t>단계를 거쳐 근거를 가리킨다</a:t>
            </a:r>
          </a:p>
        </p:txBody>
      </p:sp>
      <p:sp>
        <p:nvSpPr>
          <p:cNvPr id="15" name="TextBox 14"/>
          <p:cNvSpPr txBox="1"/>
          <p:nvPr/>
        </p:nvSpPr>
        <p:spPr>
          <a:xfrm>
            <a:off x="10077813" y="5267766"/>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근거 문서</a:t>
            </a:r>
          </a:p>
          <a:p>
            <a:pPr algn="ctr">
              <a:lnSpc>
                <a:spcPct val="110000"/>
              </a:lnSpc>
              <a:spcAft>
                <a:spcPts val="100"/>
              </a:spcAft>
            </a:pPr>
            <a:r>
              <a:rPr sz="1300" b="0">
                <a:solidFill>
                  <a:srgbClr val="556175"/>
                </a:solidFill>
                <a:latin typeface="맑은 고딕"/>
                <a:ea typeface="맑은 고딕"/>
                <a:cs typeface="맑은 고딕"/>
              </a:rPr>
              <a:t>매뉴얼 HM-8.5</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온톨로지에 대한 흔한 오해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값의 저장소가 아니고 화살표는 통행 방향이 아니며, 온톨로지가 조치를 결정하지도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88</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오해</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실제</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구분할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 그래프에 센서 값이 들어 있다</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값을 읽는 방법이 들어 있고 값은 저장소에서 읽는다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지식과 값</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화살표는 한쪽으로만 따라갈 수 있다</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방향은 뜻을 정하며, 조회할 때는 거슬러 가기도 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뜻과 조회</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온톨로지가 있으면 AI가 알아서 조치한다</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관계를 따라 후보와 근거를 찾는 데까지이고, 조치는 사람이 승인한다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추천과 승인</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경보에서 온톨로지까지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원인을 말하지 않고 판단에 필요한 정보는 흩어져 있으므로, 대상과 관계를 정의해 컴퓨터가 따라가게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89</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경보의 한계</a:t>
            </a:r>
          </a:p>
          <a:p>
            <a:pPr algn="ctr">
              <a:lnSpc>
                <a:spcPct val="110000"/>
              </a:lnSpc>
              <a:spcAft>
                <a:spcPts val="400"/>
              </a:spcAft>
            </a:pPr>
            <a:r>
              <a:rPr sz="1350" b="0">
                <a:solidFill>
                  <a:srgbClr val="1F2A3A"/>
                </a:solidFill>
                <a:latin typeface="맑은 고딕"/>
                <a:ea typeface="맑은 고딕"/>
                <a:cs typeface="맑은 고딕"/>
              </a:rPr>
              <a:t>조건을 벗어났다는</a:t>
            </a:r>
          </a:p>
          <a:p>
            <a:pPr algn="ctr">
              <a:lnSpc>
                <a:spcPct val="110000"/>
              </a:lnSpc>
              <a:spcAft>
                <a:spcPts val="400"/>
              </a:spcAft>
            </a:pPr>
            <a:r>
              <a:rPr sz="1350" b="0">
                <a:solidFill>
                  <a:srgbClr val="1F2A3A"/>
                </a:solidFill>
                <a:latin typeface="맑은 고딕"/>
                <a:ea typeface="맑은 고딕"/>
                <a:cs typeface="맑은 고딕"/>
              </a:rPr>
              <a:t>사실만 알린다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puzzle" descr="puzzle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흩어진 정보</a:t>
            </a:r>
          </a:p>
          <a:p>
            <a:pPr algn="ctr">
              <a:lnSpc>
                <a:spcPct val="110000"/>
              </a:lnSpc>
              <a:spcAft>
                <a:spcPts val="400"/>
              </a:spcAft>
            </a:pPr>
            <a:r>
              <a:rPr sz="1350" b="0">
                <a:solidFill>
                  <a:srgbClr val="1F2A3A"/>
                </a:solidFill>
                <a:latin typeface="맑은 고딕"/>
                <a:ea typeface="맑은 고딕"/>
                <a:cs typeface="맑은 고딕"/>
              </a:rPr>
              <a:t>값, 매뉴얼, 생산 일정이</a:t>
            </a:r>
          </a:p>
          <a:p>
            <a:pPr algn="ctr">
              <a:lnSpc>
                <a:spcPct val="110000"/>
              </a:lnSpc>
              <a:spcAft>
                <a:spcPts val="400"/>
              </a:spcAft>
            </a:pPr>
            <a:r>
              <a:rPr sz="1350" b="0">
                <a:solidFill>
                  <a:srgbClr val="1F2A3A"/>
                </a:solidFill>
                <a:latin typeface="맑은 고딕"/>
                <a:ea typeface="맑은 고딕"/>
                <a:cs typeface="맑은 고딕"/>
              </a:rPr>
              <a:t>서로 이어져 있지 않다</a:t>
            </a:r>
          </a:p>
        </p:txBody>
      </p:sp>
      <p:sp>
        <p:nvSpPr>
          <p:cNvPr id="17" name="Oval 16"/>
          <p:cNvSpPr/>
          <p:nvPr/>
        </p:nvSpPr>
        <p:spPr>
          <a:xfrm>
            <a:off x="7048309" y="2626042"/>
            <a:ext cx="868680" cy="868680"/>
          </a:xfrm>
          <a:prstGeom prst="ellipse">
            <a:avLst/>
          </a:prstGeom>
          <a:solidFill>
            <a:srgbClr val="5CB8F2"/>
          </a:solidFill>
          <a:ln>
            <a:noFill/>
          </a:ln>
        </p:spPr>
        <p:txBody>
          <a:bodyPr rtlCol="0" anchor="ctr"/>
          <a:lstStyle/>
          <a:p>
            <a:pPr algn="ctr"/>
          </a:p>
        </p:txBody>
      </p:sp>
      <p:pic>
        <p:nvPicPr>
          <p:cNvPr id="18" name="아이콘:topology-star-3" descr="topology-star-3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온톨로지</a:t>
            </a:r>
          </a:p>
          <a:p>
            <a:pPr algn="ctr">
              <a:lnSpc>
                <a:spcPct val="110000"/>
              </a:lnSpc>
              <a:spcAft>
                <a:spcPts val="400"/>
              </a:spcAft>
            </a:pPr>
            <a:r>
              <a:rPr sz="1350" b="0">
                <a:solidFill>
                  <a:srgbClr val="1F2A3A"/>
                </a:solidFill>
                <a:latin typeface="맑은 고딕"/>
                <a:ea typeface="맑은 고딕"/>
                <a:cs typeface="맑은 고딕"/>
              </a:rPr>
              <a:t>대상의 종류, 속성, 관계, 제약을</a:t>
            </a:r>
          </a:p>
          <a:p>
            <a:pPr algn="ctr">
              <a:lnSpc>
                <a:spcPct val="110000"/>
              </a:lnSpc>
              <a:spcAft>
                <a:spcPts val="400"/>
              </a:spcAft>
            </a:pPr>
            <a:r>
              <a:rPr sz="1350" b="0">
                <a:solidFill>
                  <a:srgbClr val="1F2A3A"/>
                </a:solidFill>
                <a:latin typeface="맑은 고딕"/>
                <a:ea typeface="맑은 고딕"/>
                <a:cs typeface="맑은 고딕"/>
              </a:rPr>
              <a:t>명시적으로 정의한다</a:t>
            </a:r>
          </a:p>
        </p:txBody>
      </p:sp>
      <p:sp>
        <p:nvSpPr>
          <p:cNvPr id="22" name="Oval 21"/>
          <p:cNvSpPr/>
          <p:nvPr/>
        </p:nvSpPr>
        <p:spPr>
          <a:xfrm>
            <a:off x="9821913" y="2626042"/>
            <a:ext cx="868680" cy="868680"/>
          </a:xfrm>
          <a:prstGeom prst="ellipse">
            <a:avLst/>
          </a:prstGeom>
          <a:solidFill>
            <a:srgbClr val="FFFFFF"/>
          </a:solidFill>
          <a:ln w="25400">
            <a:solidFill>
              <a:srgbClr val="13294B"/>
            </a:solidFill>
          </a:ln>
        </p:spPr>
        <p:txBody>
          <a:bodyPr rtlCol="0" anchor="ctr"/>
          <a:lstStyle/>
          <a:p>
            <a:pPr algn="ctr"/>
          </a:p>
        </p:txBody>
      </p:sp>
      <p:pic>
        <p:nvPicPr>
          <p:cNvPr id="23" name="아이콘:route" descr="route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따라가기</a:t>
            </a:r>
          </a:p>
          <a:p>
            <a:pPr algn="ctr">
              <a:lnSpc>
                <a:spcPct val="110000"/>
              </a:lnSpc>
              <a:spcAft>
                <a:spcPts val="400"/>
              </a:spcAft>
            </a:pPr>
            <a:r>
              <a:rPr sz="1350" b="0">
                <a:solidFill>
                  <a:srgbClr val="1F2A3A"/>
                </a:solidFill>
                <a:latin typeface="맑은 고딕"/>
                <a:ea typeface="맑은 고딕"/>
                <a:cs typeface="맑은 고딕"/>
              </a:rPr>
              <a:t>관계를 따라</a:t>
            </a:r>
          </a:p>
          <a:p>
            <a:pPr algn="ctr">
              <a:lnSpc>
                <a:spcPct val="110000"/>
              </a:lnSpc>
              <a:spcAft>
                <a:spcPts val="400"/>
              </a:spcAft>
            </a:pPr>
            <a:r>
              <a:rPr sz="1350" b="0">
                <a:solidFill>
                  <a:srgbClr val="1F2A3A"/>
                </a:solidFill>
                <a:latin typeface="맑은 고딕"/>
                <a:ea typeface="맑은 고딕"/>
                <a:cs typeface="맑은 고딕"/>
              </a:rPr>
              <a:t>원인 후보와 조치에 이른다</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이후 과정에서 온톨로지가 쓰이는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이후 과정은 오늘 본 지식 그래프를 직접 설계하고 채운 뒤 에이전트와 프로세스가 그것을 쓰게 만드는 순서로 진행된다.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90</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구조 설계</a:t>
            </a:r>
          </a:p>
          <a:p>
            <a:pPr algn="ctr">
              <a:lnSpc>
                <a:spcPct val="110000"/>
              </a:lnSpc>
              <a:spcAft>
                <a:spcPts val="400"/>
              </a:spcAft>
            </a:pPr>
            <a:r>
              <a:rPr sz="1350" b="0">
                <a:solidFill>
                  <a:srgbClr val="1F2A3A"/>
                </a:solidFill>
                <a:latin typeface="맑은 고딕"/>
                <a:ea typeface="맑은 고딕"/>
                <a:cs typeface="맑은 고딕"/>
              </a:rPr>
              <a:t>대상의 종류와</a:t>
            </a:r>
          </a:p>
          <a:p>
            <a:pPr algn="ctr">
              <a:lnSpc>
                <a:spcPct val="110000"/>
              </a:lnSpc>
              <a:spcAft>
                <a:spcPts val="400"/>
              </a:spcAft>
            </a:pPr>
            <a:r>
              <a:rPr sz="1350" b="0">
                <a:solidFill>
                  <a:srgbClr val="1F2A3A"/>
                </a:solidFill>
                <a:latin typeface="맑은 고딕"/>
                <a:ea typeface="맑은 고딕"/>
                <a:cs typeface="맑은 고딕"/>
              </a:rPr>
              <a:t>관계의 틀을 정해</a:t>
            </a:r>
          </a:p>
          <a:p>
            <a:pPr algn="ctr">
              <a:lnSpc>
                <a:spcPct val="110000"/>
              </a:lnSpc>
              <a:spcAft>
                <a:spcPts val="400"/>
              </a:spcAft>
            </a:pPr>
            <a:r>
              <a:rPr sz="1350" b="0">
                <a:solidFill>
                  <a:srgbClr val="1F2A3A"/>
                </a:solidFill>
                <a:latin typeface="맑은 고딕"/>
                <a:ea typeface="맑은 고딕"/>
                <a:cs typeface="맑은 고딕"/>
              </a:rPr>
              <a:t>그래프 DB에 넣는다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list-check" descr="list-check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조치와 판단</a:t>
            </a:r>
          </a:p>
          <a:p>
            <a:pPr algn="ctr">
              <a:lnSpc>
                <a:spcPct val="110000"/>
              </a:lnSpc>
              <a:spcAft>
                <a:spcPts val="400"/>
              </a:spcAft>
            </a:pPr>
            <a:r>
              <a:rPr sz="1350" b="0">
                <a:solidFill>
                  <a:srgbClr val="1F2A3A"/>
                </a:solidFill>
                <a:latin typeface="맑은 고딕"/>
                <a:ea typeface="맑은 고딕"/>
                <a:cs typeface="맑은 고딕"/>
              </a:rPr>
              <a:t>조치 절차,</a:t>
            </a:r>
          </a:p>
          <a:p>
            <a:pPr algn="ctr">
              <a:lnSpc>
                <a:spcPct val="110000"/>
              </a:lnSpc>
              <a:spcAft>
                <a:spcPts val="400"/>
              </a:spcAft>
            </a:pPr>
            <a:r>
              <a:rPr sz="1350" b="0">
                <a:solidFill>
                  <a:srgbClr val="1F2A3A"/>
                </a:solidFill>
                <a:latin typeface="맑은 고딕"/>
                <a:ea typeface="맑은 고딕"/>
                <a:cs typeface="맑은 고딕"/>
              </a:rPr>
              <a:t>판단 규칙, 성과 기준을</a:t>
            </a:r>
          </a:p>
          <a:p>
            <a:pPr algn="ctr">
              <a:lnSpc>
                <a:spcPct val="110000"/>
              </a:lnSpc>
              <a:spcAft>
                <a:spcPts val="400"/>
              </a:spcAft>
            </a:pPr>
            <a:r>
              <a:rPr sz="1350" b="0">
                <a:solidFill>
                  <a:srgbClr val="1F2A3A"/>
                </a:solidFill>
                <a:latin typeface="맑은 고딕"/>
                <a:ea typeface="맑은 고딕"/>
                <a:cs typeface="맑은 고딕"/>
              </a:rPr>
              <a:t>지식에 잇는다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file-search" descr="file-search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문서에서 지식으로</a:t>
            </a:r>
          </a:p>
          <a:p>
            <a:pPr algn="ctr">
              <a:lnSpc>
                <a:spcPct val="110000"/>
              </a:lnSpc>
              <a:spcAft>
                <a:spcPts val="400"/>
              </a:spcAft>
            </a:pPr>
            <a:r>
              <a:rPr sz="1350" b="0">
                <a:solidFill>
                  <a:srgbClr val="1F2A3A"/>
                </a:solidFill>
                <a:latin typeface="맑은 고딕"/>
                <a:ea typeface="맑은 고딕"/>
                <a:cs typeface="맑은 고딕"/>
              </a:rPr>
              <a:t>매뉴얼에서</a:t>
            </a:r>
          </a:p>
          <a:p>
            <a:pPr algn="ctr">
              <a:lnSpc>
                <a:spcPct val="110000"/>
              </a:lnSpc>
              <a:spcAft>
                <a:spcPts val="400"/>
              </a:spcAft>
            </a:pPr>
            <a:r>
              <a:rPr sz="1350" b="0">
                <a:solidFill>
                  <a:srgbClr val="1F2A3A"/>
                </a:solidFill>
                <a:latin typeface="맑은 고딕"/>
                <a:ea typeface="맑은 고딕"/>
                <a:cs typeface="맑은 고딕"/>
              </a:rPr>
              <a:t>지식을 뽑아 검토하고</a:t>
            </a:r>
          </a:p>
          <a:p>
            <a:pPr algn="ctr">
              <a:lnSpc>
                <a:spcPct val="110000"/>
              </a:lnSpc>
              <a:spcAft>
                <a:spcPts val="400"/>
              </a:spcAft>
            </a:pPr>
            <a:r>
              <a:rPr sz="1350" b="0">
                <a:solidFill>
                  <a:srgbClr val="1F2A3A"/>
                </a:solidFill>
                <a:latin typeface="맑은 고딕"/>
                <a:ea typeface="맑은 고딕"/>
                <a:cs typeface="맑은 고딕"/>
              </a:rPr>
              <a:t>출처와 함께 넣는다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robot" descr="robot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에이전트와 프로세스</a:t>
            </a:r>
          </a:p>
          <a:p>
            <a:pPr algn="ctr">
              <a:lnSpc>
                <a:spcPct val="110000"/>
              </a:lnSpc>
              <a:spcAft>
                <a:spcPts val="400"/>
              </a:spcAft>
            </a:pPr>
            <a:r>
              <a:rPr sz="1350" b="0">
                <a:solidFill>
                  <a:srgbClr val="1F2A3A"/>
                </a:solidFill>
                <a:latin typeface="맑은 고딕"/>
                <a:ea typeface="맑은 고딕"/>
                <a:cs typeface="맑은 고딕"/>
              </a:rPr>
              <a:t>이 지식을 조회해</a:t>
            </a:r>
          </a:p>
          <a:p>
            <a:pPr algn="ctr">
              <a:lnSpc>
                <a:spcPct val="110000"/>
              </a:lnSpc>
              <a:spcAft>
                <a:spcPts val="400"/>
              </a:spcAft>
            </a:pPr>
            <a:r>
              <a:rPr sz="1350" b="0">
                <a:solidFill>
                  <a:srgbClr val="1F2A3A"/>
                </a:solidFill>
                <a:latin typeface="맑은 고딕"/>
                <a:ea typeface="맑은 고딕"/>
                <a:cs typeface="맑은 고딕"/>
              </a:rPr>
              <a:t>판단하고</a:t>
            </a:r>
          </a:p>
          <a:p>
            <a:pPr algn="ctr">
              <a:lnSpc>
                <a:spcPct val="110000"/>
              </a:lnSpc>
              <a:spcAft>
                <a:spcPts val="400"/>
              </a:spcAft>
            </a:pPr>
            <a:r>
              <a:rPr sz="1350" b="0">
                <a:solidFill>
                  <a:srgbClr val="1F2A3A"/>
                </a:solidFill>
                <a:latin typeface="맑은 고딕"/>
                <a:ea typeface="맑은 고딕"/>
                <a:cs typeface="맑은 고딕"/>
              </a:rPr>
              <a:t>승인과 실행으로 잇는다</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이상과 원인 · 조치의 관계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arrows.app에서 노드와 관계를 놓고 이름과 방향을 붙인다</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센서, 증상, 원인, 조치를 이름과 방향이 있는 관계로 이은 그림 한 장이 이 실습의 결과물이다.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92</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노드를 놓는다</a:t>
            </a:r>
          </a:p>
          <a:p>
            <a:pPr algn="l">
              <a:lnSpc>
                <a:spcPct val="110000"/>
              </a:lnSpc>
              <a:spcAft>
                <a:spcPts val="400"/>
              </a:spcAft>
            </a:pPr>
            <a:r>
              <a:rPr sz="1400" b="0">
                <a:solidFill>
                  <a:srgbClr val="1F2A3A"/>
                </a:solidFill>
                <a:latin typeface="맑은 고딕"/>
                <a:ea typeface="맑은 고딕"/>
                <a:cs typeface="맑은 고딕"/>
              </a:rPr>
              <a:t>• 설비, 센서, 증상, 원인, 조치를 노드로 만든다</a:t>
            </a:r>
          </a:p>
          <a:p>
            <a:pPr algn="l">
              <a:lnSpc>
                <a:spcPct val="110000"/>
              </a:lnSpc>
              <a:spcAft>
                <a:spcPts val="400"/>
              </a:spcAft>
            </a:pPr>
            <a:r>
              <a:rPr sz="1400" b="0">
                <a:solidFill>
                  <a:srgbClr val="1F2A3A"/>
                </a:solidFill>
                <a:latin typeface="맑은 고딕"/>
                <a:ea typeface="맑은 고딕"/>
                <a:cs typeface="맑은 고딕"/>
              </a:rPr>
              <a:t>• 노드마다 실제 대상의 이름을 적는다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대상</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arrows-right" descr="arrows-righ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관계를 잇는다</a:t>
            </a:r>
          </a:p>
          <a:p>
            <a:pPr algn="l">
              <a:lnSpc>
                <a:spcPct val="110000"/>
              </a:lnSpc>
              <a:spcAft>
                <a:spcPts val="400"/>
              </a:spcAft>
            </a:pPr>
            <a:r>
              <a:rPr sz="1400" b="0">
                <a:solidFill>
                  <a:srgbClr val="1F2A3A"/>
                </a:solidFill>
                <a:latin typeface="맑은 고딕"/>
                <a:ea typeface="맑은 고딕"/>
                <a:cs typeface="맑은 고딕"/>
              </a:rPr>
              <a:t>• 노드 사이에 화살표를 긋고 이름을 붙인다</a:t>
            </a:r>
          </a:p>
          <a:p>
            <a:pPr algn="l">
              <a:lnSpc>
                <a:spcPct val="110000"/>
              </a:lnSpc>
              <a:spcAft>
                <a:spcPts val="400"/>
              </a:spcAft>
            </a:pPr>
            <a:r>
              <a:rPr sz="1400" b="0">
                <a:solidFill>
                  <a:srgbClr val="1F2A3A"/>
                </a:solidFill>
                <a:latin typeface="맑은 고딕"/>
                <a:ea typeface="맑은 고딕"/>
                <a:cs typeface="맑은 고딕"/>
              </a:rPr>
              <a:t>• 관계의 이름은 스스로 정한다</a:t>
            </a:r>
          </a:p>
        </p:txBody>
      </p:sp>
      <p:sp>
        <p:nvSpPr>
          <p:cNvPr id="16" name="Rounded Rectangle 15"/>
          <p:cNvSpPr/>
          <p:nvPr/>
        </p:nvSpPr>
        <p:spPr>
          <a:xfrm>
            <a:off x="4566818" y="514985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이름과 방향</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message-check" descr="message-che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문장으로 읽는다</a:t>
            </a:r>
          </a:p>
          <a:p>
            <a:pPr algn="l">
              <a:lnSpc>
                <a:spcPct val="110000"/>
              </a:lnSpc>
              <a:spcAft>
                <a:spcPts val="400"/>
              </a:spcAft>
            </a:pPr>
            <a:r>
              <a:rPr sz="1400" b="0">
                <a:solidFill>
                  <a:srgbClr val="1F2A3A"/>
                </a:solidFill>
                <a:latin typeface="맑은 고딕"/>
                <a:ea typeface="맑은 고딕"/>
                <a:cs typeface="맑은 고딕"/>
              </a:rPr>
              <a:t>• 화살표마다 주어, 서술어, 목적어로 읽는다</a:t>
            </a:r>
          </a:p>
          <a:p>
            <a:pPr algn="l">
              <a:lnSpc>
                <a:spcPct val="110000"/>
              </a:lnSpc>
              <a:spcAft>
                <a:spcPts val="400"/>
              </a:spcAft>
            </a:pPr>
            <a:r>
              <a:rPr sz="1400" b="0">
                <a:solidFill>
                  <a:srgbClr val="1F2A3A"/>
                </a:solidFill>
                <a:latin typeface="맑은 고딕"/>
                <a:ea typeface="맑은 고딕"/>
                <a:cs typeface="맑은 고딕"/>
              </a:rPr>
              <a:t>• 어색하면 이름이나 방향을 고친다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점검</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오늘 처음 쓴 약어의 정식 명칭과 HYD에서 그 역할을 맡는 구성요소를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약어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HYD에서</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OT · IT</a:t>
            </a:r>
          </a:p>
        </p:txBody>
      </p:sp>
      <p:sp>
        <p:nvSpPr>
          <p:cNvPr id="12" name="TextBox 11"/>
          <p:cNvSpPr txBox="1"/>
          <p:nvPr/>
        </p:nvSpPr>
        <p:spPr>
          <a:xfrm>
            <a:off x="3200400" y="2029968"/>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Operational Technology · Information Technology</a:t>
            </a:r>
          </a:p>
        </p:txBody>
      </p:sp>
      <p:sp>
        <p:nvSpPr>
          <p:cNvPr id="13" name="TextBox 12"/>
          <p:cNvSpPr txBox="1"/>
          <p:nvPr/>
        </p:nvSpPr>
        <p:spPr>
          <a:xfrm>
            <a:off x="9448495" y="2029968"/>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설비 영역 · 분석 영역</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DMZ</a:t>
            </a:r>
          </a:p>
        </p:txBody>
      </p:sp>
      <p:sp>
        <p:nvSpPr>
          <p:cNvPr id="16" name="TextBox 15"/>
          <p:cNvSpPr txBox="1"/>
          <p:nvPr/>
        </p:nvSpPr>
        <p:spPr>
          <a:xfrm>
            <a:off x="3200400" y="2570607"/>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Demilitarized Zone</a:t>
            </a:r>
          </a:p>
        </p:txBody>
      </p:sp>
      <p:sp>
        <p:nvSpPr>
          <p:cNvPr id="17" name="TextBox 16"/>
          <p:cNvSpPr txBox="1"/>
          <p:nvPr/>
        </p:nvSpPr>
        <p:spPr>
          <a:xfrm>
            <a:off x="9448495" y="2570607"/>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수집 · 명령 검사 구역</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PLC</a:t>
            </a:r>
          </a:p>
        </p:txBody>
      </p:sp>
      <p:sp>
        <p:nvSpPr>
          <p:cNvPr id="20" name="TextBox 19"/>
          <p:cNvSpPr txBox="1"/>
          <p:nvPr/>
        </p:nvSpPr>
        <p:spPr>
          <a:xfrm>
            <a:off x="3200400" y="3111246"/>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Programmable Logic Controller</a:t>
            </a:r>
          </a:p>
        </p:txBody>
      </p:sp>
      <p:sp>
        <p:nvSpPr>
          <p:cNvPr id="21" name="TextBox 20"/>
          <p:cNvSpPr txBox="1"/>
          <p:nvPr/>
        </p:nvSpPr>
        <p:spPr>
          <a:xfrm>
            <a:off x="9448495" y="3111246"/>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센서 값 읽기 · 인터록</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MQTT</a:t>
            </a:r>
          </a:p>
        </p:txBody>
      </p:sp>
      <p:sp>
        <p:nvSpPr>
          <p:cNvPr id="24" name="TextBox 23"/>
          <p:cNvSpPr txBox="1"/>
          <p:nvPr/>
        </p:nvSpPr>
        <p:spPr>
          <a:xfrm>
            <a:off x="3200400" y="3651885"/>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Message Queuing Telemetry Transport</a:t>
            </a:r>
          </a:p>
        </p:txBody>
      </p:sp>
      <p:sp>
        <p:nvSpPr>
          <p:cNvPr id="25" name="TextBox 24"/>
          <p:cNvSpPr txBox="1"/>
          <p:nvPr/>
        </p:nvSpPr>
        <p:spPr>
          <a:xfrm>
            <a:off x="9448495" y="3651885"/>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브로커(예: EMQX)</a:t>
            </a:r>
          </a:p>
        </p:txBody>
      </p:sp>
      <p:sp>
        <p:nvSpPr>
          <p:cNvPr id="26" name="Rounded Rectangle 25"/>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SCADA</a:t>
            </a:r>
          </a:p>
        </p:txBody>
      </p:sp>
      <p:sp>
        <p:nvSpPr>
          <p:cNvPr id="28" name="TextBox 27"/>
          <p:cNvSpPr txBox="1"/>
          <p:nvPr/>
        </p:nvSpPr>
        <p:spPr>
          <a:xfrm>
            <a:off x="3200400" y="4192524"/>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Supervisory Control and Data Acquisition</a:t>
            </a:r>
          </a:p>
        </p:txBody>
      </p:sp>
      <p:sp>
        <p:nvSpPr>
          <p:cNvPr id="29" name="TextBox 28"/>
          <p:cNvSpPr txBox="1"/>
          <p:nvPr/>
        </p:nvSpPr>
        <p:spPr>
          <a:xfrm>
            <a:off x="9448495" y="4192524"/>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 화면</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HMI</a:t>
            </a:r>
          </a:p>
        </p:txBody>
      </p:sp>
      <p:sp>
        <p:nvSpPr>
          <p:cNvPr id="32" name="TextBox 31"/>
          <p:cNvSpPr txBox="1"/>
          <p:nvPr/>
        </p:nvSpPr>
        <p:spPr>
          <a:xfrm>
            <a:off x="3200400" y="4733163"/>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Human-Machine Interface</a:t>
            </a:r>
          </a:p>
        </p:txBody>
      </p:sp>
      <p:sp>
        <p:nvSpPr>
          <p:cNvPr id="33" name="TextBox 32"/>
          <p:cNvSpPr txBox="1"/>
          <p:nvPr/>
        </p:nvSpPr>
        <p:spPr>
          <a:xfrm>
            <a:off x="9448495" y="4733163"/>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 화면</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HITL</a:t>
            </a:r>
          </a:p>
        </p:txBody>
      </p:sp>
      <p:sp>
        <p:nvSpPr>
          <p:cNvPr id="36" name="TextBox 35"/>
          <p:cNvSpPr txBox="1"/>
          <p:nvPr/>
        </p:nvSpPr>
        <p:spPr>
          <a:xfrm>
            <a:off x="3200400" y="5273802"/>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Human-in-the-Loop</a:t>
            </a:r>
          </a:p>
        </p:txBody>
      </p:sp>
      <p:sp>
        <p:nvSpPr>
          <p:cNvPr id="37" name="TextBox 36"/>
          <p:cNvSpPr txBox="1"/>
          <p:nvPr/>
        </p:nvSpPr>
        <p:spPr>
          <a:xfrm>
            <a:off x="9448495" y="5273802"/>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담당자의 승인 · 거절</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MES</a:t>
            </a:r>
          </a:p>
        </p:txBody>
      </p:sp>
      <p:sp>
        <p:nvSpPr>
          <p:cNvPr id="40" name="TextBox 39"/>
          <p:cNvSpPr txBox="1"/>
          <p:nvPr/>
        </p:nvSpPr>
        <p:spPr>
          <a:xfrm>
            <a:off x="3200400" y="5814441"/>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Manufacturing Execution System</a:t>
            </a:r>
          </a:p>
        </p:txBody>
      </p:sp>
      <p:sp>
        <p:nvSpPr>
          <p:cNvPr id="41" name="TextBox 40"/>
          <p:cNvSpPr txBox="1"/>
          <p:nvPr/>
        </p:nvSpPr>
        <p:spPr>
          <a:xfrm>
            <a:off x="9448495" y="5814441"/>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납기의 출처</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경보 이후의 판단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HYD-01에서 쿨러 성능 저하 경보가 났고, 그때 팬 진동 VS1의 평균은 1.1 mm/s, 캐비닛 온도 TS4는 28 ℃였다.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95</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값에서 내릴 판단으로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경보 이름이 쿨러 성능 저하이므로 원인은 쿨러 핀 오염이다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진동이 기준 0.9 이상이므로 팬 구동 불량을 먼저 의심한다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유온이 올랐으므로 원인과 관계없이 팬을 최대로 올린다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캐비닛 온도가 정상이므로 설비에는 이상이 없다</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관계의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핀 오염」이라는 원인 노드와 「쿨러 냉각 성능 상실」이라는 고장 유형 노드를 관계로 이으려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96</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이름과 방향이 서로 맞게 적힌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냉각 성능 상실 — CAUSES → 쿨러 핀 오염</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CAUSED_BY → 쿨러 냉각 성능 상실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CAUSES → 쿨러 냉각 성능 상실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선만 이으면 되고 이름과 방향은 필요하지 않다</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추천과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원인을 쿨러 핀 오염으로 가리고 「팬 최대 운전」을 추천했으며 담당자는 아직 승인하지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97</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시점의 상태를 바르게 설명한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에이전트가 추천과 동시에 팬 속도 명령을 설비로 보냈다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지식 그래프에 조치가 연결되어 있으므로 승인 없이 실행된다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일정 시간이 지나면 추천안이 자동으로 실행된다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설비 명령은 아직 만들어지지 않았고 승인을 기다린다</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모두 값과 원인, 이름과 방향, 추천과 실행을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98</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경보는 조건이 성립했다는 사실만 알린다. 원인은 팬 진동과 캐비닛 온도 같은 다른 값으로 가른다.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문장으로 읽어 뜻이 통해야 한다. 「핀 오염은 냉각 성능 상실을 일으킨다」가 사실과 맞는다.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에이전트는 추천까지만 한다. 명령은 담당자가 승인한 뒤에만 만들어진다.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