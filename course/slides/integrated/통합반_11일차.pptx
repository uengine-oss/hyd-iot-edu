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단원에서는 쿨러 사건 한 건을 처음부터 끝까지 따라가며 지식과 에이전트와 프로세스가 서로 무엇을 주고받았는지를 잇습니다. 실습에서는 같은 구조를 각자의 주제에 작게 적용합니다. 이어지는 ProcessGPT 시연에서는 여기까지 배운 구조가 실제 제품에서 어디까지 넓어지는지를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두 복습 단원은 이 처리 건 한 건을 처음부터 끝까지 따라갑니다. 9일차에 긴급 대응 프로세스가 처리한 HYD-01의 쿨러 성능 저하 경보 한 건으로, 1~8일차에 본 경보와 같은 종류이며 식별자와 값은 이 처리 건의 것을 씁니다. 이 경보가 처리 건을 열었고, 에이전트의 진단과 제안, 운전원의 승인, 냉각 명령, 재관측, 작업지시 등록, 결과 보고를 거쳐 끝났습니다. 아래의 식별자는 자리마다 남은 기록의 이름입니다. 이 줄 위에서 지금까지 배운 것이 어느 구간에서 무슨 일을 했는지를 차례로 짚겠습니다.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줄 위에 세 영역을 놓았습니다. 맨 위의 긴 괄호가 프로세스로, 경보에서 끝까지 전체를 덮습니다. 파랗게 칠한 둘째 자리가 에이전트이며, 에이전트는 이 한 자리에서 일합니다. 아래의 상자가 지식으로, 에이전트의 자리로 올라가는 화살표 하나로 이어져 있습니다. 첫 단원은 이 화살표를, 둘째 단원은 에이전트의 자리에서 끝까지를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단계가 시작될 때 손에 쥔 것은 이 경보 메시지 한 건입니다. HYD-01에서 쿨러 성능 저하라는 조건이 성립했다는 것과 경보의 식별자가 전부입니다. 원인이 무엇인지, 어떤 조치가 가능한지, 무엇을 기준으로 판단하는지는 여기에 없습니다. 모자란 것은 모두 에이전트가 도구를 불러 읽어 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이 처리 건에서 부른 도구를 순서대로 놓았습니다. diagnose는 지식 그래프의 관계와 시계열 DB의 값을 읽어 원인을 가렸습니다. evaluate_cards는 SOP와, DMN 결정표로 적은 판단 규칙과, BSC 관점의 KPI로 정한 성과 기준으로 조치를 견주었고, mes_orders와 qms_lots는 업무 DB에서 생산과 품질의 사정을 읽었습니다. 마지막 submit_decision이 추천안을 제출했습니다. 아래 줄의 재료는 모두 1일차부터 4일차 사이에 정의하고 등록한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메시지와 지식 그래프는 따로 만들어졌지만 한 곳에서 만납니다. 경보의 pattern 값인 COOLER_DEGRADATION이 그래프의 이상 패턴 노드가 code 속성으로 가진 값과 같습니다. 그래서 diagnose는 이 값으로 출발 노드를 찾고, DETECTS와 INDICATES를 따라 고장 유형에 이른 뒤 CAUSES를 거슬러 원인 후보를 얻습니다. 2일차에 식별자를 여러 저장소가 함께 쓰도록 정한 까닭이 이 자리에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diagnose가 원인 후보를 찾을 때 보내는 조회문입니다. 첫 줄의 $pattern 자리에 경보의 pattern 값이 들어갑니다. AnomalyPattern, Symptom, FailureMode, Cause는 2일차에 정의한 클래스이고, DETECTS, INDICATES, CAUSES는 그때 이름과 방향을 정한 관계입니다. 스키마가 길을 정했고, 그 길을 따라가 돌아오는 것은 쿨러 핀 오염 같은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결과는 원인 하나가 아닙니다. 쿨러 핀 오염, 팬 구동 불량, 주변 온도 상승이라는 후보 셋과, 후보마다 붙어 있는 증거 기준입니다. 이 기준은 4일차에 설비 매뉴얼에서 추출하고 검토해 적재한 지식입니다. 기준에는 어느 센서의 값을 얼마와 견줄지만 적혀 있고, 지금의 값은 들어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기준과 값은 놓인 곳이 다릅니다. 냉각 효율이 70 % 미만이면 쿨러 핀 오염이라는 기준은 지식 그래프에 있고 문서가 개정될 때만 바뀝니다. 지금의 냉각 효율 46.2 %는 시계열 DB에 있고 계속 바뀝니다. diagnose는 한 번의 호출 안에서 두 곳을 모두 읽어, 읽은 값을 기준에 대어 원인을 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한 건을 입력과 출력으로 보겠습니다. 입력은 경보 메시지에 있던 설비와 패턴과 경보의 식별자입니다. 출력은 쿨러 핀 오염이라는 원인과 쿨러 냉각 성능 상실이라는 고장 유형이며, 둘 다 문장이 아니라 식별자로 돌아옵니다. 앞에 붙은 cause와 fm은 2일차에 정한 식별자 규칙의 접두사입니다.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사이를 넘어 다닌 것을 한 줄로 놓았습니다. 경보의 식별자가 diagnose에 들어가 고장 유형과 원인의 식별자가 나왔습니다. 그 둘이 evaluate_cards에 들어가 조치 방법의 식별자가 나왔고, submit_decision이 이것들을 묶어 추천안 하나로 제출했고 거기에 판단 id가 붙었습니다. 쿨러 핀 오염이라는 말 대신 식별자가 넘어가므로, 뒤의 도구가 다른 대상을 읽는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evaluate_cards 한 번의 호출이 돌려준 조치 후보 넷이며, 도구 이름의 카드는 이 후보 하나하나를 가리킵니다. 고장 유형에 이어진 SOP 넷이 후보가 되고, 3일차에 DMN 결정표로 적은 판단 규칙과 BSC 관점의 KPI로 정한 성과 기준이 순위를 매겼습니다. 같은 종류의 경보를 같은 지식으로 평가했으므로 순위와 점수는 3일차에 본 것과 같습니다. 여기서 볼 것은 오른쪽 칸으로, 앞의 셋은 운전원이 승인하고 쿨러 핀 세척은 설비보전팀장이 승인합니다. 뒤 단계에서 누가 승인하는가도 에이전트가 정하지 않고 지식에 적혀 있던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밖의 사정도 판단의 재료입니다. mes_orders는 HYD-01에 걸린 생산 오더를, qms_lots는 품질 로트를 업무 DB에서 읽습니다. qms는 품질 관리 시스템, Quality Management System의 약어입니다. 이런 값은 계속 바뀌므로 지식 그래프에는 값을 두지 않고, 값이 놓인 자리와 읽는 방법만 등록해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규칙과 함께 순위를 매긴 것이 성과 기준입니다. 3일차에 BSC의 관점마다 KPI, 곧 성과 지표를 정해 두었고, 에이전트가 낸 추천안에는 팬 최대 운전이 어느 지표를 올리고 어느 지표를 내리는지가 책임 부서와 함께 실렸습니다. 오른쪽은 앞 장의 두 도구가 업무 DB에서 읽어 온 값으로, 납기가 여섯 시간쯤 남은 OEM 오더와 출하를 기다리는 로트 800개입니다. 지표의 이름은 지식에서, 납기와 로트의 수는 원천에서 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앞선 호출의 결과가 추천안 한 건으로 묶여 제출되었고, 판단 id는 이 추천안에 붙은 번호입니다. 원인은 쿨러 핀 오염이고, 근거는 팬 진동이 정상인데 냉각 효율이 46.2 %로 떨어져 있다는 것입니다. 맞지 않은 후보 둘도 함께 적혔습니다. 맨 아래의 출처는 4일차에 문서를 적재하며 남긴 관계에서 온 것으로, 승인하는 사람이 근거 문서까지 거슬러 볼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지식이 에이전트의 입력이라는 것은 지식이 비었을 때 분명해집니다. 스키마에 관계가 없으면 그 관계를 따라가는 조회의 결과에 후보가 나오지 않습니다. 증거 기준이 없으면 값을 읽어도 원인을 가를 수 없어 가설로 남고, 읽지 못한 값은 UNKNOWN으로 남아 판단이 보류됩니다. 에이전트의 출력이 이상할 때 에이전트부터 고치지 않고 어느 지식이 비었는지를 먼저 보는 까닭입니다.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무엇이 바뀌었는가에 따라 고칠 곳이 다릅니다. 기준값이나 조치 방법이나 승인 역할이 바뀌었다면 지식을 고칩니다. 문서를 개정하고 검토해 다시 적재하면, 에이전트는 손대지 않아도 다음 판단부터 새 기준을 읽습니다. 일하는 순서나 결과의 모양을 바꾸려는 것이라면 그때는 스킬을 고치고 명세와 시나리오로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 한 건에 들어간 것을 출처로 나누었습니다. 원인 후보와 증거 기준, 조치 후보와 판단 규칙, 승인 역할과 근거 문서는 지식에서 읽었습니다. 냉각 효율과 생산, 품질의 사정은 원천에서 읽은 값입니다. 에이전트가 스스로 정한 것은 도구를 부르는 순서와 설명의 문장입니다. 그래서 실행마다 문장은 달라질 수 있어도 후보와 기준은 달라지지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정리합니다. 경보 한 건에서 시작해 지식과 값을 읽어 추천안 한 건이 제출되었습니다. 여기까지가 지식과 에이전트의 몫입니다. 그런데 이 시점에 팬은 그대로 돌고 유온도 그대로입니다. 회색으로 남은 자리들은 누군가 정해진 순서로 채워야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판단이 제출된 뒤에 남은 자리들입니다. 에이전트가 낸 것은 추천안이고, 추천안만으로는 설비에 아무 일도 일어나지 않습니다. 승인은 운전원이 맡고, 그 뒤의 명령과 재관측과 작업지시 등록과 결과 보고는 프로세스 엔진이 SCADA와 시계열 DB와 CMMS를 상대로 수행합니다. 자리마다 무엇을 기준으로 그 일을 하는지도 정해져 있습니다. 이 구간을 정해진 순서로 잇는 것이 프로세스입니다.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5일차부터 10일차까지 배운 장치를 두 쪽으로 나누었습니다. 에이전트 실행과 스킬과 MCP, 그리고 명세와 시나리오는 에이전트가 추천안 하나를 제대로 만들게 하는 장치입니다. 프로세스 정의와 인스턴스, 사람의 승인, 시스템 실행은 그 추천안을 끝난 업무로 잇는 장치입니다. 두 쪽은 하는 일이 달라 서로를 대신하지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장치가 같은 처리 건에서 실제로 한 일을 줄 위에 놓았습니다. 파란 상자로 두른 둘째 자리가 에이전트 쪽입니다. agent:cooling은 이 한 자리에서 도구를 10번 불렀고, 첫 호출로 cooling-emergency-response 스킬 문서를 읽은 뒤 hyd-dmn과 enterprise라는 MCP 서버의 도구로 지식과 값을 읽었습니다. 왼쪽 아래의 명세와 시나리오는 이 실행 안에서 일한 것이 아니라 출력의 형식과 기대 행동을 실행에 앞서 정해 둔 것입니다. 위쪽은 프로세스 쪽으로, 정의 c3_cooling에서 열린 인스턴스가 경보에서 끝까지를 덮고, 승인은 운전원 역할의 승인 기록 APPROVAL_ACCEPTED로, 시스템 실행은 설비 명령과 작업지시로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적은 문서가 둘 있었습니다. 스킬은 에이전트가 읽는 지침으로 한 단계 안에서 어느 도구를 어떤 순서로 부를지를 적으며, 왼쪽에 적은 것은 이 처리 건의 실행 기록에 남은 호출 순서입니다. 프로세스 정의는 엔진이 읽는 설계도로, 단계와 단계 사이의 순서를 정합니다. 스킬에 승인을 받으라고 적어도 승인이 보장되지는 않습니다. 단계 사이의 순서는 엔진이 지키기 때문에 승인 없이는 명령으로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쪽이 만나는 자리가 제출입니다. 엔진이 에이전트 단계를 열어 에이전트에게 맡기면, 에이전트는 스킬과 도구로 추천안을 만들어 제출합니다. 에이전트의 일은 거기까지입니다. 제출된 결과를 프로세스 변수에 담고 운전원 승인 단계를 여는 것은 엔진입니다. 에이전트는 다음에 누가 무엇을 하는지를 알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쪽의 명세와 프로세스 쪽의 변수가 만나는 곳입니다. 에이전트가 낸 추천안은 decision이라는 변수가 되어 운전원 승인 단계에 전해집니다. 운전원 승인이 낸 approval은 게이트웨이가 읽고, 재관측이 낸 recovered는 다음 게이트웨이가 읽습니다. 7일차에 결과 항목의 이름을 바꾸면 뒤 단계가 깨진다고 한 까닭이 여기에 있습니다. 출력 계약은 에이전트 혼자의 약속이 아니라 프로세스와 맺은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다릅니다. 에이전트에 연결된 MCP 도구는 지식과 값을 읽는 도구이고, 쓰기는 추천안을 제출하는 것 하나뿐입니다. 팬 속도를 바꾸는 명령과 작업지시의 등록처럼 설비와 업무 시스템을 실제로 바꾸는 쓰기는 프로세스의 서비스 작업에 있습니다. 그 작업은 승인이 전달된 뒤에만 열리므로, 에이전트가 잘못 판단해도 승인 없이는 아무것도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7일차에 배운 사람의 승인, HITL은 프로세스 그림에서 사용자 작업 하나로 그려집니다. 이 자리가 그림에 있어야 한다는 것은 검사로 지켜집니다. 설비 명령 앞의 경로에 사람의 승인이 없는 프로세스는 등록하기 전의 검사에서 거절됩니다. 거절의 갈래에서 실행에 닿는 경로가 있어도 마찬가지입니다. 실행 중에는 승인하려는 쪽이 그 조치의 승인 역할인지를 검사해, 아니면 거부하고 기록으로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처리 건의 줄 위에 사람이 결정을 맡는 자리를 놓았습니다. 가운데의 승인이 가장 눈에 띄지만 그것만은 아닙니다. 에이전트의 자리 위에는 에이전트의 질문에 답하는 일과 멈춘 작업을 닫는 일이 있습니다. 아래 왼쪽에는 에이전트가 읽을 지식을 검토해 승인하는 일이, 그 오른쪽에는 프로세스 정의를 고쳐 배포하는 일이 있습니다. 앞의 셋은 처리 건이 실행되는 동안의 결정이고, 아래의 둘은 실행에 앞서 기준을 정하는 결정입니다.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승인한 순간 처리 건에 남은 값입니다. 위의 세 줄은 프로세스 변수로, 승인이라는 결정과 고른 조치와 승인한 역할입니다. 아래의 두 줄은 처리 기록으로, 승인이 접수되고 다음 단계로 전달되었음을 적습니다. 승인한 역할은 에이전트가 자기 결과에 써넣을 수 없는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뒤에 엔진이 연 서비스 작업 셋입니다. 첫째로 SCADA를 거쳐 설비에 팬 속도 100 %의 명령을 냈고, 인터록 검사를 통과해 수행되었습니다. 둘째로 시계열 DB에서 유온을 다시 읽어 51.3 ℃로 기준 55 ℃ 아래임을 확인했습니다. 셋째로 CMMS에 작업지시를 등록했습니다. 가운데 화살표만 방향이 반대인 것은 재관측이 쓰는 일이 아니라 값을 읽어 오는 일이기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 어떻게 끝나는지는 사람의 결정이 정합니다. 승인하면 설비 명령과 작업지시가 한 건씩 실행되고 정상 종료에 닿습니다. 거절하면 시스템 실행은 한 건도 없이 거절의 끝 이벤트로 닫힙니다. 응답이 없으면 지연 알림만 나가고 처리 건은 닫히지 않은 채 승인을 계속 기다립니다. 에이전트의 추천안이 같아도 결말은 셋으로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쿨러 건 하나로 본 역할의 구분을 다른 두 업무에 대어 보겠습니다. 정기 점검에서는 agent:pm-plan이 정비할 시간을 추천하고 설비보전팀장이 승인하면 CMMS에 정비 오더가 등록됩니다. 재고 보충에서는 agent:spare-buy가 발주 수량과 공급사를 추천하고 구매 담당이 승인하면 ERP에 발주가 등록됩니다. 세 줄 모두 에이전트는 둘째 자리에서 추천안을 내는 데까지만 하고, 승인과 시스템 실행은 프로세스가 잇습니다. 업무가 달라져도 두 쪽의 역할은 같은 자리에 놓입니다.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8일차에 쓴 거절의 시나리오를 다시 보겠습니다. Given은 에이전트 단계가 끝나 승인 단계가 열린 상태이고, When은 사람의 거절이며, Then은 설비 명령이 만들어지지 않고 처리 건이 거절의 끝 이벤트로 닫힌다는 것입니다. 세 줄 모두 에이전트의 답이 아니라 프로세스의 행동을 말합니다. 8일차의 쿨러 사건 검사도 경보에서 종결까지의 전체를 확인한 것이었습니다.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장치를 위험별로 짝지었습니다. 근거가 모자란 추천안은 에이전트의 멈춤 조건이 먼저 보류로 걸러 내고, 그래도 올라온 것은 사람의 승인에서 걸립니다. 승인 없는 쓰기는 에이전트에게 읽기 도구만 주어 막고, 프로세스에서는 승인 조건의 갈림을 지나야만 실행에 닿게 합니다. 끝나지 않는 대기는 에이전트 쪽에서는 실행의 한도가, 프로세스 쪽에서는 승인 지연 타이머가 드러냅니다.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가려 두는 쓸모는 문제가 생겼을 때 드러납니다. 기준값이 틀렸거나 승인자가 맞지 않으면 지식을 봅니다. 읽어야 할 값을 읽지 않았거나 결과 항목의 이름이 다르면 스킬과 도구 연결, 명세를 봅니다. 승인 없이 다음 단계가 열렸거나 끝났는데 결과를 알 수 없으면 프로세스 정의와 끝 이벤트를 봅니다. 증상에서 영역을 먼저 가리면 고치지 않아도 될 곳을 건드리지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단원의 내용을 한 그림으로 묶습니다. 지식은 에이전트에게 관계와 기준이라는 재료를 건넵니다. 에이전트는 그것을 읽어 만든 추천안 한 건을 프로세스에 넘깁니다. 프로세스는 그 추천안을 사람의 승인과 시스템의 실행으로 잇고, 누가 무엇을 결정하고 실행했는지를 기록으로 남깁니다. 영역 사이를 넘어가는 것은 두 가지뿐이어서, 한 영역을 고칠 때 다른 영역은 그대로 둘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정리합니다. 에이전트의 추천안이 끝난 업무가 되려면 세 가지가 갖추어져야 합니다. 추천안의 근거가 등록된 지식과 읽은 값에 닿아 있어야 하고, 추천안이 명세가 정한 형식으로 제출되어야 하며, 정해진 역할이 승인하고 실행과 결과가 기록되어야 합니다. 이어지는 실습에서는 이 세 가지를 각자의 주제에 작게 만들어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각자에게 친숙한 작은 업무 하나를 고릅니다. 그 업무가 무엇을 받아 시작하는지, 어디에서 정보를 읽을 수 있는지, 에이전트가 무엇을 내는지, 사람이 어느 결과를 확인하는지, 무엇이 되면 끝났다고 보는지를 명세로 적습니다. 범위는 읽기, 분류, 추천처럼 이 시간 안에 끝까지 만들 수 있는 크기로 잡습니다. 끝나면 업무 명세 한 장이 남고, 뒤의 세 실습이 이 명세를 기준으로 삼습니다.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제공된 문서나 각자의 공개할 수 있는 자료에서 작은 지식 구조를 만듭니다. 문서에서 핵심 개념과 속성과 관계를 가려 스키마로 정의하고, 식별자와 출처를 붙인 샘플 인스턴스를 적습니다. 그런 다음 수업의 기준 그래프와 섞이지 않도록 따로 둔 이름 공간에 넣어, 답하려던 질문이 조회로 풀리는지를 확인합니다. 2일차와 4일차에 한 일을 각자의 주제에 작게 되풀이하는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앞서 만든 지식을 읽는 작은 에이전트를 구성합니다. 목표와 스킬을 적고, 쓸 수 있는 읽기 도구를 연결합니다. 이 에이전트는 정보가 확인될 때만 제안하고, 확인하지 못한 값이나 권한 밖의 작업은 지어내지 않고 보류로 냅니다. 5일차의 멈춤 조건과 6일차의 스킬을 각자의 주제에 적용하는 실습입니다.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작은 업무의 흐름을 bpmn.io로 그립니다. 시작에서 에이전트 작업, 필요한 자리의 사람 확인, 결과 보고를 거쳐 종료에 이릅니다. 그린 흐름을 등록해 실행하면 앞서 만든 에이전트가 그 단계에서 일하고, 처리 건의 기록이 남습니다. 외부 시스템에 쓰는 일처럼 준비된 범위 밖의 작업은 성공한 것으로 적지 않고, 하지 못한 일로 결과 보고에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이 과정에서 지식 그래프와 에이전트와 프로세스를 직접 만들고 포털에서 실행해 보았습니다. 같은 구조가 훨씬 고도화되어 적용된 제품이 ProcessGPT이며, 자신을 기업을 위한 BPMN 기반 멀티 에이전트 오케스트레이션 프레임워크라고 소개합니다. 오케스트레이션은 9일차에 배운 대로 한 주체가 전체 순서를 이끄는 방식이고, 여기서는 일을 맡는 쪽에 전문 에이전트가 여럿 들어갑니다. 셋째 줄은 제품이 내세우는 것으로, 판단 규칙과 승인과 감사 기록처럼 쿨러 사건에서 다룬 것에 말로 프로세스 정의를 만드는 일이 더해져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만든 것을 왼쪽에, 그것이 제품에서 나타나는 자리를 가운데에 놓았습니다. 지식은 제품에서도 그래프에 놓이고, 스키마를 설계하고 문서에서 지식을 추출하는 일은 온톨로지 도구가 맡습니다. 에이전트는 사람과 같은 사용자 목록의 한 행으로 등록되고, 도구는 조직 단위로 등록한 MCP 서버에서 나옵니다. 프로세스 쪽은 이름이 달라져서 처리 건은 프로세스 인스턴스, 단계는 워크아이템이라고 부릅니다. 이름은 달라도 구실이 같으므로 포털에서 처리 건과 단계를 읽던 방법으로 제품의 인스턴스와 워크아이템을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제품의 실행 구조를 한 그림으로 보겠습니다. 가운데가 워크아이템 목록이고, 왼쪽의 실행 엔진은 프로세스 정의를 읽어 다음 작업을 워크아이템으로 만들어 목록에 놓습니다. 오른쪽의 수행자는 자기에게 맡겨진 워크아이템을 처리해 결과를 제출합니다. 쿨러 사건으로 보면 에이전트의 워크아이템은 끝났고 운전원 승인이 처리 중입니다. 사람에게 맡겨진 워크아이템이 놓이는 곳을 이 과정에서는 작업함이라고 불렀습니다.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이 과정에서 배운 것이 제품에 그대로 보이는 자리입니다. 프로세스 정의와 인스턴스, 워크아이템의 상태, 에이전트 행, 사람 작업으로 그린 승인은 이름과 뜻까지 같습니다. 오른쪽은 제품에서 더 고도화된 것으로, 말로 설명해 정의를 만드는 길, 하위 프로세스와 다중 인스턴스, 여러 에이전트의 협업과 실행 방식, 문서 색인이 여기에 듭니다. 통제에서는 실패했을 때 끝난 작업을 되돌리는 보상과 프로세스 모델에 대는 감사가, 운영에서는 외부 알림 연동과 확장이 더해집니다.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시연에서는 네 가지를 눈여겨봅니다. 지식과 에이전트와 프로세스가 제품에서 어떤 이름으로 나타나는지, 정의 하나에서 열린 인스턴스가 에이전트 작업과 사람 작업으로 어떻게 이어지는지를 먼저 봅니다. 이어서 배운 구조 위에 무엇이 더해졌는지와, 승인과 권한과 감사 추적 같은 통제가 흐름의 어디에 놓이는지를 봅니다. 보고 난 뒤에는 눈앞의 것이 정의인지 인스턴스인지, 지금이 누구의 차례인지, 사람이 결정하는 자리가 어디인지를 가려낼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1일차에 준비한 Notion 학습 노트로 돌아갑니다. 과정에서 배운 개념, 그 개념이 나온 참고 자료, 직접 만든 실습 산출물, 그리고 그것이 정한 대로 동작했는지의 검증 결과를 서로 이어 기록합니다. 개념만 적힌 노트와 달리, 산출물과 검증 결과가 이어진 노트는 무엇을 할 수 있는지를 보여 줍니다. 끝나면 이 노트가 각자의 지식 자산으로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용어의 정식 명칭을 한곳에 모았습니다.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한 시점을 해석하는 문항입니다. 제출이라는 지점에서 에이전트의 몫과 프로세스의 몫이 어떻게 나뉘었는지를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근거가 놓인 곳을 구분하는 문항입니다. 증거 기준이 어디에 등록되어 있었고 에이전트가 그것을 어떻게 읽었는지를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책임의 경계를 묻는 문항입니다. 에이전트의 읽기와 프로세스의 쓰기가 어디에서 나뉘었는지, 스킬에 적은 순서와 엔진이 지키는 순서가 어떻게 달랐는지를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응답 없음을 승인으로 읽은 것입니다. 둘째 문항의 1번은 지식에 둘 기준을 스킬에 적은 것으로, 문서가 다시 바뀌면 두 곳이 어긋납니다. 셋째 문항의 2번은 스킬에 적은 순서를 엔진이 지키는 순서와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27.png"/><Relationship Id="rId6"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3.png"/><Relationship Id="rId6"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42.png"/><Relationship Id="rId5"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18.png"/><Relationship Id="rId7"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5.png"/><Relationship Id="rId4"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5.png"/><Relationship Id="rId6"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18.png"/><Relationship Id="rId6" Type="http://schemas.openxmlformats.org/officeDocument/2006/relationships/image" Target="../media/image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11일차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온톨로지 · 에이전트 · 프로세스의</a:t>
            </a:r>
          </a:p>
          <a:p>
            <a:pPr algn="l">
              <a:lnSpc>
                <a:spcPct val="110000"/>
              </a:lnSpc>
            </a:pPr>
            <a:r>
              <a:rPr sz="4000" b="1">
                <a:solidFill>
                  <a:srgbClr val="FFFFFF"/>
                </a:solidFill>
                <a:latin typeface="맑은 고딕"/>
                <a:ea typeface="맑은 고딕"/>
                <a:cs typeface="맑은 고딕"/>
              </a:rPr>
              <a:t>연결과 내 주제로의 적용</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사건 한 건으로 잇는 세 영역과 ProcessGPT 시연</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robot" descr="robo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ute" descr="rout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에이전트, 프로세스가 사건 한 건에서 주고받는 것을 설명하고, 같은 구조를 내 주제와 실제 제품에 대어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지식에서 판단까지</a:t>
            </a:r>
          </a:p>
          <a:p>
            <a:pPr algn="l">
              <a:lnSpc>
                <a:spcPct val="110000"/>
              </a:lnSpc>
              <a:spcAft>
                <a:spcPts val="400"/>
              </a:spcAft>
            </a:pPr>
            <a:r>
              <a:rPr sz="1350" b="0">
                <a:solidFill>
                  <a:srgbClr val="1F2A3A"/>
                </a:solidFill>
                <a:latin typeface="맑은 고딕"/>
                <a:ea typeface="맑은 고딕"/>
                <a:cs typeface="맑은 고딕"/>
              </a:rPr>
              <a:t>에이전트의 도구 호출마다 어느 지식과 값이 입력이 되었는지를 짚는다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제안에서 완료까지</a:t>
            </a:r>
          </a:p>
          <a:p>
            <a:pPr algn="l">
              <a:lnSpc>
                <a:spcPct val="110000"/>
              </a:lnSpc>
              <a:spcAft>
                <a:spcPts val="400"/>
              </a:spcAft>
            </a:pPr>
            <a:r>
              <a:rPr sz="1350" b="0">
                <a:solidFill>
                  <a:srgbClr val="1F2A3A"/>
                </a:solidFill>
                <a:latin typeface="맑은 고딕"/>
                <a:ea typeface="맑은 고딕"/>
                <a:cs typeface="맑은 고딕"/>
              </a:rPr>
              <a:t>추천안이 승인과 시스템 실행을 거쳐 끝나기까지 각 장치의 몫을 가린다</a:t>
            </a:r>
          </a:p>
        </p:txBody>
      </p:sp>
      <p:sp>
        <p:nvSpPr>
          <p:cNvPr id="16" name="Rounded Rectangle 15"/>
          <p:cNvSpPr/>
          <p:nvPr/>
        </p:nvSpPr>
        <p:spPr>
          <a:xfrm>
            <a:off x="3619423" y="5134356"/>
            <a:ext cx="18288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 · 프로세스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pencil" descr="pencil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내 주제에 적용</a:t>
            </a:r>
          </a:p>
          <a:p>
            <a:pPr algn="l">
              <a:lnSpc>
                <a:spcPct val="110000"/>
              </a:lnSpc>
              <a:spcAft>
                <a:spcPts val="400"/>
              </a:spcAft>
            </a:pPr>
            <a:r>
              <a:rPr sz="1350" b="0">
                <a:solidFill>
                  <a:srgbClr val="1F2A3A"/>
                </a:solidFill>
                <a:latin typeface="맑은 고딕"/>
                <a:ea typeface="맑은 고딕"/>
                <a:cs typeface="맑은 고딕"/>
              </a:rPr>
              <a:t>작은 업무 하나를 명세, 지식 구조, 에이전트, 프로세스로 만들어 실행한다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제품으로의 확장</a:t>
            </a:r>
          </a:p>
          <a:p>
            <a:pPr algn="l">
              <a:lnSpc>
                <a:spcPct val="110000"/>
              </a:lnSpc>
              <a:spcAft>
                <a:spcPts val="400"/>
              </a:spcAft>
            </a:pPr>
            <a:r>
              <a:rPr sz="1350" b="0">
                <a:solidFill>
                  <a:srgbClr val="1F2A3A"/>
                </a:solidFill>
                <a:latin typeface="맑은 고딕"/>
                <a:ea typeface="맑은 고딕"/>
                <a:cs typeface="맑은 고딕"/>
              </a:rPr>
              <a:t>ProcessGPT 시연에서 배운 구조가 그대로 보이는 자리와 더 고도화된 것을 가려낸다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지식에서 판단까지: 에이전트의 입력이 되는 현장 지식</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제안에서 완료까지: 에이전트와 프로세스의 역할</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ProcessGPT 시연</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지식에서 판단까지:</a:t>
            </a:r>
          </a:p>
          <a:p>
            <a:pPr algn="l">
              <a:lnSpc>
                <a:spcPct val="110000"/>
              </a:lnSpc>
            </a:pPr>
            <a:r>
              <a:rPr sz="3400" b="1">
                <a:solidFill>
                  <a:srgbClr val="13294B"/>
                </a:solidFill>
                <a:latin typeface="맑은 고딕"/>
                <a:ea typeface="맑은 고딕"/>
                <a:cs typeface="맑은 고딕"/>
              </a:rPr>
              <a:t>에이전트의 입력이 되는 현장 지식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한 건이 추천안 한 건이 되기까지 도구 호출마다 읽힌 지식과 값</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따라갈 처리 건 한 건: 경보에서 결과 보고까지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 한 건은 경보에서 끝까지의 자리를 차례로 지났고, 자리마다 식별자가 붙은 기록이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사건선_전체.svg" descr="illust_3614505458644883257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95714" y="2194925"/>
            <a:ext cx="7200266"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긴급 대응 프로세스의 처리 건 한 건</a:t>
            </a:r>
          </a:p>
          <a:p>
            <a:pPr algn="ctr">
              <a:lnSpc>
                <a:spcPct val="110000"/>
              </a:lnSpc>
              <a:spcAft>
                <a:spcPts val="100"/>
              </a:spcAft>
            </a:pPr>
            <a:r>
              <a:rPr sz="1100" b="0">
                <a:solidFill>
                  <a:srgbClr val="556175"/>
                </a:solidFill>
                <a:latin typeface="맑은 고딕"/>
                <a:ea typeface="맑은 고딕"/>
                <a:cs typeface="맑은 고딕"/>
              </a:rPr>
              <a:t>9일차에 프로세스가 처리한 쿨러 성능 저하 경보 한 건을 끝까지 따라간다</a:t>
            </a:r>
          </a:p>
        </p:txBody>
      </p:sp>
      <p:sp>
        <p:nvSpPr>
          <p:cNvPr id="8" name="TextBox 7"/>
          <p:cNvSpPr txBox="1"/>
          <p:nvPr/>
        </p:nvSpPr>
        <p:spPr>
          <a:xfrm>
            <a:off x="646554"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ALT-hyd01-0026-767a</a:t>
            </a:r>
          </a:p>
        </p:txBody>
      </p:sp>
      <p:sp>
        <p:nvSpPr>
          <p:cNvPr id="9" name="TextBox 8"/>
          <p:cNvSpPr txBox="1"/>
          <p:nvPr/>
        </p:nvSpPr>
        <p:spPr>
          <a:xfrm>
            <a:off x="2010241"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a:p>
            <a:pPr algn="ctr">
              <a:lnSpc>
                <a:spcPct val="110000"/>
              </a:lnSpc>
              <a:spcAft>
                <a:spcPts val="100"/>
              </a:spcAft>
            </a:pPr>
            <a:r>
              <a:rPr sz="1100" b="0">
                <a:solidFill>
                  <a:srgbClr val="556175"/>
                </a:solidFill>
                <a:latin typeface="맑은 고딕"/>
                <a:ea typeface="맑은 고딕"/>
                <a:cs typeface="맑은 고딕"/>
              </a:rPr>
              <a:t>DEC-1010-058-88a6</a:t>
            </a:r>
          </a:p>
        </p:txBody>
      </p:sp>
      <p:sp>
        <p:nvSpPr>
          <p:cNvPr id="10" name="TextBox 9"/>
          <p:cNvSpPr txBox="1"/>
          <p:nvPr/>
        </p:nvSpPr>
        <p:spPr>
          <a:xfrm>
            <a:off x="3395747"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1" name="TextBox 10"/>
          <p:cNvSpPr txBox="1"/>
          <p:nvPr/>
        </p:nvSpPr>
        <p:spPr>
          <a:xfrm>
            <a:off x="4737615"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CMD-1010-0001-01d1</a:t>
            </a:r>
          </a:p>
        </p:txBody>
      </p:sp>
      <p:sp>
        <p:nvSpPr>
          <p:cNvPr id="12" name="TextBox 11"/>
          <p:cNvSpPr txBox="1"/>
          <p:nvPr/>
        </p:nvSpPr>
        <p:spPr>
          <a:xfrm>
            <a:off x="6123121"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 51.3 ℃</a:t>
            </a:r>
          </a:p>
        </p:txBody>
      </p:sp>
      <p:sp>
        <p:nvSpPr>
          <p:cNvPr id="13" name="TextBox 12"/>
          <p:cNvSpPr txBox="1"/>
          <p:nvPr/>
        </p:nvSpPr>
        <p:spPr>
          <a:xfrm>
            <a:off x="7486808"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WO-1010-1198</a:t>
            </a:r>
          </a:p>
        </p:txBody>
      </p:sp>
      <p:sp>
        <p:nvSpPr>
          <p:cNvPr id="14" name="TextBox 13"/>
          <p:cNvSpPr txBox="1"/>
          <p:nvPr/>
        </p:nvSpPr>
        <p:spPr>
          <a:xfrm>
            <a:off x="8828676"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a:p>
            <a:pPr algn="ctr">
              <a:lnSpc>
                <a:spcPct val="110000"/>
              </a:lnSpc>
              <a:spcAft>
                <a:spcPts val="100"/>
              </a:spcAft>
            </a:pPr>
            <a:r>
              <a:rPr sz="1100" b="0">
                <a:solidFill>
                  <a:srgbClr val="556175"/>
                </a:solidFill>
                <a:latin typeface="맑은 고딕"/>
                <a:ea typeface="맑은 고딕"/>
                <a:cs typeface="맑은 고딕"/>
              </a:rPr>
              <a:t>유온 정상 · 경보 해제</a:t>
            </a:r>
          </a:p>
        </p:txBody>
      </p:sp>
      <p:sp>
        <p:nvSpPr>
          <p:cNvPr id="15" name="TextBox 14"/>
          <p:cNvSpPr txBox="1"/>
          <p:nvPr/>
        </p:nvSpPr>
        <p:spPr>
          <a:xfrm>
            <a:off x="10323276" y="4275002"/>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영역이 맡은 구간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지식은 판단의 재료를 대고, 에이전트는 한 자리에서 판단하며, 프로세스는 처음부터 끝까지의 순서와 책임을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사건선_영역.svg" descr="illust_7169711022442737646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950239" y="1627632"/>
            <a:ext cx="8291216"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 9~10일차: 경보에서 끝까지의 순서와 책임</a:t>
            </a:r>
          </a:p>
        </p:txBody>
      </p:sp>
      <p:sp>
        <p:nvSpPr>
          <p:cNvPr id="8" name="TextBox 7"/>
          <p:cNvSpPr txBox="1"/>
          <p:nvPr/>
        </p:nvSpPr>
        <p:spPr>
          <a:xfrm>
            <a:off x="1377491" y="2336749"/>
            <a:ext cx="261827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 · 5~8일차</a:t>
            </a:r>
          </a:p>
        </p:txBody>
      </p:sp>
      <p:sp>
        <p:nvSpPr>
          <p:cNvPr id="9" name="TextBox 8"/>
          <p:cNvSpPr txBox="1"/>
          <p:nvPr/>
        </p:nvSpPr>
        <p:spPr>
          <a:xfrm>
            <a:off x="668373"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3395747"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1" name="TextBox 10"/>
          <p:cNvSpPr txBox="1"/>
          <p:nvPr/>
        </p:nvSpPr>
        <p:spPr>
          <a:xfrm>
            <a:off x="4759434"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2" name="TextBox 11"/>
          <p:cNvSpPr txBox="1"/>
          <p:nvPr/>
        </p:nvSpPr>
        <p:spPr>
          <a:xfrm>
            <a:off x="6123121"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p:txBody>
      </p:sp>
      <p:sp>
        <p:nvSpPr>
          <p:cNvPr id="13" name="TextBox 12"/>
          <p:cNvSpPr txBox="1"/>
          <p:nvPr/>
        </p:nvSpPr>
        <p:spPr>
          <a:xfrm>
            <a:off x="7486808"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a:t>
            </a:r>
          </a:p>
        </p:txBody>
      </p:sp>
      <p:sp>
        <p:nvSpPr>
          <p:cNvPr id="14" name="TextBox 13"/>
          <p:cNvSpPr txBox="1"/>
          <p:nvPr/>
        </p:nvSpPr>
        <p:spPr>
          <a:xfrm>
            <a:off x="8850495"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5" name="TextBox 14"/>
          <p:cNvSpPr txBox="1"/>
          <p:nvPr/>
        </p:nvSpPr>
        <p:spPr>
          <a:xfrm>
            <a:off x="10323276" y="2738582"/>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a:t>
            </a:r>
          </a:p>
        </p:txBody>
      </p:sp>
      <p:sp>
        <p:nvSpPr>
          <p:cNvPr id="16" name="TextBox 15"/>
          <p:cNvSpPr txBox="1"/>
          <p:nvPr/>
        </p:nvSpPr>
        <p:spPr>
          <a:xfrm>
            <a:off x="4568518" y="5031394"/>
            <a:ext cx="349103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지식 · 1~4일차</a:t>
            </a:r>
          </a:p>
          <a:p>
            <a:pPr algn="ctr">
              <a:lnSpc>
                <a:spcPct val="110000"/>
              </a:lnSpc>
              <a:spcAft>
                <a:spcPts val="100"/>
              </a:spcAft>
            </a:pPr>
            <a:r>
              <a:rPr sz="1300" b="0">
                <a:solidFill>
                  <a:srgbClr val="556175"/>
                </a:solidFill>
                <a:latin typeface="맑은 고딕"/>
                <a:ea typeface="맑은 고딕"/>
                <a:cs typeface="맑은 고딕"/>
              </a:rPr>
              <a:t>지식 그래프, SOP와 판단 규칙,</a:t>
            </a:r>
          </a:p>
          <a:p>
            <a:pPr algn="ctr">
              <a:lnSpc>
                <a:spcPct val="110000"/>
              </a:lnSpc>
              <a:spcAft>
                <a:spcPts val="100"/>
              </a:spcAft>
            </a:pPr>
            <a:r>
              <a:rPr sz="1300" b="0">
                <a:solidFill>
                  <a:srgbClr val="556175"/>
                </a:solidFill>
                <a:latin typeface="맑은 고딕"/>
                <a:ea typeface="맑은 고딕"/>
                <a:cs typeface="맑은 고딕"/>
              </a:rPr>
              <a:t>시계열 DB와 업무 DB의 값</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단계가 받는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단계가 열릴 때 주어지는 것은 경보 메시지 한 건이며, 그 안에는 원인도 조치도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있는 것</a:t>
            </a:r>
          </a:p>
          <a:p>
            <a:pPr algn="l">
              <a:lnSpc>
                <a:spcPct val="110000"/>
              </a:lnSpc>
              <a:spcAft>
                <a:spcPts val="400"/>
              </a:spcAft>
            </a:pPr>
            <a:r>
              <a:rPr sz="1400" b="0">
                <a:solidFill>
                  <a:srgbClr val="1F2A3A"/>
                </a:solidFill>
                <a:latin typeface="맑은 고딕"/>
                <a:ea typeface="맑은 고딕"/>
                <a:cs typeface="맑은 고딕"/>
              </a:rPr>
              <a:t>어느 설비에서 어떤 조건이</a:t>
            </a:r>
          </a:p>
          <a:p>
            <a:pPr algn="l">
              <a:lnSpc>
                <a:spcPct val="110000"/>
              </a:lnSpc>
              <a:spcAft>
                <a:spcPts val="400"/>
              </a:spcAft>
            </a:pPr>
            <a:r>
              <a:rPr sz="1400" b="0">
                <a:solidFill>
                  <a:srgbClr val="1F2A3A"/>
                </a:solidFill>
                <a:latin typeface="맑은 고딕"/>
                <a:ea typeface="맑은 고딕"/>
                <a:cs typeface="맑은 고딕"/>
              </a:rPr>
              <a:t>성립했는지와 경보의 식별자이다.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있지 않은 것</a:t>
            </a:r>
          </a:p>
          <a:p>
            <a:pPr algn="l">
              <a:lnSpc>
                <a:spcPct val="110000"/>
              </a:lnSpc>
              <a:spcAft>
                <a:spcPts val="400"/>
              </a:spcAft>
            </a:pPr>
            <a:r>
              <a:rPr sz="1400" b="0">
                <a:solidFill>
                  <a:srgbClr val="1F2A3A"/>
                </a:solidFill>
                <a:latin typeface="맑은 고딕"/>
                <a:ea typeface="맑은 고딕"/>
                <a:cs typeface="맑은 고딕"/>
              </a:rPr>
              <a:t>원인 후보, 조치 방법,</a:t>
            </a:r>
          </a:p>
          <a:p>
            <a:pPr algn="l">
              <a:lnSpc>
                <a:spcPct val="110000"/>
              </a:lnSpc>
              <a:spcAft>
                <a:spcPts val="400"/>
              </a:spcAft>
            </a:pPr>
            <a:r>
              <a:rPr sz="1400" b="0">
                <a:solidFill>
                  <a:srgbClr val="1F2A3A"/>
                </a:solidFill>
                <a:latin typeface="맑은 고딕"/>
                <a:ea typeface="맑은 고딕"/>
                <a:cs typeface="맑은 고딕"/>
              </a:rPr>
              <a:t>판단 기준, 지금의 납기이다.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채우는 길</a:t>
            </a:r>
          </a:p>
          <a:p>
            <a:pPr algn="l">
              <a:lnSpc>
                <a:spcPct val="110000"/>
              </a:lnSpc>
              <a:spcAft>
                <a:spcPts val="400"/>
              </a:spcAft>
            </a:pPr>
            <a:r>
              <a:rPr sz="1400" b="0">
                <a:solidFill>
                  <a:srgbClr val="1F2A3A"/>
                </a:solidFill>
                <a:latin typeface="맑은 고딕"/>
                <a:ea typeface="맑은 고딕"/>
                <a:cs typeface="맑은 고딕"/>
              </a:rPr>
              <a:t>에이전트가 도구를 불러</a:t>
            </a:r>
          </a:p>
          <a:p>
            <a:pPr algn="l">
              <a:lnSpc>
                <a:spcPct val="110000"/>
              </a:lnSpc>
              <a:spcAft>
                <a:spcPts val="400"/>
              </a:spcAft>
            </a:pPr>
            <a:r>
              <a:rPr sz="1400" b="0">
                <a:solidFill>
                  <a:srgbClr val="1F2A3A"/>
                </a:solidFill>
                <a:latin typeface="맑은 고딕"/>
                <a:ea typeface="맑은 고딕"/>
                <a:cs typeface="맑은 고딕"/>
              </a:rPr>
              <a:t>지식과 값을 읽어 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호출마다 읽는 지식과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도구를 차례로 불러 판단을 만들었고, 호출마다 읽은 재료는 앞선 일차에 정의하고 등록해 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호출과지식.svg" descr="illust_3183643196174708811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1911278"/>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입력</a:t>
            </a:r>
          </a:p>
        </p:txBody>
      </p:sp>
      <p:sp>
        <p:nvSpPr>
          <p:cNvPr id="8" name="TextBox 7"/>
          <p:cNvSpPr txBox="1"/>
          <p:nvPr/>
        </p:nvSpPr>
        <p:spPr>
          <a:xfrm>
            <a:off x="2768451"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diagnose</a:t>
            </a:r>
          </a:p>
          <a:p>
            <a:pPr algn="ctr">
              <a:lnSpc>
                <a:spcPct val="110000"/>
              </a:lnSpc>
              <a:spcAft>
                <a:spcPts val="100"/>
              </a:spcAft>
            </a:pPr>
            <a:r>
              <a:rPr sz="1100" b="0">
                <a:solidFill>
                  <a:srgbClr val="556175"/>
                </a:solidFill>
                <a:latin typeface="맑은 고딕"/>
                <a:ea typeface="맑은 고딕"/>
                <a:cs typeface="맑은 고딕"/>
              </a:rPr>
              <a:t>원인을 가린다</a:t>
            </a:r>
          </a:p>
        </p:txBody>
      </p:sp>
      <p:sp>
        <p:nvSpPr>
          <p:cNvPr id="9" name="TextBox 8"/>
          <p:cNvSpPr txBox="1"/>
          <p:nvPr/>
        </p:nvSpPr>
        <p:spPr>
          <a:xfrm>
            <a:off x="4863074"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evaluate_cards</a:t>
            </a:r>
          </a:p>
          <a:p>
            <a:pPr algn="ctr">
              <a:lnSpc>
                <a:spcPct val="110000"/>
              </a:lnSpc>
              <a:spcAft>
                <a:spcPts val="100"/>
              </a:spcAft>
            </a:pPr>
            <a:r>
              <a:rPr sz="1100" b="0">
                <a:solidFill>
                  <a:srgbClr val="556175"/>
                </a:solidFill>
                <a:latin typeface="맑은 고딕"/>
                <a:ea typeface="맑은 고딕"/>
                <a:cs typeface="맑은 고딕"/>
              </a:rPr>
              <a:t>조치를 견준다</a:t>
            </a:r>
          </a:p>
        </p:txBody>
      </p:sp>
      <p:sp>
        <p:nvSpPr>
          <p:cNvPr id="10" name="TextBox 9"/>
          <p:cNvSpPr txBox="1"/>
          <p:nvPr/>
        </p:nvSpPr>
        <p:spPr>
          <a:xfrm>
            <a:off x="6837693" y="1864004"/>
            <a:ext cx="1963709" cy="71678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mes_orders · qms_lots</a:t>
            </a:r>
          </a:p>
          <a:p>
            <a:pPr algn="ctr">
              <a:lnSpc>
                <a:spcPct val="110000"/>
              </a:lnSpc>
              <a:spcAft>
                <a:spcPts val="100"/>
              </a:spcAft>
            </a:pPr>
            <a:r>
              <a:rPr sz="1100" b="0">
                <a:solidFill>
                  <a:srgbClr val="556175"/>
                </a:solidFill>
                <a:latin typeface="맑은 고딕"/>
                <a:ea typeface="맑은 고딕"/>
                <a:cs typeface="맑은 고딕"/>
              </a:rPr>
              <a:t>업무의 사정을 읽는다</a:t>
            </a:r>
          </a:p>
        </p:txBody>
      </p:sp>
      <p:sp>
        <p:nvSpPr>
          <p:cNvPr id="11" name="TextBox 10"/>
          <p:cNvSpPr txBox="1"/>
          <p:nvPr/>
        </p:nvSpPr>
        <p:spPr>
          <a:xfrm>
            <a:off x="8954135"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submit_decision</a:t>
            </a:r>
          </a:p>
          <a:p>
            <a:pPr algn="ctr">
              <a:lnSpc>
                <a:spcPct val="110000"/>
              </a:lnSpc>
              <a:spcAft>
                <a:spcPts val="100"/>
              </a:spcAft>
            </a:pPr>
            <a:r>
              <a:rPr sz="1100" b="0">
                <a:solidFill>
                  <a:srgbClr val="556175"/>
                </a:solidFill>
                <a:latin typeface="맑은 고딕"/>
                <a:ea typeface="맑은 고딕"/>
                <a:cs typeface="맑은 고딕"/>
              </a:rPr>
              <a:t>추천안을 제출한다</a:t>
            </a:r>
          </a:p>
        </p:txBody>
      </p:sp>
      <p:sp>
        <p:nvSpPr>
          <p:cNvPr id="12" name="TextBox 11"/>
          <p:cNvSpPr txBox="1"/>
          <p:nvPr/>
        </p:nvSpPr>
        <p:spPr>
          <a:xfrm>
            <a:off x="1699321" y="5598688"/>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a:p>
            <a:pPr algn="ctr">
              <a:lnSpc>
                <a:spcPct val="110000"/>
              </a:lnSpc>
              <a:spcAft>
                <a:spcPts val="100"/>
              </a:spcAft>
            </a:pPr>
            <a:r>
              <a:rPr sz="1100" b="0">
                <a:solidFill>
                  <a:srgbClr val="556175"/>
                </a:solidFill>
                <a:latin typeface="맑은 고딕"/>
                <a:ea typeface="맑은 고딕"/>
                <a:cs typeface="맑은 고딕"/>
              </a:rPr>
              <a:t>관계와 원인 후보</a:t>
            </a:r>
          </a:p>
        </p:txBody>
      </p:sp>
      <p:sp>
        <p:nvSpPr>
          <p:cNvPr id="13" name="TextBox 12"/>
          <p:cNvSpPr txBox="1"/>
          <p:nvPr/>
        </p:nvSpPr>
        <p:spPr>
          <a:xfrm>
            <a:off x="3335745" y="5598688"/>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시계열 DB</a:t>
            </a:r>
          </a:p>
          <a:p>
            <a:pPr algn="ctr">
              <a:lnSpc>
                <a:spcPct val="110000"/>
              </a:lnSpc>
              <a:spcAft>
                <a:spcPts val="100"/>
              </a:spcAft>
            </a:pPr>
            <a:r>
              <a:rPr sz="1100" b="0">
                <a:solidFill>
                  <a:srgbClr val="556175"/>
                </a:solidFill>
                <a:latin typeface="맑은 고딕"/>
                <a:ea typeface="맑은 고딕"/>
                <a:cs typeface="맑은 고딕"/>
              </a:rPr>
              <a:t>지금의 센서 값</a:t>
            </a:r>
          </a:p>
        </p:txBody>
      </p:sp>
      <p:sp>
        <p:nvSpPr>
          <p:cNvPr id="14" name="TextBox 13"/>
          <p:cNvSpPr txBox="1"/>
          <p:nvPr/>
        </p:nvSpPr>
        <p:spPr>
          <a:xfrm>
            <a:off x="4481242" y="5598688"/>
            <a:ext cx="250918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SOP와 판단 규칙(DMN)</a:t>
            </a:r>
          </a:p>
          <a:p>
            <a:pPr algn="ctr">
              <a:lnSpc>
                <a:spcPct val="110000"/>
              </a:lnSpc>
              <a:spcAft>
                <a:spcPts val="100"/>
              </a:spcAft>
            </a:pPr>
            <a:r>
              <a:rPr sz="1100" b="0">
                <a:solidFill>
                  <a:srgbClr val="556175"/>
                </a:solidFill>
                <a:latin typeface="맑은 고딕"/>
                <a:ea typeface="맑은 고딕"/>
                <a:cs typeface="맑은 고딕"/>
              </a:rPr>
              <a:t>성과 기준(BSC · KPI)</a:t>
            </a:r>
          </a:p>
        </p:txBody>
      </p:sp>
      <p:sp>
        <p:nvSpPr>
          <p:cNvPr id="15" name="TextBox 14"/>
          <p:cNvSpPr txBox="1"/>
          <p:nvPr/>
        </p:nvSpPr>
        <p:spPr>
          <a:xfrm>
            <a:off x="6946788" y="559868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a:p>
            <a:pPr algn="ctr">
              <a:lnSpc>
                <a:spcPct val="110000"/>
              </a:lnSpc>
              <a:spcAft>
                <a:spcPts val="100"/>
              </a:spcAft>
            </a:pPr>
            <a:r>
              <a:rPr sz="1100" b="0">
                <a:solidFill>
                  <a:srgbClr val="556175"/>
                </a:solidFill>
                <a:latin typeface="맑은 고딕"/>
                <a:ea typeface="맑은 고딕"/>
                <a:cs typeface="맑은 고딕"/>
              </a:rPr>
              <a:t>생산 오더와 품질 로트</a:t>
            </a:r>
          </a:p>
        </p:txBody>
      </p:sp>
      <p:sp>
        <p:nvSpPr>
          <p:cNvPr id="16" name="TextBox 15"/>
          <p:cNvSpPr txBox="1"/>
          <p:nvPr/>
        </p:nvSpPr>
        <p:spPr>
          <a:xfrm>
            <a:off x="9041411" y="4842296"/>
            <a:ext cx="218189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읽기만 한다</a:t>
            </a:r>
          </a:p>
          <a:p>
            <a:pPr algn="ctr">
              <a:lnSpc>
                <a:spcPct val="110000"/>
              </a:lnSpc>
              <a:spcAft>
                <a:spcPts val="100"/>
              </a:spcAft>
            </a:pPr>
            <a:r>
              <a:rPr sz="1100" b="0">
                <a:solidFill>
                  <a:srgbClr val="556175"/>
                </a:solidFill>
                <a:latin typeface="맑은 고딕"/>
                <a:ea typeface="맑은 고딕"/>
                <a:cs typeface="맑은 고딕"/>
              </a:rPr>
              <a:t>지식과 값은 모두 도구를 거쳐 읽는다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경보의 패턴에서 원인 후보까지: 그래프로 들어가는 입구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경보의 pattern 값 COOLER_DEGRADATION이 이상 패턴 노드의 code 속성과 같아서, 경보가 그래프의 출발점이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Oval 5"/>
          <p:cNvSpPr/>
          <p:nvPr/>
        </p:nvSpPr>
        <p:spPr>
          <a:xfrm>
            <a:off x="54863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이상 패턴</a:t>
            </a:r>
          </a:p>
          <a:p>
            <a:pPr algn="ctr">
              <a:lnSpc>
                <a:spcPct val="110000"/>
              </a:lnSpc>
            </a:pPr>
            <a:r>
              <a:rPr sz="1100" b="0">
                <a:solidFill>
                  <a:srgbClr val="556175"/>
                </a:solidFill>
                <a:latin typeface="맑은 고딕"/>
                <a:ea typeface="맑은 고딕"/>
                <a:cs typeface="맑은 고딕"/>
              </a:rPr>
              <a:t>쿨러 성능 저하</a:t>
            </a:r>
          </a:p>
        </p:txBody>
      </p:sp>
      <p:sp>
        <p:nvSpPr>
          <p:cNvPr id="8" name="Oval 7"/>
          <p:cNvSpPr/>
          <p:nvPr/>
        </p:nvSpPr>
        <p:spPr>
          <a:xfrm>
            <a:off x="3730038" y="3122676"/>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851653"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증상</a:t>
            </a:r>
          </a:p>
          <a:p>
            <a:pPr algn="ctr">
              <a:lnSpc>
                <a:spcPct val="110000"/>
              </a:lnSpc>
            </a:pPr>
            <a:r>
              <a:rPr sz="1100" b="0">
                <a:solidFill>
                  <a:srgbClr val="556175"/>
                </a:solidFill>
                <a:latin typeface="맑은 고딕"/>
                <a:ea typeface="맑은 고딕"/>
                <a:cs typeface="맑은 고딕"/>
              </a:rPr>
              <a:t>유온 상승</a:t>
            </a:r>
          </a:p>
        </p:txBody>
      </p:sp>
      <p:sp>
        <p:nvSpPr>
          <p:cNvPr id="10" name="Oval 9"/>
          <p:cNvSpPr/>
          <p:nvPr/>
        </p:nvSpPr>
        <p:spPr>
          <a:xfrm>
            <a:off x="6817866"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6939482"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고장 유형</a:t>
            </a:r>
          </a:p>
          <a:p>
            <a:pPr algn="ctr">
              <a:lnSpc>
                <a:spcPct val="110000"/>
              </a:lnSpc>
            </a:pPr>
            <a:r>
              <a:rPr sz="1100" b="0">
                <a:solidFill>
                  <a:srgbClr val="556175"/>
                </a:solidFill>
                <a:latin typeface="맑은 고딕"/>
                <a:ea typeface="맑은 고딕"/>
                <a:cs typeface="맑은 고딕"/>
              </a:rPr>
              <a:t>쿨러 냉각</a:t>
            </a:r>
          </a:p>
          <a:p>
            <a:pPr algn="ctr">
              <a:lnSpc>
                <a:spcPct val="110000"/>
              </a:lnSpc>
            </a:pPr>
            <a:r>
              <a:rPr sz="1100" b="0">
                <a:solidFill>
                  <a:srgbClr val="556175"/>
                </a:solidFill>
                <a:latin typeface="맑은 고딕"/>
                <a:ea typeface="맑은 고딕"/>
                <a:cs typeface="맑은 고딕"/>
              </a:rPr>
              <a:t>성능 상실</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원인</a:t>
            </a:r>
          </a:p>
          <a:p>
            <a:pPr algn="ctr">
              <a:lnSpc>
                <a:spcPct val="110000"/>
              </a:lnSpc>
            </a:pPr>
            <a:r>
              <a:rPr sz="1100" b="0">
                <a:solidFill>
                  <a:srgbClr val="556175"/>
                </a:solidFill>
                <a:latin typeface="맑은 고딕"/>
                <a:ea typeface="맑은 고딕"/>
                <a:cs typeface="맑은 고딕"/>
              </a:rPr>
              <a:t>후보 셋</a:t>
            </a:r>
          </a:p>
        </p:txBody>
      </p:sp>
      <p:cxnSp>
        <p:nvCxnSpPr>
          <p:cNvPr id="14" name="Connector 13"/>
          <p:cNvCxnSpPr/>
          <p:nvPr/>
        </p:nvCxnSpPr>
        <p:spPr>
          <a:xfrm>
            <a:off x="2331720" y="3991356"/>
            <a:ext cx="1325166" cy="0"/>
          </a:xfrm>
          <a:prstGeom prst="line">
            <a:avLst/>
          </a:prstGeom>
          <a:ln w="28575">
            <a:solidFill>
              <a:srgbClr val="13294B"/>
            </a:solidFill>
            <a:tailEnd type="triangle" w="med" len="med"/>
          </a:ln>
        </p:spPr>
      </p:cxnSp>
      <p:sp>
        <p:nvSpPr>
          <p:cNvPr id="15" name="Rounded Rectangle 14"/>
          <p:cNvSpPr/>
          <p:nvPr/>
        </p:nvSpPr>
        <p:spPr>
          <a:xfrm>
            <a:off x="2483167" y="3625596"/>
            <a:ext cx="10222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2483167" y="3625596"/>
            <a:ext cx="10222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DETECTS</a:t>
            </a:r>
          </a:p>
        </p:txBody>
      </p:sp>
      <p:cxnSp>
        <p:nvCxnSpPr>
          <p:cNvPr id="17" name="Connector 16"/>
          <p:cNvCxnSpPr/>
          <p:nvPr/>
        </p:nvCxnSpPr>
        <p:spPr>
          <a:xfrm>
            <a:off x="5513118" y="3991356"/>
            <a:ext cx="1231596" cy="0"/>
          </a:xfrm>
          <a:prstGeom prst="line">
            <a:avLst/>
          </a:prstGeom>
          <a:ln w="28575">
            <a:solidFill>
              <a:srgbClr val="13294B"/>
            </a:solidFill>
            <a:tailEnd type="triangle" w="med" len="med"/>
          </a:ln>
        </p:spPr>
      </p:cxnSp>
      <p:sp>
        <p:nvSpPr>
          <p:cNvPr id="18" name="Rounded Rectangle 17"/>
          <p:cNvSpPr/>
          <p:nvPr/>
        </p:nvSpPr>
        <p:spPr>
          <a:xfrm>
            <a:off x="5510931" y="3625596"/>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5510931" y="3625596"/>
            <a:ext cx="12359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INDICATES</a:t>
            </a:r>
          </a:p>
        </p:txBody>
      </p:sp>
      <p:cxnSp>
        <p:nvCxnSpPr>
          <p:cNvPr id="20" name="Connector 19"/>
          <p:cNvCxnSpPr/>
          <p:nvPr/>
        </p:nvCxnSpPr>
        <p:spPr>
          <a:xfrm flipH="1">
            <a:off x="8628378" y="3991356"/>
            <a:ext cx="1231597" cy="0"/>
          </a:xfrm>
          <a:prstGeom prst="line">
            <a:avLst/>
          </a:prstGeom>
          <a:ln w="28575">
            <a:solidFill>
              <a:srgbClr val="13294B"/>
            </a:solidFill>
            <a:tailEnd type="triangle" w="med" len="med"/>
          </a:ln>
        </p:spPr>
      </p:cxnSp>
      <p:sp>
        <p:nvSpPr>
          <p:cNvPr id="21" name="Rounded Rectangle 20"/>
          <p:cNvSpPr/>
          <p:nvPr/>
        </p:nvSpPr>
        <p:spPr>
          <a:xfrm>
            <a:off x="8786466" y="3625596"/>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8786466" y="3625596"/>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스키마가 정한 관계가 조회의 길이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2일차에 정의한 클래스와 관계의 이름이 그대로 조회문에 쓰이며, 스키마에 없는 관계는 에이전트가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(p:AnomalyPattern {code: $pattern})</a:t>
            </a:r>
          </a:p>
          <a:p>
            <a:pPr algn="l">
              <a:lnSpc>
                <a:spcPct val="110000"/>
              </a:lnSpc>
              <a:spcAft>
                <a:spcPts val="200"/>
              </a:spcAft>
            </a:pPr>
            <a:r>
              <a:rPr sz="1300" b="0">
                <a:solidFill>
                  <a:srgbClr val="E8EEF6"/>
                </a:solidFill>
                <a:latin typeface="Consolas"/>
                <a:ea typeface="맑은 고딕"/>
                <a:cs typeface="맑은 고딕"/>
              </a:rPr>
              <a:t>      -[:DETECTS]-&gt;(s:Symptom)</a:t>
            </a:r>
          </a:p>
          <a:p>
            <a:pPr algn="l">
              <a:lnSpc>
                <a:spcPct val="110000"/>
              </a:lnSpc>
              <a:spcAft>
                <a:spcPts val="200"/>
              </a:spcAft>
            </a:pPr>
            <a:r>
              <a:rPr sz="1300" b="0">
                <a:solidFill>
                  <a:srgbClr val="E8EEF6"/>
                </a:solidFill>
                <a:latin typeface="Consolas"/>
                <a:ea typeface="맑은 고딕"/>
                <a:cs typeface="맑은 고딕"/>
              </a:rPr>
              <a:t>      -[:INDICATES]-&gt;(fm:FailureMode)</a:t>
            </a:r>
          </a:p>
          <a:p>
            <a:pPr algn="l">
              <a:lnSpc>
                <a:spcPct val="110000"/>
              </a:lnSpc>
              <a:spcAft>
                <a:spcPts val="200"/>
              </a:spcAft>
            </a:pPr>
            <a:r>
              <a:rPr sz="1300" b="0">
                <a:solidFill>
                  <a:srgbClr val="E8EEF6"/>
                </a:solidFill>
                <a:latin typeface="Consolas"/>
                <a:ea typeface="맑은 고딕"/>
                <a:cs typeface="맑은 고딕"/>
              </a:rPr>
              <a:t>      &lt;-[:CAUSES]-(c:Cause)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경보의 pattern 값이</a:t>
            </a:r>
          </a:p>
          <a:p>
            <a:pPr algn="l">
              <a:lnSpc>
                <a:spcPct val="110000"/>
              </a:lnSpc>
              <a:spcAft>
                <a:spcPts val="400"/>
              </a:spcAft>
            </a:pPr>
            <a:r>
              <a:rPr sz="1400" b="0">
                <a:solidFill>
                  <a:srgbClr val="1F2A3A"/>
                </a:solidFill>
                <a:latin typeface="맑은 고딕"/>
                <a:ea typeface="맑은 고딕"/>
                <a:cs typeface="맑은 고딕"/>
              </a:rPr>
              <a:t>이 자리에 들어간다.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클래스와 관계</a:t>
            </a:r>
          </a:p>
          <a:p>
            <a:pPr algn="l">
              <a:lnSpc>
                <a:spcPct val="110000"/>
              </a:lnSpc>
              <a:spcAft>
                <a:spcPts val="400"/>
              </a:spcAft>
            </a:pPr>
            <a:r>
              <a:rPr sz="1400" b="0">
                <a:solidFill>
                  <a:srgbClr val="1F2A3A"/>
                </a:solidFill>
                <a:latin typeface="맑은 고딕"/>
                <a:ea typeface="맑은 고딕"/>
                <a:cs typeface="맑은 고딕"/>
              </a:rPr>
              <a:t>노드의 종류와 관계의 이름,</a:t>
            </a:r>
          </a:p>
          <a:p>
            <a:pPr algn="l">
              <a:lnSpc>
                <a:spcPct val="110000"/>
              </a:lnSpc>
              <a:spcAft>
                <a:spcPts val="400"/>
              </a:spcAft>
            </a:pPr>
            <a:r>
              <a:rPr sz="1400" b="0">
                <a:solidFill>
                  <a:srgbClr val="1F2A3A"/>
                </a:solidFill>
                <a:latin typeface="맑은 고딕"/>
                <a:ea typeface="맑은 고딕"/>
                <a:cs typeface="맑은 고딕"/>
              </a:rPr>
              <a:t>방향은 스키마가 정했다.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돌아오는 것</a:t>
            </a:r>
          </a:p>
          <a:p>
            <a:pPr algn="l">
              <a:lnSpc>
                <a:spcPct val="110000"/>
              </a:lnSpc>
              <a:spcAft>
                <a:spcPts val="400"/>
              </a:spcAft>
            </a:pPr>
            <a:r>
              <a:rPr sz="1400" b="0">
                <a:solidFill>
                  <a:srgbClr val="1F2A3A"/>
                </a:solidFill>
                <a:latin typeface="맑은 고딕"/>
                <a:ea typeface="맑은 고딕"/>
                <a:cs typeface="맑은 고딕"/>
              </a:rPr>
              <a:t>쿨러 핀 오염 같은</a:t>
            </a:r>
          </a:p>
          <a:p>
            <a:pPr algn="l">
              <a:lnSpc>
                <a:spcPct val="110000"/>
              </a:lnSpc>
              <a:spcAft>
                <a:spcPts val="400"/>
              </a:spcAft>
            </a:pPr>
            <a:r>
              <a:rPr sz="1400" b="0">
                <a:solidFill>
                  <a:srgbClr val="1F2A3A"/>
                </a:solidFill>
                <a:latin typeface="맑은 고딕"/>
                <a:ea typeface="맑은 고딕"/>
                <a:cs typeface="맑은 고딕"/>
              </a:rPr>
              <a:t>인스턴스이다.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조회가 돌려준 것: 원인 후보 셋과 증거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조회의 결과는 원인 후보 셋이며, 후보마다 어느 값을 얼마와 견줄지를 적은 증거 기준이 붙어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원인후보.svg" descr="illust_2580380579412065399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준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미만이고 VS1 0.9 mm/s 미만</a:t>
            </a:r>
          </a:p>
        </p:txBody>
      </p:sp>
      <p:sp>
        <p:nvSpPr>
          <p:cNvPr id="12" name="TextBox 11"/>
          <p:cNvSpPr txBox="1"/>
          <p:nvPr/>
        </p:nvSpPr>
        <p:spPr>
          <a:xfrm>
            <a:off x="7394077" y="3627342"/>
            <a:ext cx="403651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a:t>
            </a:r>
          </a:p>
        </p:txBody>
      </p:sp>
      <p:sp>
        <p:nvSpPr>
          <p:cNvPr id="13" name="TextBox 12"/>
          <p:cNvSpPr txBox="1"/>
          <p:nvPr/>
        </p:nvSpPr>
        <p:spPr>
          <a:xfrm>
            <a:off x="7394077" y="5102306"/>
            <a:ext cx="403651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증거 기준과 현재 값: 한 호출이 읽는 두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 기준은 지식 그래프에, 견줄 값은 시계열 DB에 있어서 diagnose는 한 번의 호출 안에서 두 곳을 모두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 그래프의 증거 기준</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쿨러 핀 오염: 냉각 효율 70 % 미만</a:t>
            </a:r>
          </a:p>
          <a:p>
            <a:pPr algn="l">
              <a:lnSpc>
                <a:spcPct val="110000"/>
              </a:lnSpc>
              <a:spcAft>
                <a:spcPts val="600"/>
              </a:spcAft>
            </a:pPr>
            <a:r>
              <a:rPr sz="1450" b="0">
                <a:solidFill>
                  <a:srgbClr val="1F2A3A"/>
                </a:solidFill>
                <a:latin typeface="맑은 고딕"/>
                <a:ea typeface="맑은 고딕"/>
                <a:cs typeface="맑은 고딕"/>
              </a:rPr>
              <a:t>• 매뉴얼에서 인제스천해 등록한 지식이다</a:t>
            </a:r>
          </a:p>
          <a:p>
            <a:pPr algn="l">
              <a:lnSpc>
                <a:spcPct val="110000"/>
              </a:lnSpc>
              <a:spcAft>
                <a:spcPts val="600"/>
              </a:spcAft>
            </a:pPr>
            <a:r>
              <a:rPr sz="1450" b="0">
                <a:solidFill>
                  <a:srgbClr val="1F2A3A"/>
                </a:solidFill>
                <a:latin typeface="맑은 고딕"/>
                <a:ea typeface="맑은 고딕"/>
                <a:cs typeface="맑은 고딕"/>
              </a:rPr>
              <a:t>• 문서가 개정될 때만 바뀐다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정적 지식</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시계열 DB의 현재 값</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 46.2 %</a:t>
            </a:r>
          </a:p>
          <a:p>
            <a:pPr algn="l">
              <a:lnSpc>
                <a:spcPct val="110000"/>
              </a:lnSpc>
              <a:spcAft>
                <a:spcPts val="600"/>
              </a:spcAft>
            </a:pPr>
            <a:r>
              <a:rPr sz="1450" b="0">
                <a:solidFill>
                  <a:srgbClr val="1F2A3A"/>
                </a:solidFill>
                <a:latin typeface="맑은 고딕"/>
                <a:ea typeface="맑은 고딕"/>
                <a:cs typeface="맑은 고딕"/>
              </a:rPr>
              <a:t>• 판단하는 순간에 읽은 값이다</a:t>
            </a:r>
          </a:p>
          <a:p>
            <a:pPr algn="l">
              <a:lnSpc>
                <a:spcPct val="110000"/>
              </a:lnSpc>
              <a:spcAft>
                <a:spcPts val="600"/>
              </a:spcAft>
            </a:pPr>
            <a:r>
              <a:rPr sz="1450" b="0">
                <a:solidFill>
                  <a:srgbClr val="1F2A3A"/>
                </a:solidFill>
                <a:latin typeface="맑은 고딕"/>
                <a:ea typeface="맑은 고딕"/>
                <a:cs typeface="맑은 고딕"/>
              </a:rPr>
              <a:t>• 다음 판단에서는 다른 값이 읽힌다</a:t>
            </a:r>
          </a:p>
        </p:txBody>
      </p:sp>
      <p:sp>
        <p:nvSpPr>
          <p:cNvPr id="18" name="Rounded Rectangle 17"/>
          <p:cNvSpPr/>
          <p:nvPr/>
        </p:nvSpPr>
        <p:spPr>
          <a:xfrm>
            <a:off x="6781647" y="4945570"/>
            <a:ext cx="868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현재 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diagnose 호출 한 건: 입력과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diagnose에 들어간 것은 경보에 실려 온 식별자 셋이고, 나온 것은 확정된 원인과 고장 유형의 식별자이다.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alert_id   ALT-hyd01-0026-767a</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p>
          <a:p>
            <a:pPr algn="l">
              <a:lnSpc>
                <a:spcPct val="110000"/>
              </a:lnSpc>
              <a:spcAft>
                <a:spcPts val="200"/>
              </a:spcAft>
            </a:pPr>
            <a:r>
              <a:rPr sz="1300" b="0">
                <a:solidFill>
                  <a:srgbClr val="E8EEF6"/>
                </a:solidFill>
                <a:latin typeface="Consolas"/>
                <a:ea typeface="맑은 고딕"/>
                <a:cs typeface="맑은 고딕"/>
              </a:rPr>
              <a:t>cause          cause:cooler-fin-fouling</a:t>
            </a:r>
          </a:p>
          <a:p>
            <a:pPr algn="l">
              <a:lnSpc>
                <a:spcPct val="110000"/>
              </a:lnSpc>
              <a:spcAft>
                <a:spcPts val="200"/>
              </a:spcAft>
            </a:pPr>
            <a:r>
              <a:rPr sz="1300" b="0">
                <a:solidFill>
                  <a:srgbClr val="E8EEF6"/>
                </a:solidFill>
                <a:latin typeface="Consolas"/>
                <a:ea typeface="맑은 고딕"/>
                <a:cs typeface="맑은 고딕"/>
              </a:rPr>
              <a:t>failure_mode   fm:cooler-performance-loss</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입력</a:t>
            </a:r>
          </a:p>
          <a:p>
            <a:pPr algn="l">
              <a:lnSpc>
                <a:spcPct val="110000"/>
              </a:lnSpc>
              <a:spcAft>
                <a:spcPts val="400"/>
              </a:spcAft>
            </a:pPr>
            <a:r>
              <a:rPr sz="1400" b="0">
                <a:solidFill>
                  <a:srgbClr val="1F2A3A"/>
                </a:solidFill>
                <a:latin typeface="맑은 고딕"/>
                <a:ea typeface="맑은 고딕"/>
                <a:cs typeface="맑은 고딕"/>
              </a:rPr>
              <a:t>경보 메시지의 값을</a:t>
            </a:r>
          </a:p>
          <a:p>
            <a:pPr algn="l">
              <a:lnSpc>
                <a:spcPct val="110000"/>
              </a:lnSpc>
              <a:spcAft>
                <a:spcPts val="400"/>
              </a:spcAft>
            </a:pPr>
            <a:r>
              <a:rPr sz="1400" b="0">
                <a:solidFill>
                  <a:srgbClr val="1F2A3A"/>
                </a:solidFill>
                <a:latin typeface="맑은 고딕"/>
                <a:ea typeface="맑은 고딕"/>
                <a:cs typeface="맑은 고딕"/>
              </a:rPr>
              <a:t>그대로 넘긴다.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a:t>
            </a:r>
          </a:p>
          <a:p>
            <a:pPr algn="l">
              <a:lnSpc>
                <a:spcPct val="110000"/>
              </a:lnSpc>
              <a:spcAft>
                <a:spcPts val="400"/>
              </a:spcAft>
            </a:pPr>
            <a:r>
              <a:rPr sz="1400" b="0">
                <a:solidFill>
                  <a:srgbClr val="1F2A3A"/>
                </a:solidFill>
                <a:latin typeface="맑은 고딕"/>
                <a:ea typeface="맑은 고딕"/>
                <a:cs typeface="맑은 고딕"/>
              </a:rPr>
              <a:t>원인과 고장 유형이</a:t>
            </a:r>
          </a:p>
          <a:p>
            <a:pPr algn="l">
              <a:lnSpc>
                <a:spcPct val="110000"/>
              </a:lnSpc>
              <a:spcAft>
                <a:spcPts val="400"/>
              </a:spcAft>
            </a:pPr>
            <a:r>
              <a:rPr sz="1400" b="0">
                <a:solidFill>
                  <a:srgbClr val="1F2A3A"/>
                </a:solidFill>
                <a:latin typeface="맑은 고딕"/>
                <a:ea typeface="맑은 고딕"/>
                <a:cs typeface="맑은 고딕"/>
              </a:rPr>
              <a:t>문장이 아닌 식별자로 돌아온다.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식별자의 접두사</a:t>
            </a:r>
          </a:p>
          <a:p>
            <a:pPr algn="l">
              <a:lnSpc>
                <a:spcPct val="110000"/>
              </a:lnSpc>
              <a:spcAft>
                <a:spcPts val="400"/>
              </a:spcAft>
            </a:pPr>
            <a:r>
              <a:rPr sz="1400" b="0">
                <a:solidFill>
                  <a:srgbClr val="1F2A3A"/>
                </a:solidFill>
                <a:latin typeface="맑은 고딕"/>
                <a:ea typeface="맑은 고딕"/>
                <a:cs typeface="맑은 고딕"/>
              </a:rPr>
              <a:t>cause:와 fm:이</a:t>
            </a:r>
          </a:p>
          <a:p>
            <a:pPr algn="l">
              <a:lnSpc>
                <a:spcPct val="110000"/>
              </a:lnSpc>
              <a:spcAft>
                <a:spcPts val="400"/>
              </a:spcAft>
            </a:pPr>
            <a:r>
              <a:rPr sz="1400" b="0">
                <a:solidFill>
                  <a:srgbClr val="1F2A3A"/>
                </a:solidFill>
                <a:latin typeface="맑은 고딕"/>
                <a:ea typeface="맑은 고딕"/>
                <a:cs typeface="맑은 고딕"/>
              </a:rPr>
              <a:t>클래스를 드러낸다.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식별자의 전달: 앞 호출의 출력이 다음 호출의 입력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호출과 호출 사이에는 식별자가 넘어가므로, 뒤의 도구는 앞의 도구가 가리킨 바로 그 대상을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143551"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diagnose</a:t>
            </a:r>
          </a:p>
        </p:txBody>
      </p:sp>
      <p:sp>
        <p:nvSpPr>
          <p:cNvPr id="9" name="Oval 8"/>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0" name="아이콘:bell" descr="bell_13294B_1.6.png"/>
          <p:cNvPicPr>
            <a:picLocks noChangeAspect="1"/>
          </p:cNvPicPr>
          <p:nvPr/>
        </p:nvPicPr>
        <p:blipFill>
          <a:blip r:embed="rId3"/>
          <a:stretch>
            <a:fillRect/>
          </a:stretch>
        </p:blipFill>
        <p:spPr>
          <a:xfrm>
            <a:off x="1358088" y="3339255"/>
            <a:ext cx="599985" cy="599985"/>
          </a:xfrm>
          <a:prstGeom prst="rect">
            <a:avLst/>
          </a:prstGeom>
        </p:spPr>
      </p:pic>
      <p:sp>
        <p:nvSpPr>
          <p:cNvPr id="11" name="TextBox 10"/>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경보</a:t>
            </a:r>
          </a:p>
          <a:p>
            <a:pPr algn="ctr">
              <a:lnSpc>
                <a:spcPct val="110000"/>
              </a:lnSpc>
              <a:spcAft>
                <a:spcPts val="400"/>
              </a:spcAft>
            </a:pPr>
            <a:r>
              <a:rPr sz="1300" b="0">
                <a:solidFill>
                  <a:srgbClr val="1F2A3A"/>
                </a:solidFill>
                <a:latin typeface="맑은 고딕"/>
                <a:ea typeface="맑은 고딕"/>
                <a:cs typeface="맑은 고딕"/>
              </a:rPr>
              <a:t>ALT-hyd01-</a:t>
            </a:r>
          </a:p>
          <a:p>
            <a:pPr algn="ctr">
              <a:lnSpc>
                <a:spcPct val="110000"/>
              </a:lnSpc>
              <a:spcAft>
                <a:spcPts val="400"/>
              </a:spcAft>
            </a:pPr>
            <a:r>
              <a:rPr sz="1300" b="0">
                <a:solidFill>
                  <a:srgbClr val="1F2A3A"/>
                </a:solidFill>
                <a:latin typeface="맑은 고딕"/>
                <a:ea typeface="맑은 고딕"/>
                <a:cs typeface="맑은 고딕"/>
              </a:rPr>
              <a:t>0026-767a</a:t>
            </a:r>
          </a:p>
        </p:txBody>
      </p:sp>
      <p:sp>
        <p:nvSpPr>
          <p:cNvPr id="12" name="Chevron 11"/>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4362434"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diagnose</a:t>
            </a:r>
          </a:p>
        </p:txBody>
      </p:sp>
      <p:sp>
        <p:nvSpPr>
          <p:cNvPr id="14" name="Oval 13"/>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3576971" y="3339255"/>
            <a:ext cx="599985" cy="599985"/>
          </a:xfrm>
          <a:prstGeom prst="rect">
            <a:avLst/>
          </a:prstGeom>
        </p:spPr>
      </p:pic>
      <p:sp>
        <p:nvSpPr>
          <p:cNvPr id="16" name="TextBox 15"/>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고장 유형</a:t>
            </a:r>
          </a:p>
          <a:p>
            <a:pPr algn="ctr">
              <a:lnSpc>
                <a:spcPct val="110000"/>
              </a:lnSpc>
              <a:spcAft>
                <a:spcPts val="400"/>
              </a:spcAft>
            </a:pPr>
            <a:r>
              <a:rPr sz="1300" b="0">
                <a:solidFill>
                  <a:srgbClr val="1F2A3A"/>
                </a:solidFill>
                <a:latin typeface="맑은 고딕"/>
                <a:ea typeface="맑은 고딕"/>
                <a:cs typeface="맑은 고딕"/>
              </a:rPr>
              <a:t>fm:cooler-</a:t>
            </a:r>
          </a:p>
          <a:p>
            <a:pPr algn="ctr">
              <a:lnSpc>
                <a:spcPct val="110000"/>
              </a:lnSpc>
              <a:spcAft>
                <a:spcPts val="400"/>
              </a:spcAft>
            </a:pPr>
            <a:r>
              <a:rPr sz="1300" b="0">
                <a:solidFill>
                  <a:srgbClr val="1F2A3A"/>
                </a:solidFill>
                <a:latin typeface="맑은 고딕"/>
                <a:ea typeface="맑은 고딕"/>
                <a:cs typeface="맑은 고딕"/>
              </a:rPr>
              <a:t>performance-loss</a:t>
            </a:r>
          </a:p>
        </p:txBody>
      </p:sp>
      <p:sp>
        <p:nvSpPr>
          <p:cNvPr id="17" name="Chevron 16"/>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6581317"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evaluate</a:t>
            </a:r>
          </a:p>
        </p:txBody>
      </p:sp>
      <p:sp>
        <p:nvSpPr>
          <p:cNvPr id="19" name="Oval 18"/>
          <p:cNvSpPr/>
          <p:nvPr/>
        </p:nvSpPr>
        <p:spPr>
          <a:xfrm>
            <a:off x="5518938"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0" name="아이콘:search" descr="search_13294B_1.6.png"/>
          <p:cNvPicPr>
            <a:picLocks noChangeAspect="1"/>
          </p:cNvPicPr>
          <p:nvPr/>
        </p:nvPicPr>
        <p:blipFill>
          <a:blip r:embed="rId5"/>
          <a:stretch>
            <a:fillRect/>
          </a:stretch>
        </p:blipFill>
        <p:spPr>
          <a:xfrm>
            <a:off x="5795854" y="3339255"/>
            <a:ext cx="599985" cy="599985"/>
          </a:xfrm>
          <a:prstGeom prst="rect">
            <a:avLst/>
          </a:prstGeom>
        </p:spPr>
      </p:pic>
      <p:sp>
        <p:nvSpPr>
          <p:cNvPr id="21" name="TextBox 20"/>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원인</a:t>
            </a:r>
          </a:p>
          <a:p>
            <a:pPr algn="ctr">
              <a:lnSpc>
                <a:spcPct val="110000"/>
              </a:lnSpc>
              <a:spcAft>
                <a:spcPts val="400"/>
              </a:spcAft>
            </a:pPr>
            <a:r>
              <a:rPr sz="1300" b="0">
                <a:solidFill>
                  <a:srgbClr val="1F2A3A"/>
                </a:solidFill>
                <a:latin typeface="맑은 고딕"/>
                <a:ea typeface="맑은 고딕"/>
                <a:cs typeface="맑은 고딕"/>
              </a:rPr>
              <a:t>cause:cooler-</a:t>
            </a:r>
          </a:p>
          <a:p>
            <a:pPr algn="ctr">
              <a:lnSpc>
                <a:spcPct val="110000"/>
              </a:lnSpc>
              <a:spcAft>
                <a:spcPts val="400"/>
              </a:spcAft>
            </a:pPr>
            <a:r>
              <a:rPr sz="1300" b="0">
                <a:solidFill>
                  <a:srgbClr val="1F2A3A"/>
                </a:solidFill>
                <a:latin typeface="맑은 고딕"/>
                <a:ea typeface="맑은 고딕"/>
                <a:cs typeface="맑은 고딕"/>
              </a:rPr>
              <a:t>fin-fouling</a:t>
            </a:r>
          </a:p>
        </p:txBody>
      </p:sp>
      <p:sp>
        <p:nvSpPr>
          <p:cNvPr id="22" name="Chevron 21"/>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3" name="TextBox 22"/>
          <p:cNvSpPr txBox="1"/>
          <p:nvPr/>
        </p:nvSpPr>
        <p:spPr>
          <a:xfrm>
            <a:off x="8800200"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submit</a:t>
            </a:r>
          </a:p>
        </p:txBody>
      </p:sp>
      <p:sp>
        <p:nvSpPr>
          <p:cNvPr id="24" name="Oval 23"/>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5" name="아이콘:tool" descr="tool_13294B_1.6.png"/>
          <p:cNvPicPr>
            <a:picLocks noChangeAspect="1"/>
          </p:cNvPicPr>
          <p:nvPr/>
        </p:nvPicPr>
        <p:blipFill>
          <a:blip r:embed="rId6"/>
          <a:stretch>
            <a:fillRect/>
          </a:stretch>
        </p:blipFill>
        <p:spPr>
          <a:xfrm>
            <a:off x="8014737" y="3339255"/>
            <a:ext cx="599985" cy="599985"/>
          </a:xfrm>
          <a:prstGeom prst="rect">
            <a:avLst/>
          </a:prstGeom>
        </p:spPr>
      </p:pic>
      <p:sp>
        <p:nvSpPr>
          <p:cNvPr id="26" name="TextBox 25"/>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조치 방법</a:t>
            </a:r>
          </a:p>
          <a:p>
            <a:pPr algn="ctr">
              <a:lnSpc>
                <a:spcPct val="110000"/>
              </a:lnSpc>
              <a:spcAft>
                <a:spcPts val="400"/>
              </a:spcAft>
            </a:pPr>
            <a:r>
              <a:rPr sz="1300" b="0">
                <a:solidFill>
                  <a:srgbClr val="1F2A3A"/>
                </a:solidFill>
                <a:latin typeface="맑은 고딕"/>
                <a:ea typeface="맑은 고딕"/>
                <a:cs typeface="맑은 고딕"/>
              </a:rPr>
              <a:t>skill:</a:t>
            </a:r>
          </a:p>
          <a:p>
            <a:pPr algn="ctr">
              <a:lnSpc>
                <a:spcPct val="110000"/>
              </a:lnSpc>
              <a:spcAft>
                <a:spcPts val="400"/>
              </a:spcAft>
            </a:pPr>
            <a:r>
              <a:rPr sz="1300" b="0">
                <a:solidFill>
                  <a:srgbClr val="1F2A3A"/>
                </a:solidFill>
                <a:latin typeface="맑은 고딕"/>
                <a:ea typeface="맑은 고딕"/>
                <a:cs typeface="맑은 고딕"/>
              </a:rPr>
              <a:t>sop-cool-11</a:t>
            </a:r>
          </a:p>
        </p:txBody>
      </p:sp>
      <p:sp>
        <p:nvSpPr>
          <p:cNvPr id="27" name="Oval 26"/>
          <p:cNvSpPr/>
          <p:nvPr/>
        </p:nvSpPr>
        <p:spPr>
          <a:xfrm>
            <a:off x="9956704"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28" name="아이콘:file-check" descr="file-check_13294B_1.6.png"/>
          <p:cNvPicPr>
            <a:picLocks noChangeAspect="1"/>
          </p:cNvPicPr>
          <p:nvPr/>
        </p:nvPicPr>
        <p:blipFill>
          <a:blip r:embed="rId7"/>
          <a:stretch>
            <a:fillRect/>
          </a:stretch>
        </p:blipFill>
        <p:spPr>
          <a:xfrm>
            <a:off x="10233620" y="3339255"/>
            <a:ext cx="599985" cy="599985"/>
          </a:xfrm>
          <a:prstGeom prst="rect">
            <a:avLst/>
          </a:prstGeom>
        </p:spPr>
      </p:pic>
      <p:sp>
        <p:nvSpPr>
          <p:cNvPr id="29" name="TextBox 28"/>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추천안</a:t>
            </a:r>
          </a:p>
          <a:p>
            <a:pPr algn="ctr">
              <a:lnSpc>
                <a:spcPct val="110000"/>
              </a:lnSpc>
              <a:spcAft>
                <a:spcPts val="400"/>
              </a:spcAft>
            </a:pPr>
            <a:r>
              <a:rPr sz="1300" b="0">
                <a:solidFill>
                  <a:srgbClr val="1F2A3A"/>
                </a:solidFill>
                <a:latin typeface="맑은 고딕"/>
                <a:ea typeface="맑은 고딕"/>
                <a:cs typeface="맑은 고딕"/>
              </a:rPr>
              <a:t>판단 id DEC-1010-</a:t>
            </a:r>
          </a:p>
          <a:p>
            <a:pPr algn="ctr">
              <a:lnSpc>
                <a:spcPct val="110000"/>
              </a:lnSpc>
              <a:spcAft>
                <a:spcPts val="400"/>
              </a:spcAft>
            </a:pPr>
            <a:r>
              <a:rPr sz="1300" b="0">
                <a:solidFill>
                  <a:srgbClr val="1F2A3A"/>
                </a:solidFill>
                <a:latin typeface="맑은 고딕"/>
                <a:ea typeface="맑은 고딕"/>
                <a:cs typeface="맑은 고딕"/>
              </a:rPr>
              <a:t>058-88a6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evaluate_cards의 결과: 순위와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SOP에서 나온 조치 후보를 판단 규칙과 성과 기준으로 평가한 결과에는 후보마다 정해진 승인 역할이 함께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순위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조치와 점수</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승인 역할</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1순위 · 추천</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 (SOP-COOL-11) · 점수 +3.38</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공동 2순위</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부하 70 %와 야간 핀 세척 (SOP-COOL-13) · 점수 +2.75</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공동 2순위</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운전과 부하 80 % (SOP-COOL-12) · 점수 +2.75</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4순위</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 (SOP-COOL-14) · 점수 -1.58</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설비보전팀장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 DB에서 읽는 값: 생산 오더와 품질 로트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생산과 품질의 사정은 그래프에 값으로 두지 않고, 판단할 때마다 mes_orders와 qms_lots로 업무 DB에서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mes_orders</a:t>
            </a:r>
          </a:p>
          <a:p>
            <a:pPr algn="l">
              <a:lnSpc>
                <a:spcPct val="110000"/>
              </a:lnSpc>
              <a:spcAft>
                <a:spcPts val="200"/>
              </a:spcAft>
            </a:pPr>
            <a:r>
              <a:rPr sz="1150" b="0">
                <a:solidFill>
                  <a:srgbClr val="556175"/>
                </a:solidFill>
                <a:latin typeface="맑은 고딕"/>
                <a:ea typeface="맑은 고딕"/>
                <a:cs typeface="맑은 고딕"/>
              </a:rPr>
              <a:t>MES</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HYD-01에 걸린 생산 오더를 읽는다.</a:t>
            </a:r>
          </a:p>
          <a:p>
            <a:pPr algn="l">
              <a:lnSpc>
                <a:spcPct val="110000"/>
              </a:lnSpc>
              <a:spcAft>
                <a:spcPts val="300"/>
              </a:spcAft>
            </a:pPr>
            <a:r>
              <a:rPr sz="1400" b="0">
                <a:solidFill>
                  <a:srgbClr val="1F2A3A"/>
                </a:solidFill>
                <a:latin typeface="맑은 고딕"/>
                <a:ea typeface="맑은 고딕"/>
                <a:cs typeface="맑은 고딕"/>
              </a:rPr>
              <a:t>조치가 납기에 주는 영향을 견주는 재료가 된다.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qms_lots</a:t>
            </a:r>
          </a:p>
          <a:p>
            <a:pPr algn="l">
              <a:lnSpc>
                <a:spcPct val="110000"/>
              </a:lnSpc>
              <a:spcAft>
                <a:spcPts val="200"/>
              </a:spcAft>
            </a:pPr>
            <a:r>
              <a:rPr sz="1150" b="0">
                <a:solidFill>
                  <a:srgbClr val="556175"/>
                </a:solidFill>
                <a:latin typeface="맑은 고딕"/>
                <a:ea typeface="맑은 고딕"/>
                <a:cs typeface="맑은 고딕"/>
              </a:rPr>
              <a:t>Quality Management System</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HYD-01의 품질 로트를 읽는다.</a:t>
            </a:r>
          </a:p>
          <a:p>
            <a:pPr algn="l">
              <a:lnSpc>
                <a:spcPct val="110000"/>
              </a:lnSpc>
              <a:spcAft>
                <a:spcPts val="300"/>
              </a:spcAft>
            </a:pPr>
            <a:r>
              <a:rPr sz="1400" b="0">
                <a:solidFill>
                  <a:srgbClr val="1F2A3A"/>
                </a:solidFill>
                <a:latin typeface="맑은 고딕"/>
                <a:ea typeface="맑은 고딕"/>
                <a:cs typeface="맑은 고딕"/>
              </a:rPr>
              <a:t>조치가 품질에 주는 영향을 견주는 재료가 된다.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704588"/>
            <a:ext cx="11094415" cy="1316736"/>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지식에 등록된 것</a:t>
            </a:r>
          </a:p>
          <a:p>
            <a:pPr algn="l">
              <a:lnSpc>
                <a:spcPct val="110000"/>
              </a:lnSpc>
              <a:spcAft>
                <a:spcPts val="200"/>
              </a:spcAft>
            </a:pPr>
            <a:r>
              <a:rPr sz="1150" b="0">
                <a:solidFill>
                  <a:srgbClr val="556175"/>
                </a:solidFill>
                <a:latin typeface="맑은 고딕"/>
                <a:ea typeface="맑은 고딕"/>
                <a:cs typeface="맑은 고딕"/>
              </a:rPr>
              <a:t>값의 자리</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값이 아니라 값이 놓인 자리와 읽는 방법이다.</a:t>
            </a:r>
          </a:p>
          <a:p>
            <a:pPr algn="l">
              <a:lnSpc>
                <a:spcPct val="110000"/>
              </a:lnSpc>
              <a:spcAft>
                <a:spcPts val="300"/>
              </a:spcAft>
            </a:pPr>
            <a:r>
              <a:rPr sz="1400" b="0">
                <a:solidFill>
                  <a:srgbClr val="1F2A3A"/>
                </a:solidFill>
                <a:latin typeface="맑은 고딕"/>
                <a:ea typeface="맑은 고딕"/>
                <a:cs typeface="맑은 고딕"/>
              </a:rPr>
              <a:t>4일차에 업무 데이터베이스를 등록하며 정해 두었다.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추천안에 실린 득과 실: 성과 지표와 업무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추천안에는 조치가 올리고 내리는 성과 지표와 지금의 납기, 품질 사정이 함께 실려 승인하는 사람이 득실을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scale" descr="scale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성과 기준에서 온 득과 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득: 인터록 여유 ↑, 작동유 잔여 수명 ↑</a:t>
            </a:r>
          </a:p>
          <a:p>
            <a:pPr algn="l">
              <a:lnSpc>
                <a:spcPct val="110000"/>
              </a:lnSpc>
              <a:spcAft>
                <a:spcPts val="600"/>
              </a:spcAft>
            </a:pPr>
            <a:r>
              <a:rPr sz="1450" b="0">
                <a:solidFill>
                  <a:srgbClr val="1F2A3A"/>
                </a:solidFill>
                <a:latin typeface="맑은 고딕"/>
                <a:ea typeface="맑은 고딕"/>
                <a:cs typeface="맑은 고딕"/>
              </a:rPr>
              <a:t>• 실: 설비 가동률 ↓, 평균 고장 간격 ↓</a:t>
            </a:r>
          </a:p>
          <a:p>
            <a:pPr algn="l">
              <a:lnSpc>
                <a:spcPct val="110000"/>
              </a:lnSpc>
              <a:spcAft>
                <a:spcPts val="600"/>
              </a:spcAft>
            </a:pPr>
            <a:r>
              <a:rPr sz="1450" b="0">
                <a:solidFill>
                  <a:srgbClr val="1F2A3A"/>
                </a:solidFill>
                <a:latin typeface="맑은 고딕"/>
                <a:ea typeface="맑은 고딕"/>
                <a:cs typeface="맑은 고딕"/>
              </a:rPr>
              <a:t>• 실: 전력 사용량 ↑</a:t>
            </a:r>
          </a:p>
          <a:p>
            <a:pPr algn="l">
              <a:lnSpc>
                <a:spcPct val="110000"/>
              </a:lnSpc>
              <a:spcAft>
                <a:spcPts val="600"/>
              </a:spcAft>
            </a:pPr>
            <a:r>
              <a:rPr sz="1450" b="0">
                <a:solidFill>
                  <a:srgbClr val="1F2A3A"/>
                </a:solidFill>
                <a:latin typeface="맑은 고딕"/>
                <a:ea typeface="맑은 고딕"/>
                <a:cs typeface="맑은 고딕"/>
              </a:rPr>
              <a:t>• 3일차에 BSC의 관점마다 정한 KPI이며 책임 부서가 함께 적힌다</a:t>
            </a:r>
          </a:p>
        </p:txBody>
      </p:sp>
      <p:sp>
        <p:nvSpPr>
          <p:cNvPr id="11" name="Rounded Rectangle 10"/>
          <p:cNvSpPr/>
          <p:nvPr/>
        </p:nvSpPr>
        <p:spPr>
          <a:xfrm>
            <a:off x="868680" y="5246433"/>
            <a:ext cx="1176528"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176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BSC · KPI</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DB에서 읽은 사정</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납기: OEM 오더의 납기까지 5.98 h, 늦으면 시간당 120만원</a:t>
            </a:r>
          </a:p>
          <a:p>
            <a:pPr algn="l">
              <a:lnSpc>
                <a:spcPct val="110000"/>
              </a:lnSpc>
              <a:spcAft>
                <a:spcPts val="600"/>
              </a:spcAft>
            </a:pPr>
            <a:r>
              <a:rPr sz="1450" b="0">
                <a:solidFill>
                  <a:srgbClr val="1F2A3A"/>
                </a:solidFill>
                <a:latin typeface="맑은 고딕"/>
                <a:ea typeface="맑은 고딕"/>
                <a:cs typeface="맑은 고딕"/>
              </a:rPr>
              <a:t>• 품질: 출하를 기다리는 로트 800개</a:t>
            </a:r>
          </a:p>
          <a:p>
            <a:pPr algn="l">
              <a:lnSpc>
                <a:spcPct val="110000"/>
              </a:lnSpc>
              <a:spcAft>
                <a:spcPts val="600"/>
              </a:spcAft>
            </a:pPr>
            <a:r>
              <a:rPr sz="1450" b="0">
                <a:solidFill>
                  <a:srgbClr val="1F2A3A"/>
                </a:solidFill>
                <a:latin typeface="맑은 고딕"/>
                <a:ea typeface="맑은 고딕"/>
                <a:cs typeface="맑은 고딕"/>
              </a:rPr>
              <a:t>• mes_orders와 qms_lots가 읽어 온 값이다</a:t>
            </a:r>
          </a:p>
        </p:txBody>
      </p:sp>
      <p:sp>
        <p:nvSpPr>
          <p:cNvPr id="18" name="Rounded Rectangle 17"/>
          <p:cNvSpPr/>
          <p:nvPr/>
        </p:nvSpPr>
        <p:spPr>
          <a:xfrm>
            <a:off x="6781647" y="5246433"/>
            <a:ext cx="1176528"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176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MES · QMS</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제출된 판단 한 건에 담긴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submit_decision으로 제출된 추천안에는 원인과 추천, 그렇게 본 근거, 맞지 않은 후보, 출처가 함께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id   DEC-1010-058-88a6</a:t>
            </a:r>
          </a:p>
          <a:p>
            <a:pPr algn="l">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a:lnSpc>
                <a:spcPct val="110000"/>
              </a:lnSpc>
              <a:spcAft>
                <a:spcPts val="200"/>
              </a:spcAft>
            </a:pP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효율은</a:t>
            </a:r>
            <a:r>
              <a:rPr sz="1300" b="0">
                <a:solidFill>
                  <a:srgbClr val="E8EEF6"/>
                </a:solidFill>
                <a:latin typeface="Consolas"/>
                <a:ea typeface="맑은 고딕"/>
                <a:cs typeface="맑은 고딕"/>
              </a:rPr>
              <a:t> 46.2 %</a:t>
            </a:r>
          </a:p>
          <a:p>
            <a:pPr algn="l">
              <a:lnSpc>
                <a:spcPct val="110000"/>
              </a:lnSpc>
              <a:spcAft>
                <a:spcPts val="200"/>
              </a:spcAft>
            </a:pPr>
            <a:r>
              <a:rPr sz="1300" b="0">
                <a:solidFill>
                  <a:srgbClr val="E8EEF6"/>
                </a:solidFill>
                <a:latin typeface="맑은 고딕"/>
                <a:ea typeface="맑은 고딕"/>
                <a:cs typeface="맑은 고딕"/>
              </a:rPr>
              <a:t>배제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3.38)</a:t>
            </a:r>
          </a:p>
          <a:p>
            <a:pPr algn="l">
              <a:lnSpc>
                <a:spcPct val="110000"/>
              </a:lnSpc>
              <a:spcAft>
                <a:spcPts val="200"/>
              </a:spcAft>
            </a:pPr>
            <a:r>
              <a:rPr sz="1300" b="0">
                <a:solidFill>
                  <a:srgbClr val="E8EEF6"/>
                </a:solidFill>
                <a:latin typeface="맑은 고딕"/>
                <a:ea typeface="맑은 고딕"/>
                <a:cs typeface="맑은 고딕"/>
              </a:rPr>
              <a:t>출처</a:t>
            </a: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근거와 배제</a:t>
            </a:r>
          </a:p>
          <a:p>
            <a:pPr algn="l">
              <a:lnSpc>
                <a:spcPct val="110000"/>
              </a:lnSpc>
              <a:spcAft>
                <a:spcPts val="400"/>
              </a:spcAft>
            </a:pPr>
            <a:r>
              <a:rPr sz="1400" b="0">
                <a:solidFill>
                  <a:srgbClr val="1F2A3A"/>
                </a:solidFill>
                <a:latin typeface="맑은 고딕"/>
                <a:ea typeface="맑은 고딕"/>
                <a:cs typeface="맑은 고딕"/>
              </a:rPr>
              <a:t>도구로 읽은 값과</a:t>
            </a:r>
          </a:p>
          <a:p>
            <a:pPr algn="l">
              <a:lnSpc>
                <a:spcPct val="110000"/>
              </a:lnSpc>
              <a:spcAft>
                <a:spcPts val="400"/>
              </a:spcAft>
            </a:pPr>
            <a:r>
              <a:rPr sz="1400" b="0">
                <a:solidFill>
                  <a:srgbClr val="1F2A3A"/>
                </a:solidFill>
                <a:latin typeface="맑은 고딕"/>
                <a:ea typeface="맑은 고딕"/>
                <a:cs typeface="맑은 고딕"/>
              </a:rPr>
              <a:t>맞지 않은 후보를 적는다.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추천</a:t>
            </a:r>
          </a:p>
          <a:p>
            <a:pPr algn="l">
              <a:lnSpc>
                <a:spcPct val="110000"/>
              </a:lnSpc>
              <a:spcAft>
                <a:spcPts val="400"/>
              </a:spcAft>
            </a:pPr>
            <a:r>
              <a:rPr sz="1400" b="0">
                <a:solidFill>
                  <a:srgbClr val="1F2A3A"/>
                </a:solidFill>
                <a:latin typeface="맑은 고딕"/>
                <a:ea typeface="맑은 고딕"/>
                <a:cs typeface="맑은 고딕"/>
              </a:rPr>
              <a:t>평가가 매긴</a:t>
            </a:r>
          </a:p>
          <a:p>
            <a:pPr algn="l">
              <a:lnSpc>
                <a:spcPct val="110000"/>
              </a:lnSpc>
              <a:spcAft>
                <a:spcPts val="400"/>
              </a:spcAft>
            </a:pPr>
            <a:r>
              <a:rPr sz="1400" b="0">
                <a:solidFill>
                  <a:srgbClr val="1F2A3A"/>
                </a:solidFill>
                <a:latin typeface="맑은 고딕"/>
                <a:ea typeface="맑은 고딕"/>
                <a:cs typeface="맑은 고딕"/>
              </a:rPr>
              <a:t>1순위 조치이다.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조치가 가리키는</a:t>
            </a:r>
          </a:p>
          <a:p>
            <a:pPr algn="l">
              <a:lnSpc>
                <a:spcPct val="110000"/>
              </a:lnSpc>
              <a:spcAft>
                <a:spcPts val="400"/>
              </a:spcAft>
            </a:pPr>
            <a:r>
              <a:rPr sz="1400" b="0">
                <a:solidFill>
                  <a:srgbClr val="1F2A3A"/>
                </a:solidFill>
                <a:latin typeface="맑은 고딕"/>
                <a:ea typeface="맑은 고딕"/>
                <a:cs typeface="맑은 고딕"/>
              </a:rPr>
              <a:t>매뉴얼의 절이다.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지식의 빈자리가 에이전트의 출력에 나타나는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지식의 한 곳이 비면 그 뒤의 호출이 읽을 것이 없어져, 빈자리는 출력에서 보류나 가설, 빠진 근거로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비어 있는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출력에 나타나는 모습</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살펴볼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스키마의 관계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 관계를 따라가는 조회의 결과에 후보가 나오지 않는다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2일차</a:t>
            </a:r>
          </a:p>
          <a:p>
            <a:pPr algn="l">
              <a:lnSpc>
                <a:spcPct val="110000"/>
              </a:lnSpc>
            </a:pPr>
            <a:r>
              <a:rPr sz="1250" b="1">
                <a:solidFill>
                  <a:srgbClr val="556175"/>
                </a:solidFill>
                <a:latin typeface="맑은 고딕"/>
                <a:ea typeface="맑은 고딕"/>
                <a:cs typeface="맑은 고딕"/>
              </a:rPr>
              <a:t>스키마</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증거 기준</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읽어도 원인을 가르지 못해 가설로 남는다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a:p>
            <a:pPr algn="l">
              <a:lnSpc>
                <a:spcPct val="110000"/>
              </a:lnSpc>
            </a:pPr>
            <a:r>
              <a:rPr sz="1250" b="1">
                <a:solidFill>
                  <a:srgbClr val="556175"/>
                </a:solidFill>
                <a:latin typeface="맑은 고딕"/>
                <a:ea typeface="맑은 고딕"/>
                <a:cs typeface="맑은 고딕"/>
              </a:rPr>
              <a:t>인제스천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SOP와 판단 규칙</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고장 유형에 이어지지 않은 조치는 후보에 오르지 않는다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3일차</a:t>
            </a:r>
          </a:p>
          <a:p>
            <a:pPr algn="l">
              <a:lnSpc>
                <a:spcPct val="110000"/>
              </a:lnSpc>
            </a:pPr>
            <a:r>
              <a:rPr sz="1250" b="1">
                <a:solidFill>
                  <a:srgbClr val="556175"/>
                </a:solidFill>
                <a:latin typeface="맑은 고딕"/>
                <a:ea typeface="맑은 고딕"/>
                <a:cs typeface="맑은 고딕"/>
              </a:rPr>
              <a:t>SOP · DMN</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놓인 자리</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읽지 못한 값이 UNKNOWN으로 남아 판단이 보류된다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a:p>
            <a:pPr algn="l">
              <a:lnSpc>
                <a:spcPct val="110000"/>
              </a:lnSpc>
            </a:pPr>
            <a:r>
              <a:rPr sz="1250" b="1">
                <a:solidFill>
                  <a:srgbClr val="556175"/>
                </a:solidFill>
                <a:latin typeface="맑은 고딕"/>
                <a:ea typeface="맑은 고딕"/>
                <a:cs typeface="맑은 고딕"/>
              </a:rPr>
              <a:t>값의 자리</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출처</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추천에 근거 문서의 절이 붙지 않는다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4일차</a:t>
            </a:r>
          </a:p>
          <a:p>
            <a:pPr algn="l">
              <a:lnSpc>
                <a:spcPct val="110000"/>
              </a:lnSpc>
            </a:pPr>
            <a:r>
              <a:rPr sz="1250" b="1">
                <a:solidFill>
                  <a:srgbClr val="1A6FC4"/>
                </a:solidFill>
                <a:latin typeface="맑은 고딕"/>
                <a:ea typeface="맑은 고딕"/>
                <a:cs typeface="맑은 고딕"/>
              </a:rPr>
              <a:t>적재와 출처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지식을 고치는 일과 에이전트를 고치는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기준이 바뀌면 고칠 곳은 에이전트의 스킬이 아니라 지식이며, 같은 호출이 다음 판단부터 새 기준을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781109"/>
            <a:ext cx="731520" cy="731520"/>
          </a:xfrm>
          <a:prstGeom prst="ellipse">
            <a:avLst/>
          </a:prstGeom>
          <a:solidFill>
            <a:srgbClr val="5CB8F2"/>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고친다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기준값, 조치 방법, 승인 역할이 바뀔 때</a:t>
            </a:r>
          </a:p>
          <a:p>
            <a:pPr algn="l">
              <a:lnSpc>
                <a:spcPct val="110000"/>
              </a:lnSpc>
              <a:spcAft>
                <a:spcPts val="600"/>
              </a:spcAft>
            </a:pPr>
            <a:r>
              <a:rPr sz="1450" b="0">
                <a:solidFill>
                  <a:srgbClr val="1F2A3A"/>
                </a:solidFill>
                <a:latin typeface="맑은 고딕"/>
                <a:ea typeface="맑은 고딕"/>
                <a:cs typeface="맑은 고딕"/>
              </a:rPr>
              <a:t>• 문서를 개정하고 검토해 다시 적재한다</a:t>
            </a:r>
          </a:p>
          <a:p>
            <a:pPr algn="l">
              <a:lnSpc>
                <a:spcPct val="110000"/>
              </a:lnSpc>
              <a:spcAft>
                <a:spcPts val="600"/>
              </a:spcAft>
            </a:pPr>
            <a:r>
              <a:rPr sz="1450" b="0">
                <a:solidFill>
                  <a:srgbClr val="1F2A3A"/>
                </a:solidFill>
                <a:latin typeface="맑은 고딕"/>
                <a:ea typeface="맑은 고딕"/>
                <a:cs typeface="맑은 고딕"/>
              </a:rPr>
              <a:t>• 에이전트의 호출 순서는 그대로이다</a:t>
            </a:r>
          </a:p>
        </p:txBody>
      </p:sp>
      <p:sp>
        <p:nvSpPr>
          <p:cNvPr id="11" name="Rounded Rectangle 10"/>
          <p:cNvSpPr/>
          <p:nvPr/>
        </p:nvSpPr>
        <p:spPr>
          <a:xfrm>
            <a:off x="868680" y="4945570"/>
            <a:ext cx="97536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인제스천</a:t>
            </a:r>
          </a:p>
        </p:txBody>
      </p:sp>
      <p:sp>
        <p:nvSpPr>
          <p:cNvPr id="13" name="Rounded Rectangle 12"/>
          <p:cNvSpPr/>
          <p:nvPr/>
        </p:nvSpPr>
        <p:spPr>
          <a:xfrm>
            <a:off x="6461607" y="2579941"/>
            <a:ext cx="5181447" cy="2822829"/>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781109"/>
            <a:ext cx="731520" cy="731520"/>
          </a:xfrm>
          <a:prstGeom prst="ellipse">
            <a:avLst/>
          </a:prstGeom>
          <a:solidFill>
            <a:srgbClr val="FFFFFF"/>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에이전트를 고친다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일하는 순서와 결과의 모양이 바뀔 때</a:t>
            </a:r>
          </a:p>
          <a:p>
            <a:pPr algn="l">
              <a:lnSpc>
                <a:spcPct val="110000"/>
              </a:lnSpc>
              <a:spcAft>
                <a:spcPts val="600"/>
              </a:spcAft>
            </a:pPr>
            <a:r>
              <a:rPr sz="1450" b="0">
                <a:solidFill>
                  <a:srgbClr val="1F2A3A"/>
                </a:solidFill>
                <a:latin typeface="맑은 고딕"/>
                <a:ea typeface="맑은 고딕"/>
                <a:cs typeface="맑은 고딕"/>
              </a:rPr>
              <a:t>• 스킬을 고치고 명세와 시나리오로 확인한다</a:t>
            </a:r>
          </a:p>
          <a:p>
            <a:pPr algn="l">
              <a:lnSpc>
                <a:spcPct val="110000"/>
              </a:lnSpc>
              <a:spcAft>
                <a:spcPts val="600"/>
              </a:spcAft>
            </a:pPr>
            <a:r>
              <a:rPr sz="1450" b="0">
                <a:solidFill>
                  <a:srgbClr val="1F2A3A"/>
                </a:solidFill>
                <a:latin typeface="맑은 고딕"/>
                <a:ea typeface="맑은 고딕"/>
                <a:cs typeface="맑은 고딕"/>
              </a:rPr>
              <a:t>• 지식은 그대로이다</a:t>
            </a:r>
          </a:p>
        </p:txBody>
      </p:sp>
      <p:sp>
        <p:nvSpPr>
          <p:cNvPr id="18" name="Rounded Rectangle 17"/>
          <p:cNvSpPr/>
          <p:nvPr/>
        </p:nvSpPr>
        <p:spPr>
          <a:xfrm>
            <a:off x="6781647" y="4945570"/>
            <a:ext cx="12191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스킬 · 명세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읽어 온 것과 에이전트가 정한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구간에서 에이전트가 스스로 정한 것은 호출의 순서와 설명의 문장이고, 후보와 기준과 값은 모두 읽어 온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지식에서 읽은 것</a:t>
            </a:r>
          </a:p>
          <a:p>
            <a:pPr algn="l">
              <a:lnSpc>
                <a:spcPct val="110000"/>
              </a:lnSpc>
              <a:spcAft>
                <a:spcPts val="400"/>
              </a:spcAft>
            </a:pPr>
            <a:r>
              <a:rPr sz="1400" b="0">
                <a:solidFill>
                  <a:srgbClr val="1F2A3A"/>
                </a:solidFill>
                <a:latin typeface="맑은 고딕"/>
                <a:ea typeface="맑은 고딕"/>
                <a:cs typeface="맑은 고딕"/>
              </a:rPr>
              <a:t>• 원인 후보 셋과 증거 기준</a:t>
            </a:r>
          </a:p>
          <a:p>
            <a:pPr algn="l">
              <a:lnSpc>
                <a:spcPct val="110000"/>
              </a:lnSpc>
              <a:spcAft>
                <a:spcPts val="400"/>
              </a:spcAft>
            </a:pPr>
            <a:r>
              <a:rPr sz="1400" b="0">
                <a:solidFill>
                  <a:srgbClr val="1F2A3A"/>
                </a:solidFill>
                <a:latin typeface="맑은 고딕"/>
                <a:ea typeface="맑은 고딕"/>
                <a:cs typeface="맑은 고딕"/>
              </a:rPr>
              <a:t>• 조치 후보 넷과 판단 규칙</a:t>
            </a:r>
          </a:p>
          <a:p>
            <a:pPr algn="l">
              <a:lnSpc>
                <a:spcPct val="110000"/>
              </a:lnSpc>
              <a:spcAft>
                <a:spcPts val="400"/>
              </a:spcAft>
            </a:pPr>
            <a:r>
              <a:rPr sz="1400" b="0">
                <a:solidFill>
                  <a:srgbClr val="1F2A3A"/>
                </a:solidFill>
                <a:latin typeface="맑은 고딕"/>
                <a:ea typeface="맑은 고딕"/>
                <a:cs typeface="맑은 고딕"/>
              </a:rPr>
              <a:t>• 승인 역할과 근거 문서의 절</a:t>
            </a:r>
          </a:p>
        </p:txBody>
      </p:sp>
      <p:sp>
        <p:nvSpPr>
          <p:cNvPr id="10" name="Rounded Rectangle 9"/>
          <p:cNvSpPr/>
          <p:nvPr/>
        </p:nvSpPr>
        <p:spPr>
          <a:xfrm>
            <a:off x="777240" y="5041392"/>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원천에서 읽은 값</a:t>
            </a:r>
          </a:p>
          <a:p>
            <a:pPr algn="l">
              <a:lnSpc>
                <a:spcPct val="110000"/>
              </a:lnSpc>
              <a:spcAft>
                <a:spcPts val="400"/>
              </a:spcAft>
            </a:pPr>
            <a:r>
              <a:rPr sz="1400" b="0">
                <a:solidFill>
                  <a:srgbClr val="1F2A3A"/>
                </a:solidFill>
                <a:latin typeface="맑은 고딕"/>
                <a:ea typeface="맑은 고딕"/>
                <a:cs typeface="맑은 고딕"/>
              </a:rPr>
              <a:t>• 냉각 효율 46.2 %</a:t>
            </a:r>
          </a:p>
          <a:p>
            <a:pPr algn="l">
              <a:lnSpc>
                <a:spcPct val="110000"/>
              </a:lnSpc>
              <a:spcAft>
                <a:spcPts val="400"/>
              </a:spcAft>
            </a:pPr>
            <a:r>
              <a:rPr sz="1400" b="0">
                <a:solidFill>
                  <a:srgbClr val="1F2A3A"/>
                </a:solidFill>
                <a:latin typeface="맑은 고딕"/>
                <a:ea typeface="맑은 고딕"/>
                <a:cs typeface="맑은 고딕"/>
              </a:rPr>
              <a:t>• 생산 오더와 품질 로트</a:t>
            </a:r>
          </a:p>
        </p:txBody>
      </p:sp>
      <p:sp>
        <p:nvSpPr>
          <p:cNvPr id="16" name="Rounded Rectangle 15"/>
          <p:cNvSpPr/>
          <p:nvPr/>
        </p:nvSpPr>
        <p:spPr>
          <a:xfrm>
            <a:off x="4566818" y="5041392"/>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바뀐다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정한 것</a:t>
            </a:r>
          </a:p>
          <a:p>
            <a:pPr algn="l">
              <a:lnSpc>
                <a:spcPct val="110000"/>
              </a:lnSpc>
              <a:spcAft>
                <a:spcPts val="400"/>
              </a:spcAft>
            </a:pPr>
            <a:r>
              <a:rPr sz="1400" b="0">
                <a:solidFill>
                  <a:srgbClr val="1F2A3A"/>
                </a:solidFill>
                <a:latin typeface="맑은 고딕"/>
                <a:ea typeface="맑은 고딕"/>
                <a:cs typeface="맑은 고딕"/>
              </a:rPr>
              <a:t>• 어느 도구를 어떤 순서로 부를지</a:t>
            </a:r>
          </a:p>
          <a:p>
            <a:pPr algn="l">
              <a:lnSpc>
                <a:spcPct val="110000"/>
              </a:lnSpc>
              <a:spcAft>
                <a:spcPts val="400"/>
              </a:spcAft>
            </a:pPr>
            <a:r>
              <a:rPr sz="1400" b="0">
                <a:solidFill>
                  <a:srgbClr val="1F2A3A"/>
                </a:solidFill>
                <a:latin typeface="맑은 고딕"/>
                <a:ea typeface="맑은 고딕"/>
                <a:cs typeface="맑은 고딕"/>
              </a:rPr>
              <a:t>• 근거를 어떤 문장으로 설명할지</a:t>
            </a:r>
          </a:p>
        </p:txBody>
      </p:sp>
      <p:sp>
        <p:nvSpPr>
          <p:cNvPr id="22" name="Rounded Rectangle 21"/>
          <p:cNvSpPr/>
          <p:nvPr/>
        </p:nvSpPr>
        <p:spPr>
          <a:xfrm>
            <a:off x="8356396" y="5041392"/>
            <a:ext cx="187452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실행마다 다를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판단이 제출된 시점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 DEC-1010-058-88a6이 제출된 시점에 지식과 에이전트의 몫은 끝났고, 설비에는 아직 아무 변화가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사건선_지식에서판단.svg" descr="illust_6568418362330020873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1769455"/>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여기까지 끝났다</a:t>
            </a:r>
          </a:p>
          <a:p>
            <a:pPr algn="ctr">
              <a:lnSpc>
                <a:spcPct val="110000"/>
              </a:lnSpc>
              <a:spcAft>
                <a:spcPts val="100"/>
              </a:spcAft>
            </a:pPr>
            <a:r>
              <a:rPr sz="1300" b="0">
                <a:solidFill>
                  <a:srgbClr val="556175"/>
                </a:solidFill>
                <a:latin typeface="맑은 고딕"/>
                <a:ea typeface="맑은 고딕"/>
                <a:cs typeface="맑은 고딕"/>
              </a:rPr>
              <a:t>지식을 읽어 추천안을 제출했다</a:t>
            </a:r>
          </a:p>
        </p:txBody>
      </p:sp>
      <p:sp>
        <p:nvSpPr>
          <p:cNvPr id="8" name="TextBox 7"/>
          <p:cNvSpPr txBox="1"/>
          <p:nvPr/>
        </p:nvSpPr>
        <p:spPr>
          <a:xfrm>
            <a:off x="4732160" y="1769455"/>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아직 실행되지 않았다</a:t>
            </a:r>
          </a:p>
          <a:p>
            <a:pPr algn="ctr">
              <a:lnSpc>
                <a:spcPct val="110000"/>
              </a:lnSpc>
              <a:spcAft>
                <a:spcPts val="100"/>
              </a:spcAft>
            </a:pPr>
            <a:r>
              <a:rPr sz="1300" b="0">
                <a:solidFill>
                  <a:srgbClr val="556175"/>
                </a:solidFill>
                <a:latin typeface="맑은 고딕"/>
                <a:ea typeface="맑은 고딕"/>
                <a:cs typeface="맑은 고딕"/>
              </a:rPr>
              <a:t>승인, 명령, 재관측, 작업지시, 결과 보고</a:t>
            </a:r>
          </a:p>
        </p:txBody>
      </p:sp>
      <p:sp>
        <p:nvSpPr>
          <p:cNvPr id="9" name="TextBox 8"/>
          <p:cNvSpPr txBox="1"/>
          <p:nvPr/>
        </p:nvSpPr>
        <p:spPr>
          <a:xfrm>
            <a:off x="668373"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2032060" y="2738582"/>
            <a:ext cx="130913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진단 · 제안</a:t>
            </a:r>
          </a:p>
        </p:txBody>
      </p:sp>
      <p:sp>
        <p:nvSpPr>
          <p:cNvPr id="11" name="TextBox 10"/>
          <p:cNvSpPr txBox="1"/>
          <p:nvPr/>
        </p:nvSpPr>
        <p:spPr>
          <a:xfrm>
            <a:off x="3395747"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4759434"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6123121"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p:txBody>
      </p:sp>
      <p:sp>
        <p:nvSpPr>
          <p:cNvPr id="14" name="TextBox 13"/>
          <p:cNvSpPr txBox="1"/>
          <p:nvPr/>
        </p:nvSpPr>
        <p:spPr>
          <a:xfrm>
            <a:off x="7486808"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a:t>
            </a:r>
          </a:p>
        </p:txBody>
      </p:sp>
      <p:sp>
        <p:nvSpPr>
          <p:cNvPr id="15" name="TextBox 14"/>
          <p:cNvSpPr txBox="1"/>
          <p:nvPr/>
        </p:nvSpPr>
        <p:spPr>
          <a:xfrm>
            <a:off x="8850495"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6" name="TextBox 15"/>
          <p:cNvSpPr txBox="1"/>
          <p:nvPr/>
        </p:nvSpPr>
        <p:spPr>
          <a:xfrm>
            <a:off x="10323276" y="2738582"/>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a:t>
            </a:r>
          </a:p>
        </p:txBody>
      </p:sp>
      <p:sp>
        <p:nvSpPr>
          <p:cNvPr id="17" name="TextBox 16"/>
          <p:cNvSpPr txBox="1"/>
          <p:nvPr/>
        </p:nvSpPr>
        <p:spPr>
          <a:xfrm>
            <a:off x="4677613" y="5125943"/>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지식과 값</a:t>
            </a:r>
          </a:p>
          <a:p>
            <a:pPr algn="ctr">
              <a:lnSpc>
                <a:spcPct val="110000"/>
              </a:lnSpc>
              <a:spcAft>
                <a:spcPts val="100"/>
              </a:spcAft>
            </a:pPr>
            <a:r>
              <a:rPr sz="1300" b="0">
                <a:solidFill>
                  <a:srgbClr val="556175"/>
                </a:solidFill>
                <a:latin typeface="맑은 고딕"/>
                <a:ea typeface="맑은 고딕"/>
                <a:cs typeface="맑은 고딕"/>
              </a:rPr>
              <a:t>호출마다 도구를 거쳐 읽었다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제안에서 완료까지:</a:t>
            </a:r>
          </a:p>
          <a:p>
            <a:pPr algn="l">
              <a:lnSpc>
                <a:spcPct val="110000"/>
              </a:lnSpc>
            </a:pPr>
            <a:r>
              <a:rPr sz="3400" b="1">
                <a:solidFill>
                  <a:srgbClr val="13294B"/>
                </a:solidFill>
                <a:latin typeface="맑은 고딕"/>
                <a:ea typeface="맑은 고딕"/>
                <a:cs typeface="맑은 고딕"/>
              </a:rPr>
              <a:t>에이전트와 프로세스의 역할</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제안 한 건이 승인과 시스템 실행을 거쳐 끝난 업무가 되기까지 각 장치가 맡은 몫</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승인에서 끝까지: 자리마다 맡는 쪽과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제출된 것은 추천안이어서 설비는 그대로이며, 남은 자리마다 맡는 쪽과 그 일의 기준이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자리</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기준이 되는 것</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조치에 정해진 승인 역할</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SCADA</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승인된 조치: 팬 속도 100 %</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시계열 DB</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55 ℃ 미만이면 회복</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CMMS</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회복의 확인</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닿은 끝 이벤트와 그때까지의 결과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겹쳐 있는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에이전트 실행, 스킬, MCP</a:t>
            </a:r>
          </a:p>
          <a:p>
            <a:pPr algn="l">
              <a:lnSpc>
                <a:spcPct val="110000"/>
              </a:lnSpc>
              <a:spcAft>
                <a:spcPts val="600"/>
              </a:spcAft>
            </a:pPr>
            <a:r>
              <a:rPr sz="1450" b="0">
                <a:solidFill>
                  <a:srgbClr val="1F2A3A"/>
                </a:solidFill>
                <a:latin typeface="맑은 고딕"/>
                <a:ea typeface="맑은 고딕"/>
                <a:cs typeface="맑은 고딕"/>
              </a:rPr>
              <a:t>• 명세(SDD)와 시나리오(BDD)</a:t>
            </a:r>
          </a:p>
          <a:p>
            <a:pPr algn="l">
              <a:lnSpc>
                <a:spcPct val="110000"/>
              </a:lnSpc>
              <a:spcAft>
                <a:spcPts val="600"/>
              </a:spcAft>
            </a:pPr>
            <a:r>
              <a:rPr sz="1450" b="0">
                <a:solidFill>
                  <a:srgbClr val="1F2A3A"/>
                </a:solidFill>
                <a:latin typeface="맑은 고딕"/>
                <a:ea typeface="맑은 고딕"/>
                <a:cs typeface="맑은 고딕"/>
              </a:rPr>
              <a:t>• 한 단계 안에서 추천안 하나를 만든다</a:t>
            </a:r>
          </a:p>
        </p:txBody>
      </p:sp>
      <p:sp>
        <p:nvSpPr>
          <p:cNvPr id="11" name="Rounded Rectangle 10"/>
          <p:cNvSpPr/>
          <p:nvPr/>
        </p:nvSpPr>
        <p:spPr>
          <a:xfrm>
            <a:off x="868680" y="4945570"/>
            <a:ext cx="938784"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5~8일차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 인스턴스</a:t>
            </a:r>
          </a:p>
          <a:p>
            <a:pPr algn="l">
              <a:lnSpc>
                <a:spcPct val="110000"/>
              </a:lnSpc>
              <a:spcAft>
                <a:spcPts val="600"/>
              </a:spcAft>
            </a:pPr>
            <a:r>
              <a:rPr sz="1450" b="0">
                <a:solidFill>
                  <a:srgbClr val="1F2A3A"/>
                </a:solidFill>
                <a:latin typeface="맑은 고딕"/>
                <a:ea typeface="맑은 고딕"/>
                <a:cs typeface="맑은 고딕"/>
              </a:rPr>
              <a:t>• 사람의 승인(HITL), 시스템 실행</a:t>
            </a:r>
          </a:p>
          <a:p>
            <a:pPr algn="l">
              <a:lnSpc>
                <a:spcPct val="110000"/>
              </a:lnSpc>
              <a:spcAft>
                <a:spcPts val="600"/>
              </a:spcAft>
            </a:pPr>
            <a:r>
              <a:rPr sz="145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4945570"/>
            <a:ext cx="1536192"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3619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7 · 9 · 10일차</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두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장치는 둘째 자리 하나에서 일했고, 프로세스 쪽의 장치는 경보에서 끝까지의 진행과 승인과 실행을 남겼다.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장치자리.svg" descr="illust_8073703214766088925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04764" y="1627632"/>
            <a:ext cx="9382165"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프로세스 정의와 인스턴스</a:t>
            </a:r>
          </a:p>
          <a:p>
            <a:pPr algn="ctr">
              <a:lnSpc>
                <a:spcPct val="110000"/>
              </a:lnSpc>
              <a:spcAft>
                <a:spcPts val="100"/>
              </a:spcAft>
            </a:pPr>
            <a:r>
              <a:rPr sz="1100" b="0">
                <a:solidFill>
                  <a:srgbClr val="556175"/>
                </a:solidFill>
                <a:latin typeface="맑은 고딕"/>
                <a:ea typeface="맑은 고딕"/>
                <a:cs typeface="맑은 고딕"/>
              </a:rPr>
              <a:t>c3_cooling: 작업 9, 갈림 2, 타이머 1 · 경보 ALT-hyd01-0026-767a로 열려 E_end에서 닫힌 한 건</a:t>
            </a:r>
          </a:p>
        </p:txBody>
      </p:sp>
      <p:sp>
        <p:nvSpPr>
          <p:cNvPr id="8" name="TextBox 7"/>
          <p:cNvSpPr txBox="1"/>
          <p:nvPr/>
        </p:nvSpPr>
        <p:spPr>
          <a:xfrm>
            <a:off x="3232105" y="2431298"/>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기록</a:t>
            </a:r>
          </a:p>
          <a:p>
            <a:pPr algn="ctr">
              <a:lnSpc>
                <a:spcPct val="110000"/>
              </a:lnSpc>
              <a:spcAft>
                <a:spcPts val="100"/>
              </a:spcAft>
            </a:pPr>
            <a:r>
              <a:rPr sz="1100" b="0">
                <a:solidFill>
                  <a:srgbClr val="556175"/>
                </a:solidFill>
                <a:latin typeface="맑은 고딕"/>
                <a:ea typeface="맑은 고딕"/>
                <a:cs typeface="맑은 고딕"/>
              </a:rPr>
              <a:t>역할 role:operator</a:t>
            </a:r>
          </a:p>
        </p:txBody>
      </p:sp>
      <p:sp>
        <p:nvSpPr>
          <p:cNvPr id="9" name="TextBox 8"/>
          <p:cNvSpPr txBox="1"/>
          <p:nvPr/>
        </p:nvSpPr>
        <p:spPr>
          <a:xfrm>
            <a:off x="5032171" y="2431298"/>
            <a:ext cx="349103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a:p>
            <a:pPr algn="ctr">
              <a:lnSpc>
                <a:spcPct val="110000"/>
              </a:lnSpc>
              <a:spcAft>
                <a:spcPts val="100"/>
              </a:spcAft>
            </a:pPr>
            <a:r>
              <a:rPr sz="1100" b="0">
                <a:solidFill>
                  <a:srgbClr val="556175"/>
                </a:solidFill>
                <a:latin typeface="맑은 고딕"/>
                <a:ea typeface="맑은 고딕"/>
                <a:cs typeface="맑은 고딕"/>
              </a:rPr>
              <a:t>CMD-1010-0001-01d1 · WO-1010-1198</a:t>
            </a:r>
          </a:p>
        </p:txBody>
      </p:sp>
      <p:sp>
        <p:nvSpPr>
          <p:cNvPr id="10" name="TextBox 9"/>
          <p:cNvSpPr txBox="1"/>
          <p:nvPr/>
        </p:nvSpPr>
        <p:spPr>
          <a:xfrm>
            <a:off x="777468"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1" name="TextBox 10"/>
          <p:cNvSpPr txBox="1"/>
          <p:nvPr/>
        </p:nvSpPr>
        <p:spPr>
          <a:xfrm>
            <a:off x="2032060"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2" name="TextBox 11"/>
          <p:cNvSpPr txBox="1"/>
          <p:nvPr/>
        </p:nvSpPr>
        <p:spPr>
          <a:xfrm>
            <a:off x="3504842"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3" name="TextBox 12"/>
          <p:cNvSpPr txBox="1"/>
          <p:nvPr/>
        </p:nvSpPr>
        <p:spPr>
          <a:xfrm>
            <a:off x="4759434"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232216"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7486808"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a:t>
            </a:r>
          </a:p>
        </p:txBody>
      </p:sp>
      <p:sp>
        <p:nvSpPr>
          <p:cNvPr id="16" name="TextBox 15"/>
          <p:cNvSpPr txBox="1"/>
          <p:nvPr/>
        </p:nvSpPr>
        <p:spPr>
          <a:xfrm>
            <a:off x="8850495"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10432371" y="4582287"/>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2441166" y="4913208"/>
            <a:ext cx="261827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에이전트 실행 · 스킬 · MCP</a:t>
            </a:r>
          </a:p>
          <a:p>
            <a:pPr algn="ctr">
              <a:lnSpc>
                <a:spcPct val="110000"/>
              </a:lnSpc>
              <a:spcAft>
                <a:spcPts val="100"/>
              </a:spcAft>
            </a:pPr>
            <a:r>
              <a:rPr sz="1100" b="0">
                <a:solidFill>
                  <a:srgbClr val="556175"/>
                </a:solidFill>
                <a:latin typeface="맑은 고딕"/>
                <a:ea typeface="맑은 고딕"/>
                <a:cs typeface="맑은 고딕"/>
              </a:rPr>
              <a:t>agent:cooling이 도구를 10번 불렀다</a:t>
            </a:r>
          </a:p>
          <a:p>
            <a:pPr algn="ctr">
              <a:lnSpc>
                <a:spcPct val="110000"/>
              </a:lnSpc>
              <a:spcAft>
                <a:spcPts val="100"/>
              </a:spcAft>
            </a:pPr>
            <a:r>
              <a:rPr sz="1100" b="0">
                <a:solidFill>
                  <a:srgbClr val="556175"/>
                </a:solidFill>
                <a:latin typeface="맑은 고딕"/>
                <a:ea typeface="맑은 고딕"/>
                <a:cs typeface="맑은 고딕"/>
              </a:rPr>
              <a:t>첫 호출로 스킬 문서를 읽었다</a:t>
            </a:r>
          </a:p>
          <a:p>
            <a:pPr algn="ctr">
              <a:lnSpc>
                <a:spcPct val="110000"/>
              </a:lnSpc>
              <a:spcAft>
                <a:spcPts val="100"/>
              </a:spcAft>
            </a:pPr>
            <a:r>
              <a:rPr sz="1100" b="0">
                <a:solidFill>
                  <a:srgbClr val="556175"/>
                </a:solidFill>
                <a:latin typeface="맑은 고딕"/>
                <a:ea typeface="맑은 고딕"/>
                <a:cs typeface="맑은 고딕"/>
              </a:rPr>
              <a:t>hyd-dmn · enterprise의 도구로 읽었다</a:t>
            </a:r>
          </a:p>
        </p:txBody>
      </p:sp>
      <p:sp>
        <p:nvSpPr>
          <p:cNvPr id="19" name="TextBox 18"/>
          <p:cNvSpPr txBox="1"/>
          <p:nvPr/>
        </p:nvSpPr>
        <p:spPr>
          <a:xfrm>
            <a:off x="695647" y="5787786"/>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명세와 시나리오</a:t>
            </a:r>
          </a:p>
          <a:p>
            <a:pPr algn="ctr">
              <a:lnSpc>
                <a:spcPct val="110000"/>
              </a:lnSpc>
              <a:spcAft>
                <a:spcPts val="100"/>
              </a:spcAft>
            </a:pPr>
            <a:r>
              <a:rPr sz="1100" b="0">
                <a:solidFill>
                  <a:srgbClr val="556175"/>
                </a:solidFill>
                <a:latin typeface="맑은 고딕"/>
                <a:ea typeface="맑은 고딕"/>
                <a:cs typeface="맑은 고딕"/>
              </a:rPr>
              <a:t>실행에 앞서 정했다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진단 → 대안 평가 → 업무 값 조회 → 제출</a:t>
            </a:r>
          </a:p>
          <a:p>
            <a:pPr algn="l">
              <a:lnSpc>
                <a:spcPct val="110000"/>
              </a:lnSpc>
              <a:spcAft>
                <a:spcPts val="600"/>
              </a:spcAft>
            </a:pPr>
            <a:r>
              <a:rPr sz="1450" b="0">
                <a:solidFill>
                  <a:srgbClr val="1F2A3A"/>
                </a:solidFill>
                <a:latin typeface="맑은 고딕"/>
                <a:ea typeface="맑은 고딕"/>
                <a:cs typeface="맑은 고딕"/>
              </a:rPr>
              <a:t>• 이 처리 건의 호출이며 상황에 따라 달라진다</a:t>
            </a:r>
          </a:p>
          <a:p>
            <a:pPr algn="l">
              <a:lnSpc>
                <a:spcPct val="110000"/>
              </a:lnSpc>
              <a:spcAft>
                <a:spcPts val="600"/>
              </a:spcAft>
            </a:pPr>
            <a:r>
              <a:rPr sz="1450" b="0">
                <a:solidFill>
                  <a:srgbClr val="1F2A3A"/>
                </a:solidFill>
                <a:latin typeface="맑은 고딕"/>
                <a:ea typeface="맑은 고딕"/>
                <a:cs typeface="맑은 고딕"/>
              </a:rPr>
              <a:t>• 에이전트가 읽고 따른다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 승인 → 명령 → 재관측 → 작업지시</a:t>
            </a:r>
          </a:p>
          <a:p>
            <a:pPr algn="l">
              <a:lnSpc>
                <a:spcPct val="110000"/>
              </a:lnSpc>
              <a:spcAft>
                <a:spcPts val="600"/>
              </a:spcAft>
            </a:pPr>
            <a:r>
              <a:rPr sz="1450" b="0">
                <a:solidFill>
                  <a:srgbClr val="1F2A3A"/>
                </a:solidFill>
                <a:latin typeface="맑은 고딕"/>
                <a:ea typeface="맑은 고딕"/>
                <a:cs typeface="맑은 고딕"/>
              </a:rPr>
              <a:t>• 엔진이 읽고 실행한다</a:t>
            </a:r>
          </a:p>
          <a:p>
            <a:pPr algn="l">
              <a:lnSpc>
                <a:spcPct val="110000"/>
              </a:lnSpc>
              <a:spcAft>
                <a:spcPts val="600"/>
              </a:spcAft>
            </a:pPr>
            <a:r>
              <a:rPr sz="1450" b="0">
                <a:solidFill>
                  <a:srgbClr val="1F2A3A"/>
                </a:solidFill>
                <a:latin typeface="맑은 고딕"/>
                <a:ea typeface="맑은 고딕"/>
                <a:cs typeface="맑은 고딕"/>
              </a:rPr>
              <a:t>• 승인이 없으면 다음으로 넘어가지 않는다</a:t>
            </a:r>
          </a:p>
        </p:txBody>
      </p:sp>
      <p:sp>
        <p:nvSpPr>
          <p:cNvPr id="18" name="Rounded Rectangle 17"/>
          <p:cNvSpPr/>
          <p:nvPr/>
        </p:nvSpPr>
        <p:spPr>
          <a:xfrm>
            <a:off x="6781647" y="494557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단계의 끝: 제출하면 엔진이 이어받는다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추천안을 제출하는 데서 일을 마치고, 다음 단계를 여는 일은 제출을 확인한 프로세스 엔진이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단계가 열린다</a:t>
            </a:r>
          </a:p>
          <a:p>
            <a:pPr algn="ctr">
              <a:lnSpc>
                <a:spcPct val="110000"/>
              </a:lnSpc>
              <a:spcAft>
                <a:spcPts val="400"/>
              </a:spcAft>
            </a:pPr>
            <a:r>
              <a:rPr sz="1350" b="0">
                <a:solidFill>
                  <a:srgbClr val="1F2A3A"/>
                </a:solidFill>
                <a:latin typeface="맑은 고딕"/>
                <a:ea typeface="맑은 고딕"/>
                <a:cs typeface="맑은 고딕"/>
              </a:rPr>
              <a:t>엔진이 에이전트 단계를</a:t>
            </a:r>
          </a:p>
          <a:p>
            <a:pPr algn="ctr">
              <a:lnSpc>
                <a:spcPct val="110000"/>
              </a:lnSpc>
              <a:spcAft>
                <a:spcPts val="400"/>
              </a:spcAft>
            </a:pPr>
            <a:r>
              <a:rPr sz="1350" b="0">
                <a:solidFill>
                  <a:srgbClr val="1F2A3A"/>
                </a:solidFill>
                <a:latin typeface="맑은 고딕"/>
                <a:ea typeface="맑은 고딕"/>
                <a:cs typeface="맑은 고딕"/>
              </a:rPr>
              <a:t>agent:cooling에게</a:t>
            </a:r>
          </a:p>
          <a:p>
            <a:pPr algn="ctr">
              <a:lnSpc>
                <a:spcPct val="110000"/>
              </a:lnSpc>
              <a:spcAft>
                <a:spcPts val="400"/>
              </a:spcAft>
            </a:pPr>
            <a:r>
              <a:rPr sz="1350" b="0">
                <a:solidFill>
                  <a:srgbClr val="1F2A3A"/>
                </a:solidFill>
                <a:latin typeface="맑은 고딕"/>
                <a:ea typeface="맑은 고딕"/>
                <a:cs typeface="맑은 고딕"/>
              </a:rPr>
              <a:t>맡긴다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에이전트가 일한다</a:t>
            </a:r>
          </a:p>
          <a:p>
            <a:pPr algn="ctr">
              <a:lnSpc>
                <a:spcPct val="110000"/>
              </a:lnSpc>
              <a:spcAft>
                <a:spcPts val="400"/>
              </a:spcAft>
            </a:pPr>
            <a:r>
              <a:rPr sz="1350" b="0">
                <a:solidFill>
                  <a:srgbClr val="1F2A3A"/>
                </a:solidFill>
                <a:latin typeface="맑은 고딕"/>
                <a:ea typeface="맑은 고딕"/>
                <a:cs typeface="맑은 고딕"/>
              </a:rPr>
              <a:t>스킬과 도구로</a:t>
            </a:r>
          </a:p>
          <a:p>
            <a:pPr algn="ctr">
              <a:lnSpc>
                <a:spcPct val="110000"/>
              </a:lnSpc>
              <a:spcAft>
                <a:spcPts val="400"/>
              </a:spcAft>
            </a:pPr>
            <a:r>
              <a:rPr sz="1350" b="0">
                <a:solidFill>
                  <a:srgbClr val="1F2A3A"/>
                </a:solidFill>
                <a:latin typeface="맑은 고딕"/>
                <a:ea typeface="맑은 고딕"/>
                <a:cs typeface="맑은 고딕"/>
              </a:rPr>
              <a:t>추천안을</a:t>
            </a:r>
          </a:p>
          <a:p>
            <a:pPr algn="ctr">
              <a:lnSpc>
                <a:spcPct val="110000"/>
              </a:lnSpc>
              <a:spcAft>
                <a:spcPts val="400"/>
              </a:spcAft>
            </a:pPr>
            <a:r>
              <a:rPr sz="1350" b="0">
                <a:solidFill>
                  <a:srgbClr val="1F2A3A"/>
                </a:solidFill>
                <a:latin typeface="맑은 고딕"/>
                <a:ea typeface="맑은 고딕"/>
                <a:cs typeface="맑은 고딕"/>
              </a:rPr>
              <a:t>만든다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제출한다</a:t>
            </a:r>
          </a:p>
          <a:p>
            <a:pPr algn="ctr">
              <a:lnSpc>
                <a:spcPct val="110000"/>
              </a:lnSpc>
              <a:spcAft>
                <a:spcPts val="400"/>
              </a:spcAft>
            </a:pPr>
            <a:r>
              <a:rPr sz="1350" b="0">
                <a:solidFill>
                  <a:srgbClr val="1F2A3A"/>
                </a:solidFill>
                <a:latin typeface="맑은 고딕"/>
                <a:ea typeface="맑은 고딕"/>
                <a:cs typeface="맑은 고딕"/>
              </a:rPr>
              <a:t>추천안을 제출하면</a:t>
            </a:r>
          </a:p>
          <a:p>
            <a:pPr algn="ctr">
              <a:lnSpc>
                <a:spcPct val="110000"/>
              </a:lnSpc>
              <a:spcAft>
                <a:spcPts val="400"/>
              </a:spcAft>
            </a:pPr>
            <a:r>
              <a:rPr sz="1350" b="0">
                <a:solidFill>
                  <a:srgbClr val="1F2A3A"/>
                </a:solidFill>
                <a:latin typeface="맑은 고딕"/>
                <a:ea typeface="맑은 고딕"/>
                <a:cs typeface="맑은 고딕"/>
              </a:rPr>
              <a:t>에이전트의 일은</a:t>
            </a:r>
          </a:p>
          <a:p>
            <a:pPr algn="ctr">
              <a:lnSpc>
                <a:spcPct val="110000"/>
              </a:lnSpc>
              <a:spcAft>
                <a:spcPts val="400"/>
              </a:spcAft>
            </a:pPr>
            <a:r>
              <a:rPr sz="1350" b="0">
                <a:solidFill>
                  <a:srgbClr val="1F2A3A"/>
                </a:solidFill>
                <a:latin typeface="맑은 고딕"/>
                <a:ea typeface="맑은 고딕"/>
                <a:cs typeface="맑은 고딕"/>
              </a:rPr>
              <a:t>끝난다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settings" descr="settings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엔진이 이어받는다</a:t>
            </a:r>
          </a:p>
          <a:p>
            <a:pPr algn="ctr">
              <a:lnSpc>
                <a:spcPct val="110000"/>
              </a:lnSpc>
              <a:spcAft>
                <a:spcPts val="400"/>
              </a:spcAft>
            </a:pPr>
            <a:r>
              <a:rPr sz="1350" b="0">
                <a:solidFill>
                  <a:srgbClr val="1F2A3A"/>
                </a:solidFill>
                <a:latin typeface="맑은 고딕"/>
                <a:ea typeface="맑은 고딕"/>
                <a:cs typeface="맑은 고딕"/>
              </a:rPr>
              <a:t>결과를 변수에 담고</a:t>
            </a:r>
          </a:p>
          <a:p>
            <a:pPr algn="ctr">
              <a:lnSpc>
                <a:spcPct val="110000"/>
              </a:lnSpc>
              <a:spcAft>
                <a:spcPts val="400"/>
              </a:spcAft>
            </a:pPr>
            <a:r>
              <a:rPr sz="1350" b="0">
                <a:solidFill>
                  <a:srgbClr val="1F2A3A"/>
                </a:solidFill>
                <a:latin typeface="맑은 고딕"/>
                <a:ea typeface="맑은 고딕"/>
                <a:cs typeface="맑은 고딕"/>
              </a:rPr>
              <a:t>운전원 승인을</a:t>
            </a:r>
          </a:p>
          <a:p>
            <a:pPr algn="ctr">
              <a:lnSpc>
                <a:spcPct val="110000"/>
              </a:lnSpc>
              <a:spcAft>
                <a:spcPts val="400"/>
              </a:spcAft>
            </a:pPr>
            <a:r>
              <a:rPr sz="1350" b="0">
                <a:solidFill>
                  <a:srgbClr val="1F2A3A"/>
                </a:solidFill>
                <a:latin typeface="맑은 고딕"/>
                <a:ea typeface="맑은 고딕"/>
                <a:cs typeface="맑은 고딕"/>
              </a:rPr>
              <a:t>연다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 계약: 에이전트의 결과를 프로세스가 읽는 약속</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명세가 정한 출력 항목의 이름은 프로세스 변수의 이름이 되고, 뒤 단계와 게이트웨이는 그 이름으로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변수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만든 단계</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읽는 쪽</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원인 진단 · 냉각 조치 제안</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운전원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승인</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게이트웨이 「승인?」</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recovered</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재관측</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게이트웨이 「유온 정상?」</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work_order</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작업지시 등록</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결과 보고</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에이전트에 연결된 MCP 도구는 읽는 데 쓰이고, 설비와 업무 시스템을 바꾸는 쓰기는 승인 뒤의 서비스 작업에만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MCP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diagnose, evaluate_cards</a:t>
            </a:r>
          </a:p>
          <a:p>
            <a:pPr algn="l">
              <a:lnSpc>
                <a:spcPct val="110000"/>
              </a:lnSpc>
              <a:spcAft>
                <a:spcPts val="600"/>
              </a:spcAft>
            </a:pPr>
            <a:r>
              <a:rPr sz="1450" b="0">
                <a:solidFill>
                  <a:srgbClr val="1F2A3A"/>
                </a:solidFill>
                <a:latin typeface="맑은 고딕"/>
                <a:ea typeface="맑은 고딕"/>
                <a:cs typeface="맑은 고딕"/>
              </a:rPr>
              <a:t>• mes_orders, qms_lots</a:t>
            </a:r>
          </a:p>
          <a:p>
            <a:pPr algn="l">
              <a:lnSpc>
                <a:spcPct val="110000"/>
              </a:lnSpc>
              <a:spcAft>
                <a:spcPts val="600"/>
              </a:spcAft>
            </a:pPr>
            <a:r>
              <a:rPr sz="1450" b="0">
                <a:solidFill>
                  <a:srgbClr val="1F2A3A"/>
                </a:solidFill>
                <a:latin typeface="맑은 고딕"/>
                <a:ea typeface="맑은 고딕"/>
                <a:cs typeface="맑은 고딕"/>
              </a:rPr>
              <a:t>• 쓰기는 추천안의 제출 하나뿐이다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명령: 팬 속도 100 %</a:t>
            </a:r>
          </a:p>
          <a:p>
            <a:pPr algn="l">
              <a:lnSpc>
                <a:spcPct val="110000"/>
              </a:lnSpc>
              <a:spcAft>
                <a:spcPts val="600"/>
              </a:spcAft>
            </a:pPr>
            <a:r>
              <a:rPr sz="1450" b="0">
                <a:solidFill>
                  <a:srgbClr val="1F2A3A"/>
                </a:solidFill>
                <a:latin typeface="맑은 고딕"/>
                <a:ea typeface="맑은 고딕"/>
                <a:cs typeface="맑은 고딕"/>
              </a:rPr>
              <a:t>• 작업지시 등록: WO-1010-1198</a:t>
            </a:r>
          </a:p>
          <a:p>
            <a:pPr algn="l">
              <a:lnSpc>
                <a:spcPct val="110000"/>
              </a:lnSpc>
              <a:spcAft>
                <a:spcPts val="600"/>
              </a:spcAft>
            </a:pPr>
            <a:r>
              <a:rPr sz="1450" b="0">
                <a:solidFill>
                  <a:srgbClr val="1F2A3A"/>
                </a:solidFill>
                <a:latin typeface="맑은 고딕"/>
                <a:ea typeface="맑은 고딕"/>
                <a:cs typeface="맑은 고딕"/>
              </a:rPr>
              <a:t>• 승인이 전달된 뒤에만 열린다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7일차의 HITL은 프로세스에서 사용자 작업으로 그려지고, 설비 명령 앞에 그 작업이 없는 정의는 등록이 거절된다.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빠진 경로</a:t>
            </a:r>
          </a:p>
          <a:p>
            <a:pPr algn="l">
              <a:lnSpc>
                <a:spcPct val="110000"/>
              </a:lnSpc>
              <a:spcAft>
                <a:spcPts val="400"/>
              </a:spcAft>
            </a:pPr>
            <a:r>
              <a:rPr sz="1400" b="0">
                <a:solidFill>
                  <a:srgbClr val="1F2A3A"/>
                </a:solidFill>
                <a:latin typeface="맑은 고딕"/>
                <a:ea typeface="맑은 고딕"/>
                <a:cs typeface="맑은 고딕"/>
              </a:rPr>
              <a:t>설비 명령 앞의 경로에 사람의 승인이 없으면 등록하지 않는다</a:t>
            </a:r>
          </a:p>
        </p:txBody>
      </p:sp>
      <p:sp>
        <p:nvSpPr>
          <p:cNvPr id="10" name="Rounded Rectangle 9"/>
          <p:cNvSpPr/>
          <p:nvPr/>
        </p:nvSpPr>
        <p:spPr>
          <a:xfrm>
            <a:off x="777240" y="4932934"/>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갈래의 실행</a:t>
            </a:r>
          </a:p>
          <a:p>
            <a:pPr algn="l">
              <a:lnSpc>
                <a:spcPct val="110000"/>
              </a:lnSpc>
              <a:spcAft>
                <a:spcPts val="400"/>
              </a:spcAft>
            </a:pPr>
            <a:r>
              <a:rPr sz="1400" b="0">
                <a:solidFill>
                  <a:srgbClr val="1F2A3A"/>
                </a:solidFill>
                <a:latin typeface="맑은 고딕"/>
                <a:ea typeface="맑은 고딕"/>
                <a:cs typeface="맑은 고딕"/>
              </a:rPr>
              <a:t>승인 조건의 선을 지나지 않고 실행에 닿는 경로가 있으면 등록하지 않는다</a:t>
            </a:r>
          </a:p>
        </p:txBody>
      </p:sp>
      <p:sp>
        <p:nvSpPr>
          <p:cNvPr id="16" name="Rounded Rectangle 15"/>
          <p:cNvSpPr/>
          <p:nvPr/>
        </p:nvSpPr>
        <p:spPr>
          <a:xfrm>
            <a:off x="4566818" y="4932934"/>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없는 승인</a:t>
            </a:r>
          </a:p>
          <a:p>
            <a:pPr algn="l">
              <a:lnSpc>
                <a:spcPct val="110000"/>
              </a:lnSpc>
              <a:spcAft>
                <a:spcPts val="400"/>
              </a:spcAft>
            </a:pPr>
            <a:r>
              <a:rPr sz="1400" b="0">
                <a:solidFill>
                  <a:srgbClr val="1F2A3A"/>
                </a:solidFill>
                <a:latin typeface="맑은 고딕"/>
                <a:ea typeface="맑은 고딕"/>
                <a:cs typeface="맑은 고딕"/>
              </a:rPr>
              <a:t>그 조치의 승인 역할이 아닌 쪽의 승인은 거부되고 기록으로 남는다</a:t>
            </a:r>
          </a:p>
        </p:txBody>
      </p:sp>
      <p:sp>
        <p:nvSpPr>
          <p:cNvPr id="22" name="Rounded Rectangle 21"/>
          <p:cNvSpPr/>
          <p:nvPr/>
        </p:nvSpPr>
        <p:spPr>
          <a:xfrm>
            <a:off x="8356396" y="4932934"/>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사건의 줄에서 사람이 맡는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사람은 승인만 하는 것이 아니라 지식의 검토, 에이전트의 질문, 멈춘 작업, 프로세스 정의의 변경에서도 결정을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사람자리.svg" descr="illust_6191690086155159347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1816729"/>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질문에 답한다</a:t>
            </a:r>
          </a:p>
          <a:p>
            <a:pPr algn="ctr">
              <a:lnSpc>
                <a:spcPct val="110000"/>
              </a:lnSpc>
              <a:spcAft>
                <a:spcPts val="100"/>
              </a:spcAft>
            </a:pPr>
            <a:r>
              <a:rPr sz="1100" b="0">
                <a:solidFill>
                  <a:srgbClr val="556175"/>
                </a:solidFill>
                <a:latin typeface="맑은 고딕"/>
                <a:ea typeface="맑은 고딕"/>
                <a:cs typeface="맑은 고딕"/>
              </a:rPr>
              <a:t>7일차</a:t>
            </a:r>
          </a:p>
        </p:txBody>
      </p:sp>
      <p:sp>
        <p:nvSpPr>
          <p:cNvPr id="8" name="TextBox 7"/>
          <p:cNvSpPr txBox="1"/>
          <p:nvPr/>
        </p:nvSpPr>
        <p:spPr>
          <a:xfrm>
            <a:off x="2822999" y="181672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작업을 닫는다</a:t>
            </a:r>
          </a:p>
          <a:p>
            <a:pPr algn="ctr">
              <a:lnSpc>
                <a:spcPct val="110000"/>
              </a:lnSpc>
              <a:spcAft>
                <a:spcPts val="100"/>
              </a:spcAft>
            </a:pPr>
            <a:r>
              <a:rPr sz="1100" b="0">
                <a:solidFill>
                  <a:srgbClr val="556175"/>
                </a:solidFill>
                <a:latin typeface="맑은 고딕"/>
                <a:ea typeface="맑은 고딕"/>
                <a:cs typeface="맑은 고딕"/>
              </a:rPr>
              <a:t>7일차</a:t>
            </a:r>
          </a:p>
        </p:txBody>
      </p:sp>
      <p:sp>
        <p:nvSpPr>
          <p:cNvPr id="9" name="TextBox 8"/>
          <p:cNvSpPr txBox="1"/>
          <p:nvPr/>
        </p:nvSpPr>
        <p:spPr>
          <a:xfrm>
            <a:off x="668373"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0" name="TextBox 9"/>
          <p:cNvSpPr txBox="1"/>
          <p:nvPr/>
        </p:nvSpPr>
        <p:spPr>
          <a:xfrm>
            <a:off x="2032060"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1" name="TextBox 10"/>
          <p:cNvSpPr txBox="1"/>
          <p:nvPr/>
        </p:nvSpPr>
        <p:spPr>
          <a:xfrm>
            <a:off x="3395747" y="4298640"/>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 거절</a:t>
            </a:r>
          </a:p>
          <a:p>
            <a:pPr algn="ctr">
              <a:lnSpc>
                <a:spcPct val="110000"/>
              </a:lnSpc>
              <a:spcAft>
                <a:spcPts val="100"/>
              </a:spcAft>
            </a:pPr>
            <a:r>
              <a:rPr sz="1100" b="0">
                <a:solidFill>
                  <a:srgbClr val="556175"/>
                </a:solidFill>
                <a:latin typeface="맑은 고딕"/>
                <a:ea typeface="맑은 고딕"/>
                <a:cs typeface="맑은 고딕"/>
              </a:rPr>
              <a:t>7 · 9일차</a:t>
            </a:r>
          </a:p>
        </p:txBody>
      </p:sp>
      <p:sp>
        <p:nvSpPr>
          <p:cNvPr id="12" name="TextBox 11"/>
          <p:cNvSpPr txBox="1"/>
          <p:nvPr/>
        </p:nvSpPr>
        <p:spPr>
          <a:xfrm>
            <a:off x="4759434"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3" name="TextBox 12"/>
          <p:cNvSpPr txBox="1"/>
          <p:nvPr/>
        </p:nvSpPr>
        <p:spPr>
          <a:xfrm>
            <a:off x="6123121"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4" name="TextBox 13"/>
          <p:cNvSpPr txBox="1"/>
          <p:nvPr/>
        </p:nvSpPr>
        <p:spPr>
          <a:xfrm>
            <a:off x="7486808"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5" name="TextBox 14"/>
          <p:cNvSpPr txBox="1"/>
          <p:nvPr/>
        </p:nvSpPr>
        <p:spPr>
          <a:xfrm>
            <a:off x="8850495"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6" name="TextBox 15"/>
          <p:cNvSpPr txBox="1"/>
          <p:nvPr/>
        </p:nvSpPr>
        <p:spPr>
          <a:xfrm>
            <a:off x="10323276" y="4298640"/>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7" name="TextBox 16"/>
          <p:cNvSpPr txBox="1"/>
          <p:nvPr/>
        </p:nvSpPr>
        <p:spPr>
          <a:xfrm>
            <a:off x="4732160" y="5362315"/>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지식을 검토해 승인한다</a:t>
            </a:r>
          </a:p>
          <a:p>
            <a:pPr algn="ctr">
              <a:lnSpc>
                <a:spcPct val="110000"/>
              </a:lnSpc>
              <a:spcAft>
                <a:spcPts val="100"/>
              </a:spcAft>
            </a:pPr>
            <a:r>
              <a:rPr sz="1100" b="0">
                <a:solidFill>
                  <a:srgbClr val="556175"/>
                </a:solidFill>
                <a:latin typeface="맑은 고딕"/>
                <a:ea typeface="맑은 고딕"/>
                <a:cs typeface="맑은 고딕"/>
              </a:rPr>
              <a:t>4일차</a:t>
            </a:r>
          </a:p>
        </p:txBody>
      </p:sp>
      <p:sp>
        <p:nvSpPr>
          <p:cNvPr id="18" name="TextBox 17"/>
          <p:cNvSpPr txBox="1"/>
          <p:nvPr/>
        </p:nvSpPr>
        <p:spPr>
          <a:xfrm>
            <a:off x="9150506" y="5362315"/>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정의를 고쳐 배포한다</a:t>
            </a:r>
          </a:p>
          <a:p>
            <a:pPr algn="ctr">
              <a:lnSpc>
                <a:spcPct val="110000"/>
              </a:lnSpc>
              <a:spcAft>
                <a:spcPts val="100"/>
              </a:spcAft>
            </a:pPr>
            <a:r>
              <a:rPr sz="1100" b="0">
                <a:solidFill>
                  <a:srgbClr val="556175"/>
                </a:solidFill>
                <a:latin typeface="맑은 고딕"/>
                <a:ea typeface="맑은 고딕"/>
                <a:cs typeface="맑은 고딕"/>
              </a:rPr>
              <a:t>9일차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한 건이 남긴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운전원이 승인하는 순간 어느 역할이 무엇을 골랐는지가 처리 건에 남으며, 이 값은 에이전트가 쓸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approval         </a:t>
            </a:r>
            <a:r>
              <a:rPr sz="1300" b="0">
                <a:solidFill>
                  <a:srgbClr val="E8EEF6"/>
                </a:solidFill>
                <a:latin typeface="맑은 고딕"/>
                <a:ea typeface="맑은 고딕"/>
                <a:cs typeface="맑은 고딕"/>
              </a:rPr>
              <a:t>승인</a:t>
            </a:r>
          </a:p>
          <a:p>
            <a:pPr algn="l">
              <a:lnSpc>
                <a:spcPct val="110000"/>
              </a:lnSpc>
              <a:spcAft>
                <a:spcPts val="200"/>
              </a:spcAft>
            </a:pPr>
            <a:r>
              <a:rPr sz="1300" b="0">
                <a:solidFill>
                  <a:srgbClr val="E8EEF6"/>
                </a:solidFill>
                <a:latin typeface="Consolas"/>
                <a:ea typeface="맑은 고딕"/>
                <a:cs typeface="맑은 고딕"/>
              </a:rPr>
              <a:t>chosen_skill     skill:sop-cool-11</a:t>
            </a:r>
          </a:p>
          <a:p>
            <a:pPr algn="l">
              <a:lnSpc>
                <a:spcPct val="110000"/>
              </a:lnSpc>
              <a:spcAft>
                <a:spcPts val="200"/>
              </a:spcAft>
            </a:pPr>
            <a:r>
              <a:rPr sz="1300" b="0">
                <a:solidFill>
                  <a:srgbClr val="E8EEF6"/>
                </a:solidFill>
                <a:latin typeface="Consolas"/>
                <a:ea typeface="맑은 고딕"/>
                <a:cs typeface="맑은 고딕"/>
              </a:rPr>
              <a:t>approved_role    role:operator</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APPROVAL_ACCEPTED   </a:t>
            </a:r>
            <a:r>
              <a:rPr sz="1300" b="0">
                <a:solidFill>
                  <a:srgbClr val="E8EEF6"/>
                </a:solidFill>
                <a:latin typeface="맑은 고딕"/>
                <a:ea typeface="맑은 고딕"/>
                <a:cs typeface="맑은 고딕"/>
              </a:rPr>
              <a:t>역할</a:t>
            </a:r>
            <a:r>
              <a:rPr sz="1300" b="0">
                <a:solidFill>
                  <a:srgbClr val="E8EEF6"/>
                </a:solidFill>
                <a:latin typeface="Consolas"/>
                <a:ea typeface="맑은 고딕"/>
                <a:cs typeface="맑은 고딕"/>
              </a:rPr>
              <a:t> role:operator</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DEC-1010-058-88a6</a:t>
            </a:r>
          </a:p>
          <a:p>
            <a:pPr algn="l">
              <a:lnSpc>
                <a:spcPct val="110000"/>
              </a:lnSpc>
              <a:spcAft>
                <a:spcPts val="200"/>
              </a:spcAft>
            </a:pPr>
            <a:r>
              <a:rPr sz="1300" b="0">
                <a:solidFill>
                  <a:srgbClr val="E8EEF6"/>
                </a:solidFill>
                <a:latin typeface="Consolas"/>
                <a:ea typeface="맑은 고딕"/>
                <a:cs typeface="맑은 고딕"/>
              </a:rPr>
              <a:t>APPROVAL_DELIVERY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완료</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고른 조치</a:t>
            </a:r>
          </a:p>
          <a:p>
            <a:pPr algn="l">
              <a:lnSpc>
                <a:spcPct val="110000"/>
              </a:lnSpc>
              <a:spcAft>
                <a:spcPts val="400"/>
              </a:spcAft>
            </a:pPr>
            <a:r>
              <a:rPr sz="1400" b="0">
                <a:solidFill>
                  <a:srgbClr val="1F2A3A"/>
                </a:solidFill>
                <a:latin typeface="맑은 고딕"/>
                <a:ea typeface="맑은 고딕"/>
                <a:cs typeface="맑은 고딕"/>
              </a:rPr>
              <a:t>chosen_skill은 운전원 승인</a:t>
            </a:r>
          </a:p>
          <a:p>
            <a:pPr algn="l">
              <a:lnSpc>
                <a:spcPct val="110000"/>
              </a:lnSpc>
              <a:spcAft>
                <a:spcPts val="400"/>
              </a:spcAft>
            </a:pPr>
            <a:r>
              <a:rPr sz="1400" b="0">
                <a:solidFill>
                  <a:srgbClr val="1F2A3A"/>
                </a:solidFill>
                <a:latin typeface="맑은 고딕"/>
                <a:ea typeface="맑은 고딕"/>
                <a:cs typeface="맑은 고딕"/>
              </a:rPr>
              <a:t>단계가 만든 값이다.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승인한 역할</a:t>
            </a:r>
          </a:p>
          <a:p>
            <a:pPr algn="l">
              <a:lnSpc>
                <a:spcPct val="110000"/>
              </a:lnSpc>
              <a:spcAft>
                <a:spcPts val="400"/>
              </a:spcAft>
            </a:pPr>
            <a:r>
              <a:rPr sz="1400" b="0">
                <a:solidFill>
                  <a:srgbClr val="1F2A3A"/>
                </a:solidFill>
                <a:latin typeface="맑은 고딕"/>
                <a:ea typeface="맑은 고딕"/>
                <a:cs typeface="맑은 고딕"/>
              </a:rPr>
              <a:t>approved_role은 에이전트가</a:t>
            </a:r>
          </a:p>
          <a:p>
            <a:pPr algn="l">
              <a:lnSpc>
                <a:spcPct val="110000"/>
              </a:lnSpc>
              <a:spcAft>
                <a:spcPts val="400"/>
              </a:spcAft>
            </a:pPr>
            <a:r>
              <a:rPr sz="1400" b="0">
                <a:solidFill>
                  <a:srgbClr val="1F2A3A"/>
                </a:solidFill>
                <a:latin typeface="맑은 고딕"/>
                <a:ea typeface="맑은 고딕"/>
                <a:cs typeface="맑은 고딕"/>
              </a:rPr>
              <a:t>쓸 수 없는 값이다.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전달</a:t>
            </a:r>
          </a:p>
          <a:p>
            <a:pPr algn="l">
              <a:lnSpc>
                <a:spcPct val="110000"/>
              </a:lnSpc>
              <a:spcAft>
                <a:spcPts val="400"/>
              </a:spcAft>
            </a:pPr>
            <a:r>
              <a:rPr sz="1400" b="0">
                <a:solidFill>
                  <a:srgbClr val="1F2A3A"/>
                </a:solidFill>
                <a:latin typeface="맑은 고딕"/>
                <a:ea typeface="맑은 고딕"/>
                <a:cs typeface="맑은 고딕"/>
              </a:rPr>
              <a:t>승인이 전달된 뒤에</a:t>
            </a:r>
          </a:p>
          <a:p>
            <a:pPr algn="l">
              <a:lnSpc>
                <a:spcPct val="110000"/>
              </a:lnSpc>
              <a:spcAft>
                <a:spcPts val="400"/>
              </a:spcAft>
            </a:pPr>
            <a:r>
              <a:rPr sz="1400" b="0">
                <a:solidFill>
                  <a:srgbClr val="1F2A3A"/>
                </a:solidFill>
                <a:latin typeface="맑은 고딕"/>
                <a:ea typeface="맑은 고딕"/>
                <a:cs typeface="맑은 고딕"/>
              </a:rPr>
              <a:t>냉각 명령이 열린다.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시스템 실행 셋</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승인이 전달되면 엔진은 SCADA로 명령을 내고, 시계열 DB에서 유온을 다시 읽고, CMMS에 작업지시를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시스템실행.svg" descr="illust_8404163319084259960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3073917"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엔진</a:t>
            </a:r>
          </a:p>
          <a:p>
            <a:pPr algn="ctr">
              <a:lnSpc>
                <a:spcPct val="110000"/>
              </a:lnSpc>
              <a:spcAft>
                <a:spcPts val="100"/>
              </a:spcAft>
            </a:pPr>
            <a:r>
              <a:rPr sz="1300" b="0">
                <a:solidFill>
                  <a:srgbClr val="556175"/>
                </a:solidFill>
                <a:latin typeface="맑은 고딕"/>
                <a:ea typeface="맑은 고딕"/>
                <a:cs typeface="맑은 고딕"/>
              </a:rPr>
              <a:t>서비스 작업을 차례로 연다</a:t>
            </a:r>
          </a:p>
        </p:txBody>
      </p:sp>
      <p:sp>
        <p:nvSpPr>
          <p:cNvPr id="9" name="TextBox 8"/>
          <p:cNvSpPr txBox="1"/>
          <p:nvPr/>
        </p:nvSpPr>
        <p:spPr>
          <a:xfrm>
            <a:off x="8714126" y="2100376"/>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a:p>
            <a:pPr algn="ctr">
              <a:lnSpc>
                <a:spcPct val="110000"/>
              </a:lnSpc>
              <a:spcAft>
                <a:spcPts val="100"/>
              </a:spcAft>
            </a:pPr>
            <a:r>
              <a:rPr sz="1300" b="0">
                <a:solidFill>
                  <a:srgbClr val="556175"/>
                </a:solidFill>
                <a:latin typeface="맑은 고딕"/>
                <a:ea typeface="맑은 고딕"/>
                <a:cs typeface="맑은 고딕"/>
              </a:rPr>
              <a:t>CMD-1010-0001-01d1</a:t>
            </a:r>
          </a:p>
          <a:p>
            <a:pPr algn="ctr">
              <a:lnSpc>
                <a:spcPct val="110000"/>
              </a:lnSpc>
              <a:spcAft>
                <a:spcPts val="100"/>
              </a:spcAft>
            </a:pPr>
            <a:r>
              <a:rPr sz="1300" b="0">
                <a:solidFill>
                  <a:srgbClr val="556175"/>
                </a:solidFill>
                <a:latin typeface="맑은 고딕"/>
                <a:ea typeface="맑은 고딕"/>
                <a:cs typeface="맑은 고딕"/>
              </a:rPr>
              <a:t>인터록 PASS</a:t>
            </a:r>
          </a:p>
        </p:txBody>
      </p:sp>
      <p:sp>
        <p:nvSpPr>
          <p:cNvPr id="10" name="TextBox 9"/>
          <p:cNvSpPr txBox="1"/>
          <p:nvPr/>
        </p:nvSpPr>
        <p:spPr>
          <a:xfrm>
            <a:off x="8714126" y="3565885"/>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a:p>
            <a:pPr algn="ctr">
              <a:lnSpc>
                <a:spcPct val="110000"/>
              </a:lnSpc>
              <a:spcAft>
                <a:spcPts val="100"/>
              </a:spcAft>
            </a:pPr>
            <a:r>
              <a:rPr sz="1300" b="0">
                <a:solidFill>
                  <a:srgbClr val="556175"/>
                </a:solidFill>
                <a:latin typeface="맑은 고딕"/>
                <a:ea typeface="맑은 고딕"/>
                <a:cs typeface="맑은 고딕"/>
              </a:rPr>
              <a:t>유온 51.3 ℃</a:t>
            </a:r>
          </a:p>
          <a:p>
            <a:pPr algn="ctr">
              <a:lnSpc>
                <a:spcPct val="110000"/>
              </a:lnSpc>
              <a:spcAft>
                <a:spcPts val="100"/>
              </a:spcAft>
            </a:pPr>
            <a:r>
              <a:rPr sz="1300" b="0">
                <a:solidFill>
                  <a:srgbClr val="556175"/>
                </a:solidFill>
                <a:latin typeface="맑은 고딕"/>
                <a:ea typeface="맑은 고딕"/>
                <a:cs typeface="맑은 고딕"/>
              </a:rPr>
              <a:t>기준 55 ℃ 미만</a:t>
            </a:r>
          </a:p>
        </p:txBody>
      </p:sp>
      <p:sp>
        <p:nvSpPr>
          <p:cNvPr id="11" name="TextBox 10"/>
          <p:cNvSpPr txBox="1"/>
          <p:nvPr/>
        </p:nvSpPr>
        <p:spPr>
          <a:xfrm>
            <a:off x="8714126" y="5031394"/>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 등록</a:t>
            </a:r>
          </a:p>
          <a:p>
            <a:pPr algn="ctr">
              <a:lnSpc>
                <a:spcPct val="110000"/>
              </a:lnSpc>
              <a:spcAft>
                <a:spcPts val="100"/>
              </a:spcAft>
            </a:pPr>
            <a:r>
              <a:rPr sz="1300" b="0">
                <a:solidFill>
                  <a:srgbClr val="556175"/>
                </a:solidFill>
                <a:latin typeface="맑은 고딕"/>
                <a:ea typeface="맑은 고딕"/>
                <a:cs typeface="맑은 고딕"/>
              </a:rPr>
              <a:t>WO-1010-1198</a:t>
            </a:r>
          </a:p>
          <a:p>
            <a:pPr algn="ctr">
              <a:lnSpc>
                <a:spcPct val="110000"/>
              </a:lnSpc>
              <a:spcAft>
                <a:spcPts val="100"/>
              </a:spcAft>
            </a:pPr>
            <a:r>
              <a:rPr sz="1300" b="0">
                <a:solidFill>
                  <a:srgbClr val="556175"/>
                </a:solidFill>
                <a:latin typeface="맑은 고딕"/>
                <a:ea typeface="맑은 고딕"/>
                <a:cs typeface="맑은 고딕"/>
              </a:rPr>
              <a:t>CMMS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가지 결말: 승인, 거절, 응답 없음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추천안이라도 사람의 결정에 따라 시스템 실행의 수가 달라지며, 거절된 처리 건에서는 실행이 한 건도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사람의 결정</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시스템 실행</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곳</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 1건</a:t>
            </a:r>
          </a:p>
          <a:p>
            <a:pPr algn="l">
              <a:lnSpc>
                <a:spcPct val="110000"/>
              </a:lnSpc>
            </a:pPr>
            <a:r>
              <a:rPr sz="1400" b="0">
                <a:solidFill>
                  <a:srgbClr val="1F2A3A"/>
                </a:solidFill>
                <a:latin typeface="맑은 고딕"/>
                <a:ea typeface="맑은 고딕"/>
                <a:cs typeface="맑은 고딕"/>
              </a:rPr>
              <a:t>작업지시 1건</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E_end</a:t>
            </a:r>
          </a:p>
          <a:p>
            <a:pPr algn="l">
              <a:lnSpc>
                <a:spcPct val="110000"/>
              </a:lnSpc>
            </a:pPr>
            <a:r>
              <a:rPr sz="1250" b="1">
                <a:solidFill>
                  <a:srgbClr val="1A6FC4"/>
                </a:solidFill>
                <a:latin typeface="맑은 고딕"/>
                <a:ea typeface="맑은 고딕"/>
                <a:cs typeface="맑은 고딕"/>
              </a:rPr>
              <a:t>결과 보고: 정상</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없음</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E_rejected</a:t>
            </a:r>
          </a:p>
          <a:p>
            <a:pPr algn="l">
              <a:lnSpc>
                <a:spcPct val="110000"/>
              </a:lnSpc>
            </a:pPr>
            <a:r>
              <a:rPr sz="1250" b="1">
                <a:solidFill>
                  <a:srgbClr val="556175"/>
                </a:solidFill>
                <a:latin typeface="맑은 고딕"/>
                <a:ea typeface="맑은 고딕"/>
                <a:cs typeface="맑은 고딕"/>
              </a:rPr>
              <a:t>결과 보고: 거절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알림만 나간다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닫히지 않고</a:t>
            </a:r>
          </a:p>
          <a:p>
            <a:pPr algn="l">
              <a:lnSpc>
                <a:spcPct val="110000"/>
              </a:lnSpc>
            </a:pPr>
            <a:r>
              <a:rPr sz="1250" b="1">
                <a:solidFill>
                  <a:srgbClr val="556175"/>
                </a:solidFill>
                <a:latin typeface="맑은 고딕"/>
                <a:ea typeface="맑은 고딕"/>
                <a:cs typeface="맑은 고딕"/>
              </a:rPr>
              <a:t>승인을 계속 기다린다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업무의 처리 건: 같은 자리에 놓이는 에이전트와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점검과 재고 보충의 처리 건에서도 에이전트는 추천안까지를 맡고, 승인과 시스템 실행은 프로세스가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세처리건.svg" descr="illust_6041202388623304472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82923"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시작 사건</a:t>
            </a:r>
          </a:p>
        </p:txBody>
      </p:sp>
      <p:sp>
        <p:nvSpPr>
          <p:cNvPr id="8" name="TextBox 7"/>
          <p:cNvSpPr txBox="1"/>
          <p:nvPr/>
        </p:nvSpPr>
        <p:spPr>
          <a:xfrm>
            <a:off x="3150283"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추천안</a:t>
            </a:r>
          </a:p>
        </p:txBody>
      </p:sp>
      <p:sp>
        <p:nvSpPr>
          <p:cNvPr id="9" name="TextBox 8"/>
          <p:cNvSpPr txBox="1"/>
          <p:nvPr/>
        </p:nvSpPr>
        <p:spPr>
          <a:xfrm>
            <a:off x="5517644"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사람의 승인</a:t>
            </a:r>
          </a:p>
        </p:txBody>
      </p:sp>
      <p:sp>
        <p:nvSpPr>
          <p:cNvPr id="10" name="TextBox 9"/>
          <p:cNvSpPr txBox="1"/>
          <p:nvPr/>
        </p:nvSpPr>
        <p:spPr>
          <a:xfrm>
            <a:off x="7765000" y="1627632"/>
            <a:ext cx="229099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뒤의 시스템 실행</a:t>
            </a:r>
          </a:p>
        </p:txBody>
      </p:sp>
      <p:sp>
        <p:nvSpPr>
          <p:cNvPr id="11" name="TextBox 10"/>
          <p:cNvSpPr txBox="1"/>
          <p:nvPr/>
        </p:nvSpPr>
        <p:spPr>
          <a:xfrm>
            <a:off x="782923" y="2823676"/>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긴급 대응</a:t>
            </a:r>
          </a:p>
          <a:p>
            <a:pPr algn="ctr">
              <a:lnSpc>
                <a:spcPct val="110000"/>
              </a:lnSpc>
              <a:spcAft>
                <a:spcPts val="100"/>
              </a:spcAft>
            </a:pPr>
            <a:r>
              <a:rPr sz="1100" b="0">
                <a:solidFill>
                  <a:srgbClr val="556175"/>
                </a:solidFill>
                <a:latin typeface="맑은 고딕"/>
                <a:ea typeface="맑은 고딕"/>
                <a:cs typeface="맑은 고딕"/>
              </a:rPr>
              <a:t>쿨러 성능 저하 경보</a:t>
            </a:r>
          </a:p>
        </p:txBody>
      </p:sp>
      <p:sp>
        <p:nvSpPr>
          <p:cNvPr id="12" name="TextBox 11"/>
          <p:cNvSpPr txBox="1"/>
          <p:nvPr/>
        </p:nvSpPr>
        <p:spPr>
          <a:xfrm>
            <a:off x="3150283" y="2823676"/>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agent:cooling</a:t>
            </a:r>
          </a:p>
          <a:p>
            <a:pPr algn="ctr">
              <a:lnSpc>
                <a:spcPct val="110000"/>
              </a:lnSpc>
              <a:spcAft>
                <a:spcPts val="100"/>
              </a:spcAft>
            </a:pPr>
            <a:r>
              <a:rPr sz="1100" b="0">
                <a:solidFill>
                  <a:srgbClr val="556175"/>
                </a:solidFill>
                <a:latin typeface="맑은 고딕"/>
                <a:ea typeface="맑은 고딕"/>
                <a:cs typeface="맑은 고딕"/>
              </a:rPr>
              <a:t>냉각 조치</a:t>
            </a:r>
          </a:p>
        </p:txBody>
      </p:sp>
      <p:sp>
        <p:nvSpPr>
          <p:cNvPr id="13" name="TextBox 12"/>
          <p:cNvSpPr txBox="1"/>
          <p:nvPr/>
        </p:nvSpPr>
        <p:spPr>
          <a:xfrm>
            <a:off x="5517644" y="2823676"/>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a:t>
            </a:r>
          </a:p>
        </p:txBody>
      </p:sp>
      <p:sp>
        <p:nvSpPr>
          <p:cNvPr id="14" name="TextBox 13"/>
          <p:cNvSpPr txBox="1"/>
          <p:nvPr/>
        </p:nvSpPr>
        <p:spPr>
          <a:xfrm>
            <a:off x="7601357" y="2823676"/>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PLC 명령 · 작업지시</a:t>
            </a:r>
          </a:p>
          <a:p>
            <a:pPr algn="ctr">
              <a:lnSpc>
                <a:spcPct val="110000"/>
              </a:lnSpc>
              <a:spcAft>
                <a:spcPts val="100"/>
              </a:spcAft>
            </a:pPr>
            <a:r>
              <a:rPr sz="1100" b="0">
                <a:solidFill>
                  <a:srgbClr val="556175"/>
                </a:solidFill>
                <a:latin typeface="맑은 고딕"/>
                <a:ea typeface="맑은 고딕"/>
                <a:cs typeface="맑은 고딕"/>
              </a:rPr>
              <a:t>SCADA · CMMS</a:t>
            </a:r>
          </a:p>
        </p:txBody>
      </p:sp>
      <p:sp>
        <p:nvSpPr>
          <p:cNvPr id="15" name="TextBox 14"/>
          <p:cNvSpPr txBox="1"/>
          <p:nvPr/>
        </p:nvSpPr>
        <p:spPr>
          <a:xfrm>
            <a:off x="782923" y="4232455"/>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정기 점검</a:t>
            </a:r>
          </a:p>
          <a:p>
            <a:pPr algn="ctr">
              <a:lnSpc>
                <a:spcPct val="110000"/>
              </a:lnSpc>
              <a:spcAft>
                <a:spcPts val="100"/>
              </a:spcAft>
            </a:pPr>
            <a:r>
              <a:rPr sz="1100" b="0">
                <a:solidFill>
                  <a:srgbClr val="556175"/>
                </a:solidFill>
                <a:latin typeface="맑은 고딕"/>
                <a:ea typeface="맑은 고딕"/>
                <a:cs typeface="맑은 고딕"/>
              </a:rPr>
              <a:t>정비 주기의 도래</a:t>
            </a:r>
          </a:p>
        </p:txBody>
      </p:sp>
      <p:sp>
        <p:nvSpPr>
          <p:cNvPr id="16" name="TextBox 15"/>
          <p:cNvSpPr txBox="1"/>
          <p:nvPr/>
        </p:nvSpPr>
        <p:spPr>
          <a:xfrm>
            <a:off x="3150283" y="4232455"/>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agent:pm-plan</a:t>
            </a:r>
          </a:p>
          <a:p>
            <a:pPr algn="ctr">
              <a:lnSpc>
                <a:spcPct val="110000"/>
              </a:lnSpc>
              <a:spcAft>
                <a:spcPts val="100"/>
              </a:spcAft>
            </a:pPr>
            <a:r>
              <a:rPr sz="1100" b="0">
                <a:solidFill>
                  <a:srgbClr val="556175"/>
                </a:solidFill>
                <a:latin typeface="맑은 고딕"/>
                <a:ea typeface="맑은 고딕"/>
                <a:cs typeface="맑은 고딕"/>
              </a:rPr>
              <a:t>정비할 시간</a:t>
            </a:r>
          </a:p>
        </p:txBody>
      </p:sp>
      <p:sp>
        <p:nvSpPr>
          <p:cNvPr id="17" name="TextBox 16"/>
          <p:cNvSpPr txBox="1"/>
          <p:nvPr/>
        </p:nvSpPr>
        <p:spPr>
          <a:xfrm>
            <a:off x="5517644" y="42324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a:t>
            </a:r>
          </a:p>
        </p:txBody>
      </p:sp>
      <p:sp>
        <p:nvSpPr>
          <p:cNvPr id="18" name="TextBox 17"/>
          <p:cNvSpPr txBox="1"/>
          <p:nvPr/>
        </p:nvSpPr>
        <p:spPr>
          <a:xfrm>
            <a:off x="7601357" y="4232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생산팀 공지</a:t>
            </a:r>
          </a:p>
          <a:p>
            <a:pPr algn="ctr">
              <a:lnSpc>
                <a:spcPct val="110000"/>
              </a:lnSpc>
              <a:spcAft>
                <a:spcPts val="100"/>
              </a:spcAft>
            </a:pPr>
            <a:r>
              <a:rPr sz="1100" b="0">
                <a:solidFill>
                  <a:srgbClr val="556175"/>
                </a:solidFill>
                <a:latin typeface="맑은 고딕"/>
                <a:ea typeface="맑은 고딕"/>
                <a:cs typeface="맑은 고딕"/>
              </a:rPr>
              <a:t>CMMS · 메일</a:t>
            </a:r>
          </a:p>
        </p:txBody>
      </p:sp>
      <p:sp>
        <p:nvSpPr>
          <p:cNvPr id="19" name="TextBox 18"/>
          <p:cNvSpPr txBox="1"/>
          <p:nvPr/>
        </p:nvSpPr>
        <p:spPr>
          <a:xfrm>
            <a:off x="782923" y="5641235"/>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재고 보충</a:t>
            </a:r>
          </a:p>
          <a:p>
            <a:pPr algn="ctr">
              <a:lnSpc>
                <a:spcPct val="110000"/>
              </a:lnSpc>
              <a:spcAft>
                <a:spcPts val="100"/>
              </a:spcAft>
            </a:pPr>
            <a:r>
              <a:rPr sz="1100" b="0">
                <a:solidFill>
                  <a:srgbClr val="556175"/>
                </a:solidFill>
                <a:latin typeface="맑은 고딕"/>
                <a:ea typeface="맑은 고딕"/>
                <a:cs typeface="맑은 고딕"/>
              </a:rPr>
              <a:t>재주문점 아래의 재고</a:t>
            </a:r>
          </a:p>
        </p:txBody>
      </p:sp>
      <p:sp>
        <p:nvSpPr>
          <p:cNvPr id="20" name="TextBox 19"/>
          <p:cNvSpPr txBox="1"/>
          <p:nvPr/>
        </p:nvSpPr>
        <p:spPr>
          <a:xfrm>
            <a:off x="3150283" y="5641235"/>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agent:spare-buy</a:t>
            </a:r>
          </a:p>
          <a:p>
            <a:pPr algn="ctr">
              <a:lnSpc>
                <a:spcPct val="110000"/>
              </a:lnSpc>
              <a:spcAft>
                <a:spcPts val="100"/>
              </a:spcAft>
            </a:pPr>
            <a:r>
              <a:rPr sz="1100" b="0">
                <a:solidFill>
                  <a:srgbClr val="556175"/>
                </a:solidFill>
                <a:latin typeface="맑은 고딕"/>
                <a:ea typeface="맑은 고딕"/>
                <a:cs typeface="맑은 고딕"/>
              </a:rPr>
              <a:t>발주 수량과 공급사</a:t>
            </a:r>
          </a:p>
        </p:txBody>
      </p:sp>
      <p:sp>
        <p:nvSpPr>
          <p:cNvPr id="21" name="TextBox 20"/>
          <p:cNvSpPr txBox="1"/>
          <p:nvPr/>
        </p:nvSpPr>
        <p:spPr>
          <a:xfrm>
            <a:off x="5517644" y="564123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a:t>
            </a:r>
          </a:p>
        </p:txBody>
      </p:sp>
      <p:sp>
        <p:nvSpPr>
          <p:cNvPr id="22" name="TextBox 21"/>
          <p:cNvSpPr txBox="1"/>
          <p:nvPr/>
        </p:nvSpPr>
        <p:spPr>
          <a:xfrm>
            <a:off x="7601357" y="564123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 · 통지 · 입고 확인</a:t>
            </a:r>
          </a:p>
          <a:p>
            <a:pPr algn="ctr">
              <a:lnSpc>
                <a:spcPct val="110000"/>
              </a:lnSpc>
              <a:spcAft>
                <a:spcPts val="100"/>
              </a:spcAft>
            </a:pPr>
            <a:r>
              <a:rPr sz="1100" b="0">
                <a:solidFill>
                  <a:srgbClr val="556175"/>
                </a:solidFill>
                <a:latin typeface="맑은 고딕"/>
                <a:ea typeface="맑은 고딕"/>
                <a:cs typeface="맑은 고딕"/>
              </a:rPr>
              <a:t>ERP · 메일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시나리오가 확인하는 범위: 처리 건 전체의 행동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시나리오는 에이전트의 답을 견주지 않고, 거절하면 명령이 만들어지지 않는다는 처리 건 전체의 행동을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Given</a:t>
            </a:r>
          </a:p>
          <a:p>
            <a:pPr algn="l">
              <a:lnSpc>
                <a:spcPct val="110000"/>
              </a:lnSpc>
              <a:spcAft>
                <a:spcPts val="400"/>
              </a:spcAft>
            </a:pPr>
            <a:r>
              <a:rPr sz="1400" b="0">
                <a:solidFill>
                  <a:srgbClr val="1F2A3A"/>
                </a:solidFill>
                <a:latin typeface="맑은 고딕"/>
                <a:ea typeface="맑은 고딕"/>
                <a:cs typeface="맑은 고딕"/>
              </a:rPr>
              <a:t>에이전트 단계가 끝난</a:t>
            </a:r>
          </a:p>
          <a:p>
            <a:pPr algn="l">
              <a:lnSpc>
                <a:spcPct val="110000"/>
              </a:lnSpc>
              <a:spcAft>
                <a:spcPts val="400"/>
              </a:spcAft>
            </a:pPr>
            <a:r>
              <a:rPr sz="1400" b="0">
                <a:solidFill>
                  <a:srgbClr val="1F2A3A"/>
                </a:solidFill>
                <a:latin typeface="맑은 고딕"/>
                <a:ea typeface="맑은 고딕"/>
                <a:cs typeface="맑은 고딕"/>
              </a:rPr>
              <a:t>상태가 전제이다.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When</a:t>
            </a:r>
          </a:p>
          <a:p>
            <a:pPr algn="l">
              <a:lnSpc>
                <a:spcPct val="110000"/>
              </a:lnSpc>
              <a:spcAft>
                <a:spcPts val="400"/>
              </a:spcAft>
            </a:pPr>
            <a:r>
              <a:rPr sz="1400" b="0">
                <a:solidFill>
                  <a:srgbClr val="1F2A3A"/>
                </a:solidFill>
                <a:latin typeface="맑은 고딕"/>
                <a:ea typeface="맑은 고딕"/>
                <a:cs typeface="맑은 고딕"/>
              </a:rPr>
              <a:t>사람의 결정이다.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Then</a:t>
            </a:r>
          </a:p>
          <a:p>
            <a:pPr algn="l">
              <a:lnSpc>
                <a:spcPct val="110000"/>
              </a:lnSpc>
              <a:spcAft>
                <a:spcPts val="400"/>
              </a:spcAft>
            </a:pPr>
            <a:r>
              <a:rPr sz="1400" b="0">
                <a:solidFill>
                  <a:srgbClr val="1F2A3A"/>
                </a:solidFill>
                <a:latin typeface="맑은 고딕"/>
                <a:ea typeface="맑은 고딕"/>
                <a:cs typeface="맑은 고딕"/>
              </a:rPr>
              <a:t>프로세스가 지켜야 할</a:t>
            </a:r>
          </a:p>
          <a:p>
            <a:pPr algn="l">
              <a:lnSpc>
                <a:spcPct val="110000"/>
              </a:lnSpc>
              <a:spcAft>
                <a:spcPts val="400"/>
              </a:spcAft>
            </a:pPr>
            <a:r>
              <a:rPr sz="1400" b="0">
                <a:solidFill>
                  <a:srgbClr val="1F2A3A"/>
                </a:solidFill>
                <a:latin typeface="맑은 고딕"/>
                <a:ea typeface="맑은 고딕"/>
                <a:cs typeface="맑은 고딕"/>
              </a:rPr>
              <a:t>결과이다.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위험을 두 자리에서 막는 장치의 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장치가 놓친 위험은 프로세스 쪽의 장치에서 한 번 더 걸리도록, 같은 위험에 장치가 둘씩 짝지어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Oval 5"/>
          <p:cNvSpPr/>
          <p:nvPr/>
        </p:nvSpPr>
        <p:spPr>
          <a:xfrm>
            <a:off x="1319150"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421562"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멈춤 조건</a:t>
            </a:r>
          </a:p>
          <a:p>
            <a:pPr algn="ctr">
              <a:lnSpc>
                <a:spcPct val="110000"/>
              </a:lnSpc>
            </a:pPr>
            <a:r>
              <a:rPr sz="1100" b="0">
                <a:solidFill>
                  <a:srgbClr val="556175"/>
                </a:solidFill>
                <a:latin typeface="맑은 고딕"/>
                <a:ea typeface="맑은 고딕"/>
                <a:cs typeface="맑은 고딕"/>
              </a:rPr>
              <a:t>에이전트</a:t>
            </a:r>
          </a:p>
        </p:txBody>
      </p:sp>
      <p:sp>
        <p:nvSpPr>
          <p:cNvPr id="8" name="Oval 7"/>
          <p:cNvSpPr/>
          <p:nvPr/>
        </p:nvSpPr>
        <p:spPr>
          <a:xfrm>
            <a:off x="1319150" y="4892040"/>
            <a:ext cx="1463040" cy="146304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1421562"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사람의 승인</a:t>
            </a:r>
          </a:p>
          <a:p>
            <a:pPr algn="ctr">
              <a:lnSpc>
                <a:spcPct val="110000"/>
              </a:lnSpc>
            </a:pPr>
            <a:r>
              <a:rPr sz="1100" b="0">
                <a:solidFill>
                  <a:srgbClr val="556175"/>
                </a:solidFill>
                <a:latin typeface="맑은 고딕"/>
                <a:ea typeface="맑은 고딕"/>
                <a:cs typeface="맑은 고딕"/>
              </a:rPr>
              <a:t>프로세스</a:t>
            </a:r>
          </a:p>
        </p:txBody>
      </p:sp>
      <p:sp>
        <p:nvSpPr>
          <p:cNvPr id="10" name="Oval 9"/>
          <p:cNvSpPr/>
          <p:nvPr/>
        </p:nvSpPr>
        <p:spPr>
          <a:xfrm>
            <a:off x="536432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546674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읽기 전용 도구</a:t>
            </a:r>
          </a:p>
          <a:p>
            <a:pPr algn="ctr">
              <a:lnSpc>
                <a:spcPct val="110000"/>
              </a:lnSpc>
            </a:pPr>
            <a:r>
              <a:rPr sz="1100" b="0">
                <a:solidFill>
                  <a:srgbClr val="556175"/>
                </a:solidFill>
                <a:latin typeface="맑은 고딕"/>
                <a:ea typeface="맑은 고딕"/>
                <a:cs typeface="맑은 고딕"/>
              </a:rPr>
              <a:t>에이전트</a:t>
            </a:r>
          </a:p>
        </p:txBody>
      </p:sp>
      <p:sp>
        <p:nvSpPr>
          <p:cNvPr id="12" name="Oval 11"/>
          <p:cNvSpPr/>
          <p:nvPr/>
        </p:nvSpPr>
        <p:spPr>
          <a:xfrm>
            <a:off x="5364327"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546674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승인 조건의 갈림</a:t>
            </a:r>
          </a:p>
          <a:p>
            <a:pPr algn="ctr">
              <a:lnSpc>
                <a:spcPct val="110000"/>
              </a:lnSpc>
            </a:pPr>
            <a:r>
              <a:rPr sz="1100" b="0">
                <a:solidFill>
                  <a:srgbClr val="556175"/>
                </a:solidFill>
                <a:latin typeface="맑은 고딕"/>
                <a:ea typeface="맑은 고딕"/>
                <a:cs typeface="맑은 고딕"/>
              </a:rPr>
              <a:t>프로세스</a:t>
            </a:r>
          </a:p>
        </p:txBody>
      </p:sp>
      <p:sp>
        <p:nvSpPr>
          <p:cNvPr id="14" name="Oval 13"/>
          <p:cNvSpPr/>
          <p:nvPr/>
        </p:nvSpPr>
        <p:spPr>
          <a:xfrm>
            <a:off x="9409505"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511917"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실행의 한도</a:t>
            </a:r>
          </a:p>
          <a:p>
            <a:pPr algn="ctr">
              <a:lnSpc>
                <a:spcPct val="110000"/>
              </a:lnSpc>
            </a:pPr>
            <a:r>
              <a:rPr sz="1100" b="0">
                <a:solidFill>
                  <a:srgbClr val="556175"/>
                </a:solidFill>
                <a:latin typeface="맑은 고딕"/>
                <a:ea typeface="맑은 고딕"/>
                <a:cs typeface="맑은 고딕"/>
              </a:rPr>
              <a:t>에이전트</a:t>
            </a:r>
          </a:p>
        </p:txBody>
      </p:sp>
      <p:sp>
        <p:nvSpPr>
          <p:cNvPr id="16" name="Oval 15"/>
          <p:cNvSpPr/>
          <p:nvPr/>
        </p:nvSpPr>
        <p:spPr>
          <a:xfrm>
            <a:off x="9409505"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7" name="TextBox 16"/>
          <p:cNvSpPr txBox="1"/>
          <p:nvPr/>
        </p:nvSpPr>
        <p:spPr>
          <a:xfrm>
            <a:off x="9511917"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승인 지연 타이머</a:t>
            </a:r>
          </a:p>
          <a:p>
            <a:pPr algn="ctr">
              <a:lnSpc>
                <a:spcPct val="110000"/>
              </a:lnSpc>
            </a:pPr>
            <a:r>
              <a:rPr sz="1100" b="0">
                <a:solidFill>
                  <a:srgbClr val="556175"/>
                </a:solidFill>
                <a:latin typeface="맑은 고딕"/>
                <a:ea typeface="맑은 고딕"/>
                <a:cs typeface="맑은 고딕"/>
              </a:rPr>
              <a:t>프로세스</a:t>
            </a:r>
          </a:p>
        </p:txBody>
      </p:sp>
      <p:cxnSp>
        <p:nvCxnSpPr>
          <p:cNvPr id="18" name="Connector 17"/>
          <p:cNvCxnSpPr/>
          <p:nvPr/>
        </p:nvCxnSpPr>
        <p:spPr>
          <a:xfrm>
            <a:off x="2050670" y="3136392"/>
            <a:ext cx="0" cy="1682496"/>
          </a:xfrm>
          <a:prstGeom prst="line">
            <a:avLst/>
          </a:prstGeom>
          <a:ln w="28575">
            <a:solidFill>
              <a:srgbClr val="13294B"/>
            </a:solidFill>
            <a:tailEnd type="triangle" w="med" len="med"/>
          </a:ln>
        </p:spPr>
      </p:cxnSp>
      <p:sp>
        <p:nvSpPr>
          <p:cNvPr id="19" name="Rounded Rectangle 18"/>
          <p:cNvSpPr/>
          <p:nvPr/>
        </p:nvSpPr>
        <p:spPr>
          <a:xfrm>
            <a:off x="2142110" y="3831336"/>
            <a:ext cx="16764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142110" y="3831336"/>
            <a:ext cx="167640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근거가 모자란 추천안</a:t>
            </a:r>
          </a:p>
        </p:txBody>
      </p:sp>
      <p:cxnSp>
        <p:nvCxnSpPr>
          <p:cNvPr id="21" name="Connector 20"/>
          <p:cNvCxnSpPr/>
          <p:nvPr/>
        </p:nvCxnSpPr>
        <p:spPr>
          <a:xfrm>
            <a:off x="6095847" y="3136392"/>
            <a:ext cx="0" cy="1682496"/>
          </a:xfrm>
          <a:prstGeom prst="line">
            <a:avLst/>
          </a:prstGeom>
          <a:ln w="28575">
            <a:solidFill>
              <a:srgbClr val="13294B"/>
            </a:solidFill>
            <a:tailEnd type="triangle" w="med" len="med"/>
          </a:ln>
        </p:spPr>
      </p:cxnSp>
      <p:sp>
        <p:nvSpPr>
          <p:cNvPr id="22" name="Rounded Rectangle 21"/>
          <p:cNvSpPr/>
          <p:nvPr/>
        </p:nvSpPr>
        <p:spPr>
          <a:xfrm>
            <a:off x="6187287" y="3831336"/>
            <a:ext cx="123824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6187287" y="3831336"/>
            <a:ext cx="1238249"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 없는 쓰기</a:t>
            </a:r>
          </a:p>
        </p:txBody>
      </p:sp>
      <p:cxnSp>
        <p:nvCxnSpPr>
          <p:cNvPr id="24" name="Connector 23"/>
          <p:cNvCxnSpPr/>
          <p:nvPr/>
        </p:nvCxnSpPr>
        <p:spPr>
          <a:xfrm>
            <a:off x="10141025" y="3136392"/>
            <a:ext cx="0" cy="1682496"/>
          </a:xfrm>
          <a:prstGeom prst="line">
            <a:avLst/>
          </a:prstGeom>
          <a:ln w="28575">
            <a:solidFill>
              <a:srgbClr val="13294B"/>
            </a:solidFill>
            <a:tailEnd type="triangle" w="med" len="med"/>
          </a:ln>
        </p:spPr>
      </p:cxnSp>
      <p:sp>
        <p:nvSpPr>
          <p:cNvPr id="25" name="Rounded Rectangle 24"/>
          <p:cNvSpPr/>
          <p:nvPr/>
        </p:nvSpPr>
        <p:spPr>
          <a:xfrm>
            <a:off x="10232465" y="3831336"/>
            <a:ext cx="13843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10232465" y="3831336"/>
            <a:ext cx="138430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끝나지 않는 대기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드러난 증상이 어느 영역의 몫인지를 가리면 지식, 에이전트, 프로세스 가운데 고칠 곳이 하나로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조치에 정해진 승인 역할</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영역이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지식은 에이전트에게 재료를, 에이전트는 프로세스에게 추천안을 넘기고, 프로세스는 승인과 실행을 기록으로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세영역.svg" descr="illust_6992281540925035187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1~4일차</a:t>
            </a:r>
          </a:p>
        </p:txBody>
      </p:sp>
      <p:sp>
        <p:nvSpPr>
          <p:cNvPr id="8" name="TextBox 7"/>
          <p:cNvSpPr txBox="1"/>
          <p:nvPr/>
        </p:nvSpPr>
        <p:spPr>
          <a:xfrm>
            <a:off x="500489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5~8일차</a:t>
            </a:r>
          </a:p>
        </p:txBody>
      </p:sp>
      <p:sp>
        <p:nvSpPr>
          <p:cNvPr id="9" name="TextBox 8"/>
          <p:cNvSpPr txBox="1"/>
          <p:nvPr/>
        </p:nvSpPr>
        <p:spPr>
          <a:xfrm>
            <a:off x="909595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9~10일차</a:t>
            </a:r>
          </a:p>
        </p:txBody>
      </p:sp>
      <p:sp>
        <p:nvSpPr>
          <p:cNvPr id="10" name="TextBox 9"/>
          <p:cNvSpPr txBox="1"/>
          <p:nvPr/>
        </p:nvSpPr>
        <p:spPr>
          <a:xfrm>
            <a:off x="85929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스키마, SOP, 규칙, 출처</a:t>
            </a:r>
          </a:p>
        </p:txBody>
      </p:sp>
      <p:sp>
        <p:nvSpPr>
          <p:cNvPr id="11" name="TextBox 10"/>
          <p:cNvSpPr txBox="1"/>
          <p:nvPr/>
        </p:nvSpPr>
        <p:spPr>
          <a:xfrm>
            <a:off x="495035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 MCP, 명세, 시나리오</a:t>
            </a:r>
          </a:p>
        </p:txBody>
      </p:sp>
      <p:sp>
        <p:nvSpPr>
          <p:cNvPr id="12" name="TextBox 11"/>
          <p:cNvSpPr txBox="1"/>
          <p:nvPr/>
        </p:nvSpPr>
        <p:spPr>
          <a:xfrm>
            <a:off x="9041411"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정의, 인스턴스, 승인, 실행</a:t>
            </a:r>
          </a:p>
        </p:txBody>
      </p:sp>
      <p:sp>
        <p:nvSpPr>
          <p:cNvPr id="13" name="TextBox 12"/>
          <p:cNvSpPr txBox="1"/>
          <p:nvPr/>
        </p:nvSpPr>
        <p:spPr>
          <a:xfrm>
            <a:off x="323210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재료</a:t>
            </a:r>
          </a:p>
          <a:p>
            <a:pPr algn="ctr">
              <a:lnSpc>
                <a:spcPct val="110000"/>
              </a:lnSpc>
              <a:spcAft>
                <a:spcPts val="100"/>
              </a:spcAft>
            </a:pPr>
            <a:r>
              <a:rPr sz="1300" b="0">
                <a:solidFill>
                  <a:srgbClr val="556175"/>
                </a:solidFill>
                <a:latin typeface="맑은 고딕"/>
                <a:ea typeface="맑은 고딕"/>
                <a:cs typeface="맑은 고딕"/>
              </a:rPr>
              <a:t>관계 · 기준</a:t>
            </a:r>
          </a:p>
        </p:txBody>
      </p:sp>
      <p:sp>
        <p:nvSpPr>
          <p:cNvPr id="14" name="TextBox 13"/>
          <p:cNvSpPr txBox="1"/>
          <p:nvPr/>
        </p:nvSpPr>
        <p:spPr>
          <a:xfrm>
            <a:off x="732316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추천과 대안</a:t>
            </a:r>
          </a:p>
        </p:txBody>
      </p:sp>
      <p:sp>
        <p:nvSpPr>
          <p:cNvPr id="15" name="TextBox 14"/>
          <p:cNvSpPr txBox="1"/>
          <p:nvPr/>
        </p:nvSpPr>
        <p:spPr>
          <a:xfrm>
            <a:off x="6750417" y="559868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기록과 감사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제안이 끝난 업무가 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추천안은 근거가 지식에 닿아 있고, 정해진 역할이 승인하고, 실행과 결과가 기록으로 남을 때 끝난 업무가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a:t>
            </a:r>
          </a:p>
          <a:p>
            <a:pPr algn="l">
              <a:lnSpc>
                <a:spcPct val="110000"/>
              </a:lnSpc>
              <a:spcAft>
                <a:spcPts val="400"/>
              </a:spcAft>
            </a:pPr>
            <a:r>
              <a:rPr sz="1400" b="0">
                <a:solidFill>
                  <a:srgbClr val="1F2A3A"/>
                </a:solidFill>
                <a:latin typeface="맑은 고딕"/>
                <a:ea typeface="맑은 고딕"/>
                <a:cs typeface="맑은 고딕"/>
              </a:rPr>
              <a:t>• 추천안의 근거가 등록된 지식과</a:t>
            </a:r>
          </a:p>
          <a:p>
            <a:pPr algn="l">
              <a:lnSpc>
                <a:spcPct val="110000"/>
              </a:lnSpc>
              <a:spcAft>
                <a:spcPts val="400"/>
              </a:spcAft>
            </a:pPr>
            <a:r>
              <a:rPr sz="1400" b="0">
                <a:solidFill>
                  <a:srgbClr val="1F2A3A"/>
                </a:solidFill>
                <a:latin typeface="맑은 고딕"/>
                <a:ea typeface="맑은 고딕"/>
                <a:cs typeface="맑은 고딕"/>
              </a:rPr>
              <a:t>• 도구로 읽은 값에 닿아 있다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a:t>
            </a:r>
          </a:p>
          <a:p>
            <a:pPr algn="l">
              <a:lnSpc>
                <a:spcPct val="110000"/>
              </a:lnSpc>
              <a:spcAft>
                <a:spcPts val="400"/>
              </a:spcAft>
            </a:pPr>
            <a:r>
              <a:rPr sz="1400" b="0">
                <a:solidFill>
                  <a:srgbClr val="1F2A3A"/>
                </a:solidFill>
                <a:latin typeface="맑은 고딕"/>
                <a:ea typeface="맑은 고딕"/>
                <a:cs typeface="맑은 고딕"/>
              </a:rPr>
              <a:t>• 스킬과 도구로 만든 추천안이</a:t>
            </a:r>
          </a:p>
          <a:p>
            <a:pPr algn="l">
              <a:lnSpc>
                <a:spcPct val="110000"/>
              </a:lnSpc>
              <a:spcAft>
                <a:spcPts val="400"/>
              </a:spcAft>
            </a:pPr>
            <a:r>
              <a:rPr sz="1400" b="0">
                <a:solidFill>
                  <a:srgbClr val="1F2A3A"/>
                </a:solidFill>
                <a:latin typeface="맑은 고딕"/>
                <a:ea typeface="맑은 고딕"/>
                <a:cs typeface="맑은 고딕"/>
              </a:rPr>
              <a:t>• 명세가 정한 형식으로 제출된다</a:t>
            </a:r>
          </a:p>
        </p:txBody>
      </p:sp>
      <p:sp>
        <p:nvSpPr>
          <p:cNvPr id="16" name="Rounded Rectangle 15"/>
          <p:cNvSpPr/>
          <p:nvPr/>
        </p:nvSpPr>
        <p:spPr>
          <a:xfrm>
            <a:off x="4566818" y="4932934"/>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a:t>
            </a:r>
          </a:p>
          <a:p>
            <a:pPr algn="l">
              <a:lnSpc>
                <a:spcPct val="110000"/>
              </a:lnSpc>
              <a:spcAft>
                <a:spcPts val="400"/>
              </a:spcAft>
            </a:pPr>
            <a:r>
              <a:rPr sz="1400" b="0">
                <a:solidFill>
                  <a:srgbClr val="1F2A3A"/>
                </a:solidFill>
                <a:latin typeface="맑은 고딕"/>
                <a:ea typeface="맑은 고딕"/>
                <a:cs typeface="맑은 고딕"/>
              </a:rPr>
              <a:t>• 정해진 역할이 승인하고</a:t>
            </a:r>
          </a:p>
          <a:p>
            <a:pPr algn="l">
              <a:lnSpc>
                <a:spcPct val="110000"/>
              </a:lnSpc>
              <a:spcAft>
                <a:spcPts val="400"/>
              </a:spcAft>
            </a:pPr>
            <a:r>
              <a:rPr sz="1400" b="0">
                <a:solidFill>
                  <a:srgbClr val="1F2A3A"/>
                </a:solidFill>
                <a:latin typeface="맑은 고딕"/>
                <a:ea typeface="맑은 고딕"/>
                <a:cs typeface="맑은 고딕"/>
              </a:rPr>
              <a:t>• 실행과 결과가 기록된다</a:t>
            </a:r>
          </a:p>
        </p:txBody>
      </p:sp>
      <p:sp>
        <p:nvSpPr>
          <p:cNvPr id="22" name="Rounded Rectangle 21"/>
          <p:cNvSpPr/>
          <p:nvPr/>
        </p:nvSpPr>
        <p:spPr>
          <a:xfrm>
            <a:off x="8356396" y="4932934"/>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주제의 업무 명세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친숙한 업무 하나를 골라 입력, 산출물, 완료 조건을 명세로 적는다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완성되는 명세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내 주제의 입력과 정보원, 에이전트 산출물, 사람 확인, 완료 조건을 적은 업무 명세 한 장이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입력과 정보원</a:t>
            </a:r>
          </a:p>
          <a:p>
            <a:pPr algn="l">
              <a:lnSpc>
                <a:spcPct val="110000"/>
              </a:lnSpc>
              <a:spcAft>
                <a:spcPts val="400"/>
              </a:spcAft>
            </a:pPr>
            <a:r>
              <a:rPr sz="1350" b="0">
                <a:solidFill>
                  <a:srgbClr val="1F2A3A"/>
                </a:solidFill>
                <a:latin typeface="맑은 고딕"/>
                <a:ea typeface="맑은 고딕"/>
                <a:cs typeface="맑은 고딕"/>
              </a:rPr>
              <a:t>• 무엇을 받아 시작하고</a:t>
            </a:r>
          </a:p>
          <a:p>
            <a:pPr algn="l">
              <a:lnSpc>
                <a:spcPct val="110000"/>
              </a:lnSpc>
              <a:spcAft>
                <a:spcPts val="400"/>
              </a:spcAft>
            </a:pPr>
            <a:r>
              <a:rPr sz="1350" b="0">
                <a:solidFill>
                  <a:srgbClr val="1F2A3A"/>
                </a:solidFill>
                <a:latin typeface="맑은 고딕"/>
                <a:ea typeface="맑은 고딕"/>
                <a:cs typeface="맑은 고딕"/>
              </a:rPr>
              <a:t>• 어디에서 읽을 수 있는가</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산출물</a:t>
            </a:r>
          </a:p>
          <a:p>
            <a:pPr algn="l">
              <a:lnSpc>
                <a:spcPct val="110000"/>
              </a:lnSpc>
              <a:spcAft>
                <a:spcPts val="400"/>
              </a:spcAft>
            </a:pPr>
            <a:r>
              <a:rPr sz="1350" b="0">
                <a:solidFill>
                  <a:srgbClr val="1F2A3A"/>
                </a:solidFill>
                <a:latin typeface="맑은 고딕"/>
                <a:ea typeface="맑은 고딕"/>
                <a:cs typeface="맑은 고딕"/>
              </a:rPr>
              <a:t>• 읽기, 분류, 추천 가운데</a:t>
            </a:r>
          </a:p>
          <a:p>
            <a:pPr algn="l">
              <a:lnSpc>
                <a:spcPct val="110000"/>
              </a:lnSpc>
              <a:spcAft>
                <a:spcPts val="400"/>
              </a:spcAft>
            </a:pPr>
            <a:r>
              <a:rPr sz="1350" b="0">
                <a:solidFill>
                  <a:srgbClr val="1F2A3A"/>
                </a:solidFill>
                <a:latin typeface="맑은 고딕"/>
                <a:ea typeface="맑은 고딕"/>
                <a:cs typeface="맑은 고딕"/>
              </a:rPr>
              <a:t>• 무엇을 내는가</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 확인</a:t>
            </a:r>
          </a:p>
          <a:p>
            <a:pPr algn="l">
              <a:lnSpc>
                <a:spcPct val="110000"/>
              </a:lnSpc>
              <a:spcAft>
                <a:spcPts val="400"/>
              </a:spcAft>
            </a:pPr>
            <a:r>
              <a:rPr sz="1350" b="0">
                <a:solidFill>
                  <a:srgbClr val="1F2A3A"/>
                </a:solidFill>
                <a:latin typeface="맑은 고딕"/>
                <a:ea typeface="맑은 고딕"/>
                <a:cs typeface="맑은 고딕"/>
              </a:rPr>
              <a:t>• 어느 결과를</a:t>
            </a:r>
          </a:p>
          <a:p>
            <a:pPr algn="l">
              <a:lnSpc>
                <a:spcPct val="110000"/>
              </a:lnSpc>
              <a:spcAft>
                <a:spcPts val="400"/>
              </a:spcAft>
            </a:pPr>
            <a:r>
              <a:rPr sz="1350" b="0">
                <a:solidFill>
                  <a:srgbClr val="1F2A3A"/>
                </a:solidFill>
                <a:latin typeface="맑은 고딕"/>
                <a:ea typeface="맑은 고딕"/>
                <a:cs typeface="맑은 고딕"/>
              </a:rPr>
              <a:t>• 사람이 확인하는가</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flag" descr="flag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 조건</a:t>
            </a:r>
          </a:p>
          <a:p>
            <a:pPr algn="l">
              <a:lnSpc>
                <a:spcPct val="110000"/>
              </a:lnSpc>
              <a:spcAft>
                <a:spcPts val="400"/>
              </a:spcAft>
            </a:pPr>
            <a:r>
              <a:rPr sz="1350" b="0">
                <a:solidFill>
                  <a:srgbClr val="1F2A3A"/>
                </a:solidFill>
                <a:latin typeface="맑은 고딕"/>
                <a:ea typeface="맑은 고딕"/>
                <a:cs typeface="맑은 고딕"/>
              </a:rPr>
              <a:t>• 무엇이 되면</a:t>
            </a:r>
          </a:p>
          <a:p>
            <a:pPr algn="l">
              <a:lnSpc>
                <a:spcPct val="110000"/>
              </a:lnSpc>
              <a:spcAft>
                <a:spcPts val="400"/>
              </a:spcAft>
            </a:pPr>
            <a:r>
              <a:rPr sz="1350" b="0">
                <a:solidFill>
                  <a:srgbClr val="1F2A3A"/>
                </a:solidFill>
                <a:latin typeface="맑은 고딕"/>
                <a:ea typeface="맑은 고딕"/>
                <a:cs typeface="맑은 고딕"/>
              </a:rPr>
              <a:t>• 끝났다고 보는가</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문서로 만드는 작은 지식 구조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문서에서 개념, 속성, 관계를 가려 스키마와 샘플 인스턴스를 만든다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가려내는 것과 만들어지는 지식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내 문서에서 뽑은 스키마와 샘플 인스턴스는 출처와 식별자를 붙여, 수업용으로 따로 둔 이름 공간에서 조회로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search" descr="file-search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 읽기</a:t>
            </a:r>
          </a:p>
          <a:p>
            <a:pPr algn="ctr">
              <a:lnSpc>
                <a:spcPct val="110000"/>
              </a:lnSpc>
              <a:spcAft>
                <a:spcPts val="400"/>
              </a:spcAft>
            </a:pPr>
            <a:r>
              <a:rPr sz="1350" b="0">
                <a:solidFill>
                  <a:srgbClr val="1F2A3A"/>
                </a:solidFill>
                <a:latin typeface="맑은 고딕"/>
                <a:ea typeface="맑은 고딕"/>
                <a:cs typeface="맑은 고딕"/>
              </a:rPr>
              <a:t>핵심 개념, 속성,</a:t>
            </a:r>
          </a:p>
          <a:p>
            <a:pPr algn="ctr">
              <a:lnSpc>
                <a:spcPct val="110000"/>
              </a:lnSpc>
              <a:spcAft>
                <a:spcPts val="400"/>
              </a:spcAft>
            </a:pPr>
            <a:r>
              <a:rPr sz="1350" b="0">
                <a:solidFill>
                  <a:srgbClr val="1F2A3A"/>
                </a:solidFill>
                <a:latin typeface="맑은 고딕"/>
                <a:ea typeface="맑은 고딕"/>
                <a:cs typeface="맑은 고딕"/>
              </a:rPr>
              <a:t>관계를 가려낸다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schema" descr="schema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스키마</a:t>
            </a:r>
          </a:p>
          <a:p>
            <a:pPr algn="ctr">
              <a:lnSpc>
                <a:spcPct val="110000"/>
              </a:lnSpc>
              <a:spcAft>
                <a:spcPts val="400"/>
              </a:spcAft>
            </a:pPr>
            <a:r>
              <a:rPr sz="1350" b="0">
                <a:solidFill>
                  <a:srgbClr val="1F2A3A"/>
                </a:solidFill>
                <a:latin typeface="맑은 고딕"/>
                <a:ea typeface="맑은 고딕"/>
                <a:cs typeface="맑은 고딕"/>
              </a:rPr>
              <a:t>클래스, 속성, 관계를</a:t>
            </a:r>
          </a:p>
          <a:p>
            <a:pPr algn="ctr">
              <a:lnSpc>
                <a:spcPct val="110000"/>
              </a:lnSpc>
              <a:spcAft>
                <a:spcPts val="400"/>
              </a:spcAft>
            </a:pPr>
            <a:r>
              <a:rPr sz="1350" b="0">
                <a:solidFill>
                  <a:srgbClr val="1F2A3A"/>
                </a:solidFill>
                <a:latin typeface="맑은 고딕"/>
                <a:ea typeface="맑은 고딕"/>
                <a:cs typeface="맑은 고딕"/>
              </a:rPr>
              <a:t>정의한다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database" descr="database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샘플 인스턴스</a:t>
            </a:r>
          </a:p>
          <a:p>
            <a:pPr algn="ctr">
              <a:lnSpc>
                <a:spcPct val="110000"/>
              </a:lnSpc>
              <a:spcAft>
                <a:spcPts val="400"/>
              </a:spcAft>
            </a:pPr>
            <a:r>
              <a:rPr sz="1350" b="0">
                <a:solidFill>
                  <a:srgbClr val="1F2A3A"/>
                </a:solidFill>
                <a:latin typeface="맑은 고딕"/>
                <a:ea typeface="맑은 고딕"/>
                <a:cs typeface="맑은 고딕"/>
              </a:rPr>
              <a:t>식별자와 출처를</a:t>
            </a:r>
          </a:p>
          <a:p>
            <a:pPr algn="ctr">
              <a:lnSpc>
                <a:spcPct val="110000"/>
              </a:lnSpc>
              <a:spcAft>
                <a:spcPts val="400"/>
              </a:spcAft>
            </a:pPr>
            <a:r>
              <a:rPr sz="1350" b="0">
                <a:solidFill>
                  <a:srgbClr val="1F2A3A"/>
                </a:solidFill>
                <a:latin typeface="맑은 고딕"/>
                <a:ea typeface="맑은 고딕"/>
                <a:cs typeface="맑은 고딕"/>
              </a:rPr>
              <a:t>붙여 적는다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a:t>
            </a:r>
          </a:p>
          <a:p>
            <a:pPr algn="ctr">
              <a:lnSpc>
                <a:spcPct val="110000"/>
              </a:lnSpc>
              <a:spcAft>
                <a:spcPts val="400"/>
              </a:spcAft>
            </a:pPr>
            <a:r>
              <a:rPr sz="1350" b="0">
                <a:solidFill>
                  <a:srgbClr val="1F2A3A"/>
                </a:solidFill>
                <a:latin typeface="맑은 고딕"/>
                <a:ea typeface="맑은 고딕"/>
                <a:cs typeface="맑은 고딕"/>
              </a:rPr>
              <a:t>따로 둔 이름 공간에서</a:t>
            </a:r>
          </a:p>
          <a:p>
            <a:pPr algn="ctr">
              <a:lnSpc>
                <a:spcPct val="110000"/>
              </a:lnSpc>
              <a:spcAft>
                <a:spcPts val="400"/>
              </a:spcAft>
            </a:pPr>
            <a:r>
              <a:rPr sz="1350" b="0">
                <a:solidFill>
                  <a:srgbClr val="1F2A3A"/>
                </a:solidFill>
                <a:latin typeface="맑은 고딕"/>
                <a:ea typeface="맑은 고딕"/>
                <a:cs typeface="맑은 고딕"/>
              </a:rPr>
              <a:t>질문이 조회로</a:t>
            </a:r>
          </a:p>
          <a:p>
            <a:pPr algn="ctr">
              <a:lnSpc>
                <a:spcPct val="110000"/>
              </a:lnSpc>
              <a:spcAft>
                <a:spcPts val="400"/>
              </a:spcAft>
            </a:pPr>
            <a:r>
              <a:rPr sz="1350" b="0">
                <a:solidFill>
                  <a:srgbClr val="1F2A3A"/>
                </a:solidFill>
                <a:latin typeface="맑은 고딕"/>
                <a:ea typeface="맑은 고딕"/>
                <a:cs typeface="맑은 고딕"/>
              </a:rPr>
              <a:t>풀리는지 본다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지식을 읽어 제안하는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앞서 만든 지식과 읽기 도구로 확인된 것만 제안하는 에이전트를 만든다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에이전트의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실습의 작은 에이전트는 확인된 정보로만 제안하고, 미확인 값과 권한 밖의 작업은 지어내지 않고 보류로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에이전트의 정의</a:t>
            </a:r>
          </a:p>
          <a:p>
            <a:pPr algn="l">
              <a:lnSpc>
                <a:spcPct val="110000"/>
              </a:lnSpc>
              <a:spcAft>
                <a:spcPts val="400"/>
              </a:spcAft>
            </a:pPr>
            <a:r>
              <a:rPr sz="1400" b="0">
                <a:solidFill>
                  <a:srgbClr val="1F2A3A"/>
                </a:solidFill>
                <a:latin typeface="맑은 고딕"/>
                <a:ea typeface="맑은 고딕"/>
                <a:cs typeface="맑은 고딕"/>
              </a:rPr>
              <a:t>• 목표와 스킬을 적고</a:t>
            </a:r>
          </a:p>
          <a:p>
            <a:pPr algn="l">
              <a:lnSpc>
                <a:spcPct val="110000"/>
              </a:lnSpc>
              <a:spcAft>
                <a:spcPts val="400"/>
              </a:spcAft>
            </a:pPr>
            <a:r>
              <a:rPr sz="1400" b="0">
                <a:solidFill>
                  <a:srgbClr val="1F2A3A"/>
                </a:solidFill>
                <a:latin typeface="맑은 고딕"/>
                <a:ea typeface="맑은 고딕"/>
                <a:cs typeface="맑은 고딕"/>
              </a:rPr>
              <a:t>• 앞서 만든 스키마와 자료를</a:t>
            </a:r>
          </a:p>
          <a:p>
            <a:pPr algn="l">
              <a:lnSpc>
                <a:spcPct val="110000"/>
              </a:lnSpc>
              <a:spcAft>
                <a:spcPts val="400"/>
              </a:spcAft>
            </a:pPr>
            <a:r>
              <a:rPr sz="1400" b="0">
                <a:solidFill>
                  <a:srgbClr val="1F2A3A"/>
                </a:solidFill>
                <a:latin typeface="맑은 고딕"/>
                <a:ea typeface="맑은 고딕"/>
                <a:cs typeface="맑은 고딕"/>
              </a:rPr>
              <a:t>• 읽게 한다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lug" descr="plug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읽기 도구의 연결</a:t>
            </a:r>
          </a:p>
          <a:p>
            <a:pPr algn="l">
              <a:lnSpc>
                <a:spcPct val="110000"/>
              </a:lnSpc>
              <a:spcAft>
                <a:spcPts val="400"/>
              </a:spcAft>
            </a:pPr>
            <a:r>
              <a:rPr sz="1400" b="0">
                <a:solidFill>
                  <a:srgbClr val="1F2A3A"/>
                </a:solidFill>
                <a:latin typeface="맑은 고딕"/>
                <a:ea typeface="맑은 고딕"/>
                <a:cs typeface="맑은 고딕"/>
              </a:rPr>
              <a:t>• 쓸 수 있는 읽기 MCP를</a:t>
            </a:r>
          </a:p>
          <a:p>
            <a:pPr algn="l">
              <a:lnSpc>
                <a:spcPct val="110000"/>
              </a:lnSpc>
              <a:spcAft>
                <a:spcPts val="400"/>
              </a:spcAft>
            </a:pPr>
            <a:r>
              <a:rPr sz="1400" b="0">
                <a:solidFill>
                  <a:srgbClr val="1F2A3A"/>
                </a:solidFill>
                <a:latin typeface="맑은 고딕"/>
                <a:ea typeface="맑은 고딕"/>
                <a:cs typeface="맑은 고딕"/>
              </a:rPr>
              <a:t>• 연결한다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제안과 보류</a:t>
            </a:r>
          </a:p>
          <a:p>
            <a:pPr algn="l">
              <a:lnSpc>
                <a:spcPct val="110000"/>
              </a:lnSpc>
              <a:spcAft>
                <a:spcPts val="400"/>
              </a:spcAft>
            </a:pPr>
            <a:r>
              <a:rPr sz="1400" b="0">
                <a:solidFill>
                  <a:srgbClr val="1F2A3A"/>
                </a:solidFill>
                <a:latin typeface="맑은 고딕"/>
                <a:ea typeface="맑은 고딕"/>
                <a:cs typeface="맑은 고딕"/>
              </a:rPr>
              <a:t>• 확인된 것은 제안하고</a:t>
            </a:r>
          </a:p>
          <a:p>
            <a:pPr algn="l">
              <a:lnSpc>
                <a:spcPct val="110000"/>
              </a:lnSpc>
              <a:spcAft>
                <a:spcPts val="400"/>
              </a:spcAft>
            </a:pPr>
            <a:r>
              <a:rPr sz="1400" b="0">
                <a:solidFill>
                  <a:srgbClr val="1F2A3A"/>
                </a:solidFill>
                <a:latin typeface="맑은 고딕"/>
                <a:ea typeface="맑은 고딕"/>
                <a:cs typeface="맑은 고딕"/>
              </a:rPr>
              <a:t>• 미확인 값과 권한 밖의 작업은</a:t>
            </a:r>
          </a:p>
          <a:p>
            <a:pPr algn="l">
              <a:lnSpc>
                <a:spcPct val="110000"/>
              </a:lnSpc>
              <a:spcAft>
                <a:spcPts val="400"/>
              </a:spcAft>
            </a:pPr>
            <a:r>
              <a:rPr sz="1400" b="0">
                <a:solidFill>
                  <a:srgbClr val="1F2A3A"/>
                </a:solidFill>
                <a:latin typeface="맑은 고딕"/>
                <a:ea typeface="맑은 고딕"/>
                <a:cs typeface="맑은 고딕"/>
              </a:rPr>
              <a:t>• 보류로 낸다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직접 그린 흐름으로 에이전트 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내 에이전트를 단계로 둔 프로세스를 그려 등록하고 실행한다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흐름과 남는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내 에이전트를 단계로 둔 프로세스가 등록되고, 그 프로세스로 열린 처리 건의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시작</a:t>
            </a:r>
          </a:p>
          <a:p>
            <a:pPr algn="ctr">
              <a:lnSpc>
                <a:spcPct val="110000"/>
              </a:lnSpc>
              <a:spcAft>
                <a:spcPts val="400"/>
              </a:spcAft>
            </a:pPr>
            <a:r>
              <a:rPr sz="1250" b="0">
                <a:solidFill>
                  <a:srgbClr val="1F2A3A"/>
                </a:solidFill>
                <a:latin typeface="맑은 고딕"/>
                <a:ea typeface="맑은 고딕"/>
                <a:cs typeface="맑은 고딕"/>
              </a:rPr>
              <a:t>업무를 여는</a:t>
            </a:r>
          </a:p>
          <a:p>
            <a:pPr algn="ctr">
              <a:lnSpc>
                <a:spcPct val="110000"/>
              </a:lnSpc>
              <a:spcAft>
                <a:spcPts val="400"/>
              </a:spcAft>
            </a:pPr>
            <a:r>
              <a:rPr sz="1250" b="0">
                <a:solidFill>
                  <a:srgbClr val="1F2A3A"/>
                </a:solidFill>
                <a:latin typeface="맑은 고딕"/>
                <a:ea typeface="맑은 고딕"/>
                <a:cs typeface="맑은 고딕"/>
              </a:rPr>
              <a:t>사건을 정한다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에이전트 작업</a:t>
            </a:r>
          </a:p>
          <a:p>
            <a:pPr algn="ctr">
              <a:lnSpc>
                <a:spcPct val="110000"/>
              </a:lnSpc>
              <a:spcAft>
                <a:spcPts val="400"/>
              </a:spcAft>
            </a:pPr>
            <a:r>
              <a:rPr sz="1250" b="0">
                <a:solidFill>
                  <a:srgbClr val="1F2A3A"/>
                </a:solidFill>
                <a:latin typeface="맑은 고딕"/>
                <a:ea typeface="맑은 고딕"/>
                <a:cs typeface="맑은 고딕"/>
              </a:rPr>
              <a:t>앞서 만든</a:t>
            </a:r>
          </a:p>
          <a:p>
            <a:pPr algn="ctr">
              <a:lnSpc>
                <a:spcPct val="110000"/>
              </a:lnSpc>
              <a:spcAft>
                <a:spcPts val="400"/>
              </a:spcAft>
            </a:pPr>
            <a:r>
              <a:rPr sz="1250" b="0">
                <a:solidFill>
                  <a:srgbClr val="1F2A3A"/>
                </a:solidFill>
                <a:latin typeface="맑은 고딕"/>
                <a:ea typeface="맑은 고딕"/>
                <a:cs typeface="맑은 고딕"/>
              </a:rPr>
              <a:t>에이전트에게</a:t>
            </a:r>
          </a:p>
          <a:p>
            <a:pPr algn="ctr">
              <a:lnSpc>
                <a:spcPct val="110000"/>
              </a:lnSpc>
              <a:spcAft>
                <a:spcPts val="400"/>
              </a:spcAft>
            </a:pPr>
            <a:r>
              <a:rPr sz="1250" b="0">
                <a:solidFill>
                  <a:srgbClr val="1F2A3A"/>
                </a:solidFill>
                <a:latin typeface="맑은 고딕"/>
                <a:ea typeface="맑은 고딕"/>
                <a:cs typeface="맑은 고딕"/>
              </a:rPr>
              <a:t>맡긴다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사람 확인</a:t>
            </a:r>
          </a:p>
          <a:p>
            <a:pPr algn="ctr">
              <a:lnSpc>
                <a:spcPct val="110000"/>
              </a:lnSpc>
              <a:spcAft>
                <a:spcPts val="400"/>
              </a:spcAft>
            </a:pPr>
            <a:r>
              <a:rPr sz="1250" b="0">
                <a:solidFill>
                  <a:srgbClr val="1F2A3A"/>
                </a:solidFill>
                <a:latin typeface="맑은 고딕"/>
                <a:ea typeface="맑은 고딕"/>
                <a:cs typeface="맑은 고딕"/>
              </a:rPr>
              <a:t>필요한 자리에</a:t>
            </a:r>
          </a:p>
          <a:p>
            <a:pPr algn="ctr">
              <a:lnSpc>
                <a:spcPct val="110000"/>
              </a:lnSpc>
              <a:spcAft>
                <a:spcPts val="400"/>
              </a:spcAft>
            </a:pPr>
            <a:r>
              <a:rPr sz="1250" b="0">
                <a:solidFill>
                  <a:srgbClr val="1F2A3A"/>
                </a:solidFill>
                <a:latin typeface="맑은 고딕"/>
                <a:ea typeface="맑은 고딕"/>
                <a:cs typeface="맑은 고딕"/>
              </a:rPr>
              <a:t>사용자 작업을</a:t>
            </a:r>
          </a:p>
          <a:p>
            <a:pPr algn="ctr">
              <a:lnSpc>
                <a:spcPct val="110000"/>
              </a:lnSpc>
              <a:spcAft>
                <a:spcPts val="400"/>
              </a:spcAft>
            </a:pPr>
            <a:r>
              <a:rPr sz="1250" b="0">
                <a:solidFill>
                  <a:srgbClr val="1F2A3A"/>
                </a:solidFill>
                <a:latin typeface="맑은 고딕"/>
                <a:ea typeface="맑은 고딕"/>
                <a:cs typeface="맑은 고딕"/>
              </a:rPr>
              <a:t>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 보고</a:t>
            </a:r>
          </a:p>
          <a:p>
            <a:pPr algn="ctr">
              <a:lnSpc>
                <a:spcPct val="110000"/>
              </a:lnSpc>
              <a:spcAft>
                <a:spcPts val="400"/>
              </a:spcAft>
            </a:pPr>
            <a:r>
              <a:rPr sz="1250" b="0">
                <a:solidFill>
                  <a:srgbClr val="1F2A3A"/>
                </a:solidFill>
                <a:latin typeface="맑은 고딕"/>
                <a:ea typeface="맑은 고딕"/>
                <a:cs typeface="맑은 고딕"/>
              </a:rPr>
              <a:t>한 일과 하지 못한</a:t>
            </a:r>
          </a:p>
          <a:p>
            <a:pPr algn="ctr">
              <a:lnSpc>
                <a:spcPct val="110000"/>
              </a:lnSpc>
              <a:spcAft>
                <a:spcPts val="400"/>
              </a:spcAft>
            </a:pPr>
            <a:r>
              <a:rPr sz="1250" b="0">
                <a:solidFill>
                  <a:srgbClr val="1F2A3A"/>
                </a:solidFill>
                <a:latin typeface="맑은 고딕"/>
                <a:ea typeface="맑은 고딕"/>
                <a:cs typeface="맑은 고딕"/>
              </a:rPr>
              <a:t>일을 정리해 알린다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flag" descr="flag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a:t>
            </a:r>
          </a:p>
          <a:p>
            <a:pPr algn="ctr">
              <a:lnSpc>
                <a:spcPct val="110000"/>
              </a:lnSpc>
              <a:spcAft>
                <a:spcPts val="400"/>
              </a:spcAft>
            </a:pPr>
            <a:r>
              <a:rPr sz="1250" b="0">
                <a:solidFill>
                  <a:srgbClr val="1F2A3A"/>
                </a:solidFill>
                <a:latin typeface="맑은 고딕"/>
                <a:ea typeface="맑은 고딕"/>
                <a:cs typeface="맑은 고딕"/>
              </a:rPr>
              <a:t>끝 이벤트에 닿아</a:t>
            </a:r>
          </a:p>
          <a:p>
            <a:pPr algn="ctr">
              <a:lnSpc>
                <a:spcPct val="110000"/>
              </a:lnSpc>
              <a:spcAft>
                <a:spcPts val="400"/>
              </a:spcAft>
            </a:pPr>
            <a:r>
              <a:rPr sz="1250" b="0">
                <a:solidFill>
                  <a:srgbClr val="1F2A3A"/>
                </a:solidFill>
                <a:latin typeface="맑은 고딕"/>
                <a:ea typeface="맑은 고딕"/>
                <a:cs typeface="맑은 고딕"/>
              </a:rPr>
              <a:t>처리 건이 닫힌다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ProcessGPT 시연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지금까지 만든 지식, 에이전트, 프로세스의 구조가 훨씬 고도화되어 적용된 제품을 본다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ProcessGPT: BPMN 기반 멀티 에이전트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ProcessGPT는 BPMN으로 정의한 프로세스 안에서 사람과 여러 에이전트의 일을 조율하는 기업용 프레임워크이다.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ProcessGPT</a:t>
            </a:r>
          </a:p>
          <a:p>
            <a:pPr algn="l">
              <a:lnSpc>
                <a:spcPct val="110000"/>
              </a:lnSpc>
              <a:spcAft>
                <a:spcPts val="200"/>
              </a:spcAft>
            </a:pPr>
            <a:r>
              <a:rPr sz="1150" b="0">
                <a:solidFill>
                  <a:srgbClr val="556175"/>
                </a:solidFill>
                <a:latin typeface="맑은 고딕"/>
                <a:ea typeface="맑은 고딕"/>
                <a:cs typeface="맑은 고딕"/>
              </a:rPr>
              <a:t>BPMN-based Multi-Agent Orchestration Framework</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BPMN 표준과 AI 에이전트를 결합한 기업용 오케스트레이션 프레임워크이다.</a:t>
            </a:r>
          </a:p>
          <a:p>
            <a:pPr algn="l">
              <a:lnSpc>
                <a:spcPct val="110000"/>
              </a:lnSpc>
              <a:spcAft>
                <a:spcPts val="300"/>
              </a:spcAft>
            </a:pPr>
            <a:r>
              <a:rPr sz="1400" b="0">
                <a:solidFill>
                  <a:srgbClr val="1F2A3A"/>
                </a:solidFill>
                <a:latin typeface="맑은 고딕"/>
                <a:ea typeface="맑은 고딕"/>
                <a:cs typeface="맑은 고딕"/>
              </a:rPr>
              <a:t>uEngine Solutions가 개발해 오픈소스로 공개하였다.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멀티 에이전트 오케스트레이션</a:t>
            </a:r>
          </a:p>
          <a:p>
            <a:pPr algn="l">
              <a:lnSpc>
                <a:spcPct val="110000"/>
              </a:lnSpc>
              <a:spcAft>
                <a:spcPts val="200"/>
              </a:spcAft>
            </a:pPr>
            <a:r>
              <a:rPr sz="1150" b="0">
                <a:solidFill>
                  <a:srgbClr val="556175"/>
                </a:solidFill>
                <a:latin typeface="맑은 고딕"/>
                <a:ea typeface="맑은 고딕"/>
                <a:cs typeface="맑은 고딕"/>
              </a:rPr>
              <a:t>Multi-Agent Orchestration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프로세스 안에서 여러 전문 에이전트의 순서와 호출을 조율하는 일이다.</a:t>
            </a:r>
          </a:p>
          <a:p>
            <a:pPr algn="l">
              <a:lnSpc>
                <a:spcPct val="110000"/>
              </a:lnSpc>
              <a:spcAft>
                <a:spcPts val="300"/>
              </a:spcAft>
            </a:pPr>
            <a:r>
              <a:rPr sz="1400" b="0">
                <a:solidFill>
                  <a:srgbClr val="1F2A3A"/>
                </a:solidFill>
                <a:latin typeface="맑은 고딕"/>
                <a:ea typeface="맑은 고딕"/>
                <a:cs typeface="맑은 고딕"/>
              </a:rPr>
              <a:t>9일차의 오케스트레이션에서 일을 맡는 쪽이 여러 에이전트로 늘어난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제품이 내세우는 것</a:t>
            </a:r>
          </a:p>
          <a:p>
            <a:pPr algn="l">
              <a:lnSpc>
                <a:spcPct val="110000"/>
              </a:lnSpc>
              <a:spcAft>
                <a:spcPts val="200"/>
              </a:spcAft>
            </a:pPr>
            <a:r>
              <a:rPr sz="1150" b="0">
                <a:solidFill>
                  <a:srgbClr val="556175"/>
                </a:solidFill>
                <a:latin typeface="맑은 고딕"/>
                <a:ea typeface="맑은 고딕"/>
                <a:cs typeface="맑은 고딕"/>
              </a:rPr>
              <a:t>자연어 정의 · 결정론 · HITL · 감사</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업무를 말로 설명해 프로세스 정의를 만들고, 되풀이되는 판단은 규칙으로 옮긴다.</a:t>
            </a:r>
          </a:p>
          <a:p>
            <a:pPr algn="l">
              <a:lnSpc>
                <a:spcPct val="110000"/>
              </a:lnSpc>
              <a:spcAft>
                <a:spcPts val="300"/>
              </a:spcAft>
            </a:pPr>
            <a:r>
              <a:rPr sz="1400" b="0">
                <a:solidFill>
                  <a:srgbClr val="1F2A3A"/>
                </a:solidFill>
                <a:latin typeface="맑은 고딕"/>
                <a:ea typeface="맑은 고딕"/>
                <a:cs typeface="맑은 고딕"/>
              </a:rPr>
              <a:t>사람의 승인을 BPMN의 기본 패턴으로 두고, 실행을 프로세스 모델에 대어 감사한다.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배운 것이 제품에서 나타나는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건은 프로세스 인스턴스, 단계는 워크아이템으로 이름만 바뀌어, 포털에서 읽던 방법이 제품에서도 통한다.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과정에서 만든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ProcessGPT에서</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구실</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 그래프와 인제스천</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스키마 설계와 문서 추출을 맡는 온톨로지 도구</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판단의 근거</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에이전트와 MCP 도구</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사용자 목록의 에이전트 행, 조직 단위로 등록한 MCP 서버</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작업의 수행</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흐름과 판본</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정의와 정의 버전</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순서와 책임의 설계도</a:t>
            </a:r>
          </a:p>
        </p:txBody>
      </p:sp>
      <p:sp>
        <p:nvSpPr>
          <p:cNvPr id="22" name="Rounded Rectangle 21"/>
          <p:cNvSpPr/>
          <p:nvPr/>
        </p:nvSpPr>
        <p:spPr>
          <a:xfrm>
            <a:off x="548640" y="4224528"/>
            <a:ext cx="11094415" cy="656843"/>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처리 건</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인스턴스</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실행되는 한 건</a:t>
            </a:r>
          </a:p>
        </p:txBody>
      </p:sp>
      <p:sp>
        <p:nvSpPr>
          <p:cNvPr id="26" name="Rounded Rectangle 25"/>
          <p:cNvSpPr/>
          <p:nvPr/>
        </p:nvSpPr>
        <p:spPr>
          <a:xfrm>
            <a:off x="548640" y="4945380"/>
            <a:ext cx="11094415" cy="656843"/>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단계</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워크아이템</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한 건 안의 작업 하나</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단계</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사람에게 맡겨진 워크아이템</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사람의 결정</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엔진, 워크아이템 목록, 수행자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 인스턴스, 워크아이템, 에이전트가 만나는 곳이 워크아이템 목록이며, 사람에게 온 몫이 작업함에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pic>
        <p:nvPicPr>
          <p:cNvPr id="6" name="삽화:작업목록.svg" descr="illust_8752531873981329081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 엔진</a:t>
            </a:r>
          </a:p>
          <a:p>
            <a:pPr algn="ctr">
              <a:lnSpc>
                <a:spcPct val="110000"/>
              </a:lnSpc>
              <a:spcAft>
                <a:spcPts val="100"/>
              </a:spcAft>
            </a:pPr>
            <a:r>
              <a:rPr sz="1300" b="0">
                <a:solidFill>
                  <a:srgbClr val="556175"/>
                </a:solidFill>
                <a:latin typeface="맑은 고딕"/>
                <a:ea typeface="맑은 고딕"/>
                <a:cs typeface="맑은 고딕"/>
              </a:rPr>
              <a:t>정의를 읽어 다음 작업을 정한다</a:t>
            </a:r>
          </a:p>
        </p:txBody>
      </p:sp>
      <p:sp>
        <p:nvSpPr>
          <p:cNvPr id="8" name="TextBox 7"/>
          <p:cNvSpPr txBox="1"/>
          <p:nvPr/>
        </p:nvSpPr>
        <p:spPr>
          <a:xfrm>
            <a:off x="4448513" y="1698543"/>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워크아이템 목록</a:t>
            </a:r>
          </a:p>
        </p:txBody>
      </p:sp>
      <p:sp>
        <p:nvSpPr>
          <p:cNvPr id="9" name="TextBox 8"/>
          <p:cNvSpPr txBox="1"/>
          <p:nvPr/>
        </p:nvSpPr>
        <p:spPr>
          <a:xfrm>
            <a:off x="5168540" y="262039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진단 · 조치 제안</a:t>
            </a:r>
          </a:p>
          <a:p>
            <a:pPr algn="ctr">
              <a:lnSpc>
                <a:spcPct val="110000"/>
              </a:lnSpc>
              <a:spcAft>
                <a:spcPts val="100"/>
              </a:spcAft>
            </a:pPr>
            <a:r>
              <a:rPr sz="1300" b="0">
                <a:solidFill>
                  <a:srgbClr val="556175"/>
                </a:solidFill>
                <a:latin typeface="맑은 고딕"/>
                <a:ea typeface="맑은 고딕"/>
                <a:cs typeface="맑은 고딕"/>
              </a:rPr>
              <a:t>DONE</a:t>
            </a:r>
          </a:p>
        </p:txBody>
      </p:sp>
      <p:sp>
        <p:nvSpPr>
          <p:cNvPr id="10" name="TextBox 9"/>
          <p:cNvSpPr txBox="1"/>
          <p:nvPr/>
        </p:nvSpPr>
        <p:spPr>
          <a:xfrm>
            <a:off x="5168540" y="3778620"/>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운전원 승인</a:t>
            </a:r>
          </a:p>
          <a:p>
            <a:pPr algn="ctr">
              <a:lnSpc>
                <a:spcPct val="110000"/>
              </a:lnSpc>
              <a:spcAft>
                <a:spcPts val="100"/>
              </a:spcAft>
            </a:pPr>
            <a:r>
              <a:rPr sz="1300" b="0">
                <a:solidFill>
                  <a:srgbClr val="556175"/>
                </a:solidFill>
                <a:latin typeface="맑은 고딕"/>
                <a:ea typeface="맑은 고딕"/>
                <a:cs typeface="맑은 고딕"/>
              </a:rPr>
              <a:t>IN_PROGRESS</a:t>
            </a:r>
          </a:p>
        </p:txBody>
      </p:sp>
      <p:sp>
        <p:nvSpPr>
          <p:cNvPr id="11" name="TextBox 10"/>
          <p:cNvSpPr txBox="1"/>
          <p:nvPr/>
        </p:nvSpPr>
        <p:spPr>
          <a:xfrm>
            <a:off x="5168540" y="493684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작업</a:t>
            </a:r>
          </a:p>
          <a:p>
            <a:pPr algn="ctr">
              <a:lnSpc>
                <a:spcPct val="110000"/>
              </a:lnSpc>
              <a:spcAft>
                <a:spcPts val="100"/>
              </a:spcAft>
            </a:pPr>
            <a:r>
              <a:rPr sz="1300" b="0">
                <a:solidFill>
                  <a:srgbClr val="556175"/>
                </a:solidFill>
                <a:latin typeface="맑은 고딕"/>
                <a:ea typeface="맑은 고딕"/>
                <a:cs typeface="맑은 고딕"/>
              </a:rPr>
              <a:t>TODO</a:t>
            </a:r>
          </a:p>
        </p:txBody>
      </p:sp>
      <p:sp>
        <p:nvSpPr>
          <p:cNvPr id="12" name="TextBox 11"/>
          <p:cNvSpPr txBox="1"/>
          <p:nvPr/>
        </p:nvSpPr>
        <p:spPr>
          <a:xfrm>
            <a:off x="9968718" y="269130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3" name="TextBox 12"/>
          <p:cNvSpPr txBox="1"/>
          <p:nvPr/>
        </p:nvSpPr>
        <p:spPr>
          <a:xfrm>
            <a:off x="9968718" y="375498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a:p>
            <a:pPr algn="ctr">
              <a:lnSpc>
                <a:spcPct val="110000"/>
              </a:lnSpc>
              <a:spcAft>
                <a:spcPts val="100"/>
              </a:spcAft>
            </a:pPr>
            <a:r>
              <a:rPr sz="1300" b="0">
                <a:solidFill>
                  <a:srgbClr val="556175"/>
                </a:solidFill>
                <a:latin typeface="맑은 고딕"/>
                <a:ea typeface="맑은 고딕"/>
                <a:cs typeface="맑은 고딕"/>
              </a:rPr>
              <a:t>작업함</a:t>
            </a:r>
          </a:p>
        </p:txBody>
      </p:sp>
      <p:sp>
        <p:nvSpPr>
          <p:cNvPr id="14" name="TextBox 13"/>
          <p:cNvSpPr txBox="1"/>
          <p:nvPr/>
        </p:nvSpPr>
        <p:spPr>
          <a:xfrm>
            <a:off x="9859623" y="500775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수행자</a:t>
            </a:r>
          </a:p>
        </p:txBody>
      </p:sp>
      <p:sp>
        <p:nvSpPr>
          <p:cNvPr id="15" name="TextBox 14"/>
          <p:cNvSpPr txBox="1"/>
          <p:nvPr/>
        </p:nvSpPr>
        <p:spPr>
          <a:xfrm>
            <a:off x="7557719" y="2242200"/>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맡긴다</a:t>
            </a:r>
          </a:p>
        </p:txBody>
      </p:sp>
      <p:sp>
        <p:nvSpPr>
          <p:cNvPr id="16" name="TextBox 15"/>
          <p:cNvSpPr txBox="1"/>
          <p:nvPr/>
        </p:nvSpPr>
        <p:spPr>
          <a:xfrm>
            <a:off x="7557719" y="3093140"/>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a:t>
            </a:r>
          </a:p>
        </p:txBody>
      </p:sp>
      <p:sp>
        <p:nvSpPr>
          <p:cNvPr id="17" name="TextBox 16"/>
          <p:cNvSpPr txBox="1"/>
          <p:nvPr/>
        </p:nvSpPr>
        <p:spPr>
          <a:xfrm>
            <a:off x="2812089" y="340042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만든다</a:t>
            </a:r>
          </a:p>
        </p:txBody>
      </p:sp>
      <p:sp>
        <p:nvSpPr>
          <p:cNvPr id="18" name="TextBox 17"/>
          <p:cNvSpPr txBox="1"/>
          <p:nvPr/>
        </p:nvSpPr>
        <p:spPr>
          <a:xfrm>
            <a:off x="2812089" y="427500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제품에서 더 고도화된 것: 같은 구조, 넓어지는 범위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배운 구조는 제품에 그대로 있고, 제품은 그 위에서 정의, 에이전트, 지식, 통제의 범위를 훨씬 넓힌다.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5181447" cy="472744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1828800"/>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1982419"/>
            <a:ext cx="424281" cy="424281"/>
          </a:xfrm>
          <a:prstGeom prst="rect">
            <a:avLst/>
          </a:prstGeom>
        </p:spPr>
      </p:pic>
      <p:sp>
        <p:nvSpPr>
          <p:cNvPr id="9" name="TextBox 8"/>
          <p:cNvSpPr txBox="1"/>
          <p:nvPr/>
        </p:nvSpPr>
        <p:spPr>
          <a:xfrm>
            <a:off x="1691640" y="1828800"/>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배운 것이 그대로 보이는 자리</a:t>
            </a:r>
          </a:p>
        </p:txBody>
      </p:sp>
      <p:sp>
        <p:nvSpPr>
          <p:cNvPr id="10" name="TextBox 9"/>
          <p:cNvSpPr txBox="1"/>
          <p:nvPr/>
        </p:nvSpPr>
        <p:spPr>
          <a:xfrm>
            <a:off x="822959" y="2679191"/>
            <a:ext cx="4632807" cy="312724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정의와 인스턴스, 정의 버전과 반영 버전</a:t>
            </a:r>
          </a:p>
          <a:p>
            <a:pPr algn="l">
              <a:lnSpc>
                <a:spcPct val="110000"/>
              </a:lnSpc>
              <a:spcAft>
                <a:spcPts val="600"/>
              </a:spcAft>
            </a:pPr>
            <a:r>
              <a:rPr sz="1450" b="0">
                <a:solidFill>
                  <a:srgbClr val="1F2A3A"/>
                </a:solidFill>
                <a:latin typeface="맑은 고딕"/>
                <a:ea typeface="맑은 고딕"/>
                <a:cs typeface="맑은 고딕"/>
              </a:rPr>
              <a:t>• 워크아이템과 그 상태의 이름과 뜻</a:t>
            </a:r>
          </a:p>
          <a:p>
            <a:pPr algn="l">
              <a:lnSpc>
                <a:spcPct val="110000"/>
              </a:lnSpc>
              <a:spcAft>
                <a:spcPts val="600"/>
              </a:spcAft>
            </a:pPr>
            <a:r>
              <a:rPr sz="1450" b="0">
                <a:solidFill>
                  <a:srgbClr val="1F2A3A"/>
                </a:solidFill>
                <a:latin typeface="맑은 고딕"/>
                <a:ea typeface="맑은 고딕"/>
                <a:cs typeface="맑은 고딕"/>
              </a:rPr>
              <a:t>• 사용자 목록의 에이전트 행과 에이전트 활동의 모양</a:t>
            </a:r>
          </a:p>
          <a:p>
            <a:pPr algn="l">
              <a:lnSpc>
                <a:spcPct val="110000"/>
              </a:lnSpc>
              <a:spcAft>
                <a:spcPts val="600"/>
              </a:spcAft>
            </a:pPr>
            <a:r>
              <a:rPr sz="1450" b="0">
                <a:solidFill>
                  <a:srgbClr val="1F2A3A"/>
                </a:solidFill>
                <a:latin typeface="맑은 고딕"/>
                <a:ea typeface="맑은 고딕"/>
                <a:cs typeface="맑은 고딕"/>
              </a:rPr>
              <a:t>• 승인을 사람 작업으로 두는 자리</a:t>
            </a:r>
          </a:p>
        </p:txBody>
      </p:sp>
      <p:sp>
        <p:nvSpPr>
          <p:cNvPr id="11" name="Rounded Rectangle 10"/>
          <p:cNvSpPr/>
          <p:nvPr/>
        </p:nvSpPr>
        <p:spPr>
          <a:xfrm>
            <a:off x="868680" y="589788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89788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a:t>
            </a:r>
          </a:p>
        </p:txBody>
      </p:sp>
      <p:sp>
        <p:nvSpPr>
          <p:cNvPr id="13" name="Rounded Rectangle 12"/>
          <p:cNvSpPr/>
          <p:nvPr/>
        </p:nvSpPr>
        <p:spPr>
          <a:xfrm>
            <a:off x="6461607" y="1627632"/>
            <a:ext cx="5181447" cy="472744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1828800"/>
            <a:ext cx="731520" cy="731520"/>
          </a:xfrm>
          <a:prstGeom prst="ellipse">
            <a:avLst/>
          </a:prstGeom>
          <a:solidFill>
            <a:srgbClr val="5CB8F2"/>
          </a:solidFill>
          <a:ln>
            <a:noFill/>
          </a:ln>
        </p:spPr>
        <p:txBody>
          <a:bodyPr rtlCol="0" anchor="ctr"/>
          <a:lstStyle/>
          <a:p>
            <a:pPr algn="ctr"/>
          </a:p>
        </p:txBody>
      </p:sp>
      <p:pic>
        <p:nvPicPr>
          <p:cNvPr id="15" name="아이콘:arrows-maximize" descr="arrows-maximize_13294B_1.6.png"/>
          <p:cNvPicPr>
            <a:picLocks noChangeAspect="1"/>
          </p:cNvPicPr>
          <p:nvPr/>
        </p:nvPicPr>
        <p:blipFill>
          <a:blip r:embed="rId4"/>
          <a:stretch>
            <a:fillRect/>
          </a:stretch>
        </p:blipFill>
        <p:spPr>
          <a:xfrm>
            <a:off x="6889546" y="1982419"/>
            <a:ext cx="424281" cy="424281"/>
          </a:xfrm>
          <a:prstGeom prst="rect">
            <a:avLst/>
          </a:prstGeom>
        </p:spPr>
      </p:pic>
      <p:sp>
        <p:nvSpPr>
          <p:cNvPr id="16" name="TextBox 15"/>
          <p:cNvSpPr txBox="1"/>
          <p:nvPr/>
        </p:nvSpPr>
        <p:spPr>
          <a:xfrm>
            <a:off x="7604607" y="1828800"/>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제품에서 더 고도화된 것</a:t>
            </a:r>
          </a:p>
        </p:txBody>
      </p:sp>
      <p:sp>
        <p:nvSpPr>
          <p:cNvPr id="17" name="TextBox 16"/>
          <p:cNvSpPr txBox="1"/>
          <p:nvPr/>
        </p:nvSpPr>
        <p:spPr>
          <a:xfrm>
            <a:off x="6735927" y="2679191"/>
            <a:ext cx="4632807" cy="312724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정의: 업무를 말로 설명해 프로세스를 만들고 말로 적은 조건도 평가한다</a:t>
            </a:r>
          </a:p>
          <a:p>
            <a:pPr algn="l">
              <a:lnSpc>
                <a:spcPct val="110000"/>
              </a:lnSpc>
              <a:spcAft>
                <a:spcPts val="600"/>
              </a:spcAft>
            </a:pPr>
            <a:r>
              <a:rPr sz="1450" b="0">
                <a:solidFill>
                  <a:srgbClr val="1F2A3A"/>
                </a:solidFill>
                <a:latin typeface="맑은 고딕"/>
                <a:ea typeface="맑은 고딕"/>
                <a:cs typeface="맑은 고딕"/>
              </a:rPr>
              <a:t>• 요소: 하위 프로세스, 같은 작업을 여러 건 여는 다중 인스턴스</a:t>
            </a:r>
          </a:p>
          <a:p>
            <a:pPr algn="l">
              <a:lnSpc>
                <a:spcPct val="110000"/>
              </a:lnSpc>
              <a:spcAft>
                <a:spcPts val="600"/>
              </a:spcAft>
            </a:pPr>
            <a:r>
              <a:rPr sz="1450" b="0">
                <a:solidFill>
                  <a:srgbClr val="1F2A3A"/>
                </a:solidFill>
                <a:latin typeface="맑은 고딕"/>
                <a:ea typeface="맑은 고딕"/>
                <a:cs typeface="맑은 고딕"/>
              </a:rPr>
              <a:t>• 에이전트: 여러 에이전트의 협업, CrewAI, LangGraph 같은 여러 실행 방식</a:t>
            </a:r>
          </a:p>
          <a:p>
            <a:pPr algn="l">
              <a:lnSpc>
                <a:spcPct val="110000"/>
              </a:lnSpc>
              <a:spcAft>
                <a:spcPts val="600"/>
              </a:spcAft>
            </a:pPr>
            <a:r>
              <a:rPr sz="1450" b="0">
                <a:solidFill>
                  <a:srgbClr val="1F2A3A"/>
                </a:solidFill>
                <a:latin typeface="맑은 고딕"/>
                <a:ea typeface="맑은 고딕"/>
                <a:cs typeface="맑은 고딕"/>
              </a:rPr>
              <a:t>• 지식: 문서를 색인해 검색한다</a:t>
            </a:r>
          </a:p>
          <a:p>
            <a:pPr algn="l">
              <a:lnSpc>
                <a:spcPct val="110000"/>
              </a:lnSpc>
              <a:spcAft>
                <a:spcPts val="600"/>
              </a:spcAft>
            </a:pPr>
            <a:r>
              <a:rPr sz="1450" b="0">
                <a:solidFill>
                  <a:srgbClr val="1F2A3A"/>
                </a:solidFill>
                <a:latin typeface="맑은 고딕"/>
                <a:ea typeface="맑은 고딕"/>
                <a:cs typeface="맑은 고딕"/>
              </a:rPr>
              <a:t>• 통제: 보상 이벤트로 끝난 작업을 되돌리고 프로세스 모델에 대어 감사한다</a:t>
            </a:r>
          </a:p>
          <a:p>
            <a:pPr algn="l">
              <a:lnSpc>
                <a:spcPct val="110000"/>
              </a:lnSpc>
              <a:spcAft>
                <a:spcPts val="600"/>
              </a:spcAft>
            </a:pPr>
            <a:r>
              <a:rPr sz="1450" b="0">
                <a:solidFill>
                  <a:srgbClr val="1F2A3A"/>
                </a:solidFill>
                <a:latin typeface="맑은 고딕"/>
                <a:ea typeface="맑은 고딕"/>
                <a:cs typeface="맑은 고딕"/>
              </a:rPr>
              <a:t>• 운영: 외부 알림 연동, Kubernetes 위의 확장</a:t>
            </a:r>
          </a:p>
        </p:txBody>
      </p:sp>
      <p:sp>
        <p:nvSpPr>
          <p:cNvPr id="18" name="Rounded Rectangle 17"/>
          <p:cNvSpPr/>
          <p:nvPr/>
        </p:nvSpPr>
        <p:spPr>
          <a:xfrm>
            <a:off x="6781647" y="589788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89788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범위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시연에서 보는 것과 가려낼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시연에서 볼 것은 정의에서 열린 인스턴스가 에이전트 작업과 사람 작업으로 이어지는 흐름과 통제가 놓인 자리이다.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영역의 이름</a:t>
            </a:r>
          </a:p>
          <a:p>
            <a:pPr algn="l">
              <a:lnSpc>
                <a:spcPct val="110000"/>
              </a:lnSpc>
              <a:spcAft>
                <a:spcPts val="400"/>
              </a:spcAft>
            </a:pPr>
            <a:r>
              <a:rPr sz="1350" b="0">
                <a:solidFill>
                  <a:srgbClr val="1F2A3A"/>
                </a:solidFill>
                <a:latin typeface="맑은 고딕"/>
                <a:ea typeface="맑은 고딕"/>
                <a:cs typeface="맑은 고딕"/>
              </a:rPr>
              <a:t>지식, 에이전트, 프로세스가 제품에서 불리는 이름과 구실</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대응</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건의 흐름</a:t>
            </a:r>
          </a:p>
          <a:p>
            <a:pPr algn="l">
              <a:lnSpc>
                <a:spcPct val="110000"/>
              </a:lnSpc>
              <a:spcAft>
                <a:spcPts val="400"/>
              </a:spcAft>
            </a:pPr>
            <a:r>
              <a:rPr sz="1350" b="0">
                <a:solidFill>
                  <a:srgbClr val="1F2A3A"/>
                </a:solidFill>
                <a:latin typeface="맑은 고딕"/>
                <a:ea typeface="맑은 고딕"/>
                <a:cs typeface="맑은 고딕"/>
              </a:rPr>
              <a:t>정의에서 열린 인스턴스가 에이전트 작업과 사람 작업으로 이어지는 모습</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arrows-maximize" descr="arrows-maximize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넓어진 범위</a:t>
            </a:r>
          </a:p>
          <a:p>
            <a:pPr algn="l">
              <a:lnSpc>
                <a:spcPct val="110000"/>
              </a:lnSpc>
              <a:spcAft>
                <a:spcPts val="400"/>
              </a:spcAft>
            </a:pPr>
            <a:r>
              <a:rPr sz="1350" b="0">
                <a:solidFill>
                  <a:srgbClr val="1F2A3A"/>
                </a:solidFill>
                <a:latin typeface="맑은 고딕"/>
                <a:ea typeface="맑은 고딕"/>
                <a:cs typeface="맑은 고딕"/>
              </a:rPr>
              <a:t>말로 만드는 정의, 여러 에이전트처럼 배운 구조 위에 더해진 것</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고도화</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통제가 놓이는 자리</a:t>
            </a:r>
          </a:p>
          <a:p>
            <a:pPr algn="l">
              <a:lnSpc>
                <a:spcPct val="110000"/>
              </a:lnSpc>
              <a:spcAft>
                <a:spcPts val="400"/>
              </a:spcAft>
            </a:pPr>
            <a:r>
              <a:rPr sz="1350" b="0">
                <a:solidFill>
                  <a:srgbClr val="1F2A3A"/>
                </a:solidFill>
                <a:latin typeface="맑은 고딕"/>
                <a:ea typeface="맑은 고딕"/>
                <a:cs typeface="맑은 고딕"/>
              </a:rPr>
              <a:t>승인과 권한, 감사 추적이 흐름의 어디에 놓이는가</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통제</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학습 내용과 결과물의 지식 자산화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1일차에 만든 학습 노트에 개념, 자료, 산출물, 검증 결과를 이어 기록한다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잇는 것과 남는 학습 노트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개념, 참고 자료, 실습 산출물, 검증 결과를 서로 이어 적은 학습 노트는 과정이 끝난 뒤에도 개인의 지식 자산으로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bulb" descr="bulb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개념</a:t>
            </a:r>
          </a:p>
          <a:p>
            <a:pPr algn="l">
              <a:lnSpc>
                <a:spcPct val="110000"/>
              </a:lnSpc>
              <a:spcAft>
                <a:spcPts val="400"/>
              </a:spcAft>
            </a:pPr>
            <a:r>
              <a:rPr sz="1350" b="0">
                <a:solidFill>
                  <a:srgbClr val="1F2A3A"/>
                </a:solidFill>
                <a:latin typeface="맑은 고딕"/>
                <a:ea typeface="맑은 고딕"/>
                <a:cs typeface="맑은 고딕"/>
              </a:rPr>
              <a:t>• 자신의 문장으로 다시 쓴</a:t>
            </a:r>
          </a:p>
          <a:p>
            <a:pPr algn="l">
              <a:lnSpc>
                <a:spcPct val="110000"/>
              </a:lnSpc>
              <a:spcAft>
                <a:spcPts val="400"/>
              </a:spcAft>
            </a:pPr>
            <a:r>
              <a:rPr sz="1350" b="0">
                <a:solidFill>
                  <a:srgbClr val="1F2A3A"/>
                </a:solidFill>
                <a:latin typeface="맑은 고딕"/>
                <a:ea typeface="맑은 고딕"/>
                <a:cs typeface="맑은 고딕"/>
              </a:rPr>
              <a:t>• 개념의 기록</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이해</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참고 자료</a:t>
            </a:r>
          </a:p>
          <a:p>
            <a:pPr algn="l">
              <a:lnSpc>
                <a:spcPct val="110000"/>
              </a:lnSpc>
              <a:spcAft>
                <a:spcPts val="400"/>
              </a:spcAft>
            </a:pPr>
            <a:r>
              <a:rPr sz="1350" b="0">
                <a:solidFill>
                  <a:srgbClr val="1F2A3A"/>
                </a:solidFill>
                <a:latin typeface="맑은 고딕"/>
                <a:ea typeface="맑은 고딕"/>
                <a:cs typeface="맑은 고딕"/>
              </a:rPr>
              <a:t>• 개념이 나온 자료와</a:t>
            </a:r>
          </a:p>
          <a:p>
            <a:pPr algn="l">
              <a:lnSpc>
                <a:spcPct val="110000"/>
              </a:lnSpc>
              <a:spcAft>
                <a:spcPts val="400"/>
              </a:spcAft>
            </a:pPr>
            <a:r>
              <a:rPr sz="1350" b="0">
                <a:solidFill>
                  <a:srgbClr val="1F2A3A"/>
                </a:solidFill>
                <a:latin typeface="맑은 고딕"/>
                <a:ea typeface="맑은 고딕"/>
                <a:cs typeface="맑은 고딕"/>
              </a:rPr>
              <a:t>• 문서의 연결</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실습 산출물</a:t>
            </a:r>
          </a:p>
          <a:p>
            <a:pPr algn="l">
              <a:lnSpc>
                <a:spcPct val="110000"/>
              </a:lnSpc>
              <a:spcAft>
                <a:spcPts val="400"/>
              </a:spcAft>
            </a:pPr>
            <a:r>
              <a:rPr sz="1350" b="0">
                <a:solidFill>
                  <a:srgbClr val="1F2A3A"/>
                </a:solidFill>
                <a:latin typeface="맑은 고딕"/>
                <a:ea typeface="맑은 고딕"/>
                <a:cs typeface="맑은 고딕"/>
              </a:rPr>
              <a:t>• 스키마, 에이전트, 프로세스 등</a:t>
            </a:r>
          </a:p>
          <a:p>
            <a:pPr algn="l">
              <a:lnSpc>
                <a:spcPct val="110000"/>
              </a:lnSpc>
              <a:spcAft>
                <a:spcPts val="400"/>
              </a:spcAft>
            </a:pPr>
            <a:r>
              <a:rPr sz="1350" b="0">
                <a:solidFill>
                  <a:srgbClr val="1F2A3A"/>
                </a:solidFill>
                <a:latin typeface="맑은 고딕"/>
                <a:ea typeface="맑은 고딕"/>
                <a:cs typeface="맑은 고딕"/>
              </a:rPr>
              <a:t>• 직접 만든 결과물</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checklist" descr="checklist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검증 결과</a:t>
            </a:r>
          </a:p>
          <a:p>
            <a:pPr algn="l">
              <a:lnSpc>
                <a:spcPct val="110000"/>
              </a:lnSpc>
              <a:spcAft>
                <a:spcPts val="400"/>
              </a:spcAft>
            </a:pPr>
            <a:r>
              <a:rPr sz="1350" b="0">
                <a:solidFill>
                  <a:srgbClr val="1F2A3A"/>
                </a:solidFill>
                <a:latin typeface="맑은 고딕"/>
                <a:ea typeface="맑은 고딕"/>
                <a:cs typeface="맑은 고딕"/>
              </a:rPr>
              <a:t>• 만든 것이 정한 대로</a:t>
            </a:r>
          </a:p>
          <a:p>
            <a:pPr algn="l">
              <a:lnSpc>
                <a:spcPct val="110000"/>
              </a:lnSpc>
              <a:spcAft>
                <a:spcPts val="400"/>
              </a:spcAft>
            </a:pPr>
            <a:r>
              <a:rPr sz="1350" b="0">
                <a:solidFill>
                  <a:srgbClr val="1F2A3A"/>
                </a:solidFill>
                <a:latin typeface="맑은 고딕"/>
                <a:ea typeface="맑은 고딕"/>
                <a:cs typeface="맑은 고딕"/>
              </a:rPr>
              <a:t>• 동작했는지의 기록</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새로 나온 용어의 정식 명칭과 그 용어가 놓인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오늘의 자리</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QMS</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Quality Management System</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품질 로트를 읽은 업무 시스템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ProcessGPT</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BPMN-based Multi-Agent Orchestration Framework</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시연으로 본 제품</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멀티 에이전트 오케스트레이션</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Multi-Agent Orchestration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여러 에이전트의 순서와 호출의 조율</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워크아이템</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Work Item</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제품에서 단계를 부르는 이름</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판단이 제출된 시점의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쿨러 핀 오염으로 가리고 팬 최대 운전을 권하는 추천안을 제출했으며, 운전원은 아직 응답하지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시점의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제출되었으므로 팬 속도는 이미 100 %로 올라갔다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에이전트가 승인 결과를 기다리며 다음 도구를 부르고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에이전트의 일은 끝났고 엔진이 운전원 승인을 열어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운전원이 응답하지 않으면 추천대로 자동 실행된다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바뀐 기준을 반영할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매뉴얼이 개정되어 쿨러 핀 오염을 가리는 냉각 효율의 기준값이 달라졌는데, 에이전트는 예전 기준으로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새 기준이 판단에 쓰이게 하려면 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새 기준값을 문장으로 적어 넣는다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개정된 문서를 검토해 증거 기준을 다시 적재한다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프로세스 정의의 게이트웨이 조건을 새 기준값으로 바꾼다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운전원이 승인할 때마다 새 기준값을 확인하게 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통제의 관점에서 가장 알맞은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제출 시점의 몫의 구분, 근거가 놓인 곳, 읽기와 쓰기의 책임 경계를 바르게 가리는지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제출까지 한다. 다음 단계를 여는 것은 엔진이고, 설비 명령은 승인 뒤에만 나간다.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증거 기준은 지식에 있다. 문서를 검토해 다시 적재하면 같은 호출이 새 기준을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